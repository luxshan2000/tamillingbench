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Lst>
  <p:notesMasterIdLst>
    <p:notesMasterId r:id="rId9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notesMaster" Target="notesMasters/notesMaster1.xml"/><Relationship Id="rId98" Type="http://schemas.openxmlformats.org/officeDocument/2006/relationships/presProps" Target="presProps.xml"/><Relationship Id="rId99" Type="http://schemas.openxmlformats.org/officeDocument/2006/relationships/viewProps" Target="viewProps.xml"/><Relationship Id="rId100" Type="http://schemas.openxmlformats.org/officeDocument/2006/relationships/theme" Target="theme/theme1.xml"/><Relationship Id="rId10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explains our WMT 2026 paper "Obligatory Slots" from the ground up, in plain language. You do not need to know Tamil or machine-translation evaluation to follow it. The picture on this slide is the whole paper in one line: the English sentence "They came." does not say whether "they" are people or not, but the Tamil verb has to say it. A translation system must fill that gap. We study what happens, and whether automatic scoring notices when the system gets it wrong or skips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only one slide, remember this one. (1) Some languages force a translator to say things the original sentence never said. Tamil verbs, for example, must say whether the subject is a person or not. (2) We built a test set, TamilLingBench, to study exactly that choice, and a rule-based checker that reads the Tamil verb ending automatically. (3) Metrics that compare the output with a human reference translation do punish a wrong ending, strongly. That surprised us; we had predicted the opposite and we say so. (4) Metrics that judge a translation without any reference (these are called reference-free or quality-estimation metrics) do not reliably notice the wrong ending, and a translation that avoids the choice altogether gets no penalty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follows the order a newcomer needs. First the problem, with examples. Then what earlier research did and what it left open. Then the test set we built and how we check Tamil automatically. Then the experiment, the evaluation metrics explained one by one, and the results: first about metrics, then about the translation systems, then a look inside one model. We also show a mistake we caught in our own first version, because it teaches something. We end with limitations, conclusions, and a glossary of every technical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explains the problem from scratch, using one tiny English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English sentence "They came." In English the verb "came" is the same whoever came. In Tamil the verb changes its ending depending on who came. If "they" are people, the verb is வந்தார்கள் (vantārkaḷ). If "they" are animals or things, the verb is வந்தன (vantaṉa). The English sentence gives no hint. So a translator, human or machine, has to decide. Nothing in the English tells it which answer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"Agreement" means the verb changes its form to match the subject, the way English says "he walks" but "they walk". English does this only a little. Tamil does it a lot: the ending of the past-tense verb "came" tells you whether the subject is one person or many, male or female, a person or not a person. All six forms on this slide are the one English word "came". The column on the right shows what each ending commits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studies three pieces of information that the Tamil verb carries. Rationality, called tiṇai in Tamil grammar, is whether the subject is a person (or a god) or not. Gender is whether one person is male or female, and there is also a respectful form that does not choose. Number is one versus many. English marks number clearly ("dog" versus "dogs"), so number is our control: a good system should get it right. English does not mark rationality at all, and marks gender only through names and pronouns.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Tamil grammar divides everything into two classes. Uyartiṇai, literally the "high class", is people and gods. Aḵṟiṇai, literally the "not-high class", is everything else: animals, plants, objects. The verb must agree with the class of its subject. So "The students came" uses the people ending, and "The dogs came" uses the non-people ending. These two examples are real items from our test set. English marks none of this in grammar; you only know from the meaning of the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call this situation an obligatory slot. Think of the Tamil verb ending as a blank that must be filled. Every correct Tamil translation fills it with some value. But the English source does not tell you which value. That is different from ordinary translation errors, where the information is in the source and the system simply loses it. Here the information was never in the source. The translator has to guess or use whatever clues exist in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care? Because the wrong value is not a small stylistic slip. Using the non-people class for a person treats that person like an animal or a thing. That is dehumanising in Tamil. Using the wrong gender misgenders someone. And the reader of the Tamil usually cannot see the English original, so they cannot tell the English was silent. They have no way to tell that the error came from the system rather than the speaker. A translation can be fluent, accurate in every other word, and still socially unusable.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translation system meets an obligatory slot, three things can happen. It can choose the right value. It can choose the wrong value. Or it can avoid choosing: Tamil has a respectful form, வந்தார் (vantār), that does not say male or female. That form is correct Tamil, but it throws away information. In this example the English said "my younger sister", so the gender was actually known. We treat avoiding as its own outcome, never as a mistake. This decision turns out to be important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Checking translations by hand is slow and expensive. So researchers and companies use automatic metrics: programs that read a translation and output a number, a quality score. Metrics are used to compare systems in research papers and shared tasks like WMT, to decide which system to deploy, and to monitor a live system. If a metric cannot see a certain kind of error, that error is effectively invisible everywhere metrics are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families of metrics. A reference-based metric compares the system translation with a human "reference" translation of the same sentence. If the two differ in the verb ending, the metric can in principle notice. A reference-free metric, also called quality estimation or QE, sees only the English source and the system output. It has to know by itself what a correct Tamil translation looks like. Reference-free metrics matter a lot in practice, because in real use there usually is no human reference: for example when monitoring a live system or filtering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the question the paper asks. When the Tamil verb forces a choice that the English never made, and the system chooses wrong, or avoids choosing, does automatic evaluation notice? That is the main question, about metrics. We also ask two supporting questions: what do real translation systems actually do in this situation, and where inside a model is the decision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places the paper in the research landscape and names the gap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about 2017 researchers have built "challenge sets": small, carefully designed test sets that each target one linguistic problem. Examples are LingEval97 (2017), the discourse test set of Bawden and colleagues (2018), ContraPro for pronouns (2018), Morpheval for morphology (2017 and 2018), and the DFKI test suites that run at WMT every year. What they share: the information is present in the source sentence, and the test asks whether it survives translation. For example, English "she" should stay feminine in German. That is called propagation.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Morpheval is the closest classic test set and the sharpest contrast. Morpheval changes a feature that is marked in the source and checks whether the change shows up in the translation. We look at the opposite case: the feature is absent from the source, so it cannot be copied, and yet the target still needs a value. The two situations call for different measurements. With propagation there is always a right answer in the source. With an obligatory slot there sometimes is no right answer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recent work does look at the unmarked case, mostly for gender. GENDER1PERSON (WMT 2025) is the closest: English "I" has no gender, but Russian and Serbian first-person forms do, and the authors measure which gender systems choose. It is the same logic as ours, but for one slot, gender, in Indo-European languages, and it does not ask what evaluation metrics charge for the error. CoCoA-MT and the IWSLT formality tasks meet the unmarked case, but only as an uncontrolled baseline row, not as a studied condition. Měchura (2022) named this category of ambiguity but did not measure any system. GRAPE, Prates and colleagues, Staliūnaitė and colleagues, and Dawkins and colleagues study gender skew with other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also challenge sets built to test the metrics themselves rather than the translation systems. DEMETR perturbs translations and checks whether metrics notice, but all its examples are translations into English. ACES is the largest such set, but it is built around accuracy errors, so morphology is absent by design, and English-to-Tamil is 1 row out of 36,476. IndicMT Eval covers Tamil and finds that metrics struggle with fluency errors, which is exactly where our errors land. Two further studies measure how far retraining a metric can close a blind spot; both worked on features marked in the source, where training data can be generated automatically. An unmarked feature does not allow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build our own checker? Because the standard annotated Tamil data cannot express most of these distinctions. UD Tamil-TTB is the main Universal Dependencies treebank for Tamil, a corpus annotated with grammatical features. It contains zero tokens tagged feminine gender, and zero finite verbs with the masculine or feminine endings. So a tool trained on it cannot tell masculine from feminine at all. Tamil is also absent from UniMorph, the big multilingual morphology database. In total, seven categories that Tamil grammars treat as central cannot be expressed in the standard annotation: aspect, causation, clusivity, deixis, evidentiality, honorific contrast and modality. These are counts anyone can reproduce, not opinions.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summarises the gap. Propagation test sets need the feature in the source. Gender-skew studies look at the unmarked case, but for gender only and without asking about metrics. Metric test sets do not cover Tamil morphology or the unmarked case. This paper covers all four columns at once: the feature is absent from the source, the language is Tamil, rationality is included, and the main question is what metrics charge, including reference-free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makes five contributions. One: a measurement of what automatic metrics charge for obligatory-slot errors, including the report that our own prediction failed. Two: TamilLingBench, a generator plus a rule-based checker, released with per-item judgments and 12 automated construction guards, and verified by two native Tamil speakers. Three: three construction flaws we found in our own first release, and the audit that found them. Four: a pre-registered experiment inside one model, reported together with the part that failed. Five: provisional measurements of how 13 systems behave, and the negative results about Tamil annotation.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explains the benchmark we built. It is the foundation for every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benchmark scores three slots. Rationality is the new one: we found no earlier machine-translation study of it, so its results are marked provisional. Gender is included so that our numbers can be compared with the large gender-bias literature; it is a calibration axis, not our main contribution. Number is the control: English marks it clearly, so a competent system should get it right. Two more slots, second-person honorifics and inclusive/exclusive "we", were in earlier versions but were withdrawn because their items had construction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control is a part of an experiment where you already know what should happen. If the control behaves unexpectedly, you suspect the experiment rather than the thing you are studying. English marks number: "cow" versus "cows". So the information is in the source, and a competent translation system should get the number right almost every time. If it does, and rationality still goes wrong, the problem is specifically about unmarked information. In the model-behaviour results the number control turned out not to work cleanly on these items, and we say so: we draw no comparison between slots.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test item comes in four versions, called conditions. They differ only in where the clue, which we call the cue, can be found. In the Instructed condition, the instruction tells the system which Tamil form to use; this measures whether the system can produce the form at all. In the In-sentence condition, the English sentence itself contains the clue, for example "the dogs". In the Prior-sentence condition, the clue is in the sentence before. In the Cue-free condition there is no clue anywhere, so there is no correct answer. The first three have a gold answer and work like normal test sets. Only the cue-free condition is truly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template from the released test set, shown in all four conditions. In the in-sentence condition the English noun gives the clue: dogs, so the non-people form வந்தன. In the prior-sentence condition, the sentence to translate is just "They came at dawn", and the clue comes from the sentence before: horses, so வந்தன again. The system is told to translate only the marked sentence. In the instructed condition, the system is told which form to use. In the cue-free condition, the previous sentence ("The sky had been overcast since dawn") says nothing about who "they" are, so any answer is acceptable and we just record what the system picks.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design is used for gender and number. For gender, Aram is a name used for both boys and girls in Tamil, so the name alone does not reveal gender; the clue is "my younger sister" or "my younger brother". In the cue-free version, the context sentence calls Aram "our new neighbour", which does not reveal gender. The systems mostly answer with the respectful form வந்தார், which does not choose a gender; we count that as avoiding, not as an error. For number, the English says "cow" or "cows". In the cue-free version, "the aircraft" is the same word in singular and plural, and the context does not say how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worth being clear about what is new. Three of the four conditions have a gold answer. On those, the benchmark behaves like an ordinary contrastive test set. The cue-free condition is the one where the forced choice really happens, and earlier work ran it at most as a side baseline. The main comparison we report is in-sentence versus cue-free: same sentence pattern, same kind of clue, and the clue is simply deleted. In-sentence versus prior-sentence is used only where both conditions give the clue the same way. In rationality both use a noun ("the dogs", "the horses"), so one result compares them. In gender the two give the clue differently, a Tamil name in one and an English word in the other, so no gender comparison is drawn; we learned this the hard way (section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are generated from templates, like "The ___ came at dawn", filled with nouns and verbs from a lexicon, using a fixed random seed so anyone can regenerate them exactly. The release contains 2,873 items. They are split into a public part and a hidden "blind" part, and the split is by template, not by item, because once the generator is public, hiding individual items would be pointless. Every build runs an automatic audit, which checks that each English source really contains the clue the gold answer depends on; the build fails if it does not. Two native Tamil speakers checked the Tamil and corrected it where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score thousands of outputs we need a program that reads the Tamil verb and says what it marks. We use a finite-state analyser, often called an FST. It is a rule-based program built from a dictionary and grammar rules, not a neural network, so it gives the same answer every time and its decisions can be inspected. Ours is built on ThamizhiMorph, a published Tamil analyser, plus a layer of hand-written fallback rules. Given the word வந்தன it returns: verb "come", past tense, third person, plural, non-people class. We then compare that reading with the gold answer and assign an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automatic checker is perfect, and we report its limits rather than a single flattering number. On the verb forms in the UD Tamil-TTB test set, the dictionary alone recognises 38.6 percent; adding a guesser brings it to 64 percent, and adding our fallback rules to 69.3 percent. On the second treebank, MWTT, the same steps give 62, 75.3 and 89.8 percent. On an audited slice of masculine verbs, precision is 100 percent and recall 98.7 percent. When the analyser cannot read an output, we label it UNPARSED and report it separately; we never silently drop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Off-the-shelf Tamil tools needed five documented repairs before they could score these slots. All repairs are in the scoring layer; the published analyser itself is untouched. One: the ending -ār can mean one respected person or several people, and the tool was inconsistent, so we use context to decide. Two: some second-person plural endings are ambiguous in the same way. Three: the ending -aṉar was tagged singular though it is plural. Four: a sound change at word boundaries hid pronouns. Five, the most important: the tool read ஓடின ("they ran", for animals) only as a participle, never as a finite verb, so it marked correct Tamil as wrong. We re-scored everything after fixing it (section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analysing the verb, each output receives exactly one label. CORRECT: the value matches the gold. WRONG: it has the other value. AVOIDANT: the system did not commit, in one of three ways: it dropped the verb or the carrier of the feature, it used a neutral form such as வந்தார், or it made the clause negative, which in Tamil can remove the agreement. UNDECIDABLE: the form is genuinely ambiguous even after using context. UNPARSED: the analyser could not read it. Avoidant is never counted as incorrect, and unparsed outputs are reported with their own count, never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these outcomes we compute two numbers. Commitment is the share of items on which the system actually chose a value: CORRECT or WRONG. Accuracy is measured only among the items where it committed: how many of those choices were right. Here is a worked example with ten outputs: six correct, two wrong, two avoidant. Commitment is eight out of ten, 80 percent. Accuracy is six out of eight, 75 percent. Keeping these two apart matters: a system can look "inaccurate" simply because it avoids, or look "accurate" while rarely committing. Cells with fewer than 30 committed items, or under 30 percent commitment, are printed as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describes which translation systems we tested and how we ran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listing the systems, a few words that come up. A language model, often called an LLM for large language model, is a large neural network trained on huge amounts of text; it continues text, and it translates when you ask it to. What you ask is called the prompt, for example "Translate the following English sentence into Tamil". Model size is counted in parameters, the numbers inside the network that are learned during training; 4B means about 4 billion. Fine-tuning means extra training on one narrow task, such as translation. A dedicated machine-translation system is a network built only to translate: it reads the English and writes the Tamil, and needs no prompt. "Neural" simply means built from a trained neural network rather than hand-written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13 openly available systems. Eleven are general large language models that we prompt to translate: Gemma 3 at four sizes, Gemma 3n at two sizes, Qwen3 at three sizes, and Llama 3.1 8B. One, Sarvam-Translate, is a Gemma 3 4B model fine-tuned specifically for Indian-language translation. Two are dedicated translation systems of the classic encoder–decoder type: NLLB-200 3.3B from Meta and IndicTrans2 1B from AI4Bharat. They take no prompt. By decision, no commercial frontier system was included; the largest model has 32 billion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panel was not chosen to find the best system. It was chosen to make three comparisons possible. First, size: Gemma 3 at 1, 4, 12 and 27 billion parameters is a scale series within one family. Second, family: Qwen3 and Llama 3.1 give different model families at roughly similar size. Third, architecture: NLLB-200 and IndicTrans2 are dedicated translation systems rather than general chat models. And Sarvam-Translate is built from Gemma 3 4B, so comparing the two isolates the effect of translation fine-tuning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Settings were fixed so the runs can be reproduced. Language models used greedy decoding, meaning they always pick the single most likely next word, so there is no randomness. The dedicated MT systems used beam search at their standard default settings. There were 37 runs in total, each recording the exact model version and configuration. We score the text each system actually generates. The alternative, asking which of two answers the model finds more likely, needs access to the model's internal probabilities, which many systems do not expose, so we did not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language models, the wording of the instruction matters. We measured this directly. Across the 73 result cells where more than one prompt gave a reportable accuracy, the typical spread between the best and worst prompt was 7.5 percentage points, and the worst case was 82.5 points. So we hold one prompt fixed for every system in each headline number. That keeps comparisons between systems fair. But no single accuracy number should be read as a fixed property of a system; it is a property of the system with that prompt. For the prior-sentence condition, the prompt marks the sentence to translate and tells the system not to translate the context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cue-free condition there is no correct answer, so accuracy makes no sense. Instead we ask: what value does the system choose, and how does that compare with how often each value appears in ordinary Tamil text? We counted this "corpus prior" in three large Tamil text collections. The three collections disagree quite a lot, so we always report the prior as a range, never as one number. That lets us say "this system deviates from general Tamil text frequency", but not "this system copies its own training data", because no system's training data was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explains each metric in simple terms, then exactly how we tested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pipeline on one slide. We take an English test sentence from TamilLingBench. Each of the 13 systems translates it into Tamil. Our analyser reads the Tamil verb ending and labels the output: correct, wrong, or avoidant. From those labelled outputs we build pairs: the same sentence with the right ending and with the wrong or neutral ending. Then each of the eight metrics scores both members of every pair, and we look at whether, and by how much, each metric prefers the correct one. Sections 3 and 4 covered the first three steps. This section covers the last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eight widely used metrics. Six are reference-based: they compare the output with a reference translation. Two are reference-free, or quality-estimation, metrics: they see only the source and the output. Six are neural: they are trained neural networks that learned to predict human quality judgements. Two, chrF2 and chrF++, are not neural at all: they count how many short character sequences the output shares with the reference. Their score ranges differ: 0 to 1, 0 to 25, or 0 to 100. For MetricX, lower is better on the raw scale; we flip it so that higher is always better in our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item "The dogs came at dawn". The correct Tamil uses the non-people ending, வந்தன. Suppose a system writes வந்தார்கள், the people ending. A reference-based metric has the correct reference in front of it, so it can see that the output differs from the reference in exactly that word. A reference-free metric has only the English and the output. To notice the error it must itself know that dogs are not people in Tamil grammar, and that the verb therefore needs the non-people ending. That is a much harder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real pair from our controlled evidence, with the scores the metrics actually gave. The only difference between the two Tamil sentences is the verb ending. CometKiwi, a reference-free metric, gave the wrong sentence a slightly higher score than the correct one: 0.885 against 0.882. COMET-22, a reference-based metric, preferred the correct one: 0.983 against 0.958. One caution: in this constructed arm the reference given to COMET-22 is the correct sentence itself, so part of its success is built in. This is a single example to show the idea; the results in section 6 are over thousands of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 the metrics on 6,231 scored records, grouped into three kinds of evidence that we call arms. The controlled arm is constructed: we take a translation and change only the agreement ending, and the analyser confirms that the changed version carries the wrong value. The natural arm is not constructed: it is a mistake a system really made, paired with the same sentence fixed. The avoidance arm is the respectful form வந்தார் that systems produced instead of choosing a gender, paired with the gendered version. The three arms do not always agree, so every number we report names its 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real natural-arm pair. NLLB-200, one of the dedicated translation systems, translated "The doctors came by the old wall" with the ending வந்தது, which is the singular non-people ending: it treats the doctors as a thing. The repair is the same sentence with only the ending corrected to the people ending வந்தார்கள். The repair is made automatically and checked by the analyser. On this particular pair both CometKiwi and COMET-22 prefer the repair. But across all 1,479 real errors, CometKiwi ranks the correct version first only 42.3 percent of the time, as Result 2 shows. One pair illustrates the method; the results come from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measurement is direction. For each pair, did the metric give the correct version a higher score than the wrong one? The win rate is the percentage of pairs where it did. Fifty percent is what you would get by flipping a coin. A metric that sees the error well should be far above fifty percent. A metric below fifty percent is doing worse than a coin: it prefers the wrong version more often than the right one. The grid shows 42 out of 100, which is roughly what CometKiwi achieves on real system errors, as we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is not enough. A metric might always prefer the correct version, but by a tiny amount that nobody would act on. So we also measure size. Kocmi and colleagues (2024) estimated, for each metric, how big a score difference must be before human judges agree with the metric three times out of four. We call that the 75 percent agreement threshold. We then express each metric's penalty as a multiple of that threshold. One times means "just big enough to be noticeable". Eight times means very large. Three metrics have no published threshold, so we leave them uncalibrated rather than borrow another metric's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measurement is about avoiding. For each avoidance record we take the score of the neutral form minus the score of the correctly gendered form. Averaged over all 1,252 records, this is the avoidance penalty. Because it is an average over a sample, it has uncertainty, which we express as a 95 percent confidence interval, computed by bootstrap resampling. If the interval includes zero, we cannot claim that the metric charges anything at all for avoiding. We also express each penalty as a percentage of that metric's score range, so that metrics on 0 to 1 and 0 to 100 scales can be compared.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practical difficulty. Our gold answers are only the key words that carry the slot, usually about two words, while the English sources are five to nine words long. So there is no full human reference sentence to give the reference-based metrics. We follow the method of two established metric test sets, DEMETR and ACES: we use the correct version of the pair itself as the reference. That can flatter reference-based metrics, because the correct candidate is then identical to the reference. To check how much, we also re-scored using another system's independent translation as the reference. COMET-22's success rate dropped from 100 percent to 92.1 percent: still very high. This check was done for COMET-22's ranking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the metric study, we wrote down our prediction and froze it. This practice is called pre-registration. It stops researchers from quietly changing their hypothesis after they see the data, sometimes called "moving the goalposts". Our prediction was that neural metrics would not charge a human-noticeable penalty for a single wrong agreement morpheme. A morpheme is the smallest meaningful piece of a word; here, the verb ending. As the next section shows, the prediction turned out to be wrong for the reference-based neural metrics, and we report it as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statistical safeguards sit behind every number. First, we run many tests, and running many tests makes chance findings more likely, so win rates are corrected with the Holm-Bonferroni method within each family of related tests; there are 257 families. Second, items built from the same template are similar, so they are not treated as independent; confidence intervals resample whole templates, which is called a cluster bootstrap. Third, de-confounding: metrics prefer natural, unedited text over text we edited. So in the controlled arm, part of the penalty is just "this sentence was edited". We remove that effect by comparing the controlled and natural arms on the same items, which leaves only the slot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gives the main results of the paper: what each metric charges for an obligatory-slot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first result, and it goes against what we expected. We predicted neural metrics would not charge a noticeable penalty. Of the four neural metrics that have a published human threshold, three charge far more than that threshold: COMET-22 charges 8.52 times the noticeable difference, xCOMET-XL 6.55 times, and MetricX-23 2.16 times. The prediction held only for CometKiwi-22, a reference-free metric, at 0.35 times. chrF2, which is not neural and was never part of the prediction, also charges a lot: 9.78 times. So the penalty is not specific to learned metrics. "Neural metrics are blind to morpheme errors" is simply not true as a general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real errors. The natural arm contains 1,479 mistakes that the systems themselves made, each paired with the same sentence corrected. Nothing is constructed. On these pairs, CometKiwi-22 ranks the correct version higher only 42.3 percent of the time, and MetricX-24-QE only 38.5 percent. Both are below the 50 percent of a coin flip, meaning that more often than not they prefer the wrong version. Every reference-based metric stays above 50 percent on the same pairs; the weakest is MetricX-23 at 51.3 percent. Two reference-free metrics from two different labs fail in the same way, which suggests the problem comes from the reference-free setting, not from one particular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avoidance arm contains 1,252 real outputs where a system used the neutral respectful form instead of the gender the source gave. How much does each metric lower its score for that? The chart shows the average penalty as a percentage of each metric's score range. The reference-based metrics charge a clear penalty whose confidence interval excludes zero, except MetricX-23, which is close to zero. Both reference-free metrics show a penalty that is essentially zero, even slightly negative, and their confidence intervals include zero. For CometKiwi, the average penalty is minus 0.000965 on a 0 to 1 scale, with an interval from minus 0.00426 to plus 0.00275. In plain words: a reference-free metric does not charge anything for skipping the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real avoidance pair. The English is "Akaran cried at noon"; Akaran is a masculine name, so the masculine ending was expected. Gemma 3 12B wrote the neutral respectful form அழுதார் instead of the masculine அழுதான். The name is spelled as the system wrote it. CometKiwi, the reference-free metric, gave the neutral version 0.8844 and the masculine version 0.8840: essentially identical, in fact a hair higher for the neutral one. COMET-22, which sees a reference, gave 0.968 against 0.988: a clear penalty for dropping the gender. This single pair shows in miniature what Result 3 shows over 1,252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paper's main results table, reproduced in full. Each row is a metric. "Uses reference" says whether it sees a reference. "Scale" is its score range. "Win" is the win rate on real errors from Result 2. "× noticeable" is the de-confounded penalty as a multiple of the human threshold from Result 1; n/a means no published threshold. "Avoidance penalty" is the average penalty for the neutral form as a percentage of the scale, from Result 3, and the last column says whether its confidence interval includes zero. Read the bottom two rows, the reference-free metrics, against the rest: they win on less than half of the real errors, and their avoidance interval includes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title makes sense. "Obligatory slots" is the name for places where the target language forces a choice. "Under reference-free evaluation" means: when translations are judged without a human reference, which is how most live monitoring works. "Dropping a distinction the source never made" means using a form that avoids the choice, like the neutral வந்தார். "Is free" means the metric does not lower the score for it. The qualifier "under reference-free evaluation" is essential: most reference-based metrics do charge for it, and the title would be false without that qualifier.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1 of the paper. The top panel uses constructed pairs, the bottom panel real errors. In the constructed pairs, CometKiwi scores 99.2 percent on number, which English marks in grammar, but only 80.2 percent on rationality and 79.1 percent on gender, which English leaves to the meaning of the noun or the name. MetricX-24-QE gives 99.7, 88.9 and 81.9 percent. So a metric ranks best what English makes easiest to recover. Three honest qualifications follow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recoverability pattern comes with three qualifications, and they are not small. First, it appears only in the constructed arm. On real errors it disappears: CometKiwi scores 44.3 percent on number and 61.6 percent on rationality. Second, it is not special to reference-free metrics. The reference-based MetricX-23 separates the slots even more, 89.8 versus 57.9 percent, while xCOMET-XL is almost flat, 96.5 versus 93.9 percent. Third, the strongest evidence came from two slots that were later withdrawn, honorifics and inclusive/exclusive "we", where CometKiwi scored 67.9 and 20.7 percent. Losing them removes the strongest part of the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xCOMET is special: besides a score, it claims to mark exactly where the errors are, and how serious they are. We checked this against the exact position of the wrong ending, using swapped numbers and swapped names in the same sentences as positive controls. xCOMET does flag the region containing the ending on 91.1 percent of items. But the region it flags covers 71.2 percent of the sentence on average, while the actual ending is only about 3.3 characters long. At the usual standard of at least half overlap, it hits the error only 9.4 percent of the time. And it also flags 72.9 percent of correct, unchanged sentences. So it detects that something is somewhere, but it does not locate the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more striking finding is about severity. When xCOMET does flag the wrong agreement ending, it calls it "critical" only 6.3 percent of the time. For comparison, in the same sentences, a swapped person name is called critical 67.7 percent of the time, and even a duplicated word, which is the textbook example of a minor error in the DEMETR study, is called critical 52.4 percent of the time. So xCOMET treats repeating a word as far more serious than turning a person into an animal or an object, grammatically speaking. Because the controls are in the same sentences, this cannot be explained by xCOMET simply being weak on Tamil.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obvious idea is to retrain the metric on examples of this error. Earlier work by Amrhein and Sennrich, and by Singh and colleagues, measures how far this can close a metric's blind spot, and in both cases the feature was marked in the source. That made it possible to generate training examples automatically: take a sentence, change the marked feature, and you know what the right answer is. With an unmarked distinction, the source does not tell you the right answer, so that automatic recipe does not work. Retraining is therefore not a simple fix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turns from metrics to the translation systems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instructed condition checks whether a system can produce a form when told to. Our original instruction was flawed: it named our internal label codes instead of the Tamil form. It literally said "realising the rationality value 'UYAR' on the verb", and a model has no way to know what UYAR means. With an instruction that names the Tamil form, accuracy changes by up to 75 points. For example, Gemma 3 27B goes from 80 to 100 percent on gender and from 50 to 100 percent on number. We report both versions side by side across all 55 cells. Even with the fixed wording, only 6 of 11 systems clearly beat chance on gender, and none of 11 on rationality. So a low rationality score cannot be separated from simple inability to produce the form 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rationality, compare the in-sentence clue with the prior-sentence clue. With the clue in the previous sentence, systems become more willing to commit to a value: commitment rises on 12 of the 13 systems. The range goes from 73.7 to 90.3 percent with an in-sentence clue, to 66.2 to 100 percent with a prior-sentence clue. But accuracy among the committed items goes down: from 88.4 to 100 percent, to 49.6 to 95.1 percent. So the context sentence stops systems from avoiding, and makes them commit anyway, often wrongly. This holds for four model families and both dedicated MT systems. One caveat: only one prompt was used for the prior-sentence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2 of the paper. Each row is one system, each panel one slot. Each bar splits that system's items into outcomes: green is correct, orange is wrong, blue hatched is avoidant, grey dotted is unparsed. In rationality most systems commit on nearly every item, with a large wrong share. In gender, much of the bar is blue: systems frequently avoid by using the neutral form, and Llama 3.1 8B avoids most of the time. In number, Gemma 3 1B has a large unparsed share. Avoidance is drawn in its own colour family because declining to choose is a different event from choosing wrongly.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reference, this is Figure 3 of the paper: how often each system commits to a value when the clue is in the previous sentence. On the left, the four Gemma 3 sizes, joined by lines because they form a size series. On the right, the other systems as separate markers, with the dedicated MT systems to the right of the dotted line. Rationality commitment is near 100 percent almost everywhere. Gender commitment varies a lot: Llama 3.1 8B commits on only 22.7 percent of gender items, Sarvam-Translate on 96.8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compare the in-sentence condition with the cue-free condition, where the clue is simply removed. In gender, commitment falls on all 13 systems, by 4.1 to 42.4 points: without a clue, systems tend to use the neutral form. In rationality, commitment falls on none of the 13 systems: they answer a clue-less item as confidently as a clued one. In number it falls on 5 of 13, but the number results are not interpreted because of a checker problem in that slot, explained in the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cue-free rationality items, where "they" could be people or not, every system chooses the people form on almost every item: between 96.1 and 100 percent of committed outputs; Gemma 3 27B chooses it on 100 percent. For comparison, in ordinary Tamil text the people form's share lies somewhere between 34.5 and 69.6 percent, depending on which text collection you count. So the systems' default is real, very strong, and differs from general Tamil text frequency. We cannot say where it comes from, because no system's training data was measured. In gender, among systems with enough committed items, five default to masculine and three to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explicit about what the model results do not support. The number control does not function on these items: among committed items with a prior-sentence clue, number accuracy is only 46.9 to 86.7 percent against a chance level of 50 percent, and our analyser scores part of the number gold unevenly across conditions. So we draw no comparison between slots anywhere in the paper. Gender shows no reliable direction between the two clue positions. And the prior-sentence condition used a single prompt, so we cannot separate the effect of clue position from the effect of that prompt. That is why this section is labelled "provisional".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 looks inside one language model to see at what depth each choice is settled.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language model processes text through a stack of layers, one after another. Each layer updates an internal representation of every word, which we can think of as the model's running notes. Early layers are near the input, late layers near the output. We describe the position of a layer as its normalised depth: 0 is the first layer, 1 is the last, and 0.5 is halfway. The question of this section is: at what depth has the model already decided which verb ending to produce? We study one model, Gemma 3 4B in its base, pre-trained form, called gemma-3-4b-pt.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Activation patching is a way to find where a decision lives. We take a minimal pair of inputs that differ only in the clue, for example "The students came" and "The dogs came". We run the model on both and save its internal state at every layer. Then we run the "dogs" input again, but at one chosen layer we paste in the internal state from the "students" run, at the position where the verb is being produced. If the output now switches to the people ending, that layer already carried the decision. We repeat this at every depth and in both directions. The onset is the first depth where pasting restores at least half of the difference between the two answers, and keeps doing so at every later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onset depths. Number, which English marks with -s, is settled at 0.561 of the way through the network, roughly the middle. Gender, which English marks only through names, is settled at 0.731. Rationality, which English does not mark at all, is not settled until 0.888, close to the output. Gender lies in between, but only one comparison was pre-registered: the gap between rationality and number, which is 0.327, with a 95 percent interval of 0.301 to 0.339. It excludes zero and clears the minimum of 0.200 we had set in advance, and both patching directions agree. The number control also behaves as earlier research reported: patching restores up to 0.992 of the effect, which confirms the method works on our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pre-registered plan included a second method, a layer-by-layer linear probe. A probe is a small classifier trained to read a feature, such as rationality, directly from a layer's internal state. The plan required it to beat simple surface-word controls by 0.75 AUC, a measure of classification quality. It did not come close: the best excess was 0.29 for rationality, 0.18 for number and 0.02 for gender. So the plan's own stopping rule fired, and we dropped the probe instead of adjusting the threshold. The main result survives because the plan made patching the primary method and the probe secondary. But the failure has a cost: we make no claim about when the feature becomes readable, and a further analysis, a tuned lens, was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 describes a mistake in our own first version of the test set, how we found it, and what we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release produced a neat result on gender: most language models almost never committed to a gender with a prior-sentence clue, while the dedicated MT systems did. We retract it. It was caused by how the items were built, not by the systems. On the corrected items the result reverses. The 11 prompted systems commit at a median of 75.4 percent, against 47.7 to 71.4 percent for the two dedicated MT systems, and 7 of the 11 exceed both of them. The chart shows gender commitment for each system on the first release in grey, and on the corrected release in colour. The same systems move by up to 96.8 points; every other slot moves by at most 26.8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separate flaws were behind the false result. First, a neutral pronoun: the prior-sentence items used singular "they" for a woman, in the one slot where Tamil has a neutral form. So a system that translated "they" neutrally was producing a correct translation, but our scorer called it avoidance. Second, the two cued conditions gave the clue in different ways: the in-sentence items relied on knowing whether a Tamil name is male or female, which is world knowledge, while the prior-sentence items said it explicitly in English, which is just reading. So the prior-sentence items were actually easier, on 11 of 13 systems. Third, the check for systems translating the wrong sentence looked only at output length, so it missed systems that translated the context sentence instead of the target. Gemma 3 1B's output missed the target sentence's own verb on 98.2 percent of prior-sentence gender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flaws were found by one deliberately simple automatic check. For every slot and condition, it asks: does the English source contain any word that expresses the feature the gold answer commits to? For example, if the gold is feminine, is there any feminine word in the English? It uses word lists, not clever parsing, so it can run on every build and every decision can be checked by hand. On the first release it found 1,141 items that could not be answered from their source, across 12 categories. On the corrected release it finds zero, and it now stops the build if that changes. The flawed first release is kept, and its findings are fixed in the test suite, so the audit is continuously shown to catch a real defect.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repair 5: the analyser had been marking the correct form ஓடின as wrong. That repair came after the panel was first scored, so we re-scored all 54,443 records from the same raw outputs. 728 outcomes changed: 725 in rationality and 3 elsewhere, and no headline number of any other slot moved. 717 rationality outcomes became correct: 512 had been unparsed and 139 had been wrong. All of them were on non-people items, where that plural form is the target. In-sentence rationality commitment rose from 58.3 to 75.0 percent before, to 73.7 to 90.3 percent after, up to 21.1 points on one system. The old analyser was under-counting commitment, not inventing errors. And the metric results did not change: all 73 natural-arm and all 1,415 controlled-arm rationality errors are still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native Tamil speakers verified the benchmark, and their rulings corrected the shipped data in two places. First, second-person address in ordinary statements has two levels: நீ and நீர் on one side, நீங்கள் and தாங்கள் on the other. Second, a plural non-people subject must take the plural ending: நாய்கள் வந்தன, "the dogs came", is correct, while நாய்கள் வந்தது, with the singular ending, is wrong. The broader lesson: an automatic tool can confirm that a form is internally consistent, but not that it is real Tamil. Two forms that passed the analyser's own round-trip check turned out to have no occurrences in our Tamil text collections; one of them, for example, appears zero times in 105 million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 states the limits of the study and closes with the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has real limits. It covers one language, written Tamil, and one kind of agreement system, which may not carry over to other languages. All systems are open-weight models, the largest with 32 billion parameters, so we cannot say how large commercial systems behave. The number control is withheld from every clue-position result, because our analyser correctly reads only 498 of the 580 number gold forms, and unevenly across conditions. The prior-sentence condition used one prompt. One analyser repair moved a headline number by up to 21.1 points, and a flaw not yet found could move it again. The probe study failed. And the "human-noticeable" threshold is taken from Kocmi and colleagues; we did not run our own human study on these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should a practitioner take from this? If Tamil translation quality is monitored only with a reference-free metric, errors in these obligatory slots, a person put into the non-people class or the wrong gender, will largely go unnoticed, and a system that avoids the choice will not be penalised at all. Reference-based metrics do charge for these errors, but they need references, which live systems do not have. So for these distinctions, a targeted check, like the morphological analyser in this benchmark, is a sensible addition. And xCOMET's severity labels should not be trusted to flag them as serious. These points follow from the results; they are our reading, not separate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pre-registered prediction, that neural metrics cannot see a single obligatory morpheme, is false for the neural reference-based metrics, and we report that. What survives is narrower and harder to explain away. On the errors these systems actually make, both reference-free metrics rank the wrong output first more often than not. And under both, the form that drops the distinction carries a penalty whose confidence interval includes zero. Reference-based metrics do charge for it. So the claim is specifically about what reference-free evaluation can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quick reference, the key numbers of the paper on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glossary collects every technical term used in the deck, each explained in one plain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glossary collects every technical term used in the deck, each explained in one plain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one sentence to remember is on the slide: when translations are judged without a reference, a system that simply avoids a choice the English never made is not penalised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side lesson is worth sharing. Our plan said to store the internal states in 16-bit floating point, float16, to save memory. On Gemma 3 that fails: the values in the upper third of the network grow larger than 65,504, the largest number float16 can hold, and those are exactly the depths this result is about. We checked on 200 real Tamil prompts: with 32-bit floats, the results matched the reference implementation on all 200 predictions, with a tiny maximum error of 0.0000467. With bfloat16, another 16-bit format, only 197 of 200 matched and the error reached 0.25, larger than several of the effects we measure. So the study uses float32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731520" y="502920"/>
            <a:ext cx="10058400" cy="320040"/>
          </a:xfrm>
          <a:prstGeom prst="rect">
            <a:avLst/>
          </a:prstGeom>
          <a:noFill/>
          <a:ln/>
        </p:spPr>
        <p:txBody>
          <a:bodyPr wrap="square" lIns="0" tIns="0" rIns="0" bIns="0" rtlCol="0" anchor="ctr"/>
          <a:lstStyle/>
          <a:p>
            <a:pPr indent="0" marL="0">
              <a:buNone/>
            </a:pPr>
            <a:r>
              <a:rPr lang="en-US" sz="1300" b="1" spc="300" kern="0" dirty="0">
                <a:solidFill>
                  <a:srgbClr val="E39B2D"/>
                </a:solidFill>
                <a:latin typeface="Calibri" pitchFamily="34" charset="0"/>
                <a:ea typeface="Calibri" pitchFamily="34" charset="-122"/>
                <a:cs typeface="Calibri" pitchFamily="34" charset="-120"/>
              </a:rPr>
              <a:t>WMT 2026 · CONFERENCE ON MACHINE TRANSLATION</a:t>
            </a:r>
            <a:endParaRPr lang="en-US" sz="1300" dirty="0"/>
          </a:p>
        </p:txBody>
      </p:sp>
      <p:sp>
        <p:nvSpPr>
          <p:cNvPr id="3" name="Text 1"/>
          <p:cNvSpPr/>
          <p:nvPr/>
        </p:nvSpPr>
        <p:spPr>
          <a:xfrm>
            <a:off x="731520" y="1051560"/>
            <a:ext cx="10515600" cy="91440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Obligatory Slots</a:t>
            </a:r>
            <a:endParaRPr lang="en-US" sz="5400" dirty="0"/>
          </a:p>
        </p:txBody>
      </p:sp>
      <p:sp>
        <p:nvSpPr>
          <p:cNvPr id="4" name="Text 2"/>
          <p:cNvSpPr/>
          <p:nvPr/>
        </p:nvSpPr>
        <p:spPr>
          <a:xfrm>
            <a:off x="731520" y="2011680"/>
            <a:ext cx="11155680" cy="822960"/>
          </a:xfrm>
          <a:prstGeom prst="rect">
            <a:avLst/>
          </a:prstGeom>
          <a:noFill/>
          <a:ln/>
        </p:spPr>
        <p:txBody>
          <a:bodyPr wrap="square" lIns="0" tIns="0" rIns="0" bIns="0" rtlCol="0" anchor="ctr"/>
          <a:lstStyle/>
          <a:p>
            <a:pPr indent="0" marL="0">
              <a:buNone/>
            </a:pPr>
            <a:r>
              <a:rPr lang="en-US" sz="2100" dirty="0">
                <a:solidFill>
                  <a:srgbClr val="C9D2E3"/>
                </a:solidFill>
                <a:latin typeface="Georgia" pitchFamily="34" charset="0"/>
                <a:ea typeface="Georgia" pitchFamily="34" charset="-122"/>
                <a:cs typeface="Georgia" pitchFamily="34" charset="-120"/>
              </a:rPr>
              <a:t>Under Reference-Free Evaluation, Dropping a Distinction the Source Never Made Is Free</a:t>
            </a:r>
            <a:endParaRPr lang="en-US" sz="2100" dirty="0"/>
          </a:p>
        </p:txBody>
      </p:sp>
      <p:sp>
        <p:nvSpPr>
          <p:cNvPr id="5" name="Text 3"/>
          <p:cNvSpPr/>
          <p:nvPr/>
        </p:nvSpPr>
        <p:spPr>
          <a:xfrm>
            <a:off x="731520" y="3429000"/>
            <a:ext cx="2926080" cy="731520"/>
          </a:xfrm>
          <a:prstGeom prst="rect">
            <a:avLst/>
          </a:prstGeom>
          <a:noFill/>
          <a:ln/>
        </p:spPr>
        <p:txBody>
          <a:bodyPr wrap="square" lIns="0" tIns="0" rIns="0" bIns="0" rtlCol="0" anchor="ctr"/>
          <a:lstStyle/>
          <a:p>
            <a:pPr indent="0" marL="0">
              <a:buNone/>
            </a:pPr>
            <a:r>
              <a:rPr lang="en-US" sz="3200" i="1" dirty="0">
                <a:solidFill>
                  <a:srgbClr val="FFFFFF"/>
                </a:solidFill>
                <a:latin typeface="Georgia" pitchFamily="34" charset="0"/>
                <a:ea typeface="Georgia" pitchFamily="34" charset="-122"/>
                <a:cs typeface="Georgia" pitchFamily="34" charset="-120"/>
              </a:rPr>
              <a:t>They came.</a:t>
            </a:r>
            <a:endParaRPr lang="en-US" sz="3200" dirty="0"/>
          </a:p>
        </p:txBody>
      </p:sp>
      <p:sp>
        <p:nvSpPr>
          <p:cNvPr id="6" name="Shape 4"/>
          <p:cNvSpPr/>
          <p:nvPr/>
        </p:nvSpPr>
        <p:spPr>
          <a:xfrm>
            <a:off x="3703320" y="3794760"/>
            <a:ext cx="914400" cy="0"/>
          </a:xfrm>
          <a:prstGeom prst="line">
            <a:avLst/>
          </a:prstGeom>
          <a:noFill/>
          <a:ln w="31750">
            <a:solidFill>
              <a:srgbClr val="E39B2D"/>
            </a:solidFill>
            <a:prstDash val="solid"/>
            <a:tailEnd type="triangle"/>
          </a:ln>
        </p:spPr>
      </p:sp>
      <p:sp>
        <p:nvSpPr>
          <p:cNvPr id="7" name="Shape 5"/>
          <p:cNvSpPr/>
          <p:nvPr/>
        </p:nvSpPr>
        <p:spPr>
          <a:xfrm>
            <a:off x="4846320" y="3337560"/>
            <a:ext cx="3566160" cy="914400"/>
          </a:xfrm>
          <a:prstGeom prst="roundRect">
            <a:avLst>
              <a:gd name="adj" fmla="val 12000"/>
            </a:avLst>
          </a:prstGeom>
          <a:solidFill>
            <a:srgbClr val="1F3057"/>
          </a:solidFill>
          <a:ln w="31750">
            <a:solidFill>
              <a:srgbClr val="E39B2D"/>
            </a:solidFill>
            <a:prstDash val="dash"/>
          </a:ln>
        </p:spPr>
      </p:sp>
      <p:sp>
        <p:nvSpPr>
          <p:cNvPr id="8" name="Text 6"/>
          <p:cNvSpPr/>
          <p:nvPr/>
        </p:nvSpPr>
        <p:spPr>
          <a:xfrm>
            <a:off x="4846320" y="3337560"/>
            <a:ext cx="3566160" cy="914400"/>
          </a:xfrm>
          <a:prstGeom prst="rect">
            <a:avLst/>
          </a:prstGeom>
          <a:noFill/>
          <a:ln/>
        </p:spPr>
        <p:txBody>
          <a:bodyPr wrap="square" lIns="0" tIns="0" rIns="0" bIns="0" rtlCol="0" anchor="ctr"/>
          <a:lstStyle/>
          <a:p>
            <a:pPr algn="ctr" indent="0" marL="0">
              <a:buNone/>
            </a:pPr>
            <a:r>
              <a:rPr lang="en-US" sz="2500" dirty="0">
                <a:solidFill>
                  <a:srgbClr val="FFFFFF"/>
                </a:solidFill>
                <a:latin typeface="Calibri" pitchFamily="34" charset="0"/>
                <a:ea typeface="Calibri" pitchFamily="34" charset="-122"/>
                <a:cs typeface="Calibri" pitchFamily="34" charset="-120"/>
              </a:rPr>
              <a:t>வந்தார்கள்  or  வந்தன</a:t>
            </a:r>
            <a:endParaRPr lang="en-US" sz="2500" dirty="0"/>
          </a:p>
        </p:txBody>
      </p:sp>
      <p:sp>
        <p:nvSpPr>
          <p:cNvPr id="9" name="Text 7"/>
          <p:cNvSpPr/>
          <p:nvPr/>
        </p:nvSpPr>
        <p:spPr>
          <a:xfrm>
            <a:off x="8641080" y="3429000"/>
            <a:ext cx="3200400" cy="731520"/>
          </a:xfrm>
          <a:prstGeom prst="rect">
            <a:avLst/>
          </a:prstGeom>
          <a:noFill/>
          <a:ln/>
        </p:spPr>
        <p:txBody>
          <a:bodyPr wrap="square" lIns="0" tIns="0" rIns="0" bIns="0" rtlCol="0" anchor="ctr"/>
          <a:lstStyle/>
          <a:p>
            <a:pPr indent="0" marL="0">
              <a:buNone/>
            </a:pPr>
            <a:r>
              <a:rPr lang="en-US" sz="1600" dirty="0">
                <a:solidFill>
                  <a:srgbClr val="C9D2E3"/>
                </a:solidFill>
                <a:latin typeface="Calibri" pitchFamily="34" charset="0"/>
                <a:ea typeface="Calibri" pitchFamily="34" charset="-122"/>
                <a:cs typeface="Calibri" pitchFamily="34" charset="-120"/>
              </a:rPr>
              <a:t>Tamil must choose. English never said.</a:t>
            </a:r>
            <a:endParaRPr lang="en-US" sz="1600" dirty="0"/>
          </a:p>
        </p:txBody>
      </p:sp>
      <p:sp>
        <p:nvSpPr>
          <p:cNvPr id="10" name="Text 8"/>
          <p:cNvSpPr/>
          <p:nvPr/>
        </p:nvSpPr>
        <p:spPr>
          <a:xfrm>
            <a:off x="731520" y="5120640"/>
            <a:ext cx="10972800" cy="8229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Luxshan Thavarasa</a:t>
            </a:r>
            <a:r>
              <a:rPr lang="en-US" sz="1600" dirty="0">
                <a:solidFill>
                  <a:srgbClr val="FFFFFF"/>
                </a:solidFill>
                <a:latin typeface="Calibri" pitchFamily="34" charset="0"/>
                <a:ea typeface="Calibri" pitchFamily="34" charset="-122"/>
                <a:cs typeface="Calibri" pitchFamily="34" charset="-120"/>
              </a:rPr>
              <a:t> ¹   </a:t>
            </a:r>
            <a:r>
              <a:rPr lang="en-US" sz="1600" b="1" dirty="0">
                <a:solidFill>
                  <a:srgbClr val="FFFFFF"/>
                </a:solidFill>
                <a:latin typeface="Calibri" pitchFamily="34" charset="0"/>
                <a:ea typeface="Calibri" pitchFamily="34" charset="-122"/>
                <a:cs typeface="Calibri" pitchFamily="34" charset="-120"/>
              </a:rPr>
              <a:t>Jubeerathan Thevakumar</a:t>
            </a:r>
            <a:r>
              <a:rPr lang="en-US" sz="1600" dirty="0">
                <a:solidFill>
                  <a:srgbClr val="FFFFFF"/>
                </a:solidFill>
                <a:latin typeface="Calibri" pitchFamily="34" charset="0"/>
                <a:ea typeface="Calibri" pitchFamily="34" charset="-122"/>
                <a:cs typeface="Calibri" pitchFamily="34" charset="-120"/>
              </a:rPr>
              <a:t> ²   </a:t>
            </a:r>
            <a:r>
              <a:rPr lang="en-US" sz="1600" b="1" dirty="0">
                <a:solidFill>
                  <a:srgbClr val="FFFFFF"/>
                </a:solidFill>
                <a:latin typeface="Calibri" pitchFamily="34" charset="0"/>
                <a:ea typeface="Calibri" pitchFamily="34" charset="-122"/>
                <a:cs typeface="Calibri" pitchFamily="34" charset="-120"/>
              </a:rPr>
              <a:t>Sivasuthan Sukumar</a:t>
            </a:r>
            <a:r>
              <a:rPr lang="en-US" sz="1600" dirty="0">
                <a:solidFill>
                  <a:srgbClr val="FFFFFF"/>
                </a:solidFill>
                <a:latin typeface="Calibri" pitchFamily="34" charset="0"/>
                <a:ea typeface="Calibri" pitchFamily="34" charset="-122"/>
                <a:cs typeface="Calibri" pitchFamily="34" charset="-120"/>
              </a:rPr>
              <a:t> ²</a:t>
            </a:r>
            <a:endParaRPr lang="en-US" sz="1600" dirty="0"/>
          </a:p>
          <a:p>
            <a:pPr indent="0" marL="0">
              <a:buNone/>
            </a:pPr>
            <a:r>
              <a:rPr lang="en-US" sz="1200" dirty="0">
                <a:solidFill>
                  <a:srgbClr val="9FAAC0"/>
                </a:solidFill>
                <a:latin typeface="Calibri" pitchFamily="34" charset="0"/>
                <a:ea typeface="Calibri" pitchFamily="34" charset="-122"/>
                <a:cs typeface="Calibri" pitchFamily="34" charset="-120"/>
              </a:rPr>
              <a:t>¹ Independent Researcher, Colombo, Sri Lanka     ² Dept. of Computer Science and Engineering, University of Moratuwa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0</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IN ONE MINUTE</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The whole paper in four sentences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2</a:t>
            </a:r>
            <a:endParaRPr lang="en-US" sz="900" dirty="0"/>
          </a:p>
        </p:txBody>
      </p:sp>
      <p:sp>
        <p:nvSpPr>
          <p:cNvPr id="9" name="Shape 6"/>
          <p:cNvSpPr/>
          <p:nvPr/>
        </p:nvSpPr>
        <p:spPr>
          <a:xfrm>
            <a:off x="548640" y="1828800"/>
            <a:ext cx="566928" cy="566928"/>
          </a:xfrm>
          <a:prstGeom prst="ellipse">
            <a:avLst/>
          </a:prstGeom>
          <a:solidFill>
            <a:srgbClr val="1F3057"/>
          </a:solidFill>
          <a:ln w="12700">
            <a:solidFill>
              <a:srgbClr val="1F3057"/>
            </a:solidFill>
            <a:prstDash val="solid"/>
          </a:ln>
        </p:spPr>
      </p:sp>
      <p:sp>
        <p:nvSpPr>
          <p:cNvPr id="10" name="Text 7"/>
          <p:cNvSpPr/>
          <p:nvPr/>
        </p:nvSpPr>
        <p:spPr>
          <a:xfrm>
            <a:off x="548640" y="18288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1" name="Text 8"/>
          <p:cNvSpPr/>
          <p:nvPr/>
        </p:nvSpPr>
        <p:spPr>
          <a:xfrm>
            <a:off x="1325880" y="1783080"/>
            <a:ext cx="10241280" cy="384048"/>
          </a:xfrm>
          <a:prstGeom prst="rect">
            <a:avLst/>
          </a:prstGeom>
          <a:noFill/>
          <a:ln/>
        </p:spPr>
        <p:txBody>
          <a:bodyPr wrap="square" lIns="0" tIns="0" rIns="0" bIns="0" rtlCol="0" anchor="t"/>
          <a:lstStyle/>
          <a:p>
            <a:pPr algn="l" indent="0" marL="0">
              <a:lnSpc>
                <a:spcPct val="100000"/>
              </a:lnSpc>
              <a:buNone/>
            </a:pPr>
            <a:r>
              <a:rPr lang="en-US" sz="2000" b="1" dirty="0">
                <a:solidFill>
                  <a:srgbClr val="1B2433"/>
                </a:solidFill>
                <a:latin typeface="Calibri" pitchFamily="34" charset="0"/>
                <a:ea typeface="Calibri" pitchFamily="34" charset="-122"/>
                <a:cs typeface="Calibri" pitchFamily="34" charset="-120"/>
              </a:rPr>
              <a:t>Tamil forces a choice English never makes.</a:t>
            </a:r>
            <a:endParaRPr lang="en-US" sz="2000" dirty="0"/>
          </a:p>
        </p:txBody>
      </p:sp>
      <p:sp>
        <p:nvSpPr>
          <p:cNvPr id="12" name="Text 9"/>
          <p:cNvSpPr/>
          <p:nvPr/>
        </p:nvSpPr>
        <p:spPr>
          <a:xfrm>
            <a:off x="1325880" y="2194560"/>
            <a:ext cx="10241280" cy="548640"/>
          </a:xfrm>
          <a:prstGeom prst="rect">
            <a:avLst/>
          </a:prstGeom>
          <a:noFill/>
          <a:ln/>
        </p:spPr>
        <p:txBody>
          <a:bodyPr wrap="square" lIns="0" tIns="0" rIns="0" bIns="0" rtlCol="0" anchor="t"/>
          <a:lstStyle/>
          <a:p>
            <a:pPr algn="l" indent="0" marL="0">
              <a:lnSpc>
                <a:spcPct val="100000"/>
              </a:lnSpc>
              <a:buNone/>
            </a:pPr>
            <a:r>
              <a:rPr lang="en-US" sz="1500" dirty="0">
                <a:solidFill>
                  <a:srgbClr val="5B6577"/>
                </a:solidFill>
                <a:latin typeface="Calibri" pitchFamily="34" charset="0"/>
                <a:ea typeface="Calibri" pitchFamily="34" charset="-122"/>
                <a:cs typeface="Calibri" pitchFamily="34" charset="-120"/>
              </a:rPr>
              <a:t>The verb must say whether the subject is a person, and for one person usually whether male or female. English "they came" says neither.</a:t>
            </a:r>
            <a:endParaRPr lang="en-US" sz="1500" dirty="0"/>
          </a:p>
        </p:txBody>
      </p:sp>
      <p:sp>
        <p:nvSpPr>
          <p:cNvPr id="13" name="Shape 10"/>
          <p:cNvSpPr/>
          <p:nvPr/>
        </p:nvSpPr>
        <p:spPr>
          <a:xfrm>
            <a:off x="548640" y="2907792"/>
            <a:ext cx="566928" cy="566928"/>
          </a:xfrm>
          <a:prstGeom prst="ellipse">
            <a:avLst/>
          </a:prstGeom>
          <a:solidFill>
            <a:srgbClr val="1F3057"/>
          </a:solidFill>
          <a:ln w="12700">
            <a:solidFill>
              <a:srgbClr val="1F3057"/>
            </a:solidFill>
            <a:prstDash val="solid"/>
          </a:ln>
        </p:spPr>
      </p:sp>
      <p:sp>
        <p:nvSpPr>
          <p:cNvPr id="14" name="Text 11"/>
          <p:cNvSpPr/>
          <p:nvPr/>
        </p:nvSpPr>
        <p:spPr>
          <a:xfrm>
            <a:off x="548640" y="290779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2"/>
          <p:cNvSpPr/>
          <p:nvPr/>
        </p:nvSpPr>
        <p:spPr>
          <a:xfrm>
            <a:off x="1325880" y="2862072"/>
            <a:ext cx="10241280" cy="384048"/>
          </a:xfrm>
          <a:prstGeom prst="rect">
            <a:avLst/>
          </a:prstGeom>
          <a:noFill/>
          <a:ln/>
        </p:spPr>
        <p:txBody>
          <a:bodyPr wrap="square" lIns="0" tIns="0" rIns="0" bIns="0" rtlCol="0" anchor="t"/>
          <a:lstStyle/>
          <a:p>
            <a:pPr algn="l" indent="0" marL="0">
              <a:lnSpc>
                <a:spcPct val="100000"/>
              </a:lnSpc>
              <a:buNone/>
            </a:pPr>
            <a:r>
              <a:rPr lang="en-US" sz="2000" b="1" dirty="0">
                <a:solidFill>
                  <a:srgbClr val="1B2433"/>
                </a:solidFill>
                <a:latin typeface="Calibri" pitchFamily="34" charset="0"/>
                <a:ea typeface="Calibri" pitchFamily="34" charset="-122"/>
                <a:cs typeface="Calibri" pitchFamily="34" charset="-120"/>
              </a:rPr>
              <a:t>We built a test set to study that choice.</a:t>
            </a:r>
            <a:endParaRPr lang="en-US" sz="2000" dirty="0"/>
          </a:p>
        </p:txBody>
      </p:sp>
      <p:sp>
        <p:nvSpPr>
          <p:cNvPr id="16" name="Text 13"/>
          <p:cNvSpPr/>
          <p:nvPr/>
        </p:nvSpPr>
        <p:spPr>
          <a:xfrm>
            <a:off x="1325880" y="3273552"/>
            <a:ext cx="10241280" cy="548640"/>
          </a:xfrm>
          <a:prstGeom prst="rect">
            <a:avLst/>
          </a:prstGeom>
          <a:noFill/>
          <a:ln/>
        </p:spPr>
        <p:txBody>
          <a:bodyPr wrap="square" lIns="0" tIns="0" rIns="0" bIns="0" rtlCol="0" anchor="t"/>
          <a:lstStyle/>
          <a:p>
            <a:pPr algn="l" indent="0" marL="0">
              <a:lnSpc>
                <a:spcPct val="100000"/>
              </a:lnSpc>
              <a:buNone/>
            </a:pPr>
            <a:r>
              <a:rPr lang="en-US" sz="1500" dirty="0">
                <a:solidFill>
                  <a:srgbClr val="5B6577"/>
                </a:solidFill>
                <a:latin typeface="Calibri" pitchFamily="34" charset="0"/>
                <a:ea typeface="Calibri" pitchFamily="34" charset="-122"/>
                <a:cs typeface="Calibri" pitchFamily="34" charset="-120"/>
              </a:rPr>
              <a:t>TamilLingBench: English→Tamil test sentences plus a rule-based checker that reads the Tamil verb ending automatically.</a:t>
            </a:r>
            <a:endParaRPr lang="en-US" sz="1500" dirty="0"/>
          </a:p>
        </p:txBody>
      </p:sp>
      <p:sp>
        <p:nvSpPr>
          <p:cNvPr id="17" name="Shape 14"/>
          <p:cNvSpPr/>
          <p:nvPr/>
        </p:nvSpPr>
        <p:spPr>
          <a:xfrm>
            <a:off x="548640" y="3986784"/>
            <a:ext cx="566928" cy="566928"/>
          </a:xfrm>
          <a:prstGeom prst="ellipse">
            <a:avLst/>
          </a:prstGeom>
          <a:solidFill>
            <a:srgbClr val="1F3057"/>
          </a:solidFill>
          <a:ln w="12700">
            <a:solidFill>
              <a:srgbClr val="1F3057"/>
            </a:solidFill>
            <a:prstDash val="solid"/>
          </a:ln>
        </p:spPr>
      </p:sp>
      <p:sp>
        <p:nvSpPr>
          <p:cNvPr id="18" name="Text 15"/>
          <p:cNvSpPr/>
          <p:nvPr/>
        </p:nvSpPr>
        <p:spPr>
          <a:xfrm>
            <a:off x="548640" y="398678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6"/>
          <p:cNvSpPr/>
          <p:nvPr/>
        </p:nvSpPr>
        <p:spPr>
          <a:xfrm>
            <a:off x="1325880" y="3941064"/>
            <a:ext cx="10241280" cy="384048"/>
          </a:xfrm>
          <a:prstGeom prst="rect">
            <a:avLst/>
          </a:prstGeom>
          <a:noFill/>
          <a:ln/>
        </p:spPr>
        <p:txBody>
          <a:bodyPr wrap="square" lIns="0" tIns="0" rIns="0" bIns="0" rtlCol="0" anchor="t"/>
          <a:lstStyle/>
          <a:p>
            <a:pPr algn="l" indent="0" marL="0">
              <a:lnSpc>
                <a:spcPct val="100000"/>
              </a:lnSpc>
              <a:buNone/>
            </a:pPr>
            <a:r>
              <a:rPr lang="en-US" sz="2000" b="1" dirty="0">
                <a:solidFill>
                  <a:srgbClr val="1B2433"/>
                </a:solidFill>
                <a:latin typeface="Calibri" pitchFamily="34" charset="0"/>
                <a:ea typeface="Calibri" pitchFamily="34" charset="-122"/>
                <a:cs typeface="Calibri" pitchFamily="34" charset="-120"/>
              </a:rPr>
              <a:t>Metrics that use a reference translation do punish a wrong ending.</a:t>
            </a:r>
            <a:endParaRPr lang="en-US" sz="2000" dirty="0"/>
          </a:p>
        </p:txBody>
      </p:sp>
      <p:sp>
        <p:nvSpPr>
          <p:cNvPr id="20" name="Text 17"/>
          <p:cNvSpPr/>
          <p:nvPr/>
        </p:nvSpPr>
        <p:spPr>
          <a:xfrm>
            <a:off x="1325880" y="4352544"/>
            <a:ext cx="10241280" cy="548640"/>
          </a:xfrm>
          <a:prstGeom prst="rect">
            <a:avLst/>
          </a:prstGeom>
          <a:noFill/>
          <a:ln/>
        </p:spPr>
        <p:txBody>
          <a:bodyPr wrap="square" lIns="0" tIns="0" rIns="0" bIns="0" rtlCol="0" anchor="t"/>
          <a:lstStyle/>
          <a:p>
            <a:pPr algn="l" indent="0" marL="0">
              <a:lnSpc>
                <a:spcPct val="100000"/>
              </a:lnSpc>
              <a:buNone/>
            </a:pPr>
            <a:r>
              <a:rPr lang="en-US" sz="1500" dirty="0">
                <a:solidFill>
                  <a:srgbClr val="5B6577"/>
                </a:solidFill>
                <a:latin typeface="Calibri" pitchFamily="34" charset="0"/>
                <a:ea typeface="Calibri" pitchFamily="34" charset="-122"/>
                <a:cs typeface="Calibri" pitchFamily="34" charset="-120"/>
              </a:rPr>
              <a:t>We had predicted that AI-based (neural) metrics would not. That prediction was wrong, and we report it openly.</a:t>
            </a:r>
            <a:endParaRPr lang="en-US" sz="1500" dirty="0"/>
          </a:p>
        </p:txBody>
      </p:sp>
      <p:sp>
        <p:nvSpPr>
          <p:cNvPr id="21" name="Shape 18"/>
          <p:cNvSpPr/>
          <p:nvPr/>
        </p:nvSpPr>
        <p:spPr>
          <a:xfrm>
            <a:off x="548640" y="5065776"/>
            <a:ext cx="566928" cy="566928"/>
          </a:xfrm>
          <a:prstGeom prst="ellipse">
            <a:avLst/>
          </a:prstGeom>
          <a:solidFill>
            <a:srgbClr val="E39B2D"/>
          </a:solidFill>
          <a:ln w="12700">
            <a:solidFill>
              <a:srgbClr val="E39B2D"/>
            </a:solidFill>
            <a:prstDash val="solid"/>
          </a:ln>
        </p:spPr>
      </p:sp>
      <p:sp>
        <p:nvSpPr>
          <p:cNvPr id="22" name="Text 19"/>
          <p:cNvSpPr/>
          <p:nvPr/>
        </p:nvSpPr>
        <p:spPr>
          <a:xfrm>
            <a:off x="548640" y="5065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3" name="Text 20"/>
          <p:cNvSpPr/>
          <p:nvPr/>
        </p:nvSpPr>
        <p:spPr>
          <a:xfrm>
            <a:off x="1325880" y="5020056"/>
            <a:ext cx="10241280" cy="384048"/>
          </a:xfrm>
          <a:prstGeom prst="rect">
            <a:avLst/>
          </a:prstGeom>
          <a:noFill/>
          <a:ln/>
        </p:spPr>
        <p:txBody>
          <a:bodyPr wrap="square" lIns="0" tIns="0" rIns="0" bIns="0" rtlCol="0" anchor="t"/>
          <a:lstStyle/>
          <a:p>
            <a:pPr algn="l" indent="0" marL="0">
              <a:lnSpc>
                <a:spcPct val="100000"/>
              </a:lnSpc>
              <a:buNone/>
            </a:pPr>
            <a:r>
              <a:rPr lang="en-US" sz="2000" b="1" dirty="0">
                <a:solidFill>
                  <a:srgbClr val="1B2433"/>
                </a:solidFill>
                <a:latin typeface="Calibri" pitchFamily="34" charset="0"/>
                <a:ea typeface="Calibri" pitchFamily="34" charset="-122"/>
                <a:cs typeface="Calibri" pitchFamily="34" charset="-120"/>
              </a:rPr>
              <a:t>Metrics that use no reference do not.</a:t>
            </a:r>
            <a:endParaRPr lang="en-US" sz="2000" dirty="0"/>
          </a:p>
        </p:txBody>
      </p:sp>
      <p:sp>
        <p:nvSpPr>
          <p:cNvPr id="24" name="Text 21"/>
          <p:cNvSpPr/>
          <p:nvPr/>
        </p:nvSpPr>
        <p:spPr>
          <a:xfrm>
            <a:off x="1325880" y="5431536"/>
            <a:ext cx="10241280" cy="548640"/>
          </a:xfrm>
          <a:prstGeom prst="rect">
            <a:avLst/>
          </a:prstGeom>
          <a:noFill/>
          <a:ln/>
        </p:spPr>
        <p:txBody>
          <a:bodyPr wrap="square" lIns="0" tIns="0" rIns="0" bIns="0" rtlCol="0" anchor="t"/>
          <a:lstStyle/>
          <a:p>
            <a:pPr algn="l" indent="0" marL="0">
              <a:lnSpc>
                <a:spcPct val="100000"/>
              </a:lnSpc>
              <a:buNone/>
            </a:pPr>
            <a:r>
              <a:rPr lang="en-US" sz="1500" dirty="0">
                <a:solidFill>
                  <a:srgbClr val="5B6577"/>
                </a:solidFill>
                <a:latin typeface="Calibri" pitchFamily="34" charset="0"/>
                <a:ea typeface="Calibri" pitchFamily="34" charset="-122"/>
                <a:cs typeface="Calibri" pitchFamily="34" charset="-120"/>
              </a:rPr>
              <a:t>On real system errors they prefer the wrong form more often than the right one, and skipping the choice costs nothing.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0</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ROADMAP</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How this presentation is organised</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3</a:t>
            </a:r>
            <a:endParaRPr lang="en-US" sz="900" dirty="0"/>
          </a:p>
        </p:txBody>
      </p:sp>
      <p:sp>
        <p:nvSpPr>
          <p:cNvPr id="9" name="Shape 6"/>
          <p:cNvSpPr/>
          <p:nvPr/>
        </p:nvSpPr>
        <p:spPr>
          <a:xfrm>
            <a:off x="548640" y="1783080"/>
            <a:ext cx="566928" cy="566928"/>
          </a:xfrm>
          <a:prstGeom prst="roundRect">
            <a:avLst>
              <a:gd name="adj" fmla="val 12903"/>
            </a:avLst>
          </a:prstGeom>
          <a:solidFill>
            <a:srgbClr val="FFFFFF"/>
          </a:solidFill>
          <a:ln w="19050">
            <a:solidFill>
              <a:srgbClr val="E39B2D"/>
            </a:solidFill>
            <a:prstDash val="dash"/>
          </a:ln>
        </p:spPr>
      </p:sp>
      <p:sp>
        <p:nvSpPr>
          <p:cNvPr id="10" name="Text 7"/>
          <p:cNvSpPr/>
          <p:nvPr/>
        </p:nvSpPr>
        <p:spPr>
          <a:xfrm>
            <a:off x="548640" y="1783080"/>
            <a:ext cx="566928" cy="566928"/>
          </a:xfrm>
          <a:prstGeom prst="rect">
            <a:avLst/>
          </a:prstGeom>
          <a:noFill/>
          <a:ln/>
        </p:spPr>
        <p:txBody>
          <a:bodyPr wrap="square" lIns="0" tIns="0" rIns="0" bIns="0" rtlCol="0" anchor="ctr"/>
          <a:lstStyle/>
          <a:p>
            <a:pPr algn="ctr" indent="0" marL="0">
              <a:buNone/>
            </a:pPr>
            <a:r>
              <a:rPr lang="en-US" sz="1600" b="1" dirty="0">
                <a:solidFill>
                  <a:srgbClr val="E39B2D"/>
                </a:solidFill>
                <a:latin typeface="Calibri" pitchFamily="34" charset="0"/>
                <a:ea typeface="Calibri" pitchFamily="34" charset="-122"/>
                <a:cs typeface="Calibri" pitchFamily="34" charset="-120"/>
              </a:rPr>
              <a:t>1</a:t>
            </a:r>
            <a:endParaRPr lang="en-US" sz="1600" dirty="0"/>
          </a:p>
        </p:txBody>
      </p:sp>
      <p:sp>
        <p:nvSpPr>
          <p:cNvPr id="11" name="Text 8"/>
          <p:cNvSpPr/>
          <p:nvPr/>
        </p:nvSpPr>
        <p:spPr>
          <a:xfrm>
            <a:off x="1280160" y="1764792"/>
            <a:ext cx="4663440" cy="329184"/>
          </a:xfrm>
          <a:prstGeom prst="rect">
            <a:avLst/>
          </a:prstGeom>
          <a:noFill/>
          <a:ln/>
        </p:spPr>
        <p:txBody>
          <a:bodyPr wrap="square" lIns="0" tIns="0" rIns="0" bIns="0" rtlCol="0" anchor="t"/>
          <a:lstStyle/>
          <a:p>
            <a:pPr algn="l" indent="0" marL="0">
              <a:lnSpc>
                <a:spcPct val="100000"/>
              </a:lnSpc>
              <a:buNone/>
            </a:pPr>
            <a:r>
              <a:rPr lang="en-US" sz="1800" b="1" dirty="0">
                <a:solidFill>
                  <a:srgbClr val="1B2433"/>
                </a:solidFill>
                <a:latin typeface="Calibri" pitchFamily="34" charset="0"/>
                <a:ea typeface="Calibri" pitchFamily="34" charset="-122"/>
                <a:cs typeface="Calibri" pitchFamily="34" charset="-120"/>
              </a:rPr>
              <a:t>The problem</a:t>
            </a:r>
            <a:endParaRPr lang="en-US" sz="1800" dirty="0"/>
          </a:p>
        </p:txBody>
      </p:sp>
      <p:sp>
        <p:nvSpPr>
          <p:cNvPr id="12" name="Text 9"/>
          <p:cNvSpPr/>
          <p:nvPr/>
        </p:nvSpPr>
        <p:spPr>
          <a:xfrm>
            <a:off x="1280160" y="2084832"/>
            <a:ext cx="4663440" cy="274320"/>
          </a:xfrm>
          <a:prstGeom prst="rect">
            <a:avLst/>
          </a:prstGeom>
          <a:noFill/>
          <a:ln/>
        </p:spPr>
        <p:txBody>
          <a:bodyPr wrap="square" lIns="0" tIns="0" rIns="0" bIns="0" rtlCol="0" anchor="t"/>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What an "obligatory slot" is, with examples</a:t>
            </a:r>
            <a:endParaRPr lang="en-US" sz="1300" dirty="0"/>
          </a:p>
        </p:txBody>
      </p:sp>
      <p:sp>
        <p:nvSpPr>
          <p:cNvPr id="13" name="Shape 10"/>
          <p:cNvSpPr/>
          <p:nvPr/>
        </p:nvSpPr>
        <p:spPr>
          <a:xfrm>
            <a:off x="548640" y="2624328"/>
            <a:ext cx="566928" cy="566928"/>
          </a:xfrm>
          <a:prstGeom prst="roundRect">
            <a:avLst>
              <a:gd name="adj" fmla="val 12903"/>
            </a:avLst>
          </a:prstGeom>
          <a:solidFill>
            <a:srgbClr val="FFFFFF"/>
          </a:solidFill>
          <a:ln w="19050">
            <a:solidFill>
              <a:srgbClr val="E39B2D"/>
            </a:solidFill>
            <a:prstDash val="dash"/>
          </a:ln>
        </p:spPr>
      </p:sp>
      <p:sp>
        <p:nvSpPr>
          <p:cNvPr id="14" name="Text 11"/>
          <p:cNvSpPr/>
          <p:nvPr/>
        </p:nvSpPr>
        <p:spPr>
          <a:xfrm>
            <a:off x="548640" y="2624328"/>
            <a:ext cx="566928" cy="566928"/>
          </a:xfrm>
          <a:prstGeom prst="rect">
            <a:avLst/>
          </a:prstGeom>
          <a:noFill/>
          <a:ln/>
        </p:spPr>
        <p:txBody>
          <a:bodyPr wrap="square" lIns="0" tIns="0" rIns="0" bIns="0" rtlCol="0" anchor="ctr"/>
          <a:lstStyle/>
          <a:p>
            <a:pPr algn="ctr" indent="0" marL="0">
              <a:buNone/>
            </a:pPr>
            <a:r>
              <a:rPr lang="en-US" sz="1600" b="1" dirty="0">
                <a:solidFill>
                  <a:srgbClr val="E39B2D"/>
                </a:solidFill>
                <a:latin typeface="Calibri" pitchFamily="34" charset="0"/>
                <a:ea typeface="Calibri" pitchFamily="34" charset="-122"/>
                <a:cs typeface="Calibri" pitchFamily="34" charset="-120"/>
              </a:rPr>
              <a:t>2</a:t>
            </a:r>
            <a:endParaRPr lang="en-US" sz="1600" dirty="0"/>
          </a:p>
        </p:txBody>
      </p:sp>
      <p:sp>
        <p:nvSpPr>
          <p:cNvPr id="15" name="Text 12"/>
          <p:cNvSpPr/>
          <p:nvPr/>
        </p:nvSpPr>
        <p:spPr>
          <a:xfrm>
            <a:off x="1280160" y="2606040"/>
            <a:ext cx="4663440" cy="329184"/>
          </a:xfrm>
          <a:prstGeom prst="rect">
            <a:avLst/>
          </a:prstGeom>
          <a:noFill/>
          <a:ln/>
        </p:spPr>
        <p:txBody>
          <a:bodyPr wrap="square" lIns="0" tIns="0" rIns="0" bIns="0" rtlCol="0" anchor="t"/>
          <a:lstStyle/>
          <a:p>
            <a:pPr algn="l" indent="0" marL="0">
              <a:lnSpc>
                <a:spcPct val="100000"/>
              </a:lnSpc>
              <a:buNone/>
            </a:pPr>
            <a:r>
              <a:rPr lang="en-US" sz="1800" b="1" dirty="0">
                <a:solidFill>
                  <a:srgbClr val="1B2433"/>
                </a:solidFill>
                <a:latin typeface="Calibri" pitchFamily="34" charset="0"/>
                <a:ea typeface="Calibri" pitchFamily="34" charset="-122"/>
                <a:cs typeface="Calibri" pitchFamily="34" charset="-120"/>
              </a:rPr>
              <a:t>What was missing</a:t>
            </a:r>
            <a:endParaRPr lang="en-US" sz="1800" dirty="0"/>
          </a:p>
        </p:txBody>
      </p:sp>
      <p:sp>
        <p:nvSpPr>
          <p:cNvPr id="16" name="Text 13"/>
          <p:cNvSpPr/>
          <p:nvPr/>
        </p:nvSpPr>
        <p:spPr>
          <a:xfrm>
            <a:off x="1280160" y="2926080"/>
            <a:ext cx="4663440" cy="274320"/>
          </a:xfrm>
          <a:prstGeom prst="rect">
            <a:avLst/>
          </a:prstGeom>
          <a:noFill/>
          <a:ln/>
        </p:spPr>
        <p:txBody>
          <a:bodyPr wrap="square" lIns="0" tIns="0" rIns="0" bIns="0" rtlCol="0" anchor="t"/>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Earlier research and the gap</a:t>
            </a:r>
            <a:endParaRPr lang="en-US" sz="1300" dirty="0"/>
          </a:p>
        </p:txBody>
      </p:sp>
      <p:sp>
        <p:nvSpPr>
          <p:cNvPr id="17" name="Shape 14"/>
          <p:cNvSpPr/>
          <p:nvPr/>
        </p:nvSpPr>
        <p:spPr>
          <a:xfrm>
            <a:off x="548640" y="3465576"/>
            <a:ext cx="566928" cy="566928"/>
          </a:xfrm>
          <a:prstGeom prst="roundRect">
            <a:avLst>
              <a:gd name="adj" fmla="val 12903"/>
            </a:avLst>
          </a:prstGeom>
          <a:solidFill>
            <a:srgbClr val="FFFFFF"/>
          </a:solidFill>
          <a:ln w="19050">
            <a:solidFill>
              <a:srgbClr val="E39B2D"/>
            </a:solidFill>
            <a:prstDash val="dash"/>
          </a:ln>
        </p:spPr>
      </p:sp>
      <p:sp>
        <p:nvSpPr>
          <p:cNvPr id="18" name="Text 15"/>
          <p:cNvSpPr/>
          <p:nvPr/>
        </p:nvSpPr>
        <p:spPr>
          <a:xfrm>
            <a:off x="548640" y="3465576"/>
            <a:ext cx="566928" cy="566928"/>
          </a:xfrm>
          <a:prstGeom prst="rect">
            <a:avLst/>
          </a:prstGeom>
          <a:noFill/>
          <a:ln/>
        </p:spPr>
        <p:txBody>
          <a:bodyPr wrap="square" lIns="0" tIns="0" rIns="0" bIns="0" rtlCol="0" anchor="ctr"/>
          <a:lstStyle/>
          <a:p>
            <a:pPr algn="ctr" indent="0" marL="0">
              <a:buNone/>
            </a:pPr>
            <a:r>
              <a:rPr lang="en-US" sz="1600" b="1" dirty="0">
                <a:solidFill>
                  <a:srgbClr val="E39B2D"/>
                </a:solidFill>
                <a:latin typeface="Calibri" pitchFamily="34" charset="0"/>
                <a:ea typeface="Calibri" pitchFamily="34" charset="-122"/>
                <a:cs typeface="Calibri" pitchFamily="34" charset="-120"/>
              </a:rPr>
              <a:t>3</a:t>
            </a:r>
            <a:endParaRPr lang="en-US" sz="1600" dirty="0"/>
          </a:p>
        </p:txBody>
      </p:sp>
      <p:sp>
        <p:nvSpPr>
          <p:cNvPr id="19" name="Text 16"/>
          <p:cNvSpPr/>
          <p:nvPr/>
        </p:nvSpPr>
        <p:spPr>
          <a:xfrm>
            <a:off x="1280160" y="3447288"/>
            <a:ext cx="4663440" cy="329184"/>
          </a:xfrm>
          <a:prstGeom prst="rect">
            <a:avLst/>
          </a:prstGeom>
          <a:noFill/>
          <a:ln/>
        </p:spPr>
        <p:txBody>
          <a:bodyPr wrap="square" lIns="0" tIns="0" rIns="0" bIns="0" rtlCol="0" anchor="t"/>
          <a:lstStyle/>
          <a:p>
            <a:pPr algn="l" indent="0" marL="0">
              <a:lnSpc>
                <a:spcPct val="100000"/>
              </a:lnSpc>
              <a:buNone/>
            </a:pPr>
            <a:r>
              <a:rPr lang="en-US" sz="1800" b="1" dirty="0">
                <a:solidFill>
                  <a:srgbClr val="1B2433"/>
                </a:solidFill>
                <a:latin typeface="Calibri" pitchFamily="34" charset="0"/>
                <a:ea typeface="Calibri" pitchFamily="34" charset="-122"/>
                <a:cs typeface="Calibri" pitchFamily="34" charset="-120"/>
              </a:rPr>
              <a:t>Our test set</a:t>
            </a:r>
            <a:endParaRPr lang="en-US" sz="1800" dirty="0"/>
          </a:p>
        </p:txBody>
      </p:sp>
      <p:sp>
        <p:nvSpPr>
          <p:cNvPr id="20" name="Text 17"/>
          <p:cNvSpPr/>
          <p:nvPr/>
        </p:nvSpPr>
        <p:spPr>
          <a:xfrm>
            <a:off x="1280160" y="3767328"/>
            <a:ext cx="4663440" cy="274320"/>
          </a:xfrm>
          <a:prstGeom prst="rect">
            <a:avLst/>
          </a:prstGeom>
          <a:noFill/>
          <a:ln/>
        </p:spPr>
        <p:txBody>
          <a:bodyPr wrap="square" lIns="0" tIns="0" rIns="0" bIns="0" rtlCol="0" anchor="t"/>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TamilLingBench and the Tamil checker</a:t>
            </a:r>
            <a:endParaRPr lang="en-US" sz="1300" dirty="0"/>
          </a:p>
        </p:txBody>
      </p:sp>
      <p:sp>
        <p:nvSpPr>
          <p:cNvPr id="21" name="Shape 18"/>
          <p:cNvSpPr/>
          <p:nvPr/>
        </p:nvSpPr>
        <p:spPr>
          <a:xfrm>
            <a:off x="548640" y="4306824"/>
            <a:ext cx="566928" cy="566928"/>
          </a:xfrm>
          <a:prstGeom prst="roundRect">
            <a:avLst>
              <a:gd name="adj" fmla="val 12903"/>
            </a:avLst>
          </a:prstGeom>
          <a:solidFill>
            <a:srgbClr val="FFFFFF"/>
          </a:solidFill>
          <a:ln w="19050">
            <a:solidFill>
              <a:srgbClr val="E39B2D"/>
            </a:solidFill>
            <a:prstDash val="dash"/>
          </a:ln>
        </p:spPr>
      </p:sp>
      <p:sp>
        <p:nvSpPr>
          <p:cNvPr id="22" name="Text 19"/>
          <p:cNvSpPr/>
          <p:nvPr/>
        </p:nvSpPr>
        <p:spPr>
          <a:xfrm>
            <a:off x="548640" y="4306824"/>
            <a:ext cx="566928" cy="566928"/>
          </a:xfrm>
          <a:prstGeom prst="rect">
            <a:avLst/>
          </a:prstGeom>
          <a:noFill/>
          <a:ln/>
        </p:spPr>
        <p:txBody>
          <a:bodyPr wrap="square" lIns="0" tIns="0" rIns="0" bIns="0" rtlCol="0" anchor="ctr"/>
          <a:lstStyle/>
          <a:p>
            <a:pPr algn="ctr" indent="0" marL="0">
              <a:buNone/>
            </a:pPr>
            <a:r>
              <a:rPr lang="en-US" sz="1600" b="1" dirty="0">
                <a:solidFill>
                  <a:srgbClr val="E39B2D"/>
                </a:solidFill>
                <a:latin typeface="Calibri" pitchFamily="34" charset="0"/>
                <a:ea typeface="Calibri" pitchFamily="34" charset="-122"/>
                <a:cs typeface="Calibri" pitchFamily="34" charset="-120"/>
              </a:rPr>
              <a:t>4</a:t>
            </a:r>
            <a:endParaRPr lang="en-US" sz="1600" dirty="0"/>
          </a:p>
        </p:txBody>
      </p:sp>
      <p:sp>
        <p:nvSpPr>
          <p:cNvPr id="23" name="Text 20"/>
          <p:cNvSpPr/>
          <p:nvPr/>
        </p:nvSpPr>
        <p:spPr>
          <a:xfrm>
            <a:off x="1280160" y="4288536"/>
            <a:ext cx="4663440" cy="329184"/>
          </a:xfrm>
          <a:prstGeom prst="rect">
            <a:avLst/>
          </a:prstGeom>
          <a:noFill/>
          <a:ln/>
        </p:spPr>
        <p:txBody>
          <a:bodyPr wrap="square" lIns="0" tIns="0" rIns="0" bIns="0" rtlCol="0" anchor="t"/>
          <a:lstStyle/>
          <a:p>
            <a:pPr algn="l" indent="0" marL="0">
              <a:lnSpc>
                <a:spcPct val="100000"/>
              </a:lnSpc>
              <a:buNone/>
            </a:pPr>
            <a:r>
              <a:rPr lang="en-US" sz="1800" b="1" dirty="0">
                <a:solidFill>
                  <a:srgbClr val="1B2433"/>
                </a:solidFill>
                <a:latin typeface="Calibri" pitchFamily="34" charset="0"/>
                <a:ea typeface="Calibri" pitchFamily="34" charset="-122"/>
                <a:cs typeface="Calibri" pitchFamily="34" charset="-120"/>
              </a:rPr>
              <a:t>The experiment</a:t>
            </a:r>
            <a:endParaRPr lang="en-US" sz="1800" dirty="0"/>
          </a:p>
        </p:txBody>
      </p:sp>
      <p:sp>
        <p:nvSpPr>
          <p:cNvPr id="24" name="Text 21"/>
          <p:cNvSpPr/>
          <p:nvPr/>
        </p:nvSpPr>
        <p:spPr>
          <a:xfrm>
            <a:off x="1280160" y="4608576"/>
            <a:ext cx="4663440" cy="274320"/>
          </a:xfrm>
          <a:prstGeom prst="rect">
            <a:avLst/>
          </a:prstGeom>
          <a:noFill/>
          <a:ln/>
        </p:spPr>
        <p:txBody>
          <a:bodyPr wrap="square" lIns="0" tIns="0" rIns="0" bIns="0" rtlCol="0" anchor="t"/>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13 translation systems, prompts, settings</a:t>
            </a:r>
            <a:endParaRPr lang="en-US" sz="1300" dirty="0"/>
          </a:p>
        </p:txBody>
      </p:sp>
      <p:sp>
        <p:nvSpPr>
          <p:cNvPr id="25" name="Shape 22"/>
          <p:cNvSpPr/>
          <p:nvPr/>
        </p:nvSpPr>
        <p:spPr>
          <a:xfrm>
            <a:off x="548640" y="5148072"/>
            <a:ext cx="566928" cy="566928"/>
          </a:xfrm>
          <a:prstGeom prst="roundRect">
            <a:avLst>
              <a:gd name="adj" fmla="val 12903"/>
            </a:avLst>
          </a:prstGeom>
          <a:solidFill>
            <a:srgbClr val="FFFFFF"/>
          </a:solidFill>
          <a:ln w="19050">
            <a:solidFill>
              <a:srgbClr val="E39B2D"/>
            </a:solidFill>
            <a:prstDash val="dash"/>
          </a:ln>
        </p:spPr>
      </p:sp>
      <p:sp>
        <p:nvSpPr>
          <p:cNvPr id="26" name="Text 23"/>
          <p:cNvSpPr/>
          <p:nvPr/>
        </p:nvSpPr>
        <p:spPr>
          <a:xfrm>
            <a:off x="548640" y="5148072"/>
            <a:ext cx="566928" cy="566928"/>
          </a:xfrm>
          <a:prstGeom prst="rect">
            <a:avLst/>
          </a:prstGeom>
          <a:noFill/>
          <a:ln/>
        </p:spPr>
        <p:txBody>
          <a:bodyPr wrap="square" lIns="0" tIns="0" rIns="0" bIns="0" rtlCol="0" anchor="ctr"/>
          <a:lstStyle/>
          <a:p>
            <a:pPr algn="ctr" indent="0" marL="0">
              <a:buNone/>
            </a:pPr>
            <a:r>
              <a:rPr lang="en-US" sz="1600" b="1" dirty="0">
                <a:solidFill>
                  <a:srgbClr val="E39B2D"/>
                </a:solidFill>
                <a:latin typeface="Calibri" pitchFamily="34" charset="0"/>
                <a:ea typeface="Calibri" pitchFamily="34" charset="-122"/>
                <a:cs typeface="Calibri" pitchFamily="34" charset="-120"/>
              </a:rPr>
              <a:t>5</a:t>
            </a:r>
            <a:endParaRPr lang="en-US" sz="1600" dirty="0"/>
          </a:p>
        </p:txBody>
      </p:sp>
      <p:sp>
        <p:nvSpPr>
          <p:cNvPr id="27" name="Text 24"/>
          <p:cNvSpPr/>
          <p:nvPr/>
        </p:nvSpPr>
        <p:spPr>
          <a:xfrm>
            <a:off x="1280160" y="5129784"/>
            <a:ext cx="4663440" cy="329184"/>
          </a:xfrm>
          <a:prstGeom prst="rect">
            <a:avLst/>
          </a:prstGeom>
          <a:noFill/>
          <a:ln/>
        </p:spPr>
        <p:txBody>
          <a:bodyPr wrap="square" lIns="0" tIns="0" rIns="0" bIns="0" rtlCol="0" anchor="t"/>
          <a:lstStyle/>
          <a:p>
            <a:pPr algn="l" indent="0" marL="0">
              <a:lnSpc>
                <a:spcPct val="100000"/>
              </a:lnSpc>
              <a:buNone/>
            </a:pPr>
            <a:r>
              <a:rPr lang="en-US" sz="1800" b="1" dirty="0">
                <a:solidFill>
                  <a:srgbClr val="1B2433"/>
                </a:solidFill>
                <a:latin typeface="Calibri" pitchFamily="34" charset="0"/>
                <a:ea typeface="Calibri" pitchFamily="34" charset="-122"/>
                <a:cs typeface="Calibri" pitchFamily="34" charset="-120"/>
              </a:rPr>
              <a:t>The metrics</a:t>
            </a:r>
            <a:endParaRPr lang="en-US" sz="1800" dirty="0"/>
          </a:p>
        </p:txBody>
      </p:sp>
      <p:sp>
        <p:nvSpPr>
          <p:cNvPr id="28" name="Text 25"/>
          <p:cNvSpPr/>
          <p:nvPr/>
        </p:nvSpPr>
        <p:spPr>
          <a:xfrm>
            <a:off x="1280160" y="5449824"/>
            <a:ext cx="4663440" cy="274320"/>
          </a:xfrm>
          <a:prstGeom prst="rect">
            <a:avLst/>
          </a:prstGeom>
          <a:noFill/>
          <a:ln/>
        </p:spPr>
        <p:txBody>
          <a:bodyPr wrap="square" lIns="0" tIns="0" rIns="0" bIns="0" rtlCol="0" anchor="t"/>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Eight metrics and how we test them</a:t>
            </a:r>
            <a:endParaRPr lang="en-US" sz="1300" dirty="0"/>
          </a:p>
        </p:txBody>
      </p:sp>
      <p:sp>
        <p:nvSpPr>
          <p:cNvPr id="29" name="Shape 26"/>
          <p:cNvSpPr/>
          <p:nvPr/>
        </p:nvSpPr>
        <p:spPr>
          <a:xfrm>
            <a:off x="6172200" y="1783080"/>
            <a:ext cx="566928" cy="566928"/>
          </a:xfrm>
          <a:prstGeom prst="roundRect">
            <a:avLst>
              <a:gd name="adj" fmla="val 12903"/>
            </a:avLst>
          </a:prstGeom>
          <a:solidFill>
            <a:srgbClr val="FFFFFF"/>
          </a:solidFill>
          <a:ln w="19050">
            <a:solidFill>
              <a:srgbClr val="E39B2D"/>
            </a:solidFill>
            <a:prstDash val="dash"/>
          </a:ln>
        </p:spPr>
      </p:sp>
      <p:sp>
        <p:nvSpPr>
          <p:cNvPr id="30" name="Text 27"/>
          <p:cNvSpPr/>
          <p:nvPr/>
        </p:nvSpPr>
        <p:spPr>
          <a:xfrm>
            <a:off x="6172200" y="1783080"/>
            <a:ext cx="566928" cy="566928"/>
          </a:xfrm>
          <a:prstGeom prst="rect">
            <a:avLst/>
          </a:prstGeom>
          <a:noFill/>
          <a:ln/>
        </p:spPr>
        <p:txBody>
          <a:bodyPr wrap="square" lIns="0" tIns="0" rIns="0" bIns="0" rtlCol="0" anchor="ctr"/>
          <a:lstStyle/>
          <a:p>
            <a:pPr algn="ctr" indent="0" marL="0">
              <a:buNone/>
            </a:pPr>
            <a:r>
              <a:rPr lang="en-US" sz="1600" b="1" dirty="0">
                <a:solidFill>
                  <a:srgbClr val="E39B2D"/>
                </a:solidFill>
                <a:latin typeface="Calibri" pitchFamily="34" charset="0"/>
                <a:ea typeface="Calibri" pitchFamily="34" charset="-122"/>
                <a:cs typeface="Calibri" pitchFamily="34" charset="-120"/>
              </a:rPr>
              <a:t>6</a:t>
            </a:r>
            <a:endParaRPr lang="en-US" sz="1600" dirty="0"/>
          </a:p>
        </p:txBody>
      </p:sp>
      <p:sp>
        <p:nvSpPr>
          <p:cNvPr id="31" name="Text 28"/>
          <p:cNvSpPr/>
          <p:nvPr/>
        </p:nvSpPr>
        <p:spPr>
          <a:xfrm>
            <a:off x="6903720" y="1764792"/>
            <a:ext cx="4663440" cy="329184"/>
          </a:xfrm>
          <a:prstGeom prst="rect">
            <a:avLst/>
          </a:prstGeom>
          <a:noFill/>
          <a:ln/>
        </p:spPr>
        <p:txBody>
          <a:bodyPr wrap="square" lIns="0" tIns="0" rIns="0" bIns="0" rtlCol="0" anchor="t"/>
          <a:lstStyle/>
          <a:p>
            <a:pPr algn="l" indent="0" marL="0">
              <a:lnSpc>
                <a:spcPct val="100000"/>
              </a:lnSpc>
              <a:buNone/>
            </a:pPr>
            <a:r>
              <a:rPr lang="en-US" sz="1800" b="1" dirty="0">
                <a:solidFill>
                  <a:srgbClr val="1B2433"/>
                </a:solidFill>
                <a:latin typeface="Calibri" pitchFamily="34" charset="0"/>
                <a:ea typeface="Calibri" pitchFamily="34" charset="-122"/>
                <a:cs typeface="Calibri" pitchFamily="34" charset="-120"/>
              </a:rPr>
              <a:t>Results: metrics</a:t>
            </a:r>
            <a:endParaRPr lang="en-US" sz="1800" dirty="0"/>
          </a:p>
        </p:txBody>
      </p:sp>
      <p:sp>
        <p:nvSpPr>
          <p:cNvPr id="32" name="Text 29"/>
          <p:cNvSpPr/>
          <p:nvPr/>
        </p:nvSpPr>
        <p:spPr>
          <a:xfrm>
            <a:off x="6903720" y="2084832"/>
            <a:ext cx="4663440" cy="274320"/>
          </a:xfrm>
          <a:prstGeom prst="rect">
            <a:avLst/>
          </a:prstGeom>
          <a:noFill/>
          <a:ln/>
        </p:spPr>
        <p:txBody>
          <a:bodyPr wrap="square" lIns="0" tIns="0" rIns="0" bIns="0" rtlCol="0" anchor="t"/>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What each metric charges for the error</a:t>
            </a:r>
            <a:endParaRPr lang="en-US" sz="1300" dirty="0"/>
          </a:p>
        </p:txBody>
      </p:sp>
      <p:sp>
        <p:nvSpPr>
          <p:cNvPr id="33" name="Shape 30"/>
          <p:cNvSpPr/>
          <p:nvPr/>
        </p:nvSpPr>
        <p:spPr>
          <a:xfrm>
            <a:off x="6172200" y="2624328"/>
            <a:ext cx="566928" cy="566928"/>
          </a:xfrm>
          <a:prstGeom prst="roundRect">
            <a:avLst>
              <a:gd name="adj" fmla="val 12903"/>
            </a:avLst>
          </a:prstGeom>
          <a:solidFill>
            <a:srgbClr val="FFFFFF"/>
          </a:solidFill>
          <a:ln w="19050">
            <a:solidFill>
              <a:srgbClr val="E39B2D"/>
            </a:solidFill>
            <a:prstDash val="dash"/>
          </a:ln>
        </p:spPr>
      </p:sp>
      <p:sp>
        <p:nvSpPr>
          <p:cNvPr id="34" name="Text 31"/>
          <p:cNvSpPr/>
          <p:nvPr/>
        </p:nvSpPr>
        <p:spPr>
          <a:xfrm>
            <a:off x="6172200" y="2624328"/>
            <a:ext cx="566928" cy="566928"/>
          </a:xfrm>
          <a:prstGeom prst="rect">
            <a:avLst/>
          </a:prstGeom>
          <a:noFill/>
          <a:ln/>
        </p:spPr>
        <p:txBody>
          <a:bodyPr wrap="square" lIns="0" tIns="0" rIns="0" bIns="0" rtlCol="0" anchor="ctr"/>
          <a:lstStyle/>
          <a:p>
            <a:pPr algn="ctr" indent="0" marL="0">
              <a:buNone/>
            </a:pPr>
            <a:r>
              <a:rPr lang="en-US" sz="1600" b="1" dirty="0">
                <a:solidFill>
                  <a:srgbClr val="E39B2D"/>
                </a:solidFill>
                <a:latin typeface="Calibri" pitchFamily="34" charset="0"/>
                <a:ea typeface="Calibri" pitchFamily="34" charset="-122"/>
                <a:cs typeface="Calibri" pitchFamily="34" charset="-120"/>
              </a:rPr>
              <a:t>7</a:t>
            </a:r>
            <a:endParaRPr lang="en-US" sz="1600" dirty="0"/>
          </a:p>
        </p:txBody>
      </p:sp>
      <p:sp>
        <p:nvSpPr>
          <p:cNvPr id="35" name="Text 32"/>
          <p:cNvSpPr/>
          <p:nvPr/>
        </p:nvSpPr>
        <p:spPr>
          <a:xfrm>
            <a:off x="6903720" y="2606040"/>
            <a:ext cx="4663440" cy="329184"/>
          </a:xfrm>
          <a:prstGeom prst="rect">
            <a:avLst/>
          </a:prstGeom>
          <a:noFill/>
          <a:ln/>
        </p:spPr>
        <p:txBody>
          <a:bodyPr wrap="square" lIns="0" tIns="0" rIns="0" bIns="0" rtlCol="0" anchor="t"/>
          <a:lstStyle/>
          <a:p>
            <a:pPr algn="l" indent="0" marL="0">
              <a:lnSpc>
                <a:spcPct val="100000"/>
              </a:lnSpc>
              <a:buNone/>
            </a:pPr>
            <a:r>
              <a:rPr lang="en-US" sz="1800" b="1" dirty="0">
                <a:solidFill>
                  <a:srgbClr val="1B2433"/>
                </a:solidFill>
                <a:latin typeface="Calibri" pitchFamily="34" charset="0"/>
                <a:ea typeface="Calibri" pitchFamily="34" charset="-122"/>
                <a:cs typeface="Calibri" pitchFamily="34" charset="-120"/>
              </a:rPr>
              <a:t>Results: systems</a:t>
            </a:r>
            <a:endParaRPr lang="en-US" sz="1800" dirty="0"/>
          </a:p>
        </p:txBody>
      </p:sp>
      <p:sp>
        <p:nvSpPr>
          <p:cNvPr id="36" name="Text 33"/>
          <p:cNvSpPr/>
          <p:nvPr/>
        </p:nvSpPr>
        <p:spPr>
          <a:xfrm>
            <a:off x="6903720" y="2926080"/>
            <a:ext cx="4663440" cy="274320"/>
          </a:xfrm>
          <a:prstGeom prst="rect">
            <a:avLst/>
          </a:prstGeom>
          <a:noFill/>
          <a:ln/>
        </p:spPr>
        <p:txBody>
          <a:bodyPr wrap="square" lIns="0" tIns="0" rIns="0" bIns="0" rtlCol="0" anchor="t"/>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What translation systems actually do</a:t>
            </a:r>
            <a:endParaRPr lang="en-US" sz="1300" dirty="0"/>
          </a:p>
        </p:txBody>
      </p:sp>
      <p:sp>
        <p:nvSpPr>
          <p:cNvPr id="37" name="Shape 34"/>
          <p:cNvSpPr/>
          <p:nvPr/>
        </p:nvSpPr>
        <p:spPr>
          <a:xfrm>
            <a:off x="6172200" y="3465576"/>
            <a:ext cx="566928" cy="566928"/>
          </a:xfrm>
          <a:prstGeom prst="roundRect">
            <a:avLst>
              <a:gd name="adj" fmla="val 12903"/>
            </a:avLst>
          </a:prstGeom>
          <a:solidFill>
            <a:srgbClr val="FFFFFF"/>
          </a:solidFill>
          <a:ln w="19050">
            <a:solidFill>
              <a:srgbClr val="E39B2D"/>
            </a:solidFill>
            <a:prstDash val="dash"/>
          </a:ln>
        </p:spPr>
      </p:sp>
      <p:sp>
        <p:nvSpPr>
          <p:cNvPr id="38" name="Text 35"/>
          <p:cNvSpPr/>
          <p:nvPr/>
        </p:nvSpPr>
        <p:spPr>
          <a:xfrm>
            <a:off x="6172200" y="3465576"/>
            <a:ext cx="566928" cy="566928"/>
          </a:xfrm>
          <a:prstGeom prst="rect">
            <a:avLst/>
          </a:prstGeom>
          <a:noFill/>
          <a:ln/>
        </p:spPr>
        <p:txBody>
          <a:bodyPr wrap="square" lIns="0" tIns="0" rIns="0" bIns="0" rtlCol="0" anchor="ctr"/>
          <a:lstStyle/>
          <a:p>
            <a:pPr algn="ctr" indent="0" marL="0">
              <a:buNone/>
            </a:pPr>
            <a:r>
              <a:rPr lang="en-US" sz="1600" b="1" dirty="0">
                <a:solidFill>
                  <a:srgbClr val="E39B2D"/>
                </a:solidFill>
                <a:latin typeface="Calibri" pitchFamily="34" charset="0"/>
                <a:ea typeface="Calibri" pitchFamily="34" charset="-122"/>
                <a:cs typeface="Calibri" pitchFamily="34" charset="-120"/>
              </a:rPr>
              <a:t>8</a:t>
            </a:r>
            <a:endParaRPr lang="en-US" sz="1600" dirty="0"/>
          </a:p>
        </p:txBody>
      </p:sp>
      <p:sp>
        <p:nvSpPr>
          <p:cNvPr id="39" name="Text 36"/>
          <p:cNvSpPr/>
          <p:nvPr/>
        </p:nvSpPr>
        <p:spPr>
          <a:xfrm>
            <a:off x="6903720" y="3447288"/>
            <a:ext cx="4663440" cy="329184"/>
          </a:xfrm>
          <a:prstGeom prst="rect">
            <a:avLst/>
          </a:prstGeom>
          <a:noFill/>
          <a:ln/>
        </p:spPr>
        <p:txBody>
          <a:bodyPr wrap="square" lIns="0" tIns="0" rIns="0" bIns="0" rtlCol="0" anchor="t"/>
          <a:lstStyle/>
          <a:p>
            <a:pPr algn="l" indent="0" marL="0">
              <a:lnSpc>
                <a:spcPct val="100000"/>
              </a:lnSpc>
              <a:buNone/>
            </a:pPr>
            <a:r>
              <a:rPr lang="en-US" sz="1800" b="1" dirty="0">
                <a:solidFill>
                  <a:srgbClr val="1B2433"/>
                </a:solidFill>
                <a:latin typeface="Calibri" pitchFamily="34" charset="0"/>
                <a:ea typeface="Calibri" pitchFamily="34" charset="-122"/>
                <a:cs typeface="Calibri" pitchFamily="34" charset="-120"/>
              </a:rPr>
              <a:t>Inside a model</a:t>
            </a:r>
            <a:endParaRPr lang="en-US" sz="1800" dirty="0"/>
          </a:p>
        </p:txBody>
      </p:sp>
      <p:sp>
        <p:nvSpPr>
          <p:cNvPr id="40" name="Text 37"/>
          <p:cNvSpPr/>
          <p:nvPr/>
        </p:nvSpPr>
        <p:spPr>
          <a:xfrm>
            <a:off x="6903720" y="3767328"/>
            <a:ext cx="4663440" cy="274320"/>
          </a:xfrm>
          <a:prstGeom prst="rect">
            <a:avLst/>
          </a:prstGeom>
          <a:noFill/>
          <a:ln/>
        </p:spPr>
        <p:txBody>
          <a:bodyPr wrap="square" lIns="0" tIns="0" rIns="0" bIns="0" rtlCol="0" anchor="t"/>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Where the decision is made</a:t>
            </a:r>
            <a:endParaRPr lang="en-US" sz="1300" dirty="0"/>
          </a:p>
        </p:txBody>
      </p:sp>
      <p:sp>
        <p:nvSpPr>
          <p:cNvPr id="41" name="Shape 38"/>
          <p:cNvSpPr/>
          <p:nvPr/>
        </p:nvSpPr>
        <p:spPr>
          <a:xfrm>
            <a:off x="6172200" y="4306824"/>
            <a:ext cx="566928" cy="566928"/>
          </a:xfrm>
          <a:prstGeom prst="roundRect">
            <a:avLst>
              <a:gd name="adj" fmla="val 12903"/>
            </a:avLst>
          </a:prstGeom>
          <a:solidFill>
            <a:srgbClr val="FFFFFF"/>
          </a:solidFill>
          <a:ln w="19050">
            <a:solidFill>
              <a:srgbClr val="E39B2D"/>
            </a:solidFill>
            <a:prstDash val="dash"/>
          </a:ln>
        </p:spPr>
      </p:sp>
      <p:sp>
        <p:nvSpPr>
          <p:cNvPr id="42" name="Text 39"/>
          <p:cNvSpPr/>
          <p:nvPr/>
        </p:nvSpPr>
        <p:spPr>
          <a:xfrm>
            <a:off x="6172200" y="4306824"/>
            <a:ext cx="566928" cy="566928"/>
          </a:xfrm>
          <a:prstGeom prst="rect">
            <a:avLst/>
          </a:prstGeom>
          <a:noFill/>
          <a:ln/>
        </p:spPr>
        <p:txBody>
          <a:bodyPr wrap="square" lIns="0" tIns="0" rIns="0" bIns="0" rtlCol="0" anchor="ctr"/>
          <a:lstStyle/>
          <a:p>
            <a:pPr algn="ctr" indent="0" marL="0">
              <a:buNone/>
            </a:pPr>
            <a:r>
              <a:rPr lang="en-US" sz="1600" b="1" dirty="0">
                <a:solidFill>
                  <a:srgbClr val="E39B2D"/>
                </a:solidFill>
                <a:latin typeface="Calibri" pitchFamily="34" charset="0"/>
                <a:ea typeface="Calibri" pitchFamily="34" charset="-122"/>
                <a:cs typeface="Calibri" pitchFamily="34" charset="-120"/>
              </a:rPr>
              <a:t>9</a:t>
            </a:r>
            <a:endParaRPr lang="en-US" sz="1600" dirty="0"/>
          </a:p>
        </p:txBody>
      </p:sp>
      <p:sp>
        <p:nvSpPr>
          <p:cNvPr id="43" name="Text 40"/>
          <p:cNvSpPr/>
          <p:nvPr/>
        </p:nvSpPr>
        <p:spPr>
          <a:xfrm>
            <a:off x="6903720" y="4288536"/>
            <a:ext cx="4663440" cy="329184"/>
          </a:xfrm>
          <a:prstGeom prst="rect">
            <a:avLst/>
          </a:prstGeom>
          <a:noFill/>
          <a:ln/>
        </p:spPr>
        <p:txBody>
          <a:bodyPr wrap="square" lIns="0" tIns="0" rIns="0" bIns="0" rtlCol="0" anchor="t"/>
          <a:lstStyle/>
          <a:p>
            <a:pPr algn="l" indent="0" marL="0">
              <a:lnSpc>
                <a:spcPct val="100000"/>
              </a:lnSpc>
              <a:buNone/>
            </a:pPr>
            <a:r>
              <a:rPr lang="en-US" sz="1800" b="1" dirty="0">
                <a:solidFill>
                  <a:srgbClr val="1B2433"/>
                </a:solidFill>
                <a:latin typeface="Calibri" pitchFamily="34" charset="0"/>
                <a:ea typeface="Calibri" pitchFamily="34" charset="-122"/>
                <a:cs typeface="Calibri" pitchFamily="34" charset="-120"/>
              </a:rPr>
              <a:t>A mistake we caught</a:t>
            </a:r>
            <a:endParaRPr lang="en-US" sz="1800" dirty="0"/>
          </a:p>
        </p:txBody>
      </p:sp>
      <p:sp>
        <p:nvSpPr>
          <p:cNvPr id="44" name="Text 41"/>
          <p:cNvSpPr/>
          <p:nvPr/>
        </p:nvSpPr>
        <p:spPr>
          <a:xfrm>
            <a:off x="6903720" y="4608576"/>
            <a:ext cx="4663440" cy="274320"/>
          </a:xfrm>
          <a:prstGeom prst="rect">
            <a:avLst/>
          </a:prstGeom>
          <a:noFill/>
          <a:ln/>
        </p:spPr>
        <p:txBody>
          <a:bodyPr wrap="square" lIns="0" tIns="0" rIns="0" bIns="0" rtlCol="0" anchor="t"/>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The claim we retracted, and why</a:t>
            </a:r>
            <a:endParaRPr lang="en-US" sz="1300" dirty="0"/>
          </a:p>
        </p:txBody>
      </p:sp>
      <p:sp>
        <p:nvSpPr>
          <p:cNvPr id="45" name="Shape 42"/>
          <p:cNvSpPr/>
          <p:nvPr/>
        </p:nvSpPr>
        <p:spPr>
          <a:xfrm>
            <a:off x="6172200" y="5148072"/>
            <a:ext cx="566928" cy="566928"/>
          </a:xfrm>
          <a:prstGeom prst="roundRect">
            <a:avLst>
              <a:gd name="adj" fmla="val 12903"/>
            </a:avLst>
          </a:prstGeom>
          <a:solidFill>
            <a:srgbClr val="FFFFFF"/>
          </a:solidFill>
          <a:ln w="19050">
            <a:solidFill>
              <a:srgbClr val="E39B2D"/>
            </a:solidFill>
            <a:prstDash val="dash"/>
          </a:ln>
        </p:spPr>
      </p:sp>
      <p:sp>
        <p:nvSpPr>
          <p:cNvPr id="46" name="Text 43"/>
          <p:cNvSpPr/>
          <p:nvPr/>
        </p:nvSpPr>
        <p:spPr>
          <a:xfrm>
            <a:off x="6172200" y="5148072"/>
            <a:ext cx="566928" cy="566928"/>
          </a:xfrm>
          <a:prstGeom prst="rect">
            <a:avLst/>
          </a:prstGeom>
          <a:noFill/>
          <a:ln/>
        </p:spPr>
        <p:txBody>
          <a:bodyPr wrap="square" lIns="0" tIns="0" rIns="0" bIns="0" rtlCol="0" anchor="ctr"/>
          <a:lstStyle/>
          <a:p>
            <a:pPr algn="ctr" indent="0" marL="0">
              <a:buNone/>
            </a:pPr>
            <a:r>
              <a:rPr lang="en-US" sz="1600" b="1" dirty="0">
                <a:solidFill>
                  <a:srgbClr val="E39B2D"/>
                </a:solidFill>
                <a:latin typeface="Calibri" pitchFamily="34" charset="0"/>
                <a:ea typeface="Calibri" pitchFamily="34" charset="-122"/>
                <a:cs typeface="Calibri" pitchFamily="34" charset="-120"/>
              </a:rPr>
              <a:t>10</a:t>
            </a:r>
            <a:endParaRPr lang="en-US" sz="1600" dirty="0"/>
          </a:p>
        </p:txBody>
      </p:sp>
      <p:sp>
        <p:nvSpPr>
          <p:cNvPr id="47" name="Text 44"/>
          <p:cNvSpPr/>
          <p:nvPr/>
        </p:nvSpPr>
        <p:spPr>
          <a:xfrm>
            <a:off x="6903720" y="5129784"/>
            <a:ext cx="4663440" cy="329184"/>
          </a:xfrm>
          <a:prstGeom prst="rect">
            <a:avLst/>
          </a:prstGeom>
          <a:noFill/>
          <a:ln/>
        </p:spPr>
        <p:txBody>
          <a:bodyPr wrap="square" lIns="0" tIns="0" rIns="0" bIns="0" rtlCol="0" anchor="t"/>
          <a:lstStyle/>
          <a:p>
            <a:pPr algn="l" indent="0" marL="0">
              <a:lnSpc>
                <a:spcPct val="100000"/>
              </a:lnSpc>
              <a:buNone/>
            </a:pPr>
            <a:r>
              <a:rPr lang="en-US" sz="1800" b="1" dirty="0">
                <a:solidFill>
                  <a:srgbClr val="1B2433"/>
                </a:solidFill>
                <a:latin typeface="Calibri" pitchFamily="34" charset="0"/>
                <a:ea typeface="Calibri" pitchFamily="34" charset="-122"/>
                <a:cs typeface="Calibri" pitchFamily="34" charset="-120"/>
              </a:rPr>
              <a:t>Limits and conclusion</a:t>
            </a:r>
            <a:endParaRPr lang="en-US" sz="1800" dirty="0"/>
          </a:p>
        </p:txBody>
      </p:sp>
      <p:sp>
        <p:nvSpPr>
          <p:cNvPr id="48" name="Text 45"/>
          <p:cNvSpPr/>
          <p:nvPr/>
        </p:nvSpPr>
        <p:spPr>
          <a:xfrm>
            <a:off x="6903720" y="5449824"/>
            <a:ext cx="4663440" cy="274320"/>
          </a:xfrm>
          <a:prstGeom prst="rect">
            <a:avLst/>
          </a:prstGeom>
          <a:noFill/>
          <a:ln/>
        </p:spPr>
        <p:txBody>
          <a:bodyPr wrap="square" lIns="0" tIns="0" rIns="0" bIns="0" rtlCol="0" anchor="t"/>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What we can and cannot say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286000"/>
            <a:ext cx="1371600" cy="1097280"/>
          </a:xfrm>
          <a:prstGeom prst="roundRect">
            <a:avLst>
              <a:gd name="adj" fmla="val 10000"/>
            </a:avLst>
          </a:prstGeom>
          <a:solidFill>
            <a:srgbClr val="14213D"/>
          </a:solidFill>
          <a:ln w="31750">
            <a:solidFill>
              <a:srgbClr val="E39B2D"/>
            </a:solidFill>
            <a:prstDash val="dash"/>
          </a:ln>
        </p:spPr>
      </p:sp>
      <p:sp>
        <p:nvSpPr>
          <p:cNvPr id="3" name="Text 1"/>
          <p:cNvSpPr/>
          <p:nvPr/>
        </p:nvSpPr>
        <p:spPr>
          <a:xfrm>
            <a:off x="822960" y="2286000"/>
            <a:ext cx="1371600" cy="1097280"/>
          </a:xfrm>
          <a:prstGeom prst="rect">
            <a:avLst/>
          </a:prstGeom>
          <a:noFill/>
          <a:ln/>
        </p:spPr>
        <p:txBody>
          <a:bodyPr wrap="square" lIns="0" tIns="0" rIns="0" bIns="0" rtlCol="0" anchor="ctr"/>
          <a:lstStyle/>
          <a:p>
            <a:pPr algn="ctr" indent="0" marL="0">
              <a:buNone/>
            </a:pPr>
            <a:r>
              <a:rPr lang="en-US" sz="4800" b="1" dirty="0">
                <a:solidFill>
                  <a:srgbClr val="E39B2D"/>
                </a:solidFill>
                <a:latin typeface="Calibri" pitchFamily="34" charset="0"/>
                <a:ea typeface="Calibri" pitchFamily="34" charset="-122"/>
                <a:cs typeface="Calibri" pitchFamily="34" charset="-120"/>
              </a:rPr>
              <a:t>1</a:t>
            </a:r>
            <a:endParaRPr lang="en-US" sz="4800" dirty="0"/>
          </a:p>
        </p:txBody>
      </p:sp>
      <p:sp>
        <p:nvSpPr>
          <p:cNvPr id="4" name="Text 2"/>
          <p:cNvSpPr/>
          <p:nvPr/>
        </p:nvSpPr>
        <p:spPr>
          <a:xfrm>
            <a:off x="2560320" y="1097280"/>
            <a:ext cx="9052560" cy="1965960"/>
          </a:xfrm>
          <a:prstGeom prst="rect">
            <a:avLst/>
          </a:prstGeom>
          <a:noFill/>
          <a:ln/>
        </p:spPr>
        <p:txBody>
          <a:bodyPr wrap="square" lIns="0" tIns="0" rIns="0" bIns="0" rtlCol="0" anchor="b"/>
          <a:lstStyle/>
          <a:p>
            <a:pPr indent="0" marL="0">
              <a:buNone/>
            </a:pPr>
            <a:r>
              <a:rPr lang="en-US" sz="3600" b="1" dirty="0">
                <a:solidFill>
                  <a:srgbClr val="FFFFFF"/>
                </a:solidFill>
                <a:latin typeface="Georgia" pitchFamily="34" charset="0"/>
                <a:ea typeface="Georgia" pitchFamily="34" charset="-122"/>
                <a:cs typeface="Georgia" pitchFamily="34" charset="-120"/>
              </a:rPr>
              <a:t>The problem</a:t>
            </a:r>
            <a:endParaRPr lang="en-US" sz="3600" dirty="0"/>
          </a:p>
        </p:txBody>
      </p:sp>
      <p:sp>
        <p:nvSpPr>
          <p:cNvPr id="5" name="Text 3"/>
          <p:cNvSpPr/>
          <p:nvPr/>
        </p:nvSpPr>
        <p:spPr>
          <a:xfrm>
            <a:off x="2560320" y="3246120"/>
            <a:ext cx="9052560" cy="1280160"/>
          </a:xfrm>
          <a:prstGeom prst="rect">
            <a:avLst/>
          </a:prstGeom>
          <a:noFill/>
          <a:ln/>
        </p:spPr>
        <p:txBody>
          <a:bodyPr wrap="square" lIns="0" tIns="0" rIns="0" bIns="0" rtlCol="0" anchor="t"/>
          <a:lstStyle/>
          <a:p>
            <a:pPr indent="0" marL="0">
              <a:buNone/>
            </a:pPr>
            <a:r>
              <a:rPr lang="en-US" sz="1800" dirty="0">
                <a:solidFill>
                  <a:srgbClr val="C9D2E3"/>
                </a:solidFill>
                <a:latin typeface="Calibri" pitchFamily="34" charset="0"/>
                <a:ea typeface="Calibri" pitchFamily="34" charset="-122"/>
                <a:cs typeface="Calibri" pitchFamily="34" charset="-120"/>
              </a:rPr>
              <a:t>When the target language must say something the source language never said.</a:t>
            </a:r>
            <a:endParaRPr lang="en-US" sz="1800" dirty="0"/>
          </a:p>
        </p:txBody>
      </p:sp>
      <p:sp>
        <p:nvSpPr>
          <p:cNvPr id="6" name="Text 4"/>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7D8AA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PROBLEM</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One English sentence, two possible Tamil translations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5</a:t>
            </a:r>
            <a:endParaRPr lang="en-US" sz="900" dirty="0"/>
          </a:p>
        </p:txBody>
      </p:sp>
      <p:sp>
        <p:nvSpPr>
          <p:cNvPr id="9" name="Shape 6"/>
          <p:cNvSpPr/>
          <p:nvPr/>
        </p:nvSpPr>
        <p:spPr>
          <a:xfrm>
            <a:off x="548640" y="2651760"/>
            <a:ext cx="3108960" cy="1188720"/>
          </a:xfrm>
          <a:prstGeom prst="roundRect">
            <a:avLst>
              <a:gd name="adj" fmla="val 6154"/>
            </a:avLst>
          </a:prstGeom>
          <a:solidFill>
            <a:srgbClr val="E7EBF2"/>
          </a:solidFill>
          <a:ln w="12700">
            <a:solidFill>
              <a:srgbClr val="E7EBF2"/>
            </a:solidFill>
            <a:prstDash val="solid"/>
          </a:ln>
        </p:spPr>
      </p:sp>
      <p:sp>
        <p:nvSpPr>
          <p:cNvPr id="10" name="Text 7"/>
          <p:cNvSpPr/>
          <p:nvPr/>
        </p:nvSpPr>
        <p:spPr>
          <a:xfrm>
            <a:off x="548640" y="2651760"/>
            <a:ext cx="3108960" cy="1188720"/>
          </a:xfrm>
          <a:prstGeom prst="rect">
            <a:avLst/>
          </a:prstGeom>
          <a:noFill/>
          <a:ln/>
        </p:spPr>
        <p:txBody>
          <a:bodyPr wrap="square" lIns="0" tIns="0" rIns="0" bIns="0" rtlCol="0" anchor="ctr"/>
          <a:lstStyle/>
          <a:p>
            <a:pPr algn="ctr" indent="0" marL="0">
              <a:buNone/>
            </a:pPr>
            <a:r>
              <a:rPr lang="en-US" sz="3400" i="1" dirty="0">
                <a:solidFill>
                  <a:srgbClr val="1B2433"/>
                </a:solidFill>
                <a:latin typeface="Georgia" pitchFamily="34" charset="0"/>
                <a:ea typeface="Georgia" pitchFamily="34" charset="-122"/>
                <a:cs typeface="Georgia" pitchFamily="34" charset="-120"/>
              </a:rPr>
              <a:t>They came.</a:t>
            </a:r>
            <a:endParaRPr lang="en-US" sz="3400" dirty="0"/>
          </a:p>
        </p:txBody>
      </p:sp>
      <p:sp>
        <p:nvSpPr>
          <p:cNvPr id="11" name="Text 8"/>
          <p:cNvSpPr/>
          <p:nvPr/>
        </p:nvSpPr>
        <p:spPr>
          <a:xfrm>
            <a:off x="548640" y="3931920"/>
            <a:ext cx="3108960" cy="548640"/>
          </a:xfrm>
          <a:prstGeom prst="rect">
            <a:avLst/>
          </a:prstGeom>
          <a:noFill/>
          <a:ln/>
        </p:spPr>
        <p:txBody>
          <a:bodyPr wrap="square" lIns="0" tIns="0" rIns="0" bIns="0" rtlCol="0" anchor="t"/>
          <a:lstStyle/>
          <a:p>
            <a:pPr algn="ctr" indent="0" marL="0">
              <a:lnSpc>
                <a:spcPct val="100000"/>
              </a:lnSpc>
              <a:buNone/>
            </a:pPr>
            <a:r>
              <a:rPr lang="en-US" sz="1300" dirty="0">
                <a:solidFill>
                  <a:srgbClr val="5B6577"/>
                </a:solidFill>
                <a:latin typeface="Calibri" pitchFamily="34" charset="0"/>
                <a:ea typeface="Calibri" pitchFamily="34" charset="-122"/>
                <a:cs typeface="Calibri" pitchFamily="34" charset="-120"/>
              </a:rPr>
              <a:t>English: the verb "came" is the same for everyone</a:t>
            </a:r>
            <a:endParaRPr lang="en-US" sz="1300" dirty="0"/>
          </a:p>
        </p:txBody>
      </p:sp>
      <p:sp>
        <p:nvSpPr>
          <p:cNvPr id="12" name="Shape 9"/>
          <p:cNvSpPr/>
          <p:nvPr/>
        </p:nvSpPr>
        <p:spPr>
          <a:xfrm flipV="1">
            <a:off x="3749040" y="2148840"/>
            <a:ext cx="1737360" cy="868680"/>
          </a:xfrm>
          <a:prstGeom prst="line">
            <a:avLst/>
          </a:prstGeom>
          <a:noFill/>
          <a:ln w="31750">
            <a:solidFill>
              <a:srgbClr val="1B2433"/>
            </a:solidFill>
            <a:prstDash val="solid"/>
            <a:tailEnd type="triangle"/>
          </a:ln>
        </p:spPr>
      </p:sp>
      <p:sp>
        <p:nvSpPr>
          <p:cNvPr id="13" name="Shape 10"/>
          <p:cNvSpPr/>
          <p:nvPr/>
        </p:nvSpPr>
        <p:spPr>
          <a:xfrm>
            <a:off x="3749040" y="3474720"/>
            <a:ext cx="1737360" cy="960120"/>
          </a:xfrm>
          <a:prstGeom prst="line">
            <a:avLst/>
          </a:prstGeom>
          <a:noFill/>
          <a:ln w="31750">
            <a:solidFill>
              <a:srgbClr val="1B2433"/>
            </a:solidFill>
            <a:prstDash val="solid"/>
            <a:tailEnd type="triangle"/>
          </a:ln>
        </p:spPr>
      </p:sp>
      <p:sp>
        <p:nvSpPr>
          <p:cNvPr id="14" name="Shape 11"/>
          <p:cNvSpPr/>
          <p:nvPr/>
        </p:nvSpPr>
        <p:spPr>
          <a:xfrm>
            <a:off x="5669280" y="1691640"/>
            <a:ext cx="3108960" cy="1417320"/>
          </a:xfrm>
          <a:prstGeom prst="roundRect">
            <a:avLst>
              <a:gd name="adj" fmla="val 5161"/>
            </a:avLst>
          </a:prstGeom>
          <a:solidFill>
            <a:srgbClr val="FFFFFF"/>
          </a:solidFill>
          <a:ln w="25400">
            <a:solidFill>
              <a:srgbClr val="009E73"/>
            </a:solidFill>
            <a:prstDash val="solid"/>
          </a:ln>
        </p:spPr>
      </p:sp>
      <p:sp>
        <p:nvSpPr>
          <p:cNvPr id="15" name="Text 12"/>
          <p:cNvSpPr/>
          <p:nvPr/>
        </p:nvSpPr>
        <p:spPr>
          <a:xfrm>
            <a:off x="5760720" y="1801368"/>
            <a:ext cx="2926080" cy="637794"/>
          </a:xfrm>
          <a:prstGeom prst="rect">
            <a:avLst/>
          </a:prstGeom>
          <a:noFill/>
          <a:ln/>
        </p:spPr>
        <p:txBody>
          <a:bodyPr wrap="square" lIns="0" tIns="0" rIns="0" bIns="0" rtlCol="0" anchor="ctr"/>
          <a:lstStyle/>
          <a:p>
            <a:pPr algn="ctr" indent="0" marL="0">
              <a:buNone/>
            </a:pPr>
            <a:r>
              <a:rPr lang="en-US" sz="2600" dirty="0">
                <a:solidFill>
                  <a:srgbClr val="1B2433"/>
                </a:solidFill>
                <a:latin typeface="Calibri" pitchFamily="34" charset="0"/>
                <a:ea typeface="Calibri" pitchFamily="34" charset="-122"/>
                <a:cs typeface="Calibri" pitchFamily="34" charset="-120"/>
              </a:rPr>
              <a:t>வந்தார்கள்</a:t>
            </a:r>
            <a:endParaRPr lang="en-US" sz="2600" dirty="0"/>
          </a:p>
        </p:txBody>
      </p:sp>
      <p:sp>
        <p:nvSpPr>
          <p:cNvPr id="16" name="Text 13"/>
          <p:cNvSpPr/>
          <p:nvPr/>
        </p:nvSpPr>
        <p:spPr>
          <a:xfrm>
            <a:off x="5760720" y="2439162"/>
            <a:ext cx="2926080" cy="283464"/>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vantārkaḷ</a:t>
            </a:r>
            <a:endParaRPr lang="en-US" sz="1400" dirty="0"/>
          </a:p>
        </p:txBody>
      </p:sp>
      <p:sp>
        <p:nvSpPr>
          <p:cNvPr id="17" name="Text 14"/>
          <p:cNvSpPr/>
          <p:nvPr/>
        </p:nvSpPr>
        <p:spPr>
          <a:xfrm>
            <a:off x="5760720" y="2722626"/>
            <a:ext cx="2926080" cy="425196"/>
          </a:xfrm>
          <a:prstGeom prst="rect">
            <a:avLst/>
          </a:prstGeom>
          <a:noFill/>
          <a:ln/>
        </p:spPr>
        <p:txBody>
          <a:bodyPr wrap="square" lIns="0" tIns="0" rIns="0" bIns="0" rtlCol="0" anchor="t"/>
          <a:lstStyle/>
          <a:p>
            <a:pPr algn="ctr" indent="0" marL="0">
              <a:buNone/>
            </a:pPr>
            <a:r>
              <a:rPr lang="en-US" sz="1300" dirty="0">
                <a:solidFill>
                  <a:srgbClr val="1B2433"/>
                </a:solidFill>
                <a:latin typeface="Calibri" pitchFamily="34" charset="0"/>
                <a:ea typeface="Calibri" pitchFamily="34" charset="-122"/>
                <a:cs typeface="Calibri" pitchFamily="34" charset="-120"/>
              </a:rPr>
              <a:t>ending </a:t>
            </a:r>
            <a:r>
              <a:rPr lang="en-US" sz="1300" b="1" dirty="0">
                <a:solidFill>
                  <a:srgbClr val="1B2433"/>
                </a:solidFill>
                <a:latin typeface="Calibri" pitchFamily="34" charset="0"/>
                <a:ea typeface="Calibri" pitchFamily="34" charset="-122"/>
                <a:cs typeface="Calibri" pitchFamily="34" charset="-120"/>
              </a:rPr>
              <a:t>-ārkaḷ</a:t>
            </a:r>
            <a:endParaRPr lang="en-US" sz="1300" dirty="0"/>
          </a:p>
        </p:txBody>
      </p:sp>
      <p:sp>
        <p:nvSpPr>
          <p:cNvPr id="18" name="Shape 15"/>
          <p:cNvSpPr/>
          <p:nvPr/>
        </p:nvSpPr>
        <p:spPr>
          <a:xfrm>
            <a:off x="5669280" y="3931920"/>
            <a:ext cx="3108960" cy="1417320"/>
          </a:xfrm>
          <a:prstGeom prst="roundRect">
            <a:avLst>
              <a:gd name="adj" fmla="val 5161"/>
            </a:avLst>
          </a:prstGeom>
          <a:solidFill>
            <a:srgbClr val="FFFFFF"/>
          </a:solidFill>
          <a:ln w="25400">
            <a:solidFill>
              <a:srgbClr val="0072B2"/>
            </a:solidFill>
            <a:prstDash val="solid"/>
          </a:ln>
        </p:spPr>
      </p:sp>
      <p:sp>
        <p:nvSpPr>
          <p:cNvPr id="19" name="Text 16"/>
          <p:cNvSpPr/>
          <p:nvPr/>
        </p:nvSpPr>
        <p:spPr>
          <a:xfrm>
            <a:off x="5760720" y="4041648"/>
            <a:ext cx="2926080" cy="637794"/>
          </a:xfrm>
          <a:prstGeom prst="rect">
            <a:avLst/>
          </a:prstGeom>
          <a:noFill/>
          <a:ln/>
        </p:spPr>
        <p:txBody>
          <a:bodyPr wrap="square" lIns="0" tIns="0" rIns="0" bIns="0" rtlCol="0" anchor="ctr"/>
          <a:lstStyle/>
          <a:p>
            <a:pPr algn="ctr" indent="0" marL="0">
              <a:buNone/>
            </a:pPr>
            <a:r>
              <a:rPr lang="en-US" sz="2600" dirty="0">
                <a:solidFill>
                  <a:srgbClr val="1B2433"/>
                </a:solidFill>
                <a:latin typeface="Calibri" pitchFamily="34" charset="0"/>
                <a:ea typeface="Calibri" pitchFamily="34" charset="-122"/>
                <a:cs typeface="Calibri" pitchFamily="34" charset="-120"/>
              </a:rPr>
              <a:t>வந்தன</a:t>
            </a:r>
            <a:endParaRPr lang="en-US" sz="2600" dirty="0"/>
          </a:p>
        </p:txBody>
      </p:sp>
      <p:sp>
        <p:nvSpPr>
          <p:cNvPr id="20" name="Text 17"/>
          <p:cNvSpPr/>
          <p:nvPr/>
        </p:nvSpPr>
        <p:spPr>
          <a:xfrm>
            <a:off x="5760720" y="4679442"/>
            <a:ext cx="2926080" cy="283464"/>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vantaṉa</a:t>
            </a:r>
            <a:endParaRPr lang="en-US" sz="1400" dirty="0"/>
          </a:p>
        </p:txBody>
      </p:sp>
      <p:sp>
        <p:nvSpPr>
          <p:cNvPr id="21" name="Text 18"/>
          <p:cNvSpPr/>
          <p:nvPr/>
        </p:nvSpPr>
        <p:spPr>
          <a:xfrm>
            <a:off x="5760720" y="4962906"/>
            <a:ext cx="2926080" cy="425196"/>
          </a:xfrm>
          <a:prstGeom prst="rect">
            <a:avLst/>
          </a:prstGeom>
          <a:noFill/>
          <a:ln/>
        </p:spPr>
        <p:txBody>
          <a:bodyPr wrap="square" lIns="0" tIns="0" rIns="0" bIns="0" rtlCol="0" anchor="t"/>
          <a:lstStyle/>
          <a:p>
            <a:pPr algn="ctr" indent="0" marL="0">
              <a:buNone/>
            </a:pPr>
            <a:r>
              <a:rPr lang="en-US" sz="1300" dirty="0">
                <a:solidFill>
                  <a:srgbClr val="1B2433"/>
                </a:solidFill>
                <a:latin typeface="Calibri" pitchFamily="34" charset="0"/>
                <a:ea typeface="Calibri" pitchFamily="34" charset="-122"/>
                <a:cs typeface="Calibri" pitchFamily="34" charset="-120"/>
              </a:rPr>
              <a:t>ending </a:t>
            </a:r>
            <a:r>
              <a:rPr lang="en-US" sz="1300" b="1" dirty="0">
                <a:solidFill>
                  <a:srgbClr val="1B2433"/>
                </a:solidFill>
                <a:latin typeface="Calibri" pitchFamily="34" charset="0"/>
                <a:ea typeface="Calibri" pitchFamily="34" charset="-122"/>
                <a:cs typeface="Calibri" pitchFamily="34" charset="-120"/>
              </a:rPr>
              <a:t>-aṉa</a:t>
            </a:r>
            <a:endParaRPr lang="en-US" sz="1300" dirty="0"/>
          </a:p>
        </p:txBody>
      </p:sp>
      <p:sp>
        <p:nvSpPr>
          <p:cNvPr id="22" name="Shape 19"/>
          <p:cNvSpPr/>
          <p:nvPr/>
        </p:nvSpPr>
        <p:spPr>
          <a:xfrm>
            <a:off x="9006840" y="1691640"/>
            <a:ext cx="2606040" cy="1417320"/>
          </a:xfrm>
          <a:prstGeom prst="roundRect">
            <a:avLst>
              <a:gd name="adj" fmla="val 5161"/>
            </a:avLst>
          </a:prstGeom>
          <a:solidFill>
            <a:srgbClr val="DDF2EA"/>
          </a:solidFill>
          <a:ln w="12700">
            <a:solidFill>
              <a:srgbClr val="DDF2EA"/>
            </a:solidFill>
            <a:prstDash val="solid"/>
          </a:ln>
        </p:spPr>
      </p:sp>
      <p:sp>
        <p:nvSpPr>
          <p:cNvPr id="23" name="Text 20"/>
          <p:cNvSpPr/>
          <p:nvPr/>
        </p:nvSpPr>
        <p:spPr>
          <a:xfrm>
            <a:off x="9208008" y="1837944"/>
            <a:ext cx="2203704" cy="411480"/>
          </a:xfrm>
          <a:prstGeom prst="rect">
            <a:avLst/>
          </a:prstGeom>
          <a:noFill/>
          <a:ln/>
        </p:spPr>
        <p:txBody>
          <a:bodyPr wrap="square" lIns="0" tIns="0" rIns="0" bIns="0" rtlCol="0" anchor="t"/>
          <a:lstStyle/>
          <a:p>
            <a:pPr indent="0" marL="0">
              <a:buNone/>
            </a:pPr>
            <a:r>
              <a:rPr lang="en-US" sz="1700" b="1" dirty="0">
                <a:solidFill>
                  <a:srgbClr val="009E73"/>
                </a:solidFill>
                <a:latin typeface="Calibri" pitchFamily="34" charset="0"/>
                <a:ea typeface="Calibri" pitchFamily="34" charset="-122"/>
                <a:cs typeface="Calibri" pitchFamily="34" charset="-120"/>
              </a:rPr>
              <a:t>if "they" are people</a:t>
            </a:r>
            <a:endParaRPr lang="en-US" sz="1700" dirty="0"/>
          </a:p>
        </p:txBody>
      </p:sp>
      <p:sp>
        <p:nvSpPr>
          <p:cNvPr id="24" name="Text 21"/>
          <p:cNvSpPr/>
          <p:nvPr/>
        </p:nvSpPr>
        <p:spPr>
          <a:xfrm>
            <a:off x="9208008" y="2249424"/>
            <a:ext cx="2203704" cy="713232"/>
          </a:xfrm>
          <a:prstGeom prst="rect">
            <a:avLst/>
          </a:prstGeom>
          <a:noFill/>
          <a:ln/>
        </p:spPr>
        <p:txBody>
          <a:bodyPr wrap="square" lIns="0" tIns="0" rIns="0" bIns="0" rtlCol="0" anchor="t"/>
          <a:lstStyle/>
          <a:p>
            <a:pPr indent="0" marL="0">
              <a:spcAft>
                <a:spcPts val="500"/>
              </a:spcAft>
              <a:buNone/>
            </a:pPr>
            <a:r>
              <a:rPr lang="en-US" sz="1300" dirty="0">
                <a:solidFill>
                  <a:srgbClr val="1B2433"/>
                </a:solidFill>
                <a:latin typeface="Calibri" pitchFamily="34" charset="0"/>
                <a:ea typeface="Calibri" pitchFamily="34" charset="-122"/>
                <a:cs typeface="Calibri" pitchFamily="34" charset="-120"/>
              </a:rPr>
              <a:t>students, kings, teachers, gods</a:t>
            </a:r>
            <a:endParaRPr lang="en-US" sz="1300" dirty="0"/>
          </a:p>
        </p:txBody>
      </p:sp>
      <p:sp>
        <p:nvSpPr>
          <p:cNvPr id="25" name="Shape 22"/>
          <p:cNvSpPr/>
          <p:nvPr/>
        </p:nvSpPr>
        <p:spPr>
          <a:xfrm>
            <a:off x="9006840" y="3931920"/>
            <a:ext cx="2606040" cy="1417320"/>
          </a:xfrm>
          <a:prstGeom prst="roundRect">
            <a:avLst>
              <a:gd name="adj" fmla="val 5161"/>
            </a:avLst>
          </a:prstGeom>
          <a:solidFill>
            <a:srgbClr val="DCEBF6"/>
          </a:solidFill>
          <a:ln w="12700">
            <a:solidFill>
              <a:srgbClr val="DCEBF6"/>
            </a:solidFill>
            <a:prstDash val="solid"/>
          </a:ln>
        </p:spPr>
      </p:sp>
      <p:sp>
        <p:nvSpPr>
          <p:cNvPr id="26" name="Text 23"/>
          <p:cNvSpPr/>
          <p:nvPr/>
        </p:nvSpPr>
        <p:spPr>
          <a:xfrm>
            <a:off x="9208008" y="4078224"/>
            <a:ext cx="2203704" cy="411480"/>
          </a:xfrm>
          <a:prstGeom prst="rect">
            <a:avLst/>
          </a:prstGeom>
          <a:noFill/>
          <a:ln/>
        </p:spPr>
        <p:txBody>
          <a:bodyPr wrap="square" lIns="0" tIns="0" rIns="0" bIns="0" rtlCol="0" anchor="t"/>
          <a:lstStyle/>
          <a:p>
            <a:pPr indent="0" marL="0">
              <a:buNone/>
            </a:pPr>
            <a:r>
              <a:rPr lang="en-US" sz="1700" b="1" dirty="0">
                <a:solidFill>
                  <a:srgbClr val="0072B2"/>
                </a:solidFill>
                <a:latin typeface="Calibri" pitchFamily="34" charset="0"/>
                <a:ea typeface="Calibri" pitchFamily="34" charset="-122"/>
                <a:cs typeface="Calibri" pitchFamily="34" charset="-120"/>
              </a:rPr>
              <a:t>if "they" are not people</a:t>
            </a:r>
            <a:endParaRPr lang="en-US" sz="1700" dirty="0"/>
          </a:p>
        </p:txBody>
      </p:sp>
      <p:sp>
        <p:nvSpPr>
          <p:cNvPr id="27" name="Text 24"/>
          <p:cNvSpPr/>
          <p:nvPr/>
        </p:nvSpPr>
        <p:spPr>
          <a:xfrm>
            <a:off x="9208008" y="4489704"/>
            <a:ext cx="2203704" cy="713232"/>
          </a:xfrm>
          <a:prstGeom prst="rect">
            <a:avLst/>
          </a:prstGeom>
          <a:noFill/>
          <a:ln/>
        </p:spPr>
        <p:txBody>
          <a:bodyPr wrap="square" lIns="0" tIns="0" rIns="0" bIns="0" rtlCol="0" anchor="t"/>
          <a:lstStyle/>
          <a:p>
            <a:pPr indent="0" marL="0">
              <a:spcAft>
                <a:spcPts val="500"/>
              </a:spcAft>
              <a:buNone/>
            </a:pPr>
            <a:r>
              <a:rPr lang="en-US" sz="1300" dirty="0">
                <a:solidFill>
                  <a:srgbClr val="1B2433"/>
                </a:solidFill>
                <a:latin typeface="Calibri" pitchFamily="34" charset="0"/>
                <a:ea typeface="Calibri" pitchFamily="34" charset="-122"/>
                <a:cs typeface="Calibri" pitchFamily="34" charset="-120"/>
              </a:rPr>
              <a:t>dogs, horses, aircraft, stones</a:t>
            </a:r>
            <a:endParaRPr lang="en-US" sz="1300" dirty="0"/>
          </a:p>
        </p:txBody>
      </p:sp>
      <p:sp>
        <p:nvSpPr>
          <p:cNvPr id="28" name="Shape 25"/>
          <p:cNvSpPr/>
          <p:nvPr/>
        </p:nvSpPr>
        <p:spPr>
          <a:xfrm>
            <a:off x="548640" y="5742432"/>
            <a:ext cx="11064240" cy="566928"/>
          </a:xfrm>
          <a:prstGeom prst="roundRect">
            <a:avLst>
              <a:gd name="adj" fmla="val 12903"/>
            </a:avLst>
          </a:prstGeom>
          <a:solidFill>
            <a:srgbClr val="FBEBD2"/>
          </a:solidFill>
          <a:ln w="12700">
            <a:solidFill>
              <a:srgbClr val="E39B2D"/>
            </a:solidFill>
            <a:prstDash val="solid"/>
          </a:ln>
        </p:spPr>
      </p:sp>
      <p:sp>
        <p:nvSpPr>
          <p:cNvPr id="29" name="Text 26"/>
          <p:cNvSpPr/>
          <p:nvPr/>
        </p:nvSpPr>
        <p:spPr>
          <a:xfrm>
            <a:off x="777240" y="5742432"/>
            <a:ext cx="10607040" cy="566928"/>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The English never says which. </a:t>
            </a:r>
            <a:r>
              <a:rPr lang="en-US" sz="1500" b="1" dirty="0">
                <a:solidFill>
                  <a:srgbClr val="1B2433"/>
                </a:solidFill>
                <a:latin typeface="Calibri" pitchFamily="34" charset="0"/>
                <a:ea typeface="Calibri" pitchFamily="34" charset="-122"/>
                <a:cs typeface="Calibri" pitchFamily="34" charset="-120"/>
              </a:rPr>
              <a:t>Tamil cannot avoid saying it.</a:t>
            </a:r>
            <a:r>
              <a:rPr lang="en-US" sz="1500" dirty="0">
                <a:solidFill>
                  <a:srgbClr val="1B2433"/>
                </a:solidFill>
                <a:latin typeface="Calibri" pitchFamily="34" charset="0"/>
                <a:ea typeface="Calibri" pitchFamily="34" charset="-122"/>
                <a:cs typeface="Calibri" pitchFamily="34" charset="-120"/>
              </a:rPr>
              <a:t> A translation system has to pick one.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PROBLEM</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Why? The Tamil verb agrees with its subject</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011680"/>
                <a:gridCol w="2377440"/>
                <a:gridCol w="1920240"/>
                <a:gridCol w="4754880"/>
              </a:tblGrid>
              <a:tr h="475488">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Tamil verb</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How it sounds (romanised)</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English</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What the ending says about the subject</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r>
              <a:tr h="475488">
                <a:tc>
                  <a:txBody>
                    <a:bodyPr/>
                    <a:lstStyle/>
                    <a:p>
                      <a:pPr algn="l" indent="0" marL="0">
                        <a:buNone/>
                      </a:pPr>
                      <a:r>
                        <a:rPr lang="en-US" sz="1600" b="1" dirty="0">
                          <a:solidFill>
                            <a:srgbClr val="1B2433"/>
                          </a:solidFill>
                          <a:latin typeface="Calibri" pitchFamily="34" charset="0"/>
                          <a:ea typeface="Calibri" pitchFamily="34" charset="-122"/>
                          <a:cs typeface="Calibri" pitchFamily="34" charset="-120"/>
                        </a:rPr>
                        <a:t>வந்தான்</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i="1" dirty="0">
                          <a:solidFill>
                            <a:srgbClr val="1B2433"/>
                          </a:solidFill>
                          <a:latin typeface="Calibri" pitchFamily="34" charset="0"/>
                          <a:ea typeface="Calibri" pitchFamily="34" charset="-122"/>
                          <a:cs typeface="Calibri" pitchFamily="34" charset="-120"/>
                        </a:rPr>
                        <a:t>vantāṉ</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433"/>
                          </a:solidFill>
                          <a:latin typeface="Calibri" pitchFamily="34" charset="0"/>
                          <a:ea typeface="Calibri" pitchFamily="34" charset="-122"/>
                          <a:cs typeface="Calibri" pitchFamily="34" charset="-120"/>
                        </a:rPr>
                        <a:t>he came</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433"/>
                          </a:solidFill>
                          <a:latin typeface="Calibri" pitchFamily="34" charset="0"/>
                          <a:ea typeface="Calibri" pitchFamily="34" charset="-122"/>
                          <a:cs typeface="Calibri" pitchFamily="34" charset="-120"/>
                        </a:rPr>
                        <a:t>one person, masculine</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600" b="1" dirty="0">
                          <a:solidFill>
                            <a:srgbClr val="1B2433"/>
                          </a:solidFill>
                          <a:latin typeface="Calibri" pitchFamily="34" charset="0"/>
                          <a:ea typeface="Calibri" pitchFamily="34" charset="-122"/>
                          <a:cs typeface="Calibri" pitchFamily="34" charset="-120"/>
                        </a:rPr>
                        <a:t>வந்தாள்</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600" i="1" dirty="0">
                          <a:solidFill>
                            <a:srgbClr val="1B2433"/>
                          </a:solidFill>
                          <a:latin typeface="Calibri" pitchFamily="34" charset="0"/>
                          <a:ea typeface="Calibri" pitchFamily="34" charset="-122"/>
                          <a:cs typeface="Calibri" pitchFamily="34" charset="-120"/>
                        </a:rPr>
                        <a:t>vantāḷ</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600" dirty="0">
                          <a:solidFill>
                            <a:srgbClr val="1B2433"/>
                          </a:solidFill>
                          <a:latin typeface="Calibri" pitchFamily="34" charset="0"/>
                          <a:ea typeface="Calibri" pitchFamily="34" charset="-122"/>
                          <a:cs typeface="Calibri" pitchFamily="34" charset="-120"/>
                        </a:rPr>
                        <a:t>she came</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600" dirty="0">
                          <a:solidFill>
                            <a:srgbClr val="1B2433"/>
                          </a:solidFill>
                          <a:latin typeface="Calibri" pitchFamily="34" charset="0"/>
                          <a:ea typeface="Calibri" pitchFamily="34" charset="-122"/>
                          <a:cs typeface="Calibri" pitchFamily="34" charset="-120"/>
                        </a:rPr>
                        <a:t>one person, feminine</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475488">
                <a:tc>
                  <a:txBody>
                    <a:bodyPr/>
                    <a:lstStyle/>
                    <a:p>
                      <a:pPr algn="l" indent="0" marL="0">
                        <a:buNone/>
                      </a:pPr>
                      <a:r>
                        <a:rPr lang="en-US" sz="1600" b="1" dirty="0">
                          <a:solidFill>
                            <a:srgbClr val="1B2433"/>
                          </a:solidFill>
                          <a:latin typeface="Calibri" pitchFamily="34" charset="0"/>
                          <a:ea typeface="Calibri" pitchFamily="34" charset="-122"/>
                          <a:cs typeface="Calibri" pitchFamily="34" charset="-120"/>
                        </a:rPr>
                        <a:t>வந்தார்</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i="1" dirty="0">
                          <a:solidFill>
                            <a:srgbClr val="1B2433"/>
                          </a:solidFill>
                          <a:latin typeface="Calibri" pitchFamily="34" charset="0"/>
                          <a:ea typeface="Calibri" pitchFamily="34" charset="-122"/>
                          <a:cs typeface="Calibri" pitchFamily="34" charset="-120"/>
                        </a:rPr>
                        <a:t>vantār</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433"/>
                          </a:solidFill>
                          <a:latin typeface="Calibri" pitchFamily="34" charset="0"/>
                          <a:ea typeface="Calibri" pitchFamily="34" charset="-122"/>
                          <a:cs typeface="Calibri" pitchFamily="34" charset="-120"/>
                        </a:rPr>
                        <a:t>he / she came</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433"/>
                          </a:solidFill>
                          <a:latin typeface="Calibri" pitchFamily="34" charset="0"/>
                          <a:ea typeface="Calibri" pitchFamily="34" charset="-122"/>
                          <a:cs typeface="Calibri" pitchFamily="34" charset="-120"/>
                        </a:rPr>
                        <a:t>one person, respectful; does not say male or female</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600" b="1" dirty="0">
                          <a:solidFill>
                            <a:srgbClr val="1B2433"/>
                          </a:solidFill>
                          <a:latin typeface="Calibri" pitchFamily="34" charset="0"/>
                          <a:ea typeface="Calibri" pitchFamily="34" charset="-122"/>
                          <a:cs typeface="Calibri" pitchFamily="34" charset="-120"/>
                        </a:rPr>
                        <a:t>வந்தார்கள்</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600" i="1" dirty="0">
                          <a:solidFill>
                            <a:srgbClr val="1B2433"/>
                          </a:solidFill>
                          <a:latin typeface="Calibri" pitchFamily="34" charset="0"/>
                          <a:ea typeface="Calibri" pitchFamily="34" charset="-122"/>
                          <a:cs typeface="Calibri" pitchFamily="34" charset="-120"/>
                        </a:rPr>
                        <a:t>vantārkaḷ</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600" dirty="0">
                          <a:solidFill>
                            <a:srgbClr val="1B2433"/>
                          </a:solidFill>
                          <a:latin typeface="Calibri" pitchFamily="34" charset="0"/>
                          <a:ea typeface="Calibri" pitchFamily="34" charset="-122"/>
                          <a:cs typeface="Calibri" pitchFamily="34" charset="-120"/>
                        </a:rPr>
                        <a:t>they came</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600" dirty="0">
                          <a:solidFill>
                            <a:srgbClr val="1B2433"/>
                          </a:solidFill>
                          <a:latin typeface="Calibri" pitchFamily="34" charset="0"/>
                          <a:ea typeface="Calibri" pitchFamily="34" charset="-122"/>
                          <a:cs typeface="Calibri" pitchFamily="34" charset="-120"/>
                        </a:rPr>
                        <a:t>several people (also: one person, very respectfully)</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475488">
                <a:tc>
                  <a:txBody>
                    <a:bodyPr/>
                    <a:lstStyle/>
                    <a:p>
                      <a:pPr algn="l" indent="0" marL="0">
                        <a:buNone/>
                      </a:pPr>
                      <a:r>
                        <a:rPr lang="en-US" sz="1600" b="1" dirty="0">
                          <a:solidFill>
                            <a:srgbClr val="1B2433"/>
                          </a:solidFill>
                          <a:latin typeface="Calibri" pitchFamily="34" charset="0"/>
                          <a:ea typeface="Calibri" pitchFamily="34" charset="-122"/>
                          <a:cs typeface="Calibri" pitchFamily="34" charset="-120"/>
                        </a:rPr>
                        <a:t>வந்தது</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i="1" dirty="0">
                          <a:solidFill>
                            <a:srgbClr val="1B2433"/>
                          </a:solidFill>
                          <a:latin typeface="Calibri" pitchFamily="34" charset="0"/>
                          <a:ea typeface="Calibri" pitchFamily="34" charset="-122"/>
                          <a:cs typeface="Calibri" pitchFamily="34" charset="-120"/>
                        </a:rPr>
                        <a:t>vantatu</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433"/>
                          </a:solidFill>
                          <a:latin typeface="Calibri" pitchFamily="34" charset="0"/>
                          <a:ea typeface="Calibri" pitchFamily="34" charset="-122"/>
                          <a:cs typeface="Calibri" pitchFamily="34" charset="-120"/>
                        </a:rPr>
                        <a:t>it came</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433"/>
                          </a:solidFill>
                          <a:latin typeface="Calibri" pitchFamily="34" charset="0"/>
                          <a:ea typeface="Calibri" pitchFamily="34" charset="-122"/>
                          <a:cs typeface="Calibri" pitchFamily="34" charset="-120"/>
                        </a:rPr>
                        <a:t>one animal or thing</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600" b="1" dirty="0">
                          <a:solidFill>
                            <a:srgbClr val="1B2433"/>
                          </a:solidFill>
                          <a:latin typeface="Calibri" pitchFamily="34" charset="0"/>
                          <a:ea typeface="Calibri" pitchFamily="34" charset="-122"/>
                          <a:cs typeface="Calibri" pitchFamily="34" charset="-120"/>
                        </a:rPr>
                        <a:t>வந்தன</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600" i="1" dirty="0">
                          <a:solidFill>
                            <a:srgbClr val="1B2433"/>
                          </a:solidFill>
                          <a:latin typeface="Calibri" pitchFamily="34" charset="0"/>
                          <a:ea typeface="Calibri" pitchFamily="34" charset="-122"/>
                          <a:cs typeface="Calibri" pitchFamily="34" charset="-120"/>
                        </a:rPr>
                        <a:t>vantaṉa</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600" dirty="0">
                          <a:solidFill>
                            <a:srgbClr val="1B2433"/>
                          </a:solidFill>
                          <a:latin typeface="Calibri" pitchFamily="34" charset="0"/>
                          <a:ea typeface="Calibri" pitchFamily="34" charset="-122"/>
                          <a:cs typeface="Calibri" pitchFamily="34" charset="-120"/>
                        </a:rPr>
                        <a:t>they came</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600" dirty="0">
                          <a:solidFill>
                            <a:srgbClr val="1B2433"/>
                          </a:solidFill>
                          <a:latin typeface="Calibri" pitchFamily="34" charset="0"/>
                          <a:ea typeface="Calibri" pitchFamily="34" charset="-122"/>
                          <a:cs typeface="Calibri" pitchFamily="34" charset="-120"/>
                        </a:rPr>
                        <a:t>several animals or things</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bl>
          </a:graphicData>
        </a:graphic>
      </p:graphicFrame>
      <p:sp>
        <p:nvSpPr>
          <p:cNvPr id="10" name="Shape 6"/>
          <p:cNvSpPr/>
          <p:nvPr/>
        </p:nvSpPr>
        <p:spPr>
          <a:xfrm>
            <a:off x="548640" y="5394960"/>
            <a:ext cx="11064240" cy="566928"/>
          </a:xfrm>
          <a:prstGeom prst="roundRect">
            <a:avLst>
              <a:gd name="adj" fmla="val 12903"/>
            </a:avLst>
          </a:prstGeom>
          <a:solidFill>
            <a:srgbClr val="FBEBD2"/>
          </a:solidFill>
          <a:ln w="12700">
            <a:solidFill>
              <a:srgbClr val="E39B2D"/>
            </a:solidFill>
            <a:prstDash val="solid"/>
          </a:ln>
        </p:spPr>
      </p:sp>
      <p:sp>
        <p:nvSpPr>
          <p:cNvPr id="11" name="Text 7"/>
          <p:cNvSpPr/>
          <p:nvPr/>
        </p:nvSpPr>
        <p:spPr>
          <a:xfrm>
            <a:off x="777240" y="5394960"/>
            <a:ext cx="10607040" cy="566928"/>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Six Tamil words, </a:t>
            </a:r>
            <a:r>
              <a:rPr lang="en-US" sz="1500" b="1" dirty="0">
                <a:solidFill>
                  <a:srgbClr val="1B2433"/>
                </a:solidFill>
                <a:latin typeface="Calibri" pitchFamily="34" charset="0"/>
                <a:ea typeface="Calibri" pitchFamily="34" charset="-122"/>
                <a:cs typeface="Calibri" pitchFamily="34" charset="-120"/>
              </a:rPr>
              <a:t>one</a:t>
            </a:r>
            <a:r>
              <a:rPr lang="en-US" sz="1500" dirty="0">
                <a:solidFill>
                  <a:srgbClr val="1B2433"/>
                </a:solidFill>
                <a:latin typeface="Calibri" pitchFamily="34" charset="0"/>
                <a:ea typeface="Calibri" pitchFamily="34" charset="-122"/>
                <a:cs typeface="Calibri" pitchFamily="34" charset="-120"/>
              </a:rPr>
              <a:t> English word "came". Every Tamil sentence about a third person (he, she, it, they) has to pick one of them.</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PROBLEM</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Three things the Tamil verb must mark</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7</a:t>
            </a:r>
            <a:endParaRPr lang="en-US" sz="900" dirty="0"/>
          </a:p>
        </p:txBody>
      </p:sp>
      <p:sp>
        <p:nvSpPr>
          <p:cNvPr id="9" name="Shape 6"/>
          <p:cNvSpPr/>
          <p:nvPr/>
        </p:nvSpPr>
        <p:spPr>
          <a:xfrm>
            <a:off x="548640" y="1691640"/>
            <a:ext cx="3566160" cy="3840480"/>
          </a:xfrm>
          <a:prstGeom prst="roundRect">
            <a:avLst>
              <a:gd name="adj" fmla="val 2051"/>
            </a:avLst>
          </a:prstGeom>
          <a:solidFill>
            <a:srgbClr val="DDF2EA"/>
          </a:solidFill>
          <a:ln w="12700">
            <a:solidFill>
              <a:srgbClr val="DDF2EA"/>
            </a:solidFill>
            <a:prstDash val="solid"/>
          </a:ln>
        </p:spPr>
      </p:sp>
      <p:sp>
        <p:nvSpPr>
          <p:cNvPr id="10" name="Text 7"/>
          <p:cNvSpPr/>
          <p:nvPr/>
        </p:nvSpPr>
        <p:spPr>
          <a:xfrm>
            <a:off x="731520" y="1828800"/>
            <a:ext cx="3200400" cy="411480"/>
          </a:xfrm>
          <a:prstGeom prst="rect">
            <a:avLst/>
          </a:prstGeom>
          <a:noFill/>
          <a:ln/>
        </p:spPr>
        <p:txBody>
          <a:bodyPr wrap="square" lIns="0" tIns="0" rIns="0" bIns="0" rtlCol="0" anchor="t"/>
          <a:lstStyle/>
          <a:p>
            <a:pPr algn="l" indent="0" marL="0">
              <a:lnSpc>
                <a:spcPct val="100000"/>
              </a:lnSpc>
              <a:buNone/>
            </a:pPr>
            <a:r>
              <a:rPr lang="en-US" sz="1800" b="1" dirty="0">
                <a:solidFill>
                  <a:srgbClr val="009E73"/>
                </a:solidFill>
                <a:latin typeface="Calibri" pitchFamily="34" charset="0"/>
                <a:ea typeface="Calibri" pitchFamily="34" charset="-122"/>
                <a:cs typeface="Calibri" pitchFamily="34" charset="-120"/>
              </a:rPr>
              <a:t>Rationality (திணை tiṇai)</a:t>
            </a:r>
            <a:endParaRPr lang="en-US" sz="1800" dirty="0"/>
          </a:p>
        </p:txBody>
      </p:sp>
      <p:sp>
        <p:nvSpPr>
          <p:cNvPr id="11" name="Text 8"/>
          <p:cNvSpPr/>
          <p:nvPr/>
        </p:nvSpPr>
        <p:spPr>
          <a:xfrm>
            <a:off x="731520" y="2286000"/>
            <a:ext cx="3200400" cy="45720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Is the subject a person (or a god), or not?</a:t>
            </a:r>
            <a:endParaRPr lang="en-US" sz="1400" dirty="0"/>
          </a:p>
        </p:txBody>
      </p:sp>
      <p:sp>
        <p:nvSpPr>
          <p:cNvPr id="12" name="Shape 9"/>
          <p:cNvSpPr/>
          <p:nvPr/>
        </p:nvSpPr>
        <p:spPr>
          <a:xfrm>
            <a:off x="731520" y="2788920"/>
            <a:ext cx="3200400" cy="1005840"/>
          </a:xfrm>
          <a:prstGeom prst="roundRect">
            <a:avLst>
              <a:gd name="adj" fmla="val 7273"/>
            </a:avLst>
          </a:prstGeom>
          <a:solidFill>
            <a:srgbClr val="FFFFFF"/>
          </a:solidFill>
          <a:ln w="19050">
            <a:solidFill>
              <a:srgbClr val="009E73"/>
            </a:solidFill>
            <a:prstDash val="solid"/>
          </a:ln>
        </p:spPr>
      </p:sp>
      <p:sp>
        <p:nvSpPr>
          <p:cNvPr id="13" name="Text 10"/>
          <p:cNvSpPr/>
          <p:nvPr/>
        </p:nvSpPr>
        <p:spPr>
          <a:xfrm>
            <a:off x="822960" y="2898648"/>
            <a:ext cx="3017520" cy="452628"/>
          </a:xfrm>
          <a:prstGeom prst="rect">
            <a:avLst/>
          </a:prstGeom>
          <a:noFill/>
          <a:ln/>
        </p:spPr>
        <p:txBody>
          <a:bodyPr wrap="square" lIns="0" tIns="0" rIns="0" bIns="0" rtlCol="0" anchor="ctr"/>
          <a:lstStyle/>
          <a:p>
            <a:pPr algn="ctr" indent="0" marL="0">
              <a:buNone/>
            </a:pPr>
            <a:r>
              <a:rPr lang="en-US" sz="2000" dirty="0">
                <a:solidFill>
                  <a:srgbClr val="1B2433"/>
                </a:solidFill>
                <a:latin typeface="Calibri" pitchFamily="34" charset="0"/>
                <a:ea typeface="Calibri" pitchFamily="34" charset="-122"/>
                <a:cs typeface="Calibri" pitchFamily="34" charset="-120"/>
              </a:rPr>
              <a:t>மாணவர்கள் வந்தார்கள்</a:t>
            </a:r>
            <a:endParaRPr lang="en-US" sz="2000" dirty="0"/>
          </a:p>
        </p:txBody>
      </p:sp>
      <p:sp>
        <p:nvSpPr>
          <p:cNvPr id="14" name="Text 11"/>
          <p:cNvSpPr/>
          <p:nvPr/>
        </p:nvSpPr>
        <p:spPr>
          <a:xfrm>
            <a:off x="822960" y="3552444"/>
            <a:ext cx="3017520" cy="301752"/>
          </a:xfrm>
          <a:prstGeom prst="rect">
            <a:avLst/>
          </a:prstGeom>
          <a:noFill/>
          <a:ln/>
        </p:spPr>
        <p:txBody>
          <a:bodyPr wrap="square" lIns="0" tIns="0" rIns="0" bIns="0" rtlCol="0" anchor="t"/>
          <a:lstStyle/>
          <a:p>
            <a:pPr algn="ctr" indent="0" marL="0">
              <a:buNone/>
            </a:pPr>
            <a:r>
              <a:rPr lang="en-US" sz="1200" dirty="0">
                <a:solidFill>
                  <a:srgbClr val="1B2433"/>
                </a:solidFill>
                <a:latin typeface="Calibri" pitchFamily="34" charset="0"/>
                <a:ea typeface="Calibri" pitchFamily="34" charset="-122"/>
                <a:cs typeface="Calibri" pitchFamily="34" charset="-120"/>
              </a:rPr>
              <a:t>The students came.</a:t>
            </a:r>
            <a:endParaRPr lang="en-US" sz="1200" dirty="0"/>
          </a:p>
        </p:txBody>
      </p:sp>
      <p:sp>
        <p:nvSpPr>
          <p:cNvPr id="15" name="Shape 12"/>
          <p:cNvSpPr/>
          <p:nvPr/>
        </p:nvSpPr>
        <p:spPr>
          <a:xfrm>
            <a:off x="731520" y="3931920"/>
            <a:ext cx="3200400" cy="1005840"/>
          </a:xfrm>
          <a:prstGeom prst="roundRect">
            <a:avLst>
              <a:gd name="adj" fmla="val 7273"/>
            </a:avLst>
          </a:prstGeom>
          <a:solidFill>
            <a:srgbClr val="FFFFFF"/>
          </a:solidFill>
          <a:ln w="19050">
            <a:solidFill>
              <a:srgbClr val="009E73"/>
            </a:solidFill>
            <a:prstDash val="solid"/>
          </a:ln>
        </p:spPr>
      </p:sp>
      <p:sp>
        <p:nvSpPr>
          <p:cNvPr id="16" name="Text 13"/>
          <p:cNvSpPr/>
          <p:nvPr/>
        </p:nvSpPr>
        <p:spPr>
          <a:xfrm>
            <a:off x="822960" y="4041648"/>
            <a:ext cx="3017520" cy="452628"/>
          </a:xfrm>
          <a:prstGeom prst="rect">
            <a:avLst/>
          </a:prstGeom>
          <a:noFill/>
          <a:ln/>
        </p:spPr>
        <p:txBody>
          <a:bodyPr wrap="square" lIns="0" tIns="0" rIns="0" bIns="0" rtlCol="0" anchor="ctr"/>
          <a:lstStyle/>
          <a:p>
            <a:pPr algn="ctr" indent="0" marL="0">
              <a:buNone/>
            </a:pPr>
            <a:r>
              <a:rPr lang="en-US" sz="2000" dirty="0">
                <a:solidFill>
                  <a:srgbClr val="1B2433"/>
                </a:solidFill>
                <a:latin typeface="Calibri" pitchFamily="34" charset="0"/>
                <a:ea typeface="Calibri" pitchFamily="34" charset="-122"/>
                <a:cs typeface="Calibri" pitchFamily="34" charset="-120"/>
              </a:rPr>
              <a:t>நாய்கள் வந்தன</a:t>
            </a:r>
            <a:endParaRPr lang="en-US" sz="2000" dirty="0"/>
          </a:p>
        </p:txBody>
      </p:sp>
      <p:sp>
        <p:nvSpPr>
          <p:cNvPr id="17" name="Text 14"/>
          <p:cNvSpPr/>
          <p:nvPr/>
        </p:nvSpPr>
        <p:spPr>
          <a:xfrm>
            <a:off x="822960" y="4695444"/>
            <a:ext cx="3017520" cy="301752"/>
          </a:xfrm>
          <a:prstGeom prst="rect">
            <a:avLst/>
          </a:prstGeom>
          <a:noFill/>
          <a:ln/>
        </p:spPr>
        <p:txBody>
          <a:bodyPr wrap="square" lIns="0" tIns="0" rIns="0" bIns="0" rtlCol="0" anchor="t"/>
          <a:lstStyle/>
          <a:p>
            <a:pPr algn="ctr" indent="0" marL="0">
              <a:buNone/>
            </a:pPr>
            <a:r>
              <a:rPr lang="en-US" sz="1200" dirty="0">
                <a:solidFill>
                  <a:srgbClr val="1B2433"/>
                </a:solidFill>
                <a:latin typeface="Calibri" pitchFamily="34" charset="0"/>
                <a:ea typeface="Calibri" pitchFamily="34" charset="-122"/>
                <a:cs typeface="Calibri" pitchFamily="34" charset="-120"/>
              </a:rPr>
              <a:t>The dogs came.</a:t>
            </a:r>
            <a:endParaRPr lang="en-US" sz="1200" dirty="0"/>
          </a:p>
        </p:txBody>
      </p:sp>
      <p:sp>
        <p:nvSpPr>
          <p:cNvPr id="18" name="Text 15"/>
          <p:cNvSpPr/>
          <p:nvPr/>
        </p:nvSpPr>
        <p:spPr>
          <a:xfrm>
            <a:off x="731520" y="5120640"/>
            <a:ext cx="3200400" cy="914400"/>
          </a:xfrm>
          <a:prstGeom prst="rect">
            <a:avLst/>
          </a:prstGeom>
          <a:noFill/>
          <a:ln/>
        </p:spPr>
        <p:txBody>
          <a:bodyPr wrap="square" lIns="0" tIns="0" rIns="0" bIns="0" rtlCol="0" anchor="t"/>
          <a:lstStyle/>
          <a:p>
            <a:pPr algn="l" indent="0" marL="0">
              <a:lnSpc>
                <a:spcPct val="100000"/>
              </a:lnSpc>
              <a:buNone/>
            </a:pPr>
            <a:r>
              <a:rPr lang="en-US" sz="1300" dirty="0">
                <a:solidFill>
                  <a:srgbClr val="1B2433"/>
                </a:solidFill>
                <a:latin typeface="Calibri" pitchFamily="34" charset="0"/>
                <a:ea typeface="Calibri" pitchFamily="34" charset="-122"/>
                <a:cs typeface="Calibri" pitchFamily="34" charset="-120"/>
              </a:rPr>
              <a:t>English: </a:t>
            </a:r>
            <a:r>
              <a:rPr lang="en-US" sz="1300" b="1" dirty="0">
                <a:solidFill>
                  <a:srgbClr val="1B2433"/>
                </a:solidFill>
                <a:latin typeface="Calibri" pitchFamily="34" charset="0"/>
                <a:ea typeface="Calibri" pitchFamily="34" charset="-122"/>
                <a:cs typeface="Calibri" pitchFamily="34" charset="-120"/>
              </a:rPr>
              <a:t>not marked at all</a:t>
            </a:r>
            <a:r>
              <a:rPr lang="en-US" sz="1300" dirty="0">
                <a:solidFill>
                  <a:srgbClr val="1B2433"/>
                </a:solidFill>
                <a:latin typeface="Calibri" pitchFamily="34" charset="0"/>
                <a:ea typeface="Calibri" pitchFamily="34" charset="-122"/>
                <a:cs typeface="Calibri" pitchFamily="34" charset="-120"/>
              </a:rPr>
              <a:t>. Only the noun hints at it.</a:t>
            </a:r>
            <a:endParaRPr lang="en-US" sz="1300" dirty="0"/>
          </a:p>
        </p:txBody>
      </p:sp>
      <p:sp>
        <p:nvSpPr>
          <p:cNvPr id="19" name="Shape 16"/>
          <p:cNvSpPr/>
          <p:nvPr/>
        </p:nvSpPr>
        <p:spPr>
          <a:xfrm>
            <a:off x="4297680" y="1691640"/>
            <a:ext cx="3566160" cy="3840480"/>
          </a:xfrm>
          <a:prstGeom prst="roundRect">
            <a:avLst>
              <a:gd name="adj" fmla="val 2051"/>
            </a:avLst>
          </a:prstGeom>
          <a:solidFill>
            <a:srgbClr val="FBE5D6"/>
          </a:solidFill>
          <a:ln w="12700">
            <a:solidFill>
              <a:srgbClr val="FBE5D6"/>
            </a:solidFill>
            <a:prstDash val="solid"/>
          </a:ln>
        </p:spPr>
      </p:sp>
      <p:sp>
        <p:nvSpPr>
          <p:cNvPr id="20" name="Text 17"/>
          <p:cNvSpPr/>
          <p:nvPr/>
        </p:nvSpPr>
        <p:spPr>
          <a:xfrm>
            <a:off x="4480560" y="1828800"/>
            <a:ext cx="3200400" cy="411480"/>
          </a:xfrm>
          <a:prstGeom prst="rect">
            <a:avLst/>
          </a:prstGeom>
          <a:noFill/>
          <a:ln/>
        </p:spPr>
        <p:txBody>
          <a:bodyPr wrap="square" lIns="0" tIns="0" rIns="0" bIns="0" rtlCol="0" anchor="t"/>
          <a:lstStyle/>
          <a:p>
            <a:pPr algn="l" indent="0" marL="0">
              <a:lnSpc>
                <a:spcPct val="100000"/>
              </a:lnSpc>
              <a:buNone/>
            </a:pPr>
            <a:r>
              <a:rPr lang="en-US" sz="1800" b="1" dirty="0">
                <a:solidFill>
                  <a:srgbClr val="D55E00"/>
                </a:solidFill>
                <a:latin typeface="Calibri" pitchFamily="34" charset="0"/>
                <a:ea typeface="Calibri" pitchFamily="34" charset="-122"/>
                <a:cs typeface="Calibri" pitchFamily="34" charset="-120"/>
              </a:rPr>
              <a:t>Gender</a:t>
            </a:r>
            <a:endParaRPr lang="en-US" sz="1800" dirty="0"/>
          </a:p>
        </p:txBody>
      </p:sp>
      <p:sp>
        <p:nvSpPr>
          <p:cNvPr id="21" name="Text 18"/>
          <p:cNvSpPr/>
          <p:nvPr/>
        </p:nvSpPr>
        <p:spPr>
          <a:xfrm>
            <a:off x="4480560" y="2286000"/>
            <a:ext cx="3200400" cy="45720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Is one person male or female?</a:t>
            </a:r>
            <a:endParaRPr lang="en-US" sz="1400" dirty="0"/>
          </a:p>
        </p:txBody>
      </p:sp>
      <p:sp>
        <p:nvSpPr>
          <p:cNvPr id="22" name="Shape 19"/>
          <p:cNvSpPr/>
          <p:nvPr/>
        </p:nvSpPr>
        <p:spPr>
          <a:xfrm>
            <a:off x="4480560" y="2788920"/>
            <a:ext cx="3200400" cy="1005840"/>
          </a:xfrm>
          <a:prstGeom prst="roundRect">
            <a:avLst>
              <a:gd name="adj" fmla="val 7273"/>
            </a:avLst>
          </a:prstGeom>
          <a:solidFill>
            <a:srgbClr val="FFFFFF"/>
          </a:solidFill>
          <a:ln w="19050">
            <a:solidFill>
              <a:srgbClr val="D55E00"/>
            </a:solidFill>
            <a:prstDash val="solid"/>
          </a:ln>
        </p:spPr>
      </p:sp>
      <p:sp>
        <p:nvSpPr>
          <p:cNvPr id="23" name="Text 20"/>
          <p:cNvSpPr/>
          <p:nvPr/>
        </p:nvSpPr>
        <p:spPr>
          <a:xfrm>
            <a:off x="4572000" y="2898648"/>
            <a:ext cx="3017520" cy="452628"/>
          </a:xfrm>
          <a:prstGeom prst="rect">
            <a:avLst/>
          </a:prstGeom>
          <a:noFill/>
          <a:ln/>
        </p:spPr>
        <p:txBody>
          <a:bodyPr wrap="square" lIns="0" tIns="0" rIns="0" bIns="0" rtlCol="0" anchor="ctr"/>
          <a:lstStyle/>
          <a:p>
            <a:pPr algn="ctr" indent="0" marL="0">
              <a:buNone/>
            </a:pPr>
            <a:r>
              <a:rPr lang="en-US" sz="2000" dirty="0">
                <a:solidFill>
                  <a:srgbClr val="1B2433"/>
                </a:solidFill>
                <a:latin typeface="Calibri" pitchFamily="34" charset="0"/>
                <a:ea typeface="Calibri" pitchFamily="34" charset="-122"/>
                <a:cs typeface="Calibri" pitchFamily="34" charset="-120"/>
              </a:rPr>
              <a:t>அறம் வந்தான்</a:t>
            </a:r>
            <a:endParaRPr lang="en-US" sz="2000" dirty="0"/>
          </a:p>
        </p:txBody>
      </p:sp>
      <p:sp>
        <p:nvSpPr>
          <p:cNvPr id="24" name="Text 21"/>
          <p:cNvSpPr/>
          <p:nvPr/>
        </p:nvSpPr>
        <p:spPr>
          <a:xfrm>
            <a:off x="4572000" y="3552444"/>
            <a:ext cx="3017520" cy="301752"/>
          </a:xfrm>
          <a:prstGeom prst="rect">
            <a:avLst/>
          </a:prstGeom>
          <a:noFill/>
          <a:ln/>
        </p:spPr>
        <p:txBody>
          <a:bodyPr wrap="square" lIns="0" tIns="0" rIns="0" bIns="0" rtlCol="0" anchor="t"/>
          <a:lstStyle/>
          <a:p>
            <a:pPr algn="ctr" indent="0" marL="0">
              <a:buNone/>
            </a:pPr>
            <a:r>
              <a:rPr lang="en-US" sz="1200" dirty="0">
                <a:solidFill>
                  <a:srgbClr val="1B2433"/>
                </a:solidFill>
                <a:latin typeface="Calibri" pitchFamily="34" charset="0"/>
                <a:ea typeface="Calibri" pitchFamily="34" charset="-122"/>
                <a:cs typeface="Calibri" pitchFamily="34" charset="-120"/>
              </a:rPr>
              <a:t>Aram (a boy) came.</a:t>
            </a:r>
            <a:endParaRPr lang="en-US" sz="1200" dirty="0"/>
          </a:p>
        </p:txBody>
      </p:sp>
      <p:sp>
        <p:nvSpPr>
          <p:cNvPr id="25" name="Shape 22"/>
          <p:cNvSpPr/>
          <p:nvPr/>
        </p:nvSpPr>
        <p:spPr>
          <a:xfrm>
            <a:off x="4480560" y="3931920"/>
            <a:ext cx="3200400" cy="1005840"/>
          </a:xfrm>
          <a:prstGeom prst="roundRect">
            <a:avLst>
              <a:gd name="adj" fmla="val 7273"/>
            </a:avLst>
          </a:prstGeom>
          <a:solidFill>
            <a:srgbClr val="FFFFFF"/>
          </a:solidFill>
          <a:ln w="19050">
            <a:solidFill>
              <a:srgbClr val="D55E00"/>
            </a:solidFill>
            <a:prstDash val="solid"/>
          </a:ln>
        </p:spPr>
      </p:sp>
      <p:sp>
        <p:nvSpPr>
          <p:cNvPr id="26" name="Text 23"/>
          <p:cNvSpPr/>
          <p:nvPr/>
        </p:nvSpPr>
        <p:spPr>
          <a:xfrm>
            <a:off x="4572000" y="4041648"/>
            <a:ext cx="3017520" cy="452628"/>
          </a:xfrm>
          <a:prstGeom prst="rect">
            <a:avLst/>
          </a:prstGeom>
          <a:noFill/>
          <a:ln/>
        </p:spPr>
        <p:txBody>
          <a:bodyPr wrap="square" lIns="0" tIns="0" rIns="0" bIns="0" rtlCol="0" anchor="ctr"/>
          <a:lstStyle/>
          <a:p>
            <a:pPr algn="ctr" indent="0" marL="0">
              <a:buNone/>
            </a:pPr>
            <a:r>
              <a:rPr lang="en-US" sz="2000" dirty="0">
                <a:solidFill>
                  <a:srgbClr val="1B2433"/>
                </a:solidFill>
                <a:latin typeface="Calibri" pitchFamily="34" charset="0"/>
                <a:ea typeface="Calibri" pitchFamily="34" charset="-122"/>
                <a:cs typeface="Calibri" pitchFamily="34" charset="-120"/>
              </a:rPr>
              <a:t>அறம் வந்தாள்</a:t>
            </a:r>
            <a:endParaRPr lang="en-US" sz="2000" dirty="0"/>
          </a:p>
        </p:txBody>
      </p:sp>
      <p:sp>
        <p:nvSpPr>
          <p:cNvPr id="27" name="Text 24"/>
          <p:cNvSpPr/>
          <p:nvPr/>
        </p:nvSpPr>
        <p:spPr>
          <a:xfrm>
            <a:off x="4572000" y="4695444"/>
            <a:ext cx="3017520" cy="301752"/>
          </a:xfrm>
          <a:prstGeom prst="rect">
            <a:avLst/>
          </a:prstGeom>
          <a:noFill/>
          <a:ln/>
        </p:spPr>
        <p:txBody>
          <a:bodyPr wrap="square" lIns="0" tIns="0" rIns="0" bIns="0" rtlCol="0" anchor="t"/>
          <a:lstStyle/>
          <a:p>
            <a:pPr algn="ctr" indent="0" marL="0">
              <a:buNone/>
            </a:pPr>
            <a:r>
              <a:rPr lang="en-US" sz="1200" dirty="0">
                <a:solidFill>
                  <a:srgbClr val="1B2433"/>
                </a:solidFill>
                <a:latin typeface="Calibri" pitchFamily="34" charset="0"/>
                <a:ea typeface="Calibri" pitchFamily="34" charset="-122"/>
                <a:cs typeface="Calibri" pitchFamily="34" charset="-120"/>
              </a:rPr>
              <a:t>Aram (a girl) came.</a:t>
            </a:r>
            <a:endParaRPr lang="en-US" sz="1200" dirty="0"/>
          </a:p>
        </p:txBody>
      </p:sp>
      <p:sp>
        <p:nvSpPr>
          <p:cNvPr id="28" name="Text 25"/>
          <p:cNvSpPr/>
          <p:nvPr/>
        </p:nvSpPr>
        <p:spPr>
          <a:xfrm>
            <a:off x="4480560" y="5120640"/>
            <a:ext cx="3200400" cy="914400"/>
          </a:xfrm>
          <a:prstGeom prst="rect">
            <a:avLst/>
          </a:prstGeom>
          <a:noFill/>
          <a:ln/>
        </p:spPr>
        <p:txBody>
          <a:bodyPr wrap="square" lIns="0" tIns="0" rIns="0" bIns="0" rtlCol="0" anchor="t"/>
          <a:lstStyle/>
          <a:p>
            <a:pPr algn="l" indent="0" marL="0">
              <a:lnSpc>
                <a:spcPct val="100000"/>
              </a:lnSpc>
              <a:buNone/>
            </a:pPr>
            <a:r>
              <a:rPr lang="en-US" sz="1300" dirty="0">
                <a:solidFill>
                  <a:srgbClr val="1B2433"/>
                </a:solidFill>
                <a:latin typeface="Calibri" pitchFamily="34" charset="0"/>
                <a:ea typeface="Calibri" pitchFamily="34" charset="-122"/>
                <a:cs typeface="Calibri" pitchFamily="34" charset="-120"/>
              </a:rPr>
              <a:t>English: only through names or he/she.</a:t>
            </a:r>
            <a:endParaRPr lang="en-US" sz="1300" dirty="0"/>
          </a:p>
        </p:txBody>
      </p:sp>
      <p:sp>
        <p:nvSpPr>
          <p:cNvPr id="29" name="Shape 26"/>
          <p:cNvSpPr/>
          <p:nvPr/>
        </p:nvSpPr>
        <p:spPr>
          <a:xfrm>
            <a:off x="8046720" y="1691640"/>
            <a:ext cx="3566160" cy="3840480"/>
          </a:xfrm>
          <a:prstGeom prst="roundRect">
            <a:avLst>
              <a:gd name="adj" fmla="val 2051"/>
            </a:avLst>
          </a:prstGeom>
          <a:solidFill>
            <a:srgbClr val="DCEBF6"/>
          </a:solidFill>
          <a:ln w="12700">
            <a:solidFill>
              <a:srgbClr val="DCEBF6"/>
            </a:solidFill>
            <a:prstDash val="solid"/>
          </a:ln>
        </p:spPr>
      </p:sp>
      <p:sp>
        <p:nvSpPr>
          <p:cNvPr id="30" name="Text 27"/>
          <p:cNvSpPr/>
          <p:nvPr/>
        </p:nvSpPr>
        <p:spPr>
          <a:xfrm>
            <a:off x="8229600" y="1828800"/>
            <a:ext cx="3200400" cy="411480"/>
          </a:xfrm>
          <a:prstGeom prst="rect">
            <a:avLst/>
          </a:prstGeom>
          <a:noFill/>
          <a:ln/>
        </p:spPr>
        <p:txBody>
          <a:bodyPr wrap="square" lIns="0" tIns="0" rIns="0" bIns="0" rtlCol="0" anchor="t"/>
          <a:lstStyle/>
          <a:p>
            <a:pPr algn="l" indent="0" marL="0">
              <a:lnSpc>
                <a:spcPct val="100000"/>
              </a:lnSpc>
              <a:buNone/>
            </a:pPr>
            <a:r>
              <a:rPr lang="en-US" sz="1800" b="1" dirty="0">
                <a:solidFill>
                  <a:srgbClr val="0072B2"/>
                </a:solidFill>
                <a:latin typeface="Calibri" pitchFamily="34" charset="0"/>
                <a:ea typeface="Calibri" pitchFamily="34" charset="-122"/>
                <a:cs typeface="Calibri" pitchFamily="34" charset="-120"/>
              </a:rPr>
              <a:t>Number (our control)</a:t>
            </a:r>
            <a:endParaRPr lang="en-US" sz="1800" dirty="0"/>
          </a:p>
        </p:txBody>
      </p:sp>
      <p:sp>
        <p:nvSpPr>
          <p:cNvPr id="31" name="Text 28"/>
          <p:cNvSpPr/>
          <p:nvPr/>
        </p:nvSpPr>
        <p:spPr>
          <a:xfrm>
            <a:off x="8229600" y="2286000"/>
            <a:ext cx="3200400" cy="45720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One or many?</a:t>
            </a:r>
            <a:endParaRPr lang="en-US" sz="1400" dirty="0"/>
          </a:p>
        </p:txBody>
      </p:sp>
      <p:sp>
        <p:nvSpPr>
          <p:cNvPr id="32" name="Shape 29"/>
          <p:cNvSpPr/>
          <p:nvPr/>
        </p:nvSpPr>
        <p:spPr>
          <a:xfrm>
            <a:off x="8229600" y="2788920"/>
            <a:ext cx="3200400" cy="1005840"/>
          </a:xfrm>
          <a:prstGeom prst="roundRect">
            <a:avLst>
              <a:gd name="adj" fmla="val 7273"/>
            </a:avLst>
          </a:prstGeom>
          <a:solidFill>
            <a:srgbClr val="FFFFFF"/>
          </a:solidFill>
          <a:ln w="19050">
            <a:solidFill>
              <a:srgbClr val="0072B2"/>
            </a:solidFill>
            <a:prstDash val="solid"/>
          </a:ln>
        </p:spPr>
      </p:sp>
      <p:sp>
        <p:nvSpPr>
          <p:cNvPr id="33" name="Text 30"/>
          <p:cNvSpPr/>
          <p:nvPr/>
        </p:nvSpPr>
        <p:spPr>
          <a:xfrm>
            <a:off x="8321040" y="2898648"/>
            <a:ext cx="3017520" cy="452628"/>
          </a:xfrm>
          <a:prstGeom prst="rect">
            <a:avLst/>
          </a:prstGeom>
          <a:noFill/>
          <a:ln/>
        </p:spPr>
        <p:txBody>
          <a:bodyPr wrap="square" lIns="0" tIns="0" rIns="0" bIns="0" rtlCol="0" anchor="ctr"/>
          <a:lstStyle/>
          <a:p>
            <a:pPr algn="ctr" indent="0" marL="0">
              <a:buNone/>
            </a:pPr>
            <a:r>
              <a:rPr lang="en-US" sz="2000" dirty="0">
                <a:solidFill>
                  <a:srgbClr val="1B2433"/>
                </a:solidFill>
                <a:latin typeface="Calibri" pitchFamily="34" charset="0"/>
                <a:ea typeface="Calibri" pitchFamily="34" charset="-122"/>
                <a:cs typeface="Calibri" pitchFamily="34" charset="-120"/>
              </a:rPr>
              <a:t>மாடு நகர்ந்தது</a:t>
            </a:r>
            <a:endParaRPr lang="en-US" sz="2000" dirty="0"/>
          </a:p>
        </p:txBody>
      </p:sp>
      <p:sp>
        <p:nvSpPr>
          <p:cNvPr id="34" name="Text 31"/>
          <p:cNvSpPr/>
          <p:nvPr/>
        </p:nvSpPr>
        <p:spPr>
          <a:xfrm>
            <a:off x="8321040" y="3552444"/>
            <a:ext cx="3017520" cy="301752"/>
          </a:xfrm>
          <a:prstGeom prst="rect">
            <a:avLst/>
          </a:prstGeom>
          <a:noFill/>
          <a:ln/>
        </p:spPr>
        <p:txBody>
          <a:bodyPr wrap="square" lIns="0" tIns="0" rIns="0" bIns="0" rtlCol="0" anchor="t"/>
          <a:lstStyle/>
          <a:p>
            <a:pPr algn="ctr" indent="0" marL="0">
              <a:buNone/>
            </a:pPr>
            <a:r>
              <a:rPr lang="en-US" sz="1200" dirty="0">
                <a:solidFill>
                  <a:srgbClr val="1B2433"/>
                </a:solidFill>
                <a:latin typeface="Calibri" pitchFamily="34" charset="0"/>
                <a:ea typeface="Calibri" pitchFamily="34" charset="-122"/>
                <a:cs typeface="Calibri" pitchFamily="34" charset="-120"/>
              </a:rPr>
              <a:t>The cow moved.</a:t>
            </a:r>
            <a:endParaRPr lang="en-US" sz="1200" dirty="0"/>
          </a:p>
        </p:txBody>
      </p:sp>
      <p:sp>
        <p:nvSpPr>
          <p:cNvPr id="35" name="Shape 32"/>
          <p:cNvSpPr/>
          <p:nvPr/>
        </p:nvSpPr>
        <p:spPr>
          <a:xfrm>
            <a:off x="8229600" y="3931920"/>
            <a:ext cx="3200400" cy="1005840"/>
          </a:xfrm>
          <a:prstGeom prst="roundRect">
            <a:avLst>
              <a:gd name="adj" fmla="val 7273"/>
            </a:avLst>
          </a:prstGeom>
          <a:solidFill>
            <a:srgbClr val="FFFFFF"/>
          </a:solidFill>
          <a:ln w="19050">
            <a:solidFill>
              <a:srgbClr val="0072B2"/>
            </a:solidFill>
            <a:prstDash val="solid"/>
          </a:ln>
        </p:spPr>
      </p:sp>
      <p:sp>
        <p:nvSpPr>
          <p:cNvPr id="36" name="Text 33"/>
          <p:cNvSpPr/>
          <p:nvPr/>
        </p:nvSpPr>
        <p:spPr>
          <a:xfrm>
            <a:off x="8321040" y="4041648"/>
            <a:ext cx="3017520" cy="452628"/>
          </a:xfrm>
          <a:prstGeom prst="rect">
            <a:avLst/>
          </a:prstGeom>
          <a:noFill/>
          <a:ln/>
        </p:spPr>
        <p:txBody>
          <a:bodyPr wrap="square" lIns="0" tIns="0" rIns="0" bIns="0" rtlCol="0" anchor="ctr"/>
          <a:lstStyle/>
          <a:p>
            <a:pPr algn="ctr" indent="0" marL="0">
              <a:buNone/>
            </a:pPr>
            <a:r>
              <a:rPr lang="en-US" sz="2000" dirty="0">
                <a:solidFill>
                  <a:srgbClr val="1B2433"/>
                </a:solidFill>
                <a:latin typeface="Calibri" pitchFamily="34" charset="0"/>
                <a:ea typeface="Calibri" pitchFamily="34" charset="-122"/>
                <a:cs typeface="Calibri" pitchFamily="34" charset="-120"/>
              </a:rPr>
              <a:t>மாடுகள் நகர்ந்தன</a:t>
            </a:r>
            <a:endParaRPr lang="en-US" sz="2000" dirty="0"/>
          </a:p>
        </p:txBody>
      </p:sp>
      <p:sp>
        <p:nvSpPr>
          <p:cNvPr id="37" name="Text 34"/>
          <p:cNvSpPr/>
          <p:nvPr/>
        </p:nvSpPr>
        <p:spPr>
          <a:xfrm>
            <a:off x="8321040" y="4695444"/>
            <a:ext cx="3017520" cy="301752"/>
          </a:xfrm>
          <a:prstGeom prst="rect">
            <a:avLst/>
          </a:prstGeom>
          <a:noFill/>
          <a:ln/>
        </p:spPr>
        <p:txBody>
          <a:bodyPr wrap="square" lIns="0" tIns="0" rIns="0" bIns="0" rtlCol="0" anchor="t"/>
          <a:lstStyle/>
          <a:p>
            <a:pPr algn="ctr" indent="0" marL="0">
              <a:buNone/>
            </a:pPr>
            <a:r>
              <a:rPr lang="en-US" sz="1200" dirty="0">
                <a:solidFill>
                  <a:srgbClr val="1B2433"/>
                </a:solidFill>
                <a:latin typeface="Calibri" pitchFamily="34" charset="0"/>
                <a:ea typeface="Calibri" pitchFamily="34" charset="-122"/>
                <a:cs typeface="Calibri" pitchFamily="34" charset="-120"/>
              </a:rPr>
              <a:t>The cows moved.</a:t>
            </a:r>
            <a:endParaRPr lang="en-US" sz="1200" dirty="0"/>
          </a:p>
        </p:txBody>
      </p:sp>
      <p:sp>
        <p:nvSpPr>
          <p:cNvPr id="38" name="Text 35"/>
          <p:cNvSpPr/>
          <p:nvPr/>
        </p:nvSpPr>
        <p:spPr>
          <a:xfrm>
            <a:off x="8229600" y="5120640"/>
            <a:ext cx="3200400" cy="914400"/>
          </a:xfrm>
          <a:prstGeom prst="rect">
            <a:avLst/>
          </a:prstGeom>
          <a:noFill/>
          <a:ln/>
        </p:spPr>
        <p:txBody>
          <a:bodyPr wrap="square" lIns="0" tIns="0" rIns="0" bIns="0" rtlCol="0" anchor="t"/>
          <a:lstStyle/>
          <a:p>
            <a:pPr algn="l" indent="0" marL="0">
              <a:lnSpc>
                <a:spcPct val="100000"/>
              </a:lnSpc>
              <a:buNone/>
            </a:pPr>
            <a:r>
              <a:rPr lang="en-US" sz="1300" dirty="0">
                <a:solidFill>
                  <a:srgbClr val="1B2433"/>
                </a:solidFill>
                <a:latin typeface="Calibri" pitchFamily="34" charset="0"/>
                <a:ea typeface="Calibri" pitchFamily="34" charset="-122"/>
                <a:cs typeface="Calibri" pitchFamily="34" charset="-120"/>
              </a:rPr>
              <a:t>English: </a:t>
            </a:r>
            <a:r>
              <a:rPr lang="en-US" sz="1300" b="1" dirty="0">
                <a:solidFill>
                  <a:srgbClr val="1B2433"/>
                </a:solidFill>
                <a:latin typeface="Calibri" pitchFamily="34" charset="0"/>
                <a:ea typeface="Calibri" pitchFamily="34" charset="-122"/>
                <a:cs typeface="Calibri" pitchFamily="34" charset="-120"/>
              </a:rPr>
              <a:t>clearly marked</a:t>
            </a:r>
            <a:r>
              <a:rPr lang="en-US" sz="1300" dirty="0">
                <a:solidFill>
                  <a:srgbClr val="1B2433"/>
                </a:solidFill>
                <a:latin typeface="Calibri" pitchFamily="34" charset="0"/>
                <a:ea typeface="Calibri" pitchFamily="34" charset="-122"/>
                <a:cs typeface="Calibri" pitchFamily="34" charset="-120"/>
              </a:rPr>
              <a:t> (cow / cows).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PROBLEM</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Rationality (திணை tiṇai), in simple words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8</a:t>
            </a:r>
            <a:endParaRPr lang="en-US" sz="900" dirty="0"/>
          </a:p>
        </p:txBody>
      </p:sp>
      <p:sp>
        <p:nvSpPr>
          <p:cNvPr id="9" name="Shape 6"/>
          <p:cNvSpPr/>
          <p:nvPr/>
        </p:nvSpPr>
        <p:spPr>
          <a:xfrm>
            <a:off x="548640" y="1691640"/>
            <a:ext cx="5394960" cy="1280160"/>
          </a:xfrm>
          <a:prstGeom prst="roundRect">
            <a:avLst>
              <a:gd name="adj" fmla="val 5714"/>
            </a:avLst>
          </a:prstGeom>
          <a:solidFill>
            <a:srgbClr val="DDF2EA"/>
          </a:solidFill>
          <a:ln w="12700">
            <a:solidFill>
              <a:srgbClr val="DDF2EA"/>
            </a:solidFill>
            <a:prstDash val="solid"/>
          </a:ln>
        </p:spPr>
      </p:sp>
      <p:sp>
        <p:nvSpPr>
          <p:cNvPr id="10" name="Text 7"/>
          <p:cNvSpPr/>
          <p:nvPr/>
        </p:nvSpPr>
        <p:spPr>
          <a:xfrm>
            <a:off x="749808" y="1837944"/>
            <a:ext cx="4992624" cy="411480"/>
          </a:xfrm>
          <a:prstGeom prst="rect">
            <a:avLst/>
          </a:prstGeom>
          <a:noFill/>
          <a:ln/>
        </p:spPr>
        <p:txBody>
          <a:bodyPr wrap="square" lIns="0" tIns="0" rIns="0" bIns="0" rtlCol="0" anchor="t"/>
          <a:lstStyle/>
          <a:p>
            <a:pPr indent="0" marL="0">
              <a:buNone/>
            </a:pPr>
            <a:r>
              <a:rPr lang="en-US" sz="1900" b="1" dirty="0">
                <a:solidFill>
                  <a:srgbClr val="009E73"/>
                </a:solidFill>
                <a:latin typeface="Calibri" pitchFamily="34" charset="0"/>
                <a:ea typeface="Calibri" pitchFamily="34" charset="-122"/>
                <a:cs typeface="Calibri" pitchFamily="34" charset="-120"/>
              </a:rPr>
              <a:t>உயர்திணை  uyartiṇai  ("high class")</a:t>
            </a:r>
            <a:endParaRPr lang="en-US" sz="1900" dirty="0"/>
          </a:p>
        </p:txBody>
      </p:sp>
      <p:sp>
        <p:nvSpPr>
          <p:cNvPr id="11" name="Text 8"/>
          <p:cNvSpPr/>
          <p:nvPr/>
        </p:nvSpPr>
        <p:spPr>
          <a:xfrm>
            <a:off x="749808" y="2249424"/>
            <a:ext cx="4992624" cy="57607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People and gods. The plural verb ends in </a:t>
            </a:r>
            <a:r>
              <a:rPr lang="en-US" sz="1500" b="1" dirty="0">
                <a:solidFill>
                  <a:srgbClr val="1B2433"/>
                </a:solidFill>
                <a:latin typeface="Calibri" pitchFamily="34" charset="0"/>
                <a:ea typeface="Calibri" pitchFamily="34" charset="-122"/>
                <a:cs typeface="Calibri" pitchFamily="34" charset="-120"/>
              </a:rPr>
              <a:t>-ārkaḷ</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
        <p:nvSpPr>
          <p:cNvPr id="12" name="Shape 9"/>
          <p:cNvSpPr/>
          <p:nvPr/>
        </p:nvSpPr>
        <p:spPr>
          <a:xfrm>
            <a:off x="6217920" y="1691640"/>
            <a:ext cx="5394960" cy="1280160"/>
          </a:xfrm>
          <a:prstGeom prst="roundRect">
            <a:avLst>
              <a:gd name="adj" fmla="val 5714"/>
            </a:avLst>
          </a:prstGeom>
          <a:solidFill>
            <a:srgbClr val="DCEBF6"/>
          </a:solidFill>
          <a:ln w="12700">
            <a:solidFill>
              <a:srgbClr val="DCEBF6"/>
            </a:solidFill>
            <a:prstDash val="solid"/>
          </a:ln>
        </p:spPr>
      </p:sp>
      <p:sp>
        <p:nvSpPr>
          <p:cNvPr id="13" name="Text 10"/>
          <p:cNvSpPr/>
          <p:nvPr/>
        </p:nvSpPr>
        <p:spPr>
          <a:xfrm>
            <a:off x="6419088" y="1837944"/>
            <a:ext cx="4992624" cy="411480"/>
          </a:xfrm>
          <a:prstGeom prst="rect">
            <a:avLst/>
          </a:prstGeom>
          <a:noFill/>
          <a:ln/>
        </p:spPr>
        <p:txBody>
          <a:bodyPr wrap="square" lIns="0" tIns="0" rIns="0" bIns="0" rtlCol="0" anchor="t"/>
          <a:lstStyle/>
          <a:p>
            <a:pPr indent="0" marL="0">
              <a:buNone/>
            </a:pPr>
            <a:r>
              <a:rPr lang="en-US" sz="1900" b="1" dirty="0">
                <a:solidFill>
                  <a:srgbClr val="0072B2"/>
                </a:solidFill>
                <a:latin typeface="Calibri" pitchFamily="34" charset="0"/>
                <a:ea typeface="Calibri" pitchFamily="34" charset="-122"/>
                <a:cs typeface="Calibri" pitchFamily="34" charset="-120"/>
              </a:rPr>
              <a:t>அஃறிணை  aḵṟiṇai  ("not-high class")</a:t>
            </a:r>
            <a:endParaRPr lang="en-US" sz="1900" dirty="0"/>
          </a:p>
        </p:txBody>
      </p:sp>
      <p:sp>
        <p:nvSpPr>
          <p:cNvPr id="14" name="Text 11"/>
          <p:cNvSpPr/>
          <p:nvPr/>
        </p:nvSpPr>
        <p:spPr>
          <a:xfrm>
            <a:off x="6419088" y="2249424"/>
            <a:ext cx="4992624" cy="57607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Animals, plants and objects. The plural verb ends in </a:t>
            </a:r>
            <a:r>
              <a:rPr lang="en-US" sz="1500" b="1" dirty="0">
                <a:solidFill>
                  <a:srgbClr val="1B2433"/>
                </a:solidFill>
                <a:latin typeface="Calibri" pitchFamily="34" charset="0"/>
                <a:ea typeface="Calibri" pitchFamily="34" charset="-122"/>
                <a:cs typeface="Calibri" pitchFamily="34" charset="-120"/>
              </a:rPr>
              <a:t>-aṉa</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
        <p:nvSpPr>
          <p:cNvPr id="15" name="Text 12"/>
          <p:cNvSpPr/>
          <p:nvPr/>
        </p:nvSpPr>
        <p:spPr>
          <a:xfrm>
            <a:off x="548640" y="3200400"/>
            <a:ext cx="5394960" cy="365760"/>
          </a:xfrm>
          <a:prstGeom prst="rect">
            <a:avLst/>
          </a:prstGeom>
          <a:noFill/>
          <a:ln/>
        </p:spPr>
        <p:txBody>
          <a:bodyPr wrap="square" lIns="0" tIns="0" rIns="0" bIns="0" rtlCol="0" anchor="t"/>
          <a:lstStyle/>
          <a:p>
            <a:pPr algn="ctr" indent="0" marL="0">
              <a:lnSpc>
                <a:spcPct val="100000"/>
              </a:lnSpc>
              <a:buNone/>
            </a:pPr>
            <a:r>
              <a:rPr lang="en-US" sz="1500" i="1" dirty="0">
                <a:solidFill>
                  <a:srgbClr val="1B2433"/>
                </a:solidFill>
                <a:latin typeface="Calibri" pitchFamily="34" charset="0"/>
                <a:ea typeface="Calibri" pitchFamily="34" charset="-122"/>
                <a:cs typeface="Calibri" pitchFamily="34" charset="-120"/>
              </a:rPr>
              <a:t>The students came at dawn.</a:t>
            </a:r>
            <a:endParaRPr lang="en-US" sz="1500" dirty="0"/>
          </a:p>
        </p:txBody>
      </p:sp>
      <p:sp>
        <p:nvSpPr>
          <p:cNvPr id="16" name="Shape 13"/>
          <p:cNvSpPr/>
          <p:nvPr/>
        </p:nvSpPr>
        <p:spPr>
          <a:xfrm>
            <a:off x="1005840" y="3611880"/>
            <a:ext cx="4480560" cy="1234440"/>
          </a:xfrm>
          <a:prstGeom prst="roundRect">
            <a:avLst>
              <a:gd name="adj" fmla="val 5926"/>
            </a:avLst>
          </a:prstGeom>
          <a:solidFill>
            <a:srgbClr val="FFFFFF"/>
          </a:solidFill>
          <a:ln w="25400">
            <a:solidFill>
              <a:srgbClr val="009E73"/>
            </a:solidFill>
            <a:prstDash val="solid"/>
          </a:ln>
        </p:spPr>
      </p:sp>
      <p:sp>
        <p:nvSpPr>
          <p:cNvPr id="17" name="Text 14"/>
          <p:cNvSpPr/>
          <p:nvPr/>
        </p:nvSpPr>
        <p:spPr>
          <a:xfrm>
            <a:off x="1097280" y="3721608"/>
            <a:ext cx="4297680" cy="555498"/>
          </a:xfrm>
          <a:prstGeom prst="rect">
            <a:avLst/>
          </a:prstGeom>
          <a:noFill/>
          <a:ln/>
        </p:spPr>
        <p:txBody>
          <a:bodyPr wrap="square" lIns="0" tIns="0" rIns="0" bIns="0" rtlCol="0" anchor="ctr"/>
          <a:lstStyle/>
          <a:p>
            <a:pPr algn="ctr" indent="0" marL="0">
              <a:buNone/>
            </a:pPr>
            <a:r>
              <a:rPr lang="en-US" sz="2400" dirty="0">
                <a:solidFill>
                  <a:srgbClr val="1B2433"/>
                </a:solidFill>
                <a:latin typeface="Calibri" pitchFamily="34" charset="0"/>
                <a:ea typeface="Calibri" pitchFamily="34" charset="-122"/>
                <a:cs typeface="Calibri" pitchFamily="34" charset="-120"/>
              </a:rPr>
              <a:t>மாணவர்கள் வந்தார்கள்.</a:t>
            </a:r>
            <a:endParaRPr lang="en-US" sz="2400" dirty="0"/>
          </a:p>
        </p:txBody>
      </p:sp>
      <p:sp>
        <p:nvSpPr>
          <p:cNvPr id="18" name="Text 15"/>
          <p:cNvSpPr/>
          <p:nvPr/>
        </p:nvSpPr>
        <p:spPr>
          <a:xfrm>
            <a:off x="1097280" y="4277106"/>
            <a:ext cx="4297680" cy="246888"/>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māṇavarkaḷ vantārkaḷ.</a:t>
            </a:r>
            <a:endParaRPr lang="en-US" sz="1400" dirty="0"/>
          </a:p>
        </p:txBody>
      </p:sp>
      <p:sp>
        <p:nvSpPr>
          <p:cNvPr id="19" name="Text 16"/>
          <p:cNvSpPr/>
          <p:nvPr/>
        </p:nvSpPr>
        <p:spPr>
          <a:xfrm>
            <a:off x="6217920" y="3200400"/>
            <a:ext cx="5394960" cy="365760"/>
          </a:xfrm>
          <a:prstGeom prst="rect">
            <a:avLst/>
          </a:prstGeom>
          <a:noFill/>
          <a:ln/>
        </p:spPr>
        <p:txBody>
          <a:bodyPr wrap="square" lIns="0" tIns="0" rIns="0" bIns="0" rtlCol="0" anchor="t"/>
          <a:lstStyle/>
          <a:p>
            <a:pPr algn="ctr" indent="0" marL="0">
              <a:lnSpc>
                <a:spcPct val="100000"/>
              </a:lnSpc>
              <a:buNone/>
            </a:pPr>
            <a:r>
              <a:rPr lang="en-US" sz="1500" i="1" dirty="0">
                <a:solidFill>
                  <a:srgbClr val="1B2433"/>
                </a:solidFill>
                <a:latin typeface="Calibri" pitchFamily="34" charset="0"/>
                <a:ea typeface="Calibri" pitchFamily="34" charset="-122"/>
                <a:cs typeface="Calibri" pitchFamily="34" charset="-120"/>
              </a:rPr>
              <a:t>The dogs came at dawn.</a:t>
            </a:r>
            <a:endParaRPr lang="en-US" sz="1500" dirty="0"/>
          </a:p>
        </p:txBody>
      </p:sp>
      <p:sp>
        <p:nvSpPr>
          <p:cNvPr id="20" name="Shape 17"/>
          <p:cNvSpPr/>
          <p:nvPr/>
        </p:nvSpPr>
        <p:spPr>
          <a:xfrm>
            <a:off x="6675120" y="3611880"/>
            <a:ext cx="4480560" cy="1234440"/>
          </a:xfrm>
          <a:prstGeom prst="roundRect">
            <a:avLst>
              <a:gd name="adj" fmla="val 5926"/>
            </a:avLst>
          </a:prstGeom>
          <a:solidFill>
            <a:srgbClr val="FFFFFF"/>
          </a:solidFill>
          <a:ln w="25400">
            <a:solidFill>
              <a:srgbClr val="0072B2"/>
            </a:solidFill>
            <a:prstDash val="solid"/>
          </a:ln>
        </p:spPr>
      </p:sp>
      <p:sp>
        <p:nvSpPr>
          <p:cNvPr id="21" name="Text 18"/>
          <p:cNvSpPr/>
          <p:nvPr/>
        </p:nvSpPr>
        <p:spPr>
          <a:xfrm>
            <a:off x="6766560" y="3721608"/>
            <a:ext cx="4297680" cy="555498"/>
          </a:xfrm>
          <a:prstGeom prst="rect">
            <a:avLst/>
          </a:prstGeom>
          <a:noFill/>
          <a:ln/>
        </p:spPr>
        <p:txBody>
          <a:bodyPr wrap="square" lIns="0" tIns="0" rIns="0" bIns="0" rtlCol="0" anchor="ctr"/>
          <a:lstStyle/>
          <a:p>
            <a:pPr algn="ctr" indent="0" marL="0">
              <a:buNone/>
            </a:pPr>
            <a:r>
              <a:rPr lang="en-US" sz="2400" dirty="0">
                <a:solidFill>
                  <a:srgbClr val="1B2433"/>
                </a:solidFill>
                <a:latin typeface="Calibri" pitchFamily="34" charset="0"/>
                <a:ea typeface="Calibri" pitchFamily="34" charset="-122"/>
                <a:cs typeface="Calibri" pitchFamily="34" charset="-120"/>
              </a:rPr>
              <a:t>நாய்கள் வந்தன.</a:t>
            </a:r>
            <a:endParaRPr lang="en-US" sz="2400" dirty="0"/>
          </a:p>
        </p:txBody>
      </p:sp>
      <p:sp>
        <p:nvSpPr>
          <p:cNvPr id="22" name="Text 19"/>
          <p:cNvSpPr/>
          <p:nvPr/>
        </p:nvSpPr>
        <p:spPr>
          <a:xfrm>
            <a:off x="6766560" y="4277106"/>
            <a:ext cx="4297680" cy="246888"/>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nāykaḷ vantaṉa.</a:t>
            </a:r>
            <a:endParaRPr lang="en-US" sz="1400" dirty="0"/>
          </a:p>
        </p:txBody>
      </p:sp>
      <p:sp>
        <p:nvSpPr>
          <p:cNvPr id="23" name="Shape 20"/>
          <p:cNvSpPr/>
          <p:nvPr/>
        </p:nvSpPr>
        <p:spPr>
          <a:xfrm>
            <a:off x="548640" y="5120640"/>
            <a:ext cx="11064240" cy="566928"/>
          </a:xfrm>
          <a:prstGeom prst="roundRect">
            <a:avLst>
              <a:gd name="adj" fmla="val 12903"/>
            </a:avLst>
          </a:prstGeom>
          <a:solidFill>
            <a:srgbClr val="FBEBD2"/>
          </a:solidFill>
          <a:ln w="12700">
            <a:solidFill>
              <a:srgbClr val="E39B2D"/>
            </a:solidFill>
            <a:prstDash val="solid"/>
          </a:ln>
        </p:spPr>
      </p:sp>
      <p:sp>
        <p:nvSpPr>
          <p:cNvPr id="24" name="Text 21"/>
          <p:cNvSpPr/>
          <p:nvPr/>
        </p:nvSpPr>
        <p:spPr>
          <a:xfrm>
            <a:off x="777240" y="5120640"/>
            <a:ext cx="10607040" cy="566928"/>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English grammar has </a:t>
            </a:r>
            <a:r>
              <a:rPr lang="en-US" sz="1500" b="1" dirty="0">
                <a:solidFill>
                  <a:srgbClr val="1B2433"/>
                </a:solidFill>
                <a:latin typeface="Calibri" pitchFamily="34" charset="0"/>
                <a:ea typeface="Calibri" pitchFamily="34" charset="-122"/>
                <a:cs typeface="Calibri" pitchFamily="34" charset="-120"/>
              </a:rPr>
              <a:t>no marker</a:t>
            </a:r>
            <a:r>
              <a:rPr lang="en-US" sz="1500" dirty="0">
                <a:solidFill>
                  <a:srgbClr val="1B2433"/>
                </a:solidFill>
                <a:latin typeface="Calibri" pitchFamily="34" charset="0"/>
                <a:ea typeface="Calibri" pitchFamily="34" charset="-122"/>
                <a:cs typeface="Calibri" pitchFamily="34" charset="-120"/>
              </a:rPr>
              <a:t> for this. The noun ("students" or "dogs") only lets you </a:t>
            </a:r>
            <a:r>
              <a:rPr lang="en-US" sz="1500" b="1" dirty="0">
                <a:solidFill>
                  <a:srgbClr val="1B2433"/>
                </a:solidFill>
                <a:latin typeface="Calibri" pitchFamily="34" charset="0"/>
                <a:ea typeface="Calibri" pitchFamily="34" charset="-122"/>
                <a:cs typeface="Calibri" pitchFamily="34" charset="-120"/>
              </a:rPr>
              <a:t>guess</a:t>
            </a:r>
            <a:r>
              <a:rPr lang="en-US" sz="1500" dirty="0">
                <a:solidFill>
                  <a:srgbClr val="1B2433"/>
                </a:solidFill>
                <a:latin typeface="Calibri" pitchFamily="34" charset="0"/>
                <a:ea typeface="Calibri" pitchFamily="34" charset="-122"/>
                <a:cs typeface="Calibri" pitchFamily="34" charset="-120"/>
              </a:rPr>
              <a:t> it from meaning.</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PROBLEM</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The key idea: an "obligatory slot"</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9</a:t>
            </a:r>
            <a:endParaRPr lang="en-US" sz="900" dirty="0"/>
          </a:p>
        </p:txBody>
      </p:sp>
      <p:sp>
        <p:nvSpPr>
          <p:cNvPr id="9" name="Text 6"/>
          <p:cNvSpPr/>
          <p:nvPr/>
        </p:nvSpPr>
        <p:spPr>
          <a:xfrm>
            <a:off x="548640" y="1645920"/>
            <a:ext cx="11064240" cy="658368"/>
          </a:xfrm>
          <a:prstGeom prst="rect">
            <a:avLst/>
          </a:prstGeom>
          <a:noFill/>
          <a:ln/>
        </p:spPr>
        <p:txBody>
          <a:bodyPr wrap="square" lIns="0" tIns="0" rIns="0" bIns="0" rtlCol="0" anchor="t"/>
          <a:lstStyle/>
          <a:p>
            <a:pPr algn="l" indent="0" marL="0">
              <a:lnSpc>
                <a:spcPct val="100000"/>
              </a:lnSpc>
              <a:buNone/>
            </a:pPr>
            <a:r>
              <a:rPr lang="en-US" sz="1800" b="1" dirty="0">
                <a:solidFill>
                  <a:srgbClr val="1B2433"/>
                </a:solidFill>
                <a:latin typeface="Calibri" pitchFamily="34" charset="0"/>
                <a:ea typeface="Calibri" pitchFamily="34" charset="-122"/>
                <a:cs typeface="Calibri" pitchFamily="34" charset="-120"/>
              </a:rPr>
              <a:t>Definition.</a:t>
            </a:r>
            <a:r>
              <a:rPr lang="en-US" sz="1800" dirty="0">
                <a:solidFill>
                  <a:srgbClr val="1B2433"/>
                </a:solidFill>
                <a:latin typeface="Calibri" pitchFamily="34" charset="0"/>
                <a:ea typeface="Calibri" pitchFamily="34" charset="-122"/>
                <a:cs typeface="Calibri" pitchFamily="34" charset="-120"/>
              </a:rPr>
              <a:t> A slot is </a:t>
            </a:r>
            <a:r>
              <a:rPr lang="en-US" sz="1800" b="1" dirty="0">
                <a:solidFill>
                  <a:srgbClr val="1B2433"/>
                </a:solidFill>
                <a:latin typeface="Calibri" pitchFamily="34" charset="0"/>
                <a:ea typeface="Calibri" pitchFamily="34" charset="-122"/>
                <a:cs typeface="Calibri" pitchFamily="34" charset="-120"/>
              </a:rPr>
              <a:t>obligatory</a:t>
            </a:r>
            <a:r>
              <a:rPr lang="en-US" sz="1800" dirty="0">
                <a:solidFill>
                  <a:srgbClr val="1B2433"/>
                </a:solidFill>
                <a:latin typeface="Calibri" pitchFamily="34" charset="0"/>
                <a:ea typeface="Calibri" pitchFamily="34" charset="-122"/>
                <a:cs typeface="Calibri" pitchFamily="34" charset="-120"/>
              </a:rPr>
              <a:t> when every correct Tamil translation must fill it, even though the English does not say what to fill it with. What fills it is called its </a:t>
            </a:r>
            <a:r>
              <a:rPr lang="en-US" sz="1800" b="1" dirty="0">
                <a:solidFill>
                  <a:srgbClr val="1B2433"/>
                </a:solidFill>
                <a:latin typeface="Calibri" pitchFamily="34" charset="0"/>
                <a:ea typeface="Calibri" pitchFamily="34" charset="-122"/>
                <a:cs typeface="Calibri" pitchFamily="34" charset="-120"/>
              </a:rPr>
              <a:t>value</a:t>
            </a:r>
            <a:r>
              <a:rPr lang="en-US" sz="1800" dirty="0">
                <a:solidFill>
                  <a:srgbClr val="1B2433"/>
                </a:solidFill>
                <a:latin typeface="Calibri" pitchFamily="34" charset="0"/>
                <a:ea typeface="Calibri" pitchFamily="34" charset="-122"/>
                <a:cs typeface="Calibri" pitchFamily="34" charset="-120"/>
              </a:rPr>
              <a:t> (for example "people" or "not people").</a:t>
            </a:r>
            <a:endParaRPr lang="en-US" sz="1800" dirty="0"/>
          </a:p>
        </p:txBody>
      </p:sp>
      <p:sp>
        <p:nvSpPr>
          <p:cNvPr id="10" name="Shape 7"/>
          <p:cNvSpPr/>
          <p:nvPr/>
        </p:nvSpPr>
        <p:spPr>
          <a:xfrm>
            <a:off x="548640" y="2651760"/>
            <a:ext cx="2743200" cy="1097280"/>
          </a:xfrm>
          <a:prstGeom prst="roundRect">
            <a:avLst>
              <a:gd name="adj" fmla="val 6667"/>
            </a:avLst>
          </a:prstGeom>
          <a:solidFill>
            <a:srgbClr val="E7EBF2"/>
          </a:solidFill>
          <a:ln w="12700">
            <a:solidFill>
              <a:srgbClr val="E7EBF2"/>
            </a:solidFill>
            <a:prstDash val="solid"/>
          </a:ln>
        </p:spPr>
      </p:sp>
      <p:sp>
        <p:nvSpPr>
          <p:cNvPr id="11" name="Text 8"/>
          <p:cNvSpPr/>
          <p:nvPr/>
        </p:nvSpPr>
        <p:spPr>
          <a:xfrm>
            <a:off x="548640" y="2651760"/>
            <a:ext cx="2743200" cy="1097280"/>
          </a:xfrm>
          <a:prstGeom prst="rect">
            <a:avLst/>
          </a:prstGeom>
          <a:noFill/>
          <a:ln/>
        </p:spPr>
        <p:txBody>
          <a:bodyPr wrap="square" lIns="0" tIns="0" rIns="0" bIns="0" rtlCol="0" anchor="ctr"/>
          <a:lstStyle/>
          <a:p>
            <a:pPr algn="ctr" indent="0" marL="0">
              <a:buNone/>
            </a:pPr>
            <a:r>
              <a:rPr lang="en-US" sz="2800" i="1" dirty="0">
                <a:solidFill>
                  <a:srgbClr val="000000"/>
                </a:solidFill>
                <a:latin typeface="Georgia" pitchFamily="34" charset="0"/>
                <a:ea typeface="Georgia" pitchFamily="34" charset="-122"/>
                <a:cs typeface="Georgia" pitchFamily="34" charset="-120"/>
              </a:rPr>
              <a:t>They came.</a:t>
            </a:r>
            <a:endParaRPr lang="en-US" sz="2800" dirty="0"/>
          </a:p>
        </p:txBody>
      </p:sp>
      <p:sp>
        <p:nvSpPr>
          <p:cNvPr id="12" name="Shape 9"/>
          <p:cNvSpPr/>
          <p:nvPr/>
        </p:nvSpPr>
        <p:spPr>
          <a:xfrm>
            <a:off x="3383280" y="3200400"/>
            <a:ext cx="1097280" cy="0"/>
          </a:xfrm>
          <a:prstGeom prst="line">
            <a:avLst/>
          </a:prstGeom>
          <a:noFill/>
          <a:ln w="31750">
            <a:solidFill>
              <a:srgbClr val="1B2433"/>
            </a:solidFill>
            <a:prstDash val="solid"/>
            <a:tailEnd type="triangle"/>
          </a:ln>
        </p:spPr>
      </p:sp>
      <p:sp>
        <p:nvSpPr>
          <p:cNvPr id="13" name="Shape 10"/>
          <p:cNvSpPr/>
          <p:nvPr/>
        </p:nvSpPr>
        <p:spPr>
          <a:xfrm>
            <a:off x="4663440" y="2514600"/>
            <a:ext cx="3291840" cy="1371600"/>
          </a:xfrm>
          <a:prstGeom prst="roundRect">
            <a:avLst>
              <a:gd name="adj" fmla="val 8000"/>
            </a:avLst>
          </a:prstGeom>
          <a:solidFill>
            <a:srgbClr val="FBEBD2"/>
          </a:solidFill>
          <a:ln w="38100">
            <a:solidFill>
              <a:srgbClr val="E39B2D"/>
            </a:solidFill>
            <a:prstDash val="dash"/>
          </a:ln>
        </p:spPr>
      </p:sp>
      <p:sp>
        <p:nvSpPr>
          <p:cNvPr id="14" name="Text 11"/>
          <p:cNvSpPr/>
          <p:nvPr/>
        </p:nvSpPr>
        <p:spPr>
          <a:xfrm>
            <a:off x="4663440" y="2514600"/>
            <a:ext cx="3291840" cy="914400"/>
          </a:xfrm>
          <a:prstGeom prst="rect">
            <a:avLst/>
          </a:prstGeom>
          <a:noFill/>
          <a:ln/>
        </p:spPr>
        <p:txBody>
          <a:bodyPr wrap="square" lIns="0" tIns="0" rIns="0" bIns="0" rtlCol="0" anchor="ctr"/>
          <a:lstStyle/>
          <a:p>
            <a:pPr algn="ctr" indent="0" marL="0">
              <a:buNone/>
            </a:pPr>
            <a:r>
              <a:rPr lang="en-US" sz="3200" b="1" dirty="0">
                <a:solidFill>
                  <a:srgbClr val="000000"/>
                </a:solidFill>
                <a:latin typeface="Calibri" pitchFamily="34" charset="0"/>
                <a:ea typeface="Calibri" pitchFamily="34" charset="-122"/>
                <a:cs typeface="Calibri" pitchFamily="34" charset="-120"/>
              </a:rPr>
              <a:t>வந்___ ?</a:t>
            </a:r>
            <a:endParaRPr lang="en-US" sz="3200" dirty="0"/>
          </a:p>
        </p:txBody>
      </p:sp>
      <p:sp>
        <p:nvSpPr>
          <p:cNvPr id="15" name="Text 12"/>
          <p:cNvSpPr/>
          <p:nvPr/>
        </p:nvSpPr>
        <p:spPr>
          <a:xfrm>
            <a:off x="4663440" y="3401568"/>
            <a:ext cx="3291840" cy="411480"/>
          </a:xfrm>
          <a:prstGeom prst="rect">
            <a:avLst/>
          </a:prstGeom>
          <a:noFill/>
          <a:ln/>
        </p:spPr>
        <p:txBody>
          <a:bodyPr wrap="square" lIns="0" tIns="0" rIns="0" bIns="0" rtlCol="0" anchor="t"/>
          <a:lstStyle/>
          <a:p>
            <a:pPr algn="ctr" indent="0" marL="0">
              <a:lnSpc>
                <a:spcPct val="100000"/>
              </a:lnSpc>
              <a:buNone/>
            </a:pPr>
            <a:r>
              <a:rPr lang="en-US" sz="1200" dirty="0">
                <a:solidFill>
                  <a:srgbClr val="5B6577"/>
                </a:solidFill>
                <a:latin typeface="Calibri" pitchFamily="34" charset="0"/>
                <a:ea typeface="Calibri" pitchFamily="34" charset="-122"/>
                <a:cs typeface="Calibri" pitchFamily="34" charset="-120"/>
              </a:rPr>
              <a:t>the verb ending is a blank that must be filled</a:t>
            </a:r>
            <a:endParaRPr lang="en-US" sz="1200" dirty="0"/>
          </a:p>
        </p:txBody>
      </p:sp>
      <p:sp>
        <p:nvSpPr>
          <p:cNvPr id="16" name="Shape 13"/>
          <p:cNvSpPr/>
          <p:nvPr/>
        </p:nvSpPr>
        <p:spPr>
          <a:xfrm flipV="1">
            <a:off x="8046720" y="2514600"/>
            <a:ext cx="822960" cy="411480"/>
          </a:xfrm>
          <a:prstGeom prst="line">
            <a:avLst/>
          </a:prstGeom>
          <a:noFill/>
          <a:ln w="25400">
            <a:solidFill>
              <a:srgbClr val="009E73"/>
            </a:solidFill>
            <a:prstDash val="solid"/>
            <a:tailEnd type="triangle"/>
          </a:ln>
        </p:spPr>
      </p:sp>
      <p:sp>
        <p:nvSpPr>
          <p:cNvPr id="17" name="Shape 14"/>
          <p:cNvSpPr/>
          <p:nvPr/>
        </p:nvSpPr>
        <p:spPr>
          <a:xfrm>
            <a:off x="8046720" y="3474720"/>
            <a:ext cx="822960" cy="411480"/>
          </a:xfrm>
          <a:prstGeom prst="line">
            <a:avLst/>
          </a:prstGeom>
          <a:noFill/>
          <a:ln w="25400">
            <a:solidFill>
              <a:srgbClr val="0072B2"/>
            </a:solidFill>
            <a:prstDash val="solid"/>
            <a:tailEnd type="triangle"/>
          </a:ln>
        </p:spPr>
      </p:sp>
      <p:sp>
        <p:nvSpPr>
          <p:cNvPr id="18" name="Text 15"/>
          <p:cNvSpPr/>
          <p:nvPr/>
        </p:nvSpPr>
        <p:spPr>
          <a:xfrm>
            <a:off x="9006840" y="2359152"/>
            <a:ext cx="2651760" cy="384048"/>
          </a:xfrm>
          <a:prstGeom prst="rect">
            <a:avLst/>
          </a:prstGeom>
          <a:noFill/>
          <a:ln/>
        </p:spPr>
        <p:txBody>
          <a:bodyPr wrap="square" lIns="0" tIns="0" rIns="0" bIns="0" rtlCol="0" anchor="t"/>
          <a:lstStyle/>
          <a:p>
            <a:pPr algn="l" indent="0" marL="0">
              <a:lnSpc>
                <a:spcPct val="100000"/>
              </a:lnSpc>
              <a:buNone/>
            </a:pPr>
            <a:r>
              <a:rPr lang="en-US" sz="1700" b="1" dirty="0">
                <a:solidFill>
                  <a:srgbClr val="009E73"/>
                </a:solidFill>
                <a:latin typeface="Calibri" pitchFamily="34" charset="0"/>
                <a:ea typeface="Calibri" pitchFamily="34" charset="-122"/>
                <a:cs typeface="Calibri" pitchFamily="34" charset="-120"/>
              </a:rPr>
              <a:t>-ārkaḷ</a:t>
            </a:r>
            <a:r>
              <a:rPr lang="en-US" sz="1700" dirty="0">
                <a:solidFill>
                  <a:srgbClr val="009E73"/>
                </a:solidFill>
                <a:latin typeface="Calibri" pitchFamily="34" charset="0"/>
                <a:ea typeface="Calibri" pitchFamily="34" charset="-122"/>
                <a:cs typeface="Calibri" pitchFamily="34" charset="-120"/>
              </a:rPr>
              <a:t>  people</a:t>
            </a:r>
            <a:endParaRPr lang="en-US" sz="1700" dirty="0"/>
          </a:p>
        </p:txBody>
      </p:sp>
      <p:sp>
        <p:nvSpPr>
          <p:cNvPr id="19" name="Text 16"/>
          <p:cNvSpPr/>
          <p:nvPr/>
        </p:nvSpPr>
        <p:spPr>
          <a:xfrm>
            <a:off x="9006840" y="3657600"/>
            <a:ext cx="2651760" cy="457200"/>
          </a:xfrm>
          <a:prstGeom prst="rect">
            <a:avLst/>
          </a:prstGeom>
          <a:noFill/>
          <a:ln/>
        </p:spPr>
        <p:txBody>
          <a:bodyPr wrap="square" lIns="0" tIns="0" rIns="0" bIns="0" rtlCol="0" anchor="t"/>
          <a:lstStyle/>
          <a:p>
            <a:pPr algn="l" indent="0" marL="0">
              <a:lnSpc>
                <a:spcPct val="100000"/>
              </a:lnSpc>
              <a:buNone/>
            </a:pPr>
            <a:r>
              <a:rPr lang="en-US" sz="1700" b="1" dirty="0">
                <a:solidFill>
                  <a:srgbClr val="0072B2"/>
                </a:solidFill>
                <a:latin typeface="Calibri" pitchFamily="34" charset="0"/>
                <a:ea typeface="Calibri" pitchFamily="34" charset="-122"/>
                <a:cs typeface="Calibri" pitchFamily="34" charset="-120"/>
              </a:rPr>
              <a:t>-aṉa</a:t>
            </a:r>
            <a:r>
              <a:rPr lang="en-US" sz="1700" dirty="0">
                <a:solidFill>
                  <a:srgbClr val="0072B2"/>
                </a:solidFill>
                <a:latin typeface="Calibri" pitchFamily="34" charset="0"/>
                <a:ea typeface="Calibri" pitchFamily="34" charset="-122"/>
                <a:cs typeface="Calibri" pitchFamily="34" charset="-120"/>
              </a:rPr>
              <a:t>  not people</a:t>
            </a:r>
            <a:endParaRPr lang="en-US" sz="1700" dirty="0"/>
          </a:p>
        </p:txBody>
      </p:sp>
      <p:sp>
        <p:nvSpPr>
          <p:cNvPr id="20" name="Shape 17"/>
          <p:cNvSpPr/>
          <p:nvPr/>
        </p:nvSpPr>
        <p:spPr>
          <a:xfrm>
            <a:off x="548640" y="4297680"/>
            <a:ext cx="5394960" cy="1280160"/>
          </a:xfrm>
          <a:prstGeom prst="roundRect">
            <a:avLst>
              <a:gd name="adj" fmla="val 5714"/>
            </a:avLst>
          </a:prstGeom>
          <a:solidFill>
            <a:srgbClr val="F2F4F8"/>
          </a:solidFill>
          <a:ln w="12700">
            <a:solidFill>
              <a:srgbClr val="F2F4F8"/>
            </a:solidFill>
            <a:prstDash val="solid"/>
          </a:ln>
        </p:spPr>
      </p:sp>
      <p:sp>
        <p:nvSpPr>
          <p:cNvPr id="21" name="Text 18"/>
          <p:cNvSpPr/>
          <p:nvPr/>
        </p:nvSpPr>
        <p:spPr>
          <a:xfrm>
            <a:off x="749808" y="4443984"/>
            <a:ext cx="49926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Ordinary translation error</a:t>
            </a:r>
            <a:endParaRPr lang="en-US" sz="1700" dirty="0"/>
          </a:p>
        </p:txBody>
      </p:sp>
      <p:sp>
        <p:nvSpPr>
          <p:cNvPr id="22" name="Text 19"/>
          <p:cNvSpPr/>
          <p:nvPr/>
        </p:nvSpPr>
        <p:spPr>
          <a:xfrm>
            <a:off x="749808" y="4855464"/>
            <a:ext cx="4992624" cy="576072"/>
          </a:xfrm>
          <a:prstGeom prst="rect">
            <a:avLst/>
          </a:prstGeom>
          <a:noFill/>
          <a:ln/>
        </p:spPr>
        <p:txBody>
          <a:bodyPr wrap="square" lIns="0" tIns="0" rIns="0" bIns="0" rtlCol="0" anchor="t"/>
          <a:lstStyle/>
          <a:p>
            <a:pPr indent="0" marL="0">
              <a:spcAft>
                <a:spcPts val="500"/>
              </a:spcAft>
              <a:buNone/>
            </a:pPr>
            <a:r>
              <a:rPr lang="en-US" sz="1400" dirty="0">
                <a:solidFill>
                  <a:srgbClr val="1B2433"/>
                </a:solidFill>
                <a:latin typeface="Calibri" pitchFamily="34" charset="0"/>
                <a:ea typeface="Calibri" pitchFamily="34" charset="-122"/>
                <a:cs typeface="Calibri" pitchFamily="34" charset="-120"/>
              </a:rPr>
              <a:t>The information </a:t>
            </a:r>
            <a:r>
              <a:rPr lang="en-US" sz="1400" b="1" dirty="0">
                <a:solidFill>
                  <a:srgbClr val="1B2433"/>
                </a:solidFill>
                <a:latin typeface="Calibri" pitchFamily="34" charset="0"/>
                <a:ea typeface="Calibri" pitchFamily="34" charset="-122"/>
                <a:cs typeface="Calibri" pitchFamily="34" charset="-120"/>
              </a:rPr>
              <a:t>is</a:t>
            </a:r>
            <a:r>
              <a:rPr lang="en-US" sz="1400" dirty="0">
                <a:solidFill>
                  <a:srgbClr val="1B2433"/>
                </a:solidFill>
                <a:latin typeface="Calibri" pitchFamily="34" charset="0"/>
                <a:ea typeface="Calibri" pitchFamily="34" charset="-122"/>
                <a:cs typeface="Calibri" pitchFamily="34" charset="-120"/>
              </a:rPr>
              <a:t> in the source and the system loses it. Example: English "she" translated as masculine.</a:t>
            </a:r>
            <a:endParaRPr lang="en-US" sz="1400" dirty="0"/>
          </a:p>
        </p:txBody>
      </p:sp>
      <p:sp>
        <p:nvSpPr>
          <p:cNvPr id="23" name="Shape 20"/>
          <p:cNvSpPr/>
          <p:nvPr/>
        </p:nvSpPr>
        <p:spPr>
          <a:xfrm>
            <a:off x="6217920" y="4297680"/>
            <a:ext cx="5394960" cy="1280160"/>
          </a:xfrm>
          <a:prstGeom prst="roundRect">
            <a:avLst>
              <a:gd name="adj" fmla="val 5714"/>
            </a:avLst>
          </a:prstGeom>
          <a:solidFill>
            <a:srgbClr val="FBEBD2"/>
          </a:solidFill>
          <a:ln w="12700">
            <a:solidFill>
              <a:srgbClr val="FBEBD2"/>
            </a:solidFill>
            <a:prstDash val="solid"/>
          </a:ln>
        </p:spPr>
      </p:sp>
      <p:sp>
        <p:nvSpPr>
          <p:cNvPr id="24" name="Text 21"/>
          <p:cNvSpPr/>
          <p:nvPr/>
        </p:nvSpPr>
        <p:spPr>
          <a:xfrm>
            <a:off x="6419088" y="4443984"/>
            <a:ext cx="49926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Obligatory-slot situation</a:t>
            </a:r>
            <a:endParaRPr lang="en-US" sz="1700" dirty="0"/>
          </a:p>
        </p:txBody>
      </p:sp>
      <p:sp>
        <p:nvSpPr>
          <p:cNvPr id="25" name="Text 22"/>
          <p:cNvSpPr/>
          <p:nvPr/>
        </p:nvSpPr>
        <p:spPr>
          <a:xfrm>
            <a:off x="6419088" y="4855464"/>
            <a:ext cx="4992624" cy="576072"/>
          </a:xfrm>
          <a:prstGeom prst="rect">
            <a:avLst/>
          </a:prstGeom>
          <a:noFill/>
          <a:ln/>
        </p:spPr>
        <p:txBody>
          <a:bodyPr wrap="square" lIns="0" tIns="0" rIns="0" bIns="0" rtlCol="0" anchor="t"/>
          <a:lstStyle/>
          <a:p>
            <a:pPr indent="0" marL="0">
              <a:spcAft>
                <a:spcPts val="500"/>
              </a:spcAft>
              <a:buNone/>
            </a:pPr>
            <a:r>
              <a:rPr lang="en-US" sz="1400" dirty="0">
                <a:solidFill>
                  <a:srgbClr val="1B2433"/>
                </a:solidFill>
                <a:latin typeface="Calibri" pitchFamily="34" charset="0"/>
                <a:ea typeface="Calibri" pitchFamily="34" charset="-122"/>
                <a:cs typeface="Calibri" pitchFamily="34" charset="-120"/>
              </a:rPr>
              <a:t>The information is </a:t>
            </a:r>
            <a:r>
              <a:rPr lang="en-US" sz="1400" b="1" dirty="0">
                <a:solidFill>
                  <a:srgbClr val="1B2433"/>
                </a:solidFill>
                <a:latin typeface="Calibri" pitchFamily="34" charset="0"/>
                <a:ea typeface="Calibri" pitchFamily="34" charset="-122"/>
                <a:cs typeface="Calibri" pitchFamily="34" charset="-120"/>
              </a:rPr>
              <a:t>not</a:t>
            </a:r>
            <a:r>
              <a:rPr lang="en-US" sz="1400" dirty="0">
                <a:solidFill>
                  <a:srgbClr val="1B2433"/>
                </a:solidFill>
                <a:latin typeface="Calibri" pitchFamily="34" charset="0"/>
                <a:ea typeface="Calibri" pitchFamily="34" charset="-122"/>
                <a:cs typeface="Calibri" pitchFamily="34" charset="-120"/>
              </a:rPr>
              <a:t> in the source at all, but the target language still demands it.</a:t>
            </a:r>
            <a:endParaRPr lang="en-US" sz="1400" dirty="0"/>
          </a:p>
        </p:txBody>
      </p:sp>
      <p:sp>
        <p:nvSpPr>
          <p:cNvPr id="26" name="Shape 23"/>
          <p:cNvSpPr/>
          <p:nvPr/>
        </p:nvSpPr>
        <p:spPr>
          <a:xfrm>
            <a:off x="548640" y="5760720"/>
            <a:ext cx="11064240" cy="566928"/>
          </a:xfrm>
          <a:prstGeom prst="roundRect">
            <a:avLst>
              <a:gd name="adj" fmla="val 12903"/>
            </a:avLst>
          </a:prstGeom>
          <a:solidFill>
            <a:srgbClr val="FBEBD2"/>
          </a:solidFill>
          <a:ln w="12700">
            <a:solidFill>
              <a:srgbClr val="E39B2D"/>
            </a:solidFill>
            <a:prstDash val="solid"/>
          </a:ln>
        </p:spPr>
      </p:sp>
      <p:sp>
        <p:nvSpPr>
          <p:cNvPr id="27" name="Text 24"/>
          <p:cNvSpPr/>
          <p:nvPr/>
        </p:nvSpPr>
        <p:spPr>
          <a:xfrm>
            <a:off x="777240" y="5760720"/>
            <a:ext cx="10607040" cy="566928"/>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There is </a:t>
            </a:r>
            <a:r>
              <a:rPr lang="en-US" sz="1500" b="1" dirty="0">
                <a:solidFill>
                  <a:srgbClr val="1B2433"/>
                </a:solidFill>
                <a:latin typeface="Calibri" pitchFamily="34" charset="0"/>
                <a:ea typeface="Calibri" pitchFamily="34" charset="-122"/>
                <a:cs typeface="Calibri" pitchFamily="34" charset="-120"/>
              </a:rPr>
              <a:t>nothing to copy</a:t>
            </a:r>
            <a:r>
              <a:rPr lang="en-US" sz="1500" dirty="0">
                <a:solidFill>
                  <a:srgbClr val="1B2433"/>
                </a:solidFill>
                <a:latin typeface="Calibri" pitchFamily="34" charset="0"/>
                <a:ea typeface="Calibri" pitchFamily="34" charset="-122"/>
                <a:cs typeface="Calibri" pitchFamily="34" charset="-120"/>
              </a:rPr>
              <a:t> from the English, yet a value </a:t>
            </a:r>
            <a:r>
              <a:rPr lang="en-US" sz="1500" b="1" dirty="0">
                <a:solidFill>
                  <a:srgbClr val="1B2433"/>
                </a:solidFill>
                <a:latin typeface="Calibri" pitchFamily="34" charset="0"/>
                <a:ea typeface="Calibri" pitchFamily="34" charset="-122"/>
                <a:cs typeface="Calibri" pitchFamily="34" charset="-120"/>
              </a:rPr>
              <a:t>must appear</a:t>
            </a:r>
            <a:r>
              <a:rPr lang="en-US" sz="1500" dirty="0">
                <a:solidFill>
                  <a:srgbClr val="1B2433"/>
                </a:solidFill>
                <a:latin typeface="Calibri" pitchFamily="34" charset="0"/>
                <a:ea typeface="Calibri" pitchFamily="34" charset="-122"/>
                <a:cs typeface="Calibri" pitchFamily="34" charset="-120"/>
              </a:rPr>
              <a:t> in the Tamil.</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PROBLEM</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Why it matters: this is not a matter of style</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10</a:t>
            </a:r>
            <a:endParaRPr lang="en-US" sz="900" dirty="0"/>
          </a:p>
        </p:txBody>
      </p:sp>
      <p:sp>
        <p:nvSpPr>
          <p:cNvPr id="9" name="Shape 6"/>
          <p:cNvSpPr/>
          <p:nvPr/>
        </p:nvSpPr>
        <p:spPr>
          <a:xfrm>
            <a:off x="548640" y="1737360"/>
            <a:ext cx="3566160" cy="2011680"/>
          </a:xfrm>
          <a:prstGeom prst="roundRect">
            <a:avLst>
              <a:gd name="adj" fmla="val 3636"/>
            </a:avLst>
          </a:prstGeom>
          <a:solidFill>
            <a:srgbClr val="FBE5D6"/>
          </a:solidFill>
          <a:ln w="12700">
            <a:solidFill>
              <a:srgbClr val="FBE5D6"/>
            </a:solidFill>
            <a:prstDash val="solid"/>
          </a:ln>
        </p:spPr>
      </p:sp>
      <p:sp>
        <p:nvSpPr>
          <p:cNvPr id="10" name="Text 7"/>
          <p:cNvSpPr/>
          <p:nvPr/>
        </p:nvSpPr>
        <p:spPr>
          <a:xfrm>
            <a:off x="749808" y="1883664"/>
            <a:ext cx="3163824" cy="411480"/>
          </a:xfrm>
          <a:prstGeom prst="rect">
            <a:avLst/>
          </a:prstGeom>
          <a:noFill/>
          <a:ln/>
        </p:spPr>
        <p:txBody>
          <a:bodyPr wrap="square" lIns="0" tIns="0" rIns="0" bIns="0" rtlCol="0" anchor="t"/>
          <a:lstStyle/>
          <a:p>
            <a:pPr indent="0" marL="0">
              <a:buNone/>
            </a:pPr>
            <a:r>
              <a:rPr lang="en-US" sz="1700" b="1" dirty="0">
                <a:solidFill>
                  <a:srgbClr val="D55E00"/>
                </a:solidFill>
                <a:latin typeface="Calibri" pitchFamily="34" charset="0"/>
                <a:ea typeface="Calibri" pitchFamily="34" charset="-122"/>
                <a:cs typeface="Calibri" pitchFamily="34" charset="-120"/>
              </a:rPr>
              <a:t>Dehumanising</a:t>
            </a:r>
            <a:endParaRPr lang="en-US" sz="1700" dirty="0"/>
          </a:p>
        </p:txBody>
      </p:sp>
      <p:sp>
        <p:nvSpPr>
          <p:cNvPr id="11" name="Text 8"/>
          <p:cNvSpPr/>
          <p:nvPr/>
        </p:nvSpPr>
        <p:spPr>
          <a:xfrm>
            <a:off x="749808" y="2295144"/>
            <a:ext cx="3163824" cy="1307592"/>
          </a:xfrm>
          <a:prstGeom prst="rect">
            <a:avLst/>
          </a:prstGeom>
          <a:noFill/>
          <a:ln/>
        </p:spPr>
        <p:txBody>
          <a:bodyPr wrap="square" lIns="0" tIns="0" rIns="0" bIns="0" rtlCol="0" anchor="t"/>
          <a:lstStyle/>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Putting a </a:t>
            </a:r>
            <a:r>
              <a:rPr lang="en-US" sz="1400" b="1" dirty="0">
                <a:solidFill>
                  <a:srgbClr val="1B2433"/>
                </a:solidFill>
                <a:latin typeface="Calibri" pitchFamily="34" charset="0"/>
                <a:ea typeface="Calibri" pitchFamily="34" charset="-122"/>
                <a:cs typeface="Calibri" pitchFamily="34" charset="-120"/>
              </a:rPr>
              <a:t>person</a:t>
            </a:r>
            <a:r>
              <a:rPr lang="en-US" sz="1400" dirty="0">
                <a:solidFill>
                  <a:srgbClr val="1B2433"/>
                </a:solidFill>
                <a:latin typeface="Calibri" pitchFamily="34" charset="0"/>
                <a:ea typeface="Calibri" pitchFamily="34" charset="-122"/>
                <a:cs typeface="Calibri" pitchFamily="34" charset="-120"/>
              </a:rPr>
              <a:t> in the non-people class treats them like an animal or an object.</a:t>
            </a:r>
            <a:endParaRPr lang="en-US" sz="1400" dirty="0"/>
          </a:p>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Every Tamil verb about a third person forces this choice.</a:t>
            </a:r>
            <a:endParaRPr lang="en-US" sz="1400" dirty="0"/>
          </a:p>
        </p:txBody>
      </p:sp>
      <p:sp>
        <p:nvSpPr>
          <p:cNvPr id="12" name="Shape 9"/>
          <p:cNvSpPr/>
          <p:nvPr/>
        </p:nvSpPr>
        <p:spPr>
          <a:xfrm>
            <a:off x="4297680" y="1737360"/>
            <a:ext cx="3566160" cy="2011680"/>
          </a:xfrm>
          <a:prstGeom prst="roundRect">
            <a:avLst>
              <a:gd name="adj" fmla="val 3636"/>
            </a:avLst>
          </a:prstGeom>
          <a:solidFill>
            <a:srgbClr val="FBE5D6"/>
          </a:solidFill>
          <a:ln w="12700">
            <a:solidFill>
              <a:srgbClr val="FBE5D6"/>
            </a:solidFill>
            <a:prstDash val="solid"/>
          </a:ln>
        </p:spPr>
      </p:sp>
      <p:sp>
        <p:nvSpPr>
          <p:cNvPr id="13" name="Text 10"/>
          <p:cNvSpPr/>
          <p:nvPr/>
        </p:nvSpPr>
        <p:spPr>
          <a:xfrm>
            <a:off x="4498848" y="1883664"/>
            <a:ext cx="3163824" cy="411480"/>
          </a:xfrm>
          <a:prstGeom prst="rect">
            <a:avLst/>
          </a:prstGeom>
          <a:noFill/>
          <a:ln/>
        </p:spPr>
        <p:txBody>
          <a:bodyPr wrap="square" lIns="0" tIns="0" rIns="0" bIns="0" rtlCol="0" anchor="t"/>
          <a:lstStyle/>
          <a:p>
            <a:pPr indent="0" marL="0">
              <a:buNone/>
            </a:pPr>
            <a:r>
              <a:rPr lang="en-US" sz="1700" b="1" dirty="0">
                <a:solidFill>
                  <a:srgbClr val="D55E00"/>
                </a:solidFill>
                <a:latin typeface="Calibri" pitchFamily="34" charset="0"/>
                <a:ea typeface="Calibri" pitchFamily="34" charset="-122"/>
                <a:cs typeface="Calibri" pitchFamily="34" charset="-120"/>
              </a:rPr>
              <a:t>Misgendering</a:t>
            </a:r>
            <a:endParaRPr lang="en-US" sz="1700" dirty="0"/>
          </a:p>
        </p:txBody>
      </p:sp>
      <p:sp>
        <p:nvSpPr>
          <p:cNvPr id="14" name="Text 11"/>
          <p:cNvSpPr/>
          <p:nvPr/>
        </p:nvSpPr>
        <p:spPr>
          <a:xfrm>
            <a:off x="4498848" y="2295144"/>
            <a:ext cx="3163824" cy="1307592"/>
          </a:xfrm>
          <a:prstGeom prst="rect">
            <a:avLst/>
          </a:prstGeom>
          <a:noFill/>
          <a:ln/>
        </p:spPr>
        <p:txBody>
          <a:bodyPr wrap="square" lIns="0" tIns="0" rIns="0" bIns="0" rtlCol="0" anchor="t"/>
          <a:lstStyle/>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Choosing masculine for a woman, or feminine for a man, is a real harm.</a:t>
            </a:r>
            <a:endParaRPr lang="en-US" sz="1400" dirty="0"/>
          </a:p>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This is why gender bias in translation is widely studied.</a:t>
            </a:r>
            <a:endParaRPr lang="en-US" sz="1400" dirty="0"/>
          </a:p>
        </p:txBody>
      </p:sp>
      <p:sp>
        <p:nvSpPr>
          <p:cNvPr id="15" name="Shape 12"/>
          <p:cNvSpPr/>
          <p:nvPr/>
        </p:nvSpPr>
        <p:spPr>
          <a:xfrm>
            <a:off x="8046720" y="1737360"/>
            <a:ext cx="3566160" cy="2011680"/>
          </a:xfrm>
          <a:prstGeom prst="roundRect">
            <a:avLst>
              <a:gd name="adj" fmla="val 3636"/>
            </a:avLst>
          </a:prstGeom>
          <a:solidFill>
            <a:srgbClr val="FBE5D6"/>
          </a:solidFill>
          <a:ln w="12700">
            <a:solidFill>
              <a:srgbClr val="FBE5D6"/>
            </a:solidFill>
            <a:prstDash val="solid"/>
          </a:ln>
        </p:spPr>
      </p:sp>
      <p:sp>
        <p:nvSpPr>
          <p:cNvPr id="16" name="Text 13"/>
          <p:cNvSpPr/>
          <p:nvPr/>
        </p:nvSpPr>
        <p:spPr>
          <a:xfrm>
            <a:off x="8247888" y="1883664"/>
            <a:ext cx="3163824" cy="411480"/>
          </a:xfrm>
          <a:prstGeom prst="rect">
            <a:avLst/>
          </a:prstGeom>
          <a:noFill/>
          <a:ln/>
        </p:spPr>
        <p:txBody>
          <a:bodyPr wrap="square" lIns="0" tIns="0" rIns="0" bIns="0" rtlCol="0" anchor="t"/>
          <a:lstStyle/>
          <a:p>
            <a:pPr indent="0" marL="0">
              <a:buNone/>
            </a:pPr>
            <a:r>
              <a:rPr lang="en-US" sz="1700" b="1" dirty="0">
                <a:solidFill>
                  <a:srgbClr val="D55E00"/>
                </a:solidFill>
                <a:latin typeface="Calibri" pitchFamily="34" charset="0"/>
                <a:ea typeface="Calibri" pitchFamily="34" charset="-122"/>
                <a:cs typeface="Calibri" pitchFamily="34" charset="-120"/>
              </a:rPr>
              <a:t>Invisible to the reader</a:t>
            </a:r>
            <a:endParaRPr lang="en-US" sz="1700" dirty="0"/>
          </a:p>
        </p:txBody>
      </p:sp>
      <p:sp>
        <p:nvSpPr>
          <p:cNvPr id="17" name="Text 14"/>
          <p:cNvSpPr/>
          <p:nvPr/>
        </p:nvSpPr>
        <p:spPr>
          <a:xfrm>
            <a:off x="8247888" y="2295144"/>
            <a:ext cx="3163824" cy="1307592"/>
          </a:xfrm>
          <a:prstGeom prst="rect">
            <a:avLst/>
          </a:prstGeom>
          <a:noFill/>
          <a:ln/>
        </p:spPr>
        <p:txBody>
          <a:bodyPr wrap="square" lIns="0" tIns="0" rIns="0" bIns="0" rtlCol="0" anchor="t"/>
          <a:lstStyle/>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The Tamil reader usually </a:t>
            </a:r>
            <a:r>
              <a:rPr lang="en-US" sz="1400" b="1" dirty="0">
                <a:solidFill>
                  <a:srgbClr val="1B2433"/>
                </a:solidFill>
                <a:latin typeface="Calibri" pitchFamily="34" charset="0"/>
                <a:ea typeface="Calibri" pitchFamily="34" charset="-122"/>
                <a:cs typeface="Calibri" pitchFamily="34" charset="-120"/>
              </a:rPr>
              <a:t>cannot see</a:t>
            </a:r>
            <a:r>
              <a:rPr lang="en-US" sz="1400" dirty="0">
                <a:solidFill>
                  <a:srgbClr val="1B2433"/>
                </a:solidFill>
                <a:latin typeface="Calibri" pitchFamily="34" charset="0"/>
                <a:ea typeface="Calibri" pitchFamily="34" charset="-122"/>
                <a:cs typeface="Calibri" pitchFamily="34" charset="-120"/>
              </a:rPr>
              <a:t> the English source.</a:t>
            </a:r>
            <a:endParaRPr lang="en-US" sz="1400" dirty="0"/>
          </a:p>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They have </a:t>
            </a:r>
            <a:r>
              <a:rPr lang="en-US" sz="1400" b="1" dirty="0">
                <a:solidFill>
                  <a:srgbClr val="1B2433"/>
                </a:solidFill>
                <a:latin typeface="Calibri" pitchFamily="34" charset="0"/>
                <a:ea typeface="Calibri" pitchFamily="34" charset="-122"/>
                <a:cs typeface="Calibri" pitchFamily="34" charset="-120"/>
              </a:rPr>
              <a:t>no way to tell</a:t>
            </a:r>
            <a:r>
              <a:rPr lang="en-US" sz="1400" dirty="0">
                <a:solidFill>
                  <a:srgbClr val="1B2433"/>
                </a:solidFill>
                <a:latin typeface="Calibri" pitchFamily="34" charset="0"/>
                <a:ea typeface="Calibri" pitchFamily="34" charset="-122"/>
                <a:cs typeface="Calibri" pitchFamily="34" charset="-120"/>
              </a:rPr>
              <a:t> the error came from the system, not the speaker.</a:t>
            </a:r>
            <a:endParaRPr lang="en-US" sz="1400" dirty="0"/>
          </a:p>
        </p:txBody>
      </p:sp>
      <p:sp>
        <p:nvSpPr>
          <p:cNvPr id="18" name="Text 15"/>
          <p:cNvSpPr/>
          <p:nvPr/>
        </p:nvSpPr>
        <p:spPr>
          <a:xfrm>
            <a:off x="548640" y="3977640"/>
            <a:ext cx="3566160" cy="365760"/>
          </a:xfrm>
          <a:prstGeom prst="rect">
            <a:avLst/>
          </a:prstGeom>
          <a:noFill/>
          <a:ln/>
        </p:spPr>
        <p:txBody>
          <a:bodyPr wrap="square" lIns="0" tIns="0" rIns="0" bIns="0" rtlCol="0" anchor="t"/>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Example: "The students came."</a:t>
            </a:r>
            <a:endParaRPr lang="en-US" sz="1600" dirty="0"/>
          </a:p>
        </p:txBody>
      </p:sp>
      <p:sp>
        <p:nvSpPr>
          <p:cNvPr id="19" name="Text 16"/>
          <p:cNvSpPr/>
          <p:nvPr/>
        </p:nvSpPr>
        <p:spPr>
          <a:xfrm>
            <a:off x="548640" y="4389120"/>
            <a:ext cx="3566160" cy="1097280"/>
          </a:xfrm>
          <a:prstGeom prst="rect">
            <a:avLst/>
          </a:prstGeom>
          <a:noFill/>
          <a:ln/>
        </p:spPr>
        <p:txBody>
          <a:bodyPr wrap="square" lIns="0" tIns="0" rIns="0" bIns="0" rtlCol="0" anchor="t"/>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Same sentence, same verb. Only the ending differs, and one ending treats the students as animals or objects.</a:t>
            </a:r>
            <a:endParaRPr lang="en-US" sz="1400" dirty="0"/>
          </a:p>
        </p:txBody>
      </p:sp>
      <p:sp>
        <p:nvSpPr>
          <p:cNvPr id="20" name="Shape 17"/>
          <p:cNvSpPr/>
          <p:nvPr/>
        </p:nvSpPr>
        <p:spPr>
          <a:xfrm>
            <a:off x="4297680" y="3931920"/>
            <a:ext cx="3566160" cy="1554480"/>
          </a:xfrm>
          <a:prstGeom prst="roundRect">
            <a:avLst>
              <a:gd name="adj" fmla="val 4706"/>
            </a:avLst>
          </a:prstGeom>
          <a:solidFill>
            <a:srgbClr val="FFFFFF"/>
          </a:solidFill>
          <a:ln w="25400">
            <a:solidFill>
              <a:srgbClr val="009E73"/>
            </a:solidFill>
            <a:prstDash val="solid"/>
          </a:ln>
        </p:spPr>
      </p:sp>
      <p:sp>
        <p:nvSpPr>
          <p:cNvPr id="21" name="Text 18"/>
          <p:cNvSpPr/>
          <p:nvPr/>
        </p:nvSpPr>
        <p:spPr>
          <a:xfrm>
            <a:off x="4389120" y="4041648"/>
            <a:ext cx="3383280" cy="699516"/>
          </a:xfrm>
          <a:prstGeom prst="rect">
            <a:avLst/>
          </a:prstGeom>
          <a:noFill/>
          <a:ln/>
        </p:spPr>
        <p:txBody>
          <a:bodyPr wrap="square" lIns="0" tIns="0" rIns="0" bIns="0" rtlCol="0" anchor="ctr"/>
          <a:lstStyle/>
          <a:p>
            <a:pPr algn="ctr" indent="0" marL="0">
              <a:buNone/>
            </a:pPr>
            <a:r>
              <a:rPr lang="en-US" sz="2000" dirty="0">
                <a:solidFill>
                  <a:srgbClr val="1B2433"/>
                </a:solidFill>
                <a:latin typeface="Calibri" pitchFamily="34" charset="0"/>
                <a:ea typeface="Calibri" pitchFamily="34" charset="-122"/>
                <a:cs typeface="Calibri" pitchFamily="34" charset="-120"/>
              </a:rPr>
              <a:t>மாணவர்கள் வந்தார்கள்.</a:t>
            </a:r>
            <a:endParaRPr lang="en-US" sz="2000" dirty="0"/>
          </a:p>
        </p:txBody>
      </p:sp>
      <p:sp>
        <p:nvSpPr>
          <p:cNvPr id="22" name="Text 19"/>
          <p:cNvSpPr/>
          <p:nvPr/>
        </p:nvSpPr>
        <p:spPr>
          <a:xfrm>
            <a:off x="4389120" y="4741164"/>
            <a:ext cx="3383280" cy="310896"/>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māṇavarkaḷ vantārkaḷ.</a:t>
            </a:r>
            <a:endParaRPr lang="en-US" sz="1400" dirty="0"/>
          </a:p>
        </p:txBody>
      </p:sp>
      <p:sp>
        <p:nvSpPr>
          <p:cNvPr id="23" name="Text 20"/>
          <p:cNvSpPr/>
          <p:nvPr/>
        </p:nvSpPr>
        <p:spPr>
          <a:xfrm>
            <a:off x="4389120" y="5052060"/>
            <a:ext cx="3383280" cy="466344"/>
          </a:xfrm>
          <a:prstGeom prst="rect">
            <a:avLst/>
          </a:prstGeom>
          <a:noFill/>
          <a:ln/>
        </p:spPr>
        <p:txBody>
          <a:bodyPr wrap="square" lIns="0" tIns="0" rIns="0" bIns="0" rtlCol="0" anchor="t"/>
          <a:lstStyle/>
          <a:p>
            <a:pPr algn="ctr" indent="0" marL="0">
              <a:buNone/>
            </a:pPr>
            <a:r>
              <a:rPr lang="en-US" sz="1300" dirty="0">
                <a:solidFill>
                  <a:srgbClr val="009E73"/>
                </a:solidFill>
                <a:latin typeface="Calibri" pitchFamily="34" charset="0"/>
                <a:ea typeface="Calibri" pitchFamily="34" charset="-122"/>
                <a:cs typeface="Calibri" pitchFamily="34" charset="-120"/>
              </a:rPr>
              <a:t>✓ correct: people ending</a:t>
            </a:r>
            <a:endParaRPr lang="en-US" sz="1300" dirty="0"/>
          </a:p>
        </p:txBody>
      </p:sp>
      <p:sp>
        <p:nvSpPr>
          <p:cNvPr id="24" name="Shape 21"/>
          <p:cNvSpPr/>
          <p:nvPr/>
        </p:nvSpPr>
        <p:spPr>
          <a:xfrm>
            <a:off x="8046720" y="3931920"/>
            <a:ext cx="3566160" cy="1554480"/>
          </a:xfrm>
          <a:prstGeom prst="roundRect">
            <a:avLst>
              <a:gd name="adj" fmla="val 4706"/>
            </a:avLst>
          </a:prstGeom>
          <a:solidFill>
            <a:srgbClr val="FFFFFF"/>
          </a:solidFill>
          <a:ln w="25400">
            <a:solidFill>
              <a:srgbClr val="D55E00"/>
            </a:solidFill>
            <a:prstDash val="solid"/>
          </a:ln>
        </p:spPr>
      </p:sp>
      <p:sp>
        <p:nvSpPr>
          <p:cNvPr id="25" name="Text 22"/>
          <p:cNvSpPr/>
          <p:nvPr/>
        </p:nvSpPr>
        <p:spPr>
          <a:xfrm>
            <a:off x="8138160" y="4041648"/>
            <a:ext cx="3383280" cy="699516"/>
          </a:xfrm>
          <a:prstGeom prst="rect">
            <a:avLst/>
          </a:prstGeom>
          <a:noFill/>
          <a:ln/>
        </p:spPr>
        <p:txBody>
          <a:bodyPr wrap="square" lIns="0" tIns="0" rIns="0" bIns="0" rtlCol="0" anchor="ctr"/>
          <a:lstStyle/>
          <a:p>
            <a:pPr algn="ctr" indent="0" marL="0">
              <a:buNone/>
            </a:pPr>
            <a:r>
              <a:rPr lang="en-US" sz="2000" dirty="0">
                <a:solidFill>
                  <a:srgbClr val="1B2433"/>
                </a:solidFill>
                <a:latin typeface="Calibri" pitchFamily="34" charset="0"/>
                <a:ea typeface="Calibri" pitchFamily="34" charset="-122"/>
                <a:cs typeface="Calibri" pitchFamily="34" charset="-120"/>
              </a:rPr>
              <a:t>மாணவர்கள் வந்தன.</a:t>
            </a:r>
            <a:endParaRPr lang="en-US" sz="2000" dirty="0"/>
          </a:p>
        </p:txBody>
      </p:sp>
      <p:sp>
        <p:nvSpPr>
          <p:cNvPr id="26" name="Text 23"/>
          <p:cNvSpPr/>
          <p:nvPr/>
        </p:nvSpPr>
        <p:spPr>
          <a:xfrm>
            <a:off x="8138160" y="4741164"/>
            <a:ext cx="3383280" cy="310896"/>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māṇavarkaḷ vantaṉa.</a:t>
            </a:r>
            <a:endParaRPr lang="en-US" sz="1400" dirty="0"/>
          </a:p>
        </p:txBody>
      </p:sp>
      <p:sp>
        <p:nvSpPr>
          <p:cNvPr id="27" name="Text 24"/>
          <p:cNvSpPr/>
          <p:nvPr/>
        </p:nvSpPr>
        <p:spPr>
          <a:xfrm>
            <a:off x="8138160" y="5052060"/>
            <a:ext cx="3383280" cy="466344"/>
          </a:xfrm>
          <a:prstGeom prst="rect">
            <a:avLst/>
          </a:prstGeom>
          <a:noFill/>
          <a:ln/>
        </p:spPr>
        <p:txBody>
          <a:bodyPr wrap="square" lIns="0" tIns="0" rIns="0" bIns="0" rtlCol="0" anchor="t"/>
          <a:lstStyle/>
          <a:p>
            <a:pPr algn="ctr" indent="0" marL="0">
              <a:buNone/>
            </a:pPr>
            <a:r>
              <a:rPr lang="en-US" sz="1300" dirty="0">
                <a:solidFill>
                  <a:srgbClr val="D55E00"/>
                </a:solidFill>
                <a:latin typeface="Calibri" pitchFamily="34" charset="0"/>
                <a:ea typeface="Calibri" pitchFamily="34" charset="-122"/>
                <a:cs typeface="Calibri" pitchFamily="34" charset="-120"/>
              </a:rPr>
              <a:t>✗ dehumanising: non-people ending</a:t>
            </a:r>
            <a:endParaRPr lang="en-US" sz="1300" dirty="0"/>
          </a:p>
        </p:txBody>
      </p:sp>
      <p:sp>
        <p:nvSpPr>
          <p:cNvPr id="28" name="Shape 25"/>
          <p:cNvSpPr/>
          <p:nvPr/>
        </p:nvSpPr>
        <p:spPr>
          <a:xfrm>
            <a:off x="548640" y="5760720"/>
            <a:ext cx="11064240" cy="502920"/>
          </a:xfrm>
          <a:prstGeom prst="roundRect">
            <a:avLst>
              <a:gd name="adj" fmla="val 14545"/>
            </a:avLst>
          </a:prstGeom>
          <a:solidFill>
            <a:srgbClr val="FBEBD2"/>
          </a:solidFill>
          <a:ln w="12700">
            <a:solidFill>
              <a:srgbClr val="E39B2D"/>
            </a:solidFill>
            <a:prstDash val="solid"/>
          </a:ln>
        </p:spPr>
      </p:sp>
      <p:sp>
        <p:nvSpPr>
          <p:cNvPr id="29" name="Text 26"/>
          <p:cNvSpPr/>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A translation can be fluent, accurate in every other word, highly scored, and still </a:t>
            </a:r>
            <a:r>
              <a:rPr lang="en-US" sz="1500" b="1" dirty="0">
                <a:solidFill>
                  <a:srgbClr val="1B2433"/>
                </a:solidFill>
                <a:latin typeface="Calibri" pitchFamily="34" charset="0"/>
                <a:ea typeface="Calibri" pitchFamily="34" charset="-122"/>
                <a:cs typeface="Calibri" pitchFamily="34" charset="-120"/>
              </a:rPr>
              <a:t>socially unusable</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PROBLEM</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What can a translation system do? Three possible outcomes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11</a:t>
            </a:r>
            <a:endParaRPr lang="en-US" sz="900" dirty="0"/>
          </a:p>
        </p:txBody>
      </p:sp>
      <p:sp>
        <p:nvSpPr>
          <p:cNvPr id="9" name="Shape 6"/>
          <p:cNvSpPr/>
          <p:nvPr/>
        </p:nvSpPr>
        <p:spPr>
          <a:xfrm>
            <a:off x="548640" y="1737360"/>
            <a:ext cx="3931920" cy="1005840"/>
          </a:xfrm>
          <a:prstGeom prst="roundRect">
            <a:avLst>
              <a:gd name="adj" fmla="val 7273"/>
            </a:avLst>
          </a:prstGeom>
          <a:solidFill>
            <a:srgbClr val="E7EBF2"/>
          </a:solidFill>
          <a:ln w="12700">
            <a:solidFill>
              <a:srgbClr val="E7EBF2"/>
            </a:solidFill>
            <a:prstDash val="solid"/>
          </a:ln>
        </p:spPr>
      </p:sp>
      <p:sp>
        <p:nvSpPr>
          <p:cNvPr id="10" name="Text 7"/>
          <p:cNvSpPr/>
          <p:nvPr/>
        </p:nvSpPr>
        <p:spPr>
          <a:xfrm>
            <a:off x="685800" y="1737360"/>
            <a:ext cx="3657600" cy="1005840"/>
          </a:xfrm>
          <a:prstGeom prst="rect">
            <a:avLst/>
          </a:prstGeom>
          <a:noFill/>
          <a:ln/>
        </p:spPr>
        <p:txBody>
          <a:bodyPr wrap="square" lIns="0" tIns="0" rIns="0" bIns="0" rtlCol="0" anchor="ctr"/>
          <a:lstStyle/>
          <a:p>
            <a:pPr algn="ctr" indent="0" marL="0">
              <a:buNone/>
            </a:pPr>
            <a:r>
              <a:rPr lang="en-US" sz="1500" i="1" dirty="0">
                <a:solidFill>
                  <a:srgbClr val="000000"/>
                </a:solidFill>
                <a:latin typeface="Georgia" pitchFamily="34" charset="0"/>
                <a:ea typeface="Georgia" pitchFamily="34" charset="-122"/>
                <a:cs typeface="Georgia" pitchFamily="34" charset="-120"/>
              </a:rPr>
              <a:t>Aram, my younger sister, came at noon.</a:t>
            </a:r>
            <a:endParaRPr lang="en-US" sz="1500" dirty="0"/>
          </a:p>
        </p:txBody>
      </p:sp>
      <p:sp>
        <p:nvSpPr>
          <p:cNvPr id="11" name="Text 8"/>
          <p:cNvSpPr/>
          <p:nvPr/>
        </p:nvSpPr>
        <p:spPr>
          <a:xfrm>
            <a:off x="548640" y="2788920"/>
            <a:ext cx="3931920" cy="274320"/>
          </a:xfrm>
          <a:prstGeom prst="rect">
            <a:avLst/>
          </a:prstGeom>
          <a:noFill/>
          <a:ln/>
        </p:spPr>
        <p:txBody>
          <a:bodyPr wrap="square" lIns="0" tIns="0" rIns="0" bIns="0" rtlCol="0" anchor="t"/>
          <a:lstStyle/>
          <a:p>
            <a:pPr algn="ctr" indent="0" marL="0">
              <a:lnSpc>
                <a:spcPct val="100000"/>
              </a:lnSpc>
              <a:buNone/>
            </a:pPr>
            <a:r>
              <a:rPr lang="en-US" sz="1200" dirty="0">
                <a:solidFill>
                  <a:srgbClr val="5B6577"/>
                </a:solidFill>
                <a:latin typeface="Calibri" pitchFamily="34" charset="0"/>
                <a:ea typeface="Calibri" pitchFamily="34" charset="-122"/>
                <a:cs typeface="Calibri" pitchFamily="34" charset="-120"/>
              </a:rPr>
              <a:t>English source (a real test item)</a:t>
            </a:r>
            <a:endParaRPr lang="en-US" sz="1200" dirty="0"/>
          </a:p>
        </p:txBody>
      </p:sp>
      <p:sp>
        <p:nvSpPr>
          <p:cNvPr id="12" name="Shape 9"/>
          <p:cNvSpPr/>
          <p:nvPr/>
        </p:nvSpPr>
        <p:spPr>
          <a:xfrm>
            <a:off x="4572000" y="2240280"/>
            <a:ext cx="914400" cy="0"/>
          </a:xfrm>
          <a:prstGeom prst="line">
            <a:avLst/>
          </a:prstGeom>
          <a:noFill/>
          <a:ln w="25400">
            <a:solidFill>
              <a:srgbClr val="009E73"/>
            </a:solidFill>
            <a:prstDash val="solid"/>
            <a:tailEnd type="triangle"/>
          </a:ln>
        </p:spPr>
      </p:sp>
      <p:sp>
        <p:nvSpPr>
          <p:cNvPr id="13" name="Shape 10"/>
          <p:cNvSpPr/>
          <p:nvPr/>
        </p:nvSpPr>
        <p:spPr>
          <a:xfrm>
            <a:off x="5623560" y="2075688"/>
            <a:ext cx="1463040" cy="329184"/>
          </a:xfrm>
          <a:prstGeom prst="roundRect">
            <a:avLst>
              <a:gd name="adj" fmla="val 22222"/>
            </a:avLst>
          </a:prstGeom>
          <a:solidFill>
            <a:srgbClr val="009E73"/>
          </a:solidFill>
          <a:ln w="12700">
            <a:solidFill>
              <a:srgbClr val="009E73"/>
            </a:solidFill>
            <a:prstDash val="solid"/>
          </a:ln>
        </p:spPr>
      </p:sp>
      <p:sp>
        <p:nvSpPr>
          <p:cNvPr id="14" name="Text 11"/>
          <p:cNvSpPr/>
          <p:nvPr/>
        </p:nvSpPr>
        <p:spPr>
          <a:xfrm>
            <a:off x="5623560" y="2075688"/>
            <a:ext cx="14630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15" name="Shape 12"/>
          <p:cNvSpPr/>
          <p:nvPr/>
        </p:nvSpPr>
        <p:spPr>
          <a:xfrm>
            <a:off x="7269480" y="1691640"/>
            <a:ext cx="2377440" cy="1143000"/>
          </a:xfrm>
          <a:prstGeom prst="roundRect">
            <a:avLst>
              <a:gd name="adj" fmla="val 6400"/>
            </a:avLst>
          </a:prstGeom>
          <a:solidFill>
            <a:srgbClr val="DDF2EA"/>
          </a:solidFill>
          <a:ln w="19050">
            <a:solidFill>
              <a:srgbClr val="009E73"/>
            </a:solidFill>
            <a:prstDash val="solid"/>
          </a:ln>
        </p:spPr>
      </p:sp>
      <p:sp>
        <p:nvSpPr>
          <p:cNvPr id="16" name="Text 13"/>
          <p:cNvSpPr/>
          <p:nvPr/>
        </p:nvSpPr>
        <p:spPr>
          <a:xfrm>
            <a:off x="7360920" y="1801368"/>
            <a:ext cx="2194560" cy="514350"/>
          </a:xfrm>
          <a:prstGeom prst="rect">
            <a:avLst/>
          </a:prstGeom>
          <a:noFill/>
          <a:ln/>
        </p:spPr>
        <p:txBody>
          <a:bodyPr wrap="square" lIns="0" tIns="0" rIns="0" bIns="0" rtlCol="0" anchor="ctr"/>
          <a:lstStyle/>
          <a:p>
            <a:pPr algn="ctr" indent="0" marL="0">
              <a:buNone/>
            </a:pPr>
            <a:r>
              <a:rPr lang="en-US" sz="2000" dirty="0">
                <a:solidFill>
                  <a:srgbClr val="1B2433"/>
                </a:solidFill>
                <a:latin typeface="Calibri" pitchFamily="34" charset="0"/>
                <a:ea typeface="Calibri" pitchFamily="34" charset="-122"/>
                <a:cs typeface="Calibri" pitchFamily="34" charset="-120"/>
              </a:rPr>
              <a:t>அறம் வந்தாள்.</a:t>
            </a:r>
            <a:endParaRPr lang="en-US" sz="2000" dirty="0"/>
          </a:p>
        </p:txBody>
      </p:sp>
      <p:sp>
        <p:nvSpPr>
          <p:cNvPr id="17" name="Text 14"/>
          <p:cNvSpPr/>
          <p:nvPr/>
        </p:nvSpPr>
        <p:spPr>
          <a:xfrm>
            <a:off x="7360920" y="2315718"/>
            <a:ext cx="2194560" cy="231140"/>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aṟam vantāḷ.</a:t>
            </a:r>
            <a:endParaRPr lang="en-US" sz="1400" dirty="0"/>
          </a:p>
        </p:txBody>
      </p:sp>
      <p:sp>
        <p:nvSpPr>
          <p:cNvPr id="18" name="Text 15"/>
          <p:cNvSpPr/>
          <p:nvPr/>
        </p:nvSpPr>
        <p:spPr>
          <a:xfrm>
            <a:off x="9784080" y="1856232"/>
            <a:ext cx="1874520" cy="91440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feminine: matches the source</a:t>
            </a:r>
            <a:endParaRPr lang="en-US" sz="1400" dirty="0"/>
          </a:p>
        </p:txBody>
      </p:sp>
      <p:sp>
        <p:nvSpPr>
          <p:cNvPr id="19" name="Shape 16"/>
          <p:cNvSpPr/>
          <p:nvPr/>
        </p:nvSpPr>
        <p:spPr>
          <a:xfrm>
            <a:off x="4572000" y="2240280"/>
            <a:ext cx="914400" cy="1371600"/>
          </a:xfrm>
          <a:prstGeom prst="line">
            <a:avLst/>
          </a:prstGeom>
          <a:noFill/>
          <a:ln w="25400">
            <a:solidFill>
              <a:srgbClr val="D55E00"/>
            </a:solidFill>
            <a:prstDash val="solid"/>
            <a:tailEnd type="triangle"/>
          </a:ln>
        </p:spPr>
      </p:sp>
      <p:sp>
        <p:nvSpPr>
          <p:cNvPr id="20" name="Shape 17"/>
          <p:cNvSpPr/>
          <p:nvPr/>
        </p:nvSpPr>
        <p:spPr>
          <a:xfrm>
            <a:off x="5623560" y="3447288"/>
            <a:ext cx="1463040" cy="329184"/>
          </a:xfrm>
          <a:prstGeom prst="roundRect">
            <a:avLst>
              <a:gd name="adj" fmla="val 22222"/>
            </a:avLst>
          </a:prstGeom>
          <a:solidFill>
            <a:srgbClr val="D55E00"/>
          </a:solidFill>
          <a:ln w="12700">
            <a:solidFill>
              <a:srgbClr val="D55E00"/>
            </a:solidFill>
            <a:prstDash val="solid"/>
          </a:ln>
        </p:spPr>
      </p:sp>
      <p:sp>
        <p:nvSpPr>
          <p:cNvPr id="21" name="Text 18"/>
          <p:cNvSpPr/>
          <p:nvPr/>
        </p:nvSpPr>
        <p:spPr>
          <a:xfrm>
            <a:off x="5623560" y="3447288"/>
            <a:ext cx="14630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WRONG</a:t>
            </a:r>
            <a:endParaRPr lang="en-US" sz="1200" dirty="0"/>
          </a:p>
        </p:txBody>
      </p:sp>
      <p:sp>
        <p:nvSpPr>
          <p:cNvPr id="22" name="Shape 19"/>
          <p:cNvSpPr/>
          <p:nvPr/>
        </p:nvSpPr>
        <p:spPr>
          <a:xfrm>
            <a:off x="7269480" y="3063240"/>
            <a:ext cx="2377440" cy="1143000"/>
          </a:xfrm>
          <a:prstGeom prst="roundRect">
            <a:avLst>
              <a:gd name="adj" fmla="val 6400"/>
            </a:avLst>
          </a:prstGeom>
          <a:solidFill>
            <a:srgbClr val="FBE5D6"/>
          </a:solidFill>
          <a:ln w="19050">
            <a:solidFill>
              <a:srgbClr val="D55E00"/>
            </a:solidFill>
            <a:prstDash val="solid"/>
          </a:ln>
        </p:spPr>
      </p:sp>
      <p:sp>
        <p:nvSpPr>
          <p:cNvPr id="23" name="Text 20"/>
          <p:cNvSpPr/>
          <p:nvPr/>
        </p:nvSpPr>
        <p:spPr>
          <a:xfrm>
            <a:off x="7360920" y="3172968"/>
            <a:ext cx="2194560" cy="514350"/>
          </a:xfrm>
          <a:prstGeom prst="rect">
            <a:avLst/>
          </a:prstGeom>
          <a:noFill/>
          <a:ln/>
        </p:spPr>
        <p:txBody>
          <a:bodyPr wrap="square" lIns="0" tIns="0" rIns="0" bIns="0" rtlCol="0" anchor="ctr"/>
          <a:lstStyle/>
          <a:p>
            <a:pPr algn="ctr" indent="0" marL="0">
              <a:buNone/>
            </a:pPr>
            <a:r>
              <a:rPr lang="en-US" sz="2000" dirty="0">
                <a:solidFill>
                  <a:srgbClr val="1B2433"/>
                </a:solidFill>
                <a:latin typeface="Calibri" pitchFamily="34" charset="0"/>
                <a:ea typeface="Calibri" pitchFamily="34" charset="-122"/>
                <a:cs typeface="Calibri" pitchFamily="34" charset="-120"/>
              </a:rPr>
              <a:t>அறம் வந்தான்.</a:t>
            </a:r>
            <a:endParaRPr lang="en-US" sz="2000" dirty="0"/>
          </a:p>
        </p:txBody>
      </p:sp>
      <p:sp>
        <p:nvSpPr>
          <p:cNvPr id="24" name="Text 21"/>
          <p:cNvSpPr/>
          <p:nvPr/>
        </p:nvSpPr>
        <p:spPr>
          <a:xfrm>
            <a:off x="7360920" y="3687318"/>
            <a:ext cx="2194560" cy="231140"/>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aṟam vantāṉ.</a:t>
            </a:r>
            <a:endParaRPr lang="en-US" sz="1400" dirty="0"/>
          </a:p>
        </p:txBody>
      </p:sp>
      <p:sp>
        <p:nvSpPr>
          <p:cNvPr id="25" name="Text 22"/>
          <p:cNvSpPr/>
          <p:nvPr/>
        </p:nvSpPr>
        <p:spPr>
          <a:xfrm>
            <a:off x="9784080" y="3227832"/>
            <a:ext cx="1874520" cy="91440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masculine: contradicts the source</a:t>
            </a:r>
            <a:endParaRPr lang="en-US" sz="1400" dirty="0"/>
          </a:p>
        </p:txBody>
      </p:sp>
      <p:sp>
        <p:nvSpPr>
          <p:cNvPr id="26" name="Shape 23"/>
          <p:cNvSpPr/>
          <p:nvPr/>
        </p:nvSpPr>
        <p:spPr>
          <a:xfrm>
            <a:off x="4572000" y="2240280"/>
            <a:ext cx="914400" cy="2743200"/>
          </a:xfrm>
          <a:prstGeom prst="line">
            <a:avLst/>
          </a:prstGeom>
          <a:noFill/>
          <a:ln w="25400">
            <a:solidFill>
              <a:srgbClr val="0072B2"/>
            </a:solidFill>
            <a:prstDash val="solid"/>
            <a:tailEnd type="triangle"/>
          </a:ln>
        </p:spPr>
      </p:sp>
      <p:sp>
        <p:nvSpPr>
          <p:cNvPr id="27" name="Shape 24"/>
          <p:cNvSpPr/>
          <p:nvPr/>
        </p:nvSpPr>
        <p:spPr>
          <a:xfrm>
            <a:off x="5623560" y="4818888"/>
            <a:ext cx="1463040" cy="329184"/>
          </a:xfrm>
          <a:prstGeom prst="roundRect">
            <a:avLst>
              <a:gd name="adj" fmla="val 22222"/>
            </a:avLst>
          </a:prstGeom>
          <a:solidFill>
            <a:srgbClr val="0072B2"/>
          </a:solidFill>
          <a:ln w="12700">
            <a:solidFill>
              <a:srgbClr val="0072B2"/>
            </a:solidFill>
            <a:prstDash val="solid"/>
          </a:ln>
        </p:spPr>
      </p:sp>
      <p:sp>
        <p:nvSpPr>
          <p:cNvPr id="28" name="Text 25"/>
          <p:cNvSpPr/>
          <p:nvPr/>
        </p:nvSpPr>
        <p:spPr>
          <a:xfrm>
            <a:off x="5623560" y="4818888"/>
            <a:ext cx="14630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AVOIDANT</a:t>
            </a:r>
            <a:endParaRPr lang="en-US" sz="1200" dirty="0"/>
          </a:p>
        </p:txBody>
      </p:sp>
      <p:sp>
        <p:nvSpPr>
          <p:cNvPr id="29" name="Shape 26"/>
          <p:cNvSpPr/>
          <p:nvPr/>
        </p:nvSpPr>
        <p:spPr>
          <a:xfrm>
            <a:off x="7269480" y="4434840"/>
            <a:ext cx="2377440" cy="1143000"/>
          </a:xfrm>
          <a:prstGeom prst="roundRect">
            <a:avLst>
              <a:gd name="adj" fmla="val 6400"/>
            </a:avLst>
          </a:prstGeom>
          <a:solidFill>
            <a:srgbClr val="DCEBF6"/>
          </a:solidFill>
          <a:ln w="19050">
            <a:solidFill>
              <a:srgbClr val="0072B2"/>
            </a:solidFill>
            <a:prstDash val="solid"/>
          </a:ln>
        </p:spPr>
      </p:sp>
      <p:sp>
        <p:nvSpPr>
          <p:cNvPr id="30" name="Text 27"/>
          <p:cNvSpPr/>
          <p:nvPr/>
        </p:nvSpPr>
        <p:spPr>
          <a:xfrm>
            <a:off x="7360920" y="4544568"/>
            <a:ext cx="2194560" cy="514350"/>
          </a:xfrm>
          <a:prstGeom prst="rect">
            <a:avLst/>
          </a:prstGeom>
          <a:noFill/>
          <a:ln/>
        </p:spPr>
        <p:txBody>
          <a:bodyPr wrap="square" lIns="0" tIns="0" rIns="0" bIns="0" rtlCol="0" anchor="ctr"/>
          <a:lstStyle/>
          <a:p>
            <a:pPr algn="ctr" indent="0" marL="0">
              <a:buNone/>
            </a:pPr>
            <a:r>
              <a:rPr lang="en-US" sz="2000" dirty="0">
                <a:solidFill>
                  <a:srgbClr val="1B2433"/>
                </a:solidFill>
                <a:latin typeface="Calibri" pitchFamily="34" charset="0"/>
                <a:ea typeface="Calibri" pitchFamily="34" charset="-122"/>
                <a:cs typeface="Calibri" pitchFamily="34" charset="-120"/>
              </a:rPr>
              <a:t>அறம் வந்தார்.</a:t>
            </a:r>
            <a:endParaRPr lang="en-US" sz="2000" dirty="0"/>
          </a:p>
        </p:txBody>
      </p:sp>
      <p:sp>
        <p:nvSpPr>
          <p:cNvPr id="31" name="Text 28"/>
          <p:cNvSpPr/>
          <p:nvPr/>
        </p:nvSpPr>
        <p:spPr>
          <a:xfrm>
            <a:off x="7360920" y="5058918"/>
            <a:ext cx="2194560" cy="231140"/>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aṟam vantār.</a:t>
            </a:r>
            <a:endParaRPr lang="en-US" sz="1400" dirty="0"/>
          </a:p>
        </p:txBody>
      </p:sp>
      <p:sp>
        <p:nvSpPr>
          <p:cNvPr id="32" name="Text 29"/>
          <p:cNvSpPr/>
          <p:nvPr/>
        </p:nvSpPr>
        <p:spPr>
          <a:xfrm>
            <a:off x="9784080" y="4599432"/>
            <a:ext cx="1874520" cy="91440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respectful form: correct Tamil, but drops the gender</a:t>
            </a:r>
            <a:endParaRPr lang="en-US" sz="1400" dirty="0"/>
          </a:p>
        </p:txBody>
      </p:sp>
      <p:sp>
        <p:nvSpPr>
          <p:cNvPr id="33" name="Shape 30"/>
          <p:cNvSpPr/>
          <p:nvPr/>
        </p:nvSpPr>
        <p:spPr>
          <a:xfrm>
            <a:off x="548640" y="5806440"/>
            <a:ext cx="11064240" cy="566928"/>
          </a:xfrm>
          <a:prstGeom prst="roundRect">
            <a:avLst>
              <a:gd name="adj" fmla="val 12903"/>
            </a:avLst>
          </a:prstGeom>
          <a:solidFill>
            <a:srgbClr val="FBEBD2"/>
          </a:solidFill>
          <a:ln w="12700">
            <a:solidFill>
              <a:srgbClr val="E39B2D"/>
            </a:solidFill>
            <a:prstDash val="solid"/>
          </a:ln>
        </p:spPr>
      </p:sp>
      <p:sp>
        <p:nvSpPr>
          <p:cNvPr id="34" name="Text 31"/>
          <p:cNvSpPr/>
          <p:nvPr/>
        </p:nvSpPr>
        <p:spPr>
          <a:xfrm>
            <a:off x="777240" y="5806440"/>
            <a:ext cx="10607040" cy="566928"/>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We count </a:t>
            </a:r>
            <a:r>
              <a:rPr lang="en-US" sz="1500" b="1" dirty="0">
                <a:solidFill>
                  <a:srgbClr val="1B2433"/>
                </a:solidFill>
                <a:latin typeface="Calibri" pitchFamily="34" charset="0"/>
                <a:ea typeface="Calibri" pitchFamily="34" charset="-122"/>
                <a:cs typeface="Calibri" pitchFamily="34" charset="-120"/>
              </a:rPr>
              <a:t>avoiding</a:t>
            </a:r>
            <a:r>
              <a:rPr lang="en-US" sz="1500" dirty="0">
                <a:solidFill>
                  <a:srgbClr val="1B2433"/>
                </a:solidFill>
                <a:latin typeface="Calibri" pitchFamily="34" charset="0"/>
                <a:ea typeface="Calibri" pitchFamily="34" charset="-122"/>
                <a:cs typeface="Calibri" pitchFamily="34" charset="-120"/>
              </a:rPr>
              <a:t> as its own outcome, </a:t>
            </a:r>
            <a:r>
              <a:rPr lang="en-US" sz="1500" b="1" dirty="0">
                <a:solidFill>
                  <a:srgbClr val="1B2433"/>
                </a:solidFill>
                <a:latin typeface="Calibri" pitchFamily="34" charset="0"/>
                <a:ea typeface="Calibri" pitchFamily="34" charset="-122"/>
                <a:cs typeface="Calibri" pitchFamily="34" charset="-120"/>
              </a:rPr>
              <a:t>never as wrong</a:t>
            </a:r>
            <a:r>
              <a:rPr lang="en-US" sz="1500" dirty="0">
                <a:solidFill>
                  <a:srgbClr val="1B2433"/>
                </a:solidFill>
                <a:latin typeface="Calibri" pitchFamily="34" charset="0"/>
                <a:ea typeface="Calibri" pitchFamily="34" charset="-122"/>
                <a:cs typeface="Calibri" pitchFamily="34" charset="-120"/>
              </a:rPr>
              <a:t>. That choice makes the paper's main result visible.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PROBLEM</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How do people judge translation quality? Automatic metrics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12</a:t>
            </a:r>
            <a:endParaRPr lang="en-US" sz="900" dirty="0"/>
          </a:p>
        </p:txBody>
      </p:sp>
      <p:sp>
        <p:nvSpPr>
          <p:cNvPr id="9" name="Shape 6"/>
          <p:cNvSpPr/>
          <p:nvPr/>
        </p:nvSpPr>
        <p:spPr>
          <a:xfrm>
            <a:off x="548640" y="2011680"/>
            <a:ext cx="2560320" cy="1188720"/>
          </a:xfrm>
          <a:prstGeom prst="roundRect">
            <a:avLst>
              <a:gd name="adj" fmla="val 6154"/>
            </a:avLst>
          </a:prstGeom>
          <a:solidFill>
            <a:srgbClr val="E7EBF2"/>
          </a:solidFill>
          <a:ln w="12700">
            <a:solidFill>
              <a:srgbClr val="E7EBF2"/>
            </a:solidFill>
            <a:prstDash val="solid"/>
          </a:ln>
        </p:spPr>
      </p:sp>
      <p:sp>
        <p:nvSpPr>
          <p:cNvPr id="10" name="Text 7"/>
          <p:cNvSpPr/>
          <p:nvPr/>
        </p:nvSpPr>
        <p:spPr>
          <a:xfrm>
            <a:off x="548640" y="2148840"/>
            <a:ext cx="256032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1B2433"/>
                </a:solidFill>
                <a:latin typeface="Calibri" pitchFamily="34" charset="0"/>
                <a:ea typeface="Calibri" pitchFamily="34" charset="-122"/>
                <a:cs typeface="Calibri" pitchFamily="34" charset="-120"/>
              </a:rPr>
              <a:t>Translation</a:t>
            </a:r>
            <a:endParaRPr lang="en-US" sz="1800" dirty="0"/>
          </a:p>
        </p:txBody>
      </p:sp>
      <p:sp>
        <p:nvSpPr>
          <p:cNvPr id="11" name="Text 8"/>
          <p:cNvSpPr/>
          <p:nvPr/>
        </p:nvSpPr>
        <p:spPr>
          <a:xfrm>
            <a:off x="548640" y="2560320"/>
            <a:ext cx="2560320" cy="457200"/>
          </a:xfrm>
          <a:prstGeom prst="rect">
            <a:avLst/>
          </a:prstGeom>
          <a:noFill/>
          <a:ln/>
        </p:spPr>
        <p:txBody>
          <a:bodyPr wrap="square" lIns="0" tIns="0" rIns="0" bIns="0" rtlCol="0" anchor="t"/>
          <a:lstStyle/>
          <a:p>
            <a:pPr algn="ctr" indent="0" marL="0">
              <a:lnSpc>
                <a:spcPct val="100000"/>
              </a:lnSpc>
              <a:buNone/>
            </a:pPr>
            <a:r>
              <a:rPr lang="en-US" sz="1300" dirty="0">
                <a:solidFill>
                  <a:srgbClr val="5B6577"/>
                </a:solidFill>
                <a:latin typeface="Calibri" pitchFamily="34" charset="0"/>
                <a:ea typeface="Calibri" pitchFamily="34" charset="-122"/>
                <a:cs typeface="Calibri" pitchFamily="34" charset="-120"/>
              </a:rPr>
              <a:t>from a machine translation (MT) system</a:t>
            </a:r>
            <a:endParaRPr lang="en-US" sz="1300" dirty="0"/>
          </a:p>
        </p:txBody>
      </p:sp>
      <p:sp>
        <p:nvSpPr>
          <p:cNvPr id="12" name="Shape 9"/>
          <p:cNvSpPr/>
          <p:nvPr/>
        </p:nvSpPr>
        <p:spPr>
          <a:xfrm>
            <a:off x="3200400" y="2606040"/>
            <a:ext cx="1005840" cy="0"/>
          </a:xfrm>
          <a:prstGeom prst="line">
            <a:avLst/>
          </a:prstGeom>
          <a:noFill/>
          <a:ln w="31750">
            <a:solidFill>
              <a:srgbClr val="1B2433"/>
            </a:solidFill>
            <a:prstDash val="solid"/>
            <a:tailEnd type="triangle"/>
          </a:ln>
        </p:spPr>
      </p:sp>
      <p:sp>
        <p:nvSpPr>
          <p:cNvPr id="13" name="Shape 10"/>
          <p:cNvSpPr/>
          <p:nvPr/>
        </p:nvSpPr>
        <p:spPr>
          <a:xfrm>
            <a:off x="4297680" y="2011680"/>
            <a:ext cx="2743200" cy="1188720"/>
          </a:xfrm>
          <a:prstGeom prst="roundRect">
            <a:avLst>
              <a:gd name="adj" fmla="val 6154"/>
            </a:avLst>
          </a:prstGeom>
          <a:solidFill>
            <a:srgbClr val="1F3057"/>
          </a:solidFill>
          <a:ln w="12700">
            <a:solidFill>
              <a:srgbClr val="1F3057"/>
            </a:solidFill>
            <a:prstDash val="solid"/>
          </a:ln>
        </p:spPr>
      </p:sp>
      <p:sp>
        <p:nvSpPr>
          <p:cNvPr id="14" name="Text 11"/>
          <p:cNvSpPr/>
          <p:nvPr/>
        </p:nvSpPr>
        <p:spPr>
          <a:xfrm>
            <a:off x="4297680" y="2148840"/>
            <a:ext cx="274320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FFFFFF"/>
                </a:solidFill>
                <a:latin typeface="Calibri" pitchFamily="34" charset="0"/>
                <a:ea typeface="Calibri" pitchFamily="34" charset="-122"/>
                <a:cs typeface="Calibri" pitchFamily="34" charset="-120"/>
              </a:rPr>
              <a:t>Automatic metric</a:t>
            </a:r>
            <a:endParaRPr lang="en-US" sz="1800" dirty="0"/>
          </a:p>
        </p:txBody>
      </p:sp>
      <p:sp>
        <p:nvSpPr>
          <p:cNvPr id="15" name="Text 12"/>
          <p:cNvSpPr/>
          <p:nvPr/>
        </p:nvSpPr>
        <p:spPr>
          <a:xfrm>
            <a:off x="4297680" y="2560320"/>
            <a:ext cx="2743200" cy="365760"/>
          </a:xfrm>
          <a:prstGeom prst="rect">
            <a:avLst/>
          </a:prstGeom>
          <a:noFill/>
          <a:ln/>
        </p:spPr>
        <p:txBody>
          <a:bodyPr wrap="square" lIns="0" tIns="0" rIns="0" bIns="0" rtlCol="0" anchor="t"/>
          <a:lstStyle/>
          <a:p>
            <a:pPr algn="ctr" indent="0" marL="0">
              <a:lnSpc>
                <a:spcPct val="100000"/>
              </a:lnSpc>
              <a:buNone/>
            </a:pPr>
            <a:r>
              <a:rPr lang="en-US" sz="1300" dirty="0">
                <a:solidFill>
                  <a:srgbClr val="C9D2E3"/>
                </a:solidFill>
                <a:latin typeface="Calibri" pitchFamily="34" charset="0"/>
                <a:ea typeface="Calibri" pitchFamily="34" charset="-122"/>
                <a:cs typeface="Calibri" pitchFamily="34" charset="-120"/>
              </a:rPr>
              <a:t>a program</a:t>
            </a:r>
            <a:endParaRPr lang="en-US" sz="1300" dirty="0"/>
          </a:p>
        </p:txBody>
      </p:sp>
      <p:sp>
        <p:nvSpPr>
          <p:cNvPr id="16" name="Shape 13"/>
          <p:cNvSpPr/>
          <p:nvPr/>
        </p:nvSpPr>
        <p:spPr>
          <a:xfrm>
            <a:off x="7132320" y="2606040"/>
            <a:ext cx="1005840" cy="0"/>
          </a:xfrm>
          <a:prstGeom prst="line">
            <a:avLst/>
          </a:prstGeom>
          <a:noFill/>
          <a:ln w="31750">
            <a:solidFill>
              <a:srgbClr val="1B2433"/>
            </a:solidFill>
            <a:prstDash val="solid"/>
            <a:tailEnd type="triangle"/>
          </a:ln>
        </p:spPr>
      </p:sp>
      <p:sp>
        <p:nvSpPr>
          <p:cNvPr id="17" name="Shape 14"/>
          <p:cNvSpPr/>
          <p:nvPr/>
        </p:nvSpPr>
        <p:spPr>
          <a:xfrm>
            <a:off x="8229600" y="2011680"/>
            <a:ext cx="3383280" cy="1188720"/>
          </a:xfrm>
          <a:prstGeom prst="roundRect">
            <a:avLst>
              <a:gd name="adj" fmla="val 6154"/>
            </a:avLst>
          </a:prstGeom>
          <a:solidFill>
            <a:srgbClr val="FBEBD2"/>
          </a:solidFill>
          <a:ln w="15875">
            <a:solidFill>
              <a:srgbClr val="E39B2D"/>
            </a:solidFill>
            <a:prstDash val="solid"/>
          </a:ln>
        </p:spPr>
      </p:sp>
      <p:sp>
        <p:nvSpPr>
          <p:cNvPr id="18" name="Text 15"/>
          <p:cNvSpPr/>
          <p:nvPr/>
        </p:nvSpPr>
        <p:spPr>
          <a:xfrm>
            <a:off x="8229600" y="2148840"/>
            <a:ext cx="3383280" cy="365760"/>
          </a:xfrm>
          <a:prstGeom prst="rect">
            <a:avLst/>
          </a:prstGeom>
          <a:noFill/>
          <a:ln/>
        </p:spPr>
        <p:txBody>
          <a:bodyPr wrap="square" lIns="0" tIns="0" rIns="0" bIns="0" rtlCol="0" anchor="t"/>
          <a:lstStyle/>
          <a:p>
            <a:pPr algn="ctr" indent="0" marL="0">
              <a:lnSpc>
                <a:spcPct val="100000"/>
              </a:lnSpc>
              <a:buNone/>
            </a:pPr>
            <a:r>
              <a:rPr lang="en-US" sz="2000" b="1" dirty="0">
                <a:solidFill>
                  <a:srgbClr val="1B2433"/>
                </a:solidFill>
                <a:latin typeface="Calibri" pitchFamily="34" charset="0"/>
                <a:ea typeface="Calibri" pitchFamily="34" charset="-122"/>
                <a:cs typeface="Calibri" pitchFamily="34" charset="-120"/>
              </a:rPr>
              <a:t>Score, e.g. 0.87</a:t>
            </a:r>
            <a:endParaRPr lang="en-US" sz="2000" dirty="0"/>
          </a:p>
        </p:txBody>
      </p:sp>
      <p:sp>
        <p:nvSpPr>
          <p:cNvPr id="19" name="Text 16"/>
          <p:cNvSpPr/>
          <p:nvPr/>
        </p:nvSpPr>
        <p:spPr>
          <a:xfrm>
            <a:off x="8229600" y="2560320"/>
            <a:ext cx="3383280" cy="365760"/>
          </a:xfrm>
          <a:prstGeom prst="rect">
            <a:avLst/>
          </a:prstGeom>
          <a:noFill/>
          <a:ln/>
        </p:spPr>
        <p:txBody>
          <a:bodyPr wrap="square" lIns="0" tIns="0" rIns="0" bIns="0" rtlCol="0" anchor="t"/>
          <a:lstStyle/>
          <a:p>
            <a:pPr algn="ctr" indent="0" marL="0">
              <a:lnSpc>
                <a:spcPct val="100000"/>
              </a:lnSpc>
              <a:buNone/>
            </a:pPr>
            <a:r>
              <a:rPr lang="en-US" sz="1300" dirty="0">
                <a:solidFill>
                  <a:srgbClr val="5B6577"/>
                </a:solidFill>
                <a:latin typeface="Calibri" pitchFamily="34" charset="0"/>
                <a:ea typeface="Calibri" pitchFamily="34" charset="-122"/>
                <a:cs typeface="Calibri" pitchFamily="34" charset="-120"/>
              </a:rPr>
              <a:t>higher = better (for most metrics)</a:t>
            </a:r>
            <a:endParaRPr lang="en-US" sz="1300" dirty="0"/>
          </a:p>
        </p:txBody>
      </p:sp>
      <p:sp>
        <p:nvSpPr>
          <p:cNvPr id="20" name="Shape 17"/>
          <p:cNvSpPr/>
          <p:nvPr/>
        </p:nvSpPr>
        <p:spPr>
          <a:xfrm>
            <a:off x="548640" y="3657600"/>
            <a:ext cx="3566160" cy="1737360"/>
          </a:xfrm>
          <a:prstGeom prst="roundRect">
            <a:avLst>
              <a:gd name="adj" fmla="val 4211"/>
            </a:avLst>
          </a:prstGeom>
          <a:solidFill>
            <a:srgbClr val="F2F4F8"/>
          </a:solidFill>
          <a:ln w="12700">
            <a:solidFill>
              <a:srgbClr val="F2F4F8"/>
            </a:solidFill>
            <a:prstDash val="solid"/>
          </a:ln>
        </p:spPr>
      </p:sp>
      <p:sp>
        <p:nvSpPr>
          <p:cNvPr id="21" name="Text 18"/>
          <p:cNvSpPr/>
          <p:nvPr/>
        </p:nvSpPr>
        <p:spPr>
          <a:xfrm>
            <a:off x="749808" y="380390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Research</a:t>
            </a:r>
            <a:endParaRPr lang="en-US" sz="1700" dirty="0"/>
          </a:p>
        </p:txBody>
      </p:sp>
      <p:sp>
        <p:nvSpPr>
          <p:cNvPr id="22" name="Text 19"/>
          <p:cNvSpPr/>
          <p:nvPr/>
        </p:nvSpPr>
        <p:spPr>
          <a:xfrm>
            <a:off x="749808" y="4215384"/>
            <a:ext cx="3163824" cy="103327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Compare systems in papers and in open competitions ("shared tasks") such as WMT.</a:t>
            </a:r>
            <a:endParaRPr lang="en-US" sz="1500" dirty="0"/>
          </a:p>
        </p:txBody>
      </p:sp>
      <p:sp>
        <p:nvSpPr>
          <p:cNvPr id="23" name="Shape 20"/>
          <p:cNvSpPr/>
          <p:nvPr/>
        </p:nvSpPr>
        <p:spPr>
          <a:xfrm>
            <a:off x="4297680" y="3657600"/>
            <a:ext cx="3566160" cy="1737360"/>
          </a:xfrm>
          <a:prstGeom prst="roundRect">
            <a:avLst>
              <a:gd name="adj" fmla="val 4211"/>
            </a:avLst>
          </a:prstGeom>
          <a:solidFill>
            <a:srgbClr val="F2F4F8"/>
          </a:solidFill>
          <a:ln w="12700">
            <a:solidFill>
              <a:srgbClr val="F2F4F8"/>
            </a:solidFill>
            <a:prstDash val="solid"/>
          </a:ln>
        </p:spPr>
      </p:sp>
      <p:sp>
        <p:nvSpPr>
          <p:cNvPr id="24" name="Text 21"/>
          <p:cNvSpPr/>
          <p:nvPr/>
        </p:nvSpPr>
        <p:spPr>
          <a:xfrm>
            <a:off x="4498848" y="380390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Choosing a system</a:t>
            </a:r>
            <a:endParaRPr lang="en-US" sz="1700" dirty="0"/>
          </a:p>
        </p:txBody>
      </p:sp>
      <p:sp>
        <p:nvSpPr>
          <p:cNvPr id="25" name="Text 22"/>
          <p:cNvSpPr/>
          <p:nvPr/>
        </p:nvSpPr>
        <p:spPr>
          <a:xfrm>
            <a:off x="4498848" y="4215384"/>
            <a:ext cx="3163824" cy="103327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Decide which system to deploy or which output to keep.</a:t>
            </a:r>
            <a:endParaRPr lang="en-US" sz="1500" dirty="0"/>
          </a:p>
        </p:txBody>
      </p:sp>
      <p:sp>
        <p:nvSpPr>
          <p:cNvPr id="26" name="Shape 23"/>
          <p:cNvSpPr/>
          <p:nvPr/>
        </p:nvSpPr>
        <p:spPr>
          <a:xfrm>
            <a:off x="8046720" y="3657600"/>
            <a:ext cx="3566160" cy="1737360"/>
          </a:xfrm>
          <a:prstGeom prst="roundRect">
            <a:avLst>
              <a:gd name="adj" fmla="val 4211"/>
            </a:avLst>
          </a:prstGeom>
          <a:solidFill>
            <a:srgbClr val="F2F4F8"/>
          </a:solidFill>
          <a:ln w="12700">
            <a:solidFill>
              <a:srgbClr val="F2F4F8"/>
            </a:solidFill>
            <a:prstDash val="solid"/>
          </a:ln>
        </p:spPr>
      </p:sp>
      <p:sp>
        <p:nvSpPr>
          <p:cNvPr id="27" name="Text 24"/>
          <p:cNvSpPr/>
          <p:nvPr/>
        </p:nvSpPr>
        <p:spPr>
          <a:xfrm>
            <a:off x="8247888" y="380390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Monitoring</a:t>
            </a:r>
            <a:endParaRPr lang="en-US" sz="1700" dirty="0"/>
          </a:p>
        </p:txBody>
      </p:sp>
      <p:sp>
        <p:nvSpPr>
          <p:cNvPr id="28" name="Text 25"/>
          <p:cNvSpPr/>
          <p:nvPr/>
        </p:nvSpPr>
        <p:spPr>
          <a:xfrm>
            <a:off x="8247888" y="4215384"/>
            <a:ext cx="3163824" cy="103327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Watch the quality of a live system, where no human checks each sentence.</a:t>
            </a:r>
            <a:endParaRPr lang="en-US" sz="1500" dirty="0"/>
          </a:p>
        </p:txBody>
      </p:sp>
      <p:sp>
        <p:nvSpPr>
          <p:cNvPr id="29" name="Shape 26"/>
          <p:cNvSpPr/>
          <p:nvPr/>
        </p:nvSpPr>
        <p:spPr>
          <a:xfrm>
            <a:off x="548640" y="5669280"/>
            <a:ext cx="11064240" cy="566928"/>
          </a:xfrm>
          <a:prstGeom prst="roundRect">
            <a:avLst>
              <a:gd name="adj" fmla="val 12903"/>
            </a:avLst>
          </a:prstGeom>
          <a:solidFill>
            <a:srgbClr val="FBEBD2"/>
          </a:solidFill>
          <a:ln w="12700">
            <a:solidFill>
              <a:srgbClr val="E39B2D"/>
            </a:solidFill>
            <a:prstDash val="solid"/>
          </a:ln>
        </p:spPr>
      </p:sp>
      <p:sp>
        <p:nvSpPr>
          <p:cNvPr id="30" name="Text 27"/>
          <p:cNvSpPr/>
          <p:nvPr/>
        </p:nvSpPr>
        <p:spPr>
          <a:xfrm>
            <a:off x="777240" y="5669280"/>
            <a:ext cx="10607040" cy="566928"/>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If a metric </a:t>
            </a:r>
            <a:r>
              <a:rPr lang="en-US" sz="1500" b="1" dirty="0">
                <a:solidFill>
                  <a:srgbClr val="1B2433"/>
                </a:solidFill>
                <a:latin typeface="Calibri" pitchFamily="34" charset="0"/>
                <a:ea typeface="Calibri" pitchFamily="34" charset="-122"/>
                <a:cs typeface="Calibri" pitchFamily="34" charset="-120"/>
              </a:rPr>
              <a:t>cannot see</a:t>
            </a:r>
            <a:r>
              <a:rPr lang="en-US" sz="1500" dirty="0">
                <a:solidFill>
                  <a:srgbClr val="1B2433"/>
                </a:solidFill>
                <a:latin typeface="Calibri" pitchFamily="34" charset="0"/>
                <a:ea typeface="Calibri" pitchFamily="34" charset="-122"/>
                <a:cs typeface="Calibri" pitchFamily="34" charset="-120"/>
              </a:rPr>
              <a:t> an error, that error is invisible everywhere the metric is used.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PROBLEM</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Two kinds of metrics: with a reference, and without</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13</a:t>
            </a:r>
            <a:endParaRPr lang="en-US" sz="900" dirty="0"/>
          </a:p>
        </p:txBody>
      </p:sp>
      <p:sp>
        <p:nvSpPr>
          <p:cNvPr id="9" name="Shape 6"/>
          <p:cNvSpPr/>
          <p:nvPr/>
        </p:nvSpPr>
        <p:spPr>
          <a:xfrm>
            <a:off x="548640" y="1737360"/>
            <a:ext cx="5440680" cy="3840480"/>
          </a:xfrm>
          <a:prstGeom prst="roundRect">
            <a:avLst>
              <a:gd name="adj" fmla="val 1905"/>
            </a:avLst>
          </a:prstGeom>
          <a:solidFill>
            <a:srgbClr val="DFE9F5"/>
          </a:solidFill>
          <a:ln w="12700">
            <a:solidFill>
              <a:srgbClr val="DFE9F5"/>
            </a:solidFill>
            <a:prstDash val="solid"/>
          </a:ln>
        </p:spPr>
      </p:sp>
      <p:sp>
        <p:nvSpPr>
          <p:cNvPr id="10" name="Text 7"/>
          <p:cNvSpPr/>
          <p:nvPr/>
        </p:nvSpPr>
        <p:spPr>
          <a:xfrm>
            <a:off x="777240" y="1828800"/>
            <a:ext cx="5029200" cy="411480"/>
          </a:xfrm>
          <a:prstGeom prst="rect">
            <a:avLst/>
          </a:prstGeom>
          <a:noFill/>
          <a:ln/>
        </p:spPr>
        <p:txBody>
          <a:bodyPr wrap="square" lIns="0" tIns="0" rIns="0" bIns="0" rtlCol="0" anchor="t"/>
          <a:lstStyle/>
          <a:p>
            <a:pPr algn="l" indent="0" marL="0">
              <a:lnSpc>
                <a:spcPct val="100000"/>
              </a:lnSpc>
              <a:buNone/>
            </a:pPr>
            <a:r>
              <a:rPr lang="en-US" sz="2000" b="1" dirty="0">
                <a:solidFill>
                  <a:srgbClr val="2F6FB3"/>
                </a:solidFill>
                <a:latin typeface="Calibri" pitchFamily="34" charset="0"/>
                <a:ea typeface="Calibri" pitchFamily="34" charset="-122"/>
                <a:cs typeface="Calibri" pitchFamily="34" charset="-120"/>
              </a:rPr>
              <a:t>Reference-based</a:t>
            </a:r>
            <a:endParaRPr lang="en-US" sz="2000" dirty="0"/>
          </a:p>
        </p:txBody>
      </p:sp>
      <p:sp>
        <p:nvSpPr>
          <p:cNvPr id="11" name="Shape 8"/>
          <p:cNvSpPr/>
          <p:nvPr/>
        </p:nvSpPr>
        <p:spPr>
          <a:xfrm>
            <a:off x="822960" y="2423160"/>
            <a:ext cx="2194560" cy="685800"/>
          </a:xfrm>
          <a:prstGeom prst="roundRect">
            <a:avLst>
              <a:gd name="adj" fmla="val 10667"/>
            </a:avLst>
          </a:prstGeom>
          <a:solidFill>
            <a:srgbClr val="FFFFFF"/>
          </a:solidFill>
          <a:ln w="19050">
            <a:solidFill>
              <a:srgbClr val="2F6FB3"/>
            </a:solidFill>
            <a:prstDash val="solid"/>
          </a:ln>
        </p:spPr>
      </p:sp>
      <p:sp>
        <p:nvSpPr>
          <p:cNvPr id="12" name="Text 9"/>
          <p:cNvSpPr/>
          <p:nvPr/>
        </p:nvSpPr>
        <p:spPr>
          <a:xfrm>
            <a:off x="822960" y="2423160"/>
            <a:ext cx="2194560" cy="685800"/>
          </a:xfrm>
          <a:prstGeom prst="rect">
            <a:avLst/>
          </a:prstGeom>
          <a:noFill/>
          <a:ln/>
        </p:spPr>
        <p:txBody>
          <a:bodyPr wrap="square" lIns="0" tIns="0" rIns="0" bIns="0" rtlCol="0" anchor="ctr"/>
          <a:lstStyle/>
          <a:p>
            <a:pPr algn="ctr" indent="0" marL="0">
              <a:lnSpc>
                <a:spcPct val="100000"/>
              </a:lnSpc>
              <a:buNone/>
            </a:pPr>
            <a:r>
              <a:rPr lang="en-US" sz="1500" b="1" dirty="0">
                <a:solidFill>
                  <a:srgbClr val="1B2433"/>
                </a:solidFill>
                <a:latin typeface="Calibri" pitchFamily="34" charset="0"/>
                <a:ea typeface="Calibri" pitchFamily="34" charset="-122"/>
                <a:cs typeface="Calibri" pitchFamily="34" charset="-120"/>
              </a:rPr>
              <a:t>English source</a:t>
            </a:r>
            <a:endParaRPr lang="en-US" sz="1500" dirty="0"/>
          </a:p>
        </p:txBody>
      </p:sp>
      <p:sp>
        <p:nvSpPr>
          <p:cNvPr id="13" name="Shape 10"/>
          <p:cNvSpPr/>
          <p:nvPr/>
        </p:nvSpPr>
        <p:spPr>
          <a:xfrm>
            <a:off x="822960" y="3246120"/>
            <a:ext cx="2194560" cy="685800"/>
          </a:xfrm>
          <a:prstGeom prst="roundRect">
            <a:avLst>
              <a:gd name="adj" fmla="val 10667"/>
            </a:avLst>
          </a:prstGeom>
          <a:solidFill>
            <a:srgbClr val="FFFFFF"/>
          </a:solidFill>
          <a:ln w="19050">
            <a:solidFill>
              <a:srgbClr val="2F6FB3"/>
            </a:solidFill>
            <a:prstDash val="solid"/>
          </a:ln>
        </p:spPr>
      </p:sp>
      <p:sp>
        <p:nvSpPr>
          <p:cNvPr id="14" name="Text 11"/>
          <p:cNvSpPr/>
          <p:nvPr/>
        </p:nvSpPr>
        <p:spPr>
          <a:xfrm>
            <a:off x="822960" y="3246120"/>
            <a:ext cx="2194560" cy="685800"/>
          </a:xfrm>
          <a:prstGeom prst="rect">
            <a:avLst/>
          </a:prstGeom>
          <a:noFill/>
          <a:ln/>
        </p:spPr>
        <p:txBody>
          <a:bodyPr wrap="square" lIns="0" tIns="0" rIns="0" bIns="0" rtlCol="0" anchor="ctr"/>
          <a:lstStyle/>
          <a:p>
            <a:pPr algn="ctr" indent="0" marL="0">
              <a:lnSpc>
                <a:spcPct val="100000"/>
              </a:lnSpc>
              <a:buNone/>
            </a:pPr>
            <a:r>
              <a:rPr lang="en-US" sz="1500" b="1" dirty="0">
                <a:solidFill>
                  <a:srgbClr val="1B2433"/>
                </a:solidFill>
                <a:latin typeface="Calibri" pitchFamily="34" charset="0"/>
                <a:ea typeface="Calibri" pitchFamily="34" charset="-122"/>
                <a:cs typeface="Calibri" pitchFamily="34" charset="-120"/>
              </a:rPr>
              <a:t>System output</a:t>
            </a:r>
            <a:endParaRPr lang="en-US" sz="1500" dirty="0"/>
          </a:p>
        </p:txBody>
      </p:sp>
      <p:sp>
        <p:nvSpPr>
          <p:cNvPr id="15" name="Shape 12"/>
          <p:cNvSpPr/>
          <p:nvPr/>
        </p:nvSpPr>
        <p:spPr>
          <a:xfrm>
            <a:off x="822960" y="4069080"/>
            <a:ext cx="2194560" cy="685800"/>
          </a:xfrm>
          <a:prstGeom prst="roundRect">
            <a:avLst>
              <a:gd name="adj" fmla="val 10667"/>
            </a:avLst>
          </a:prstGeom>
          <a:solidFill>
            <a:srgbClr val="FFFFFF"/>
          </a:solidFill>
          <a:ln w="19050">
            <a:solidFill>
              <a:srgbClr val="2F6FB3"/>
            </a:solidFill>
            <a:prstDash val="solid"/>
          </a:ln>
        </p:spPr>
      </p:sp>
      <p:sp>
        <p:nvSpPr>
          <p:cNvPr id="16" name="Text 13"/>
          <p:cNvSpPr/>
          <p:nvPr/>
        </p:nvSpPr>
        <p:spPr>
          <a:xfrm>
            <a:off x="822960" y="4069080"/>
            <a:ext cx="2194560" cy="685800"/>
          </a:xfrm>
          <a:prstGeom prst="rect">
            <a:avLst/>
          </a:prstGeom>
          <a:noFill/>
          <a:ln/>
        </p:spPr>
        <p:txBody>
          <a:bodyPr wrap="square" lIns="0" tIns="0" rIns="0" bIns="0" rtlCol="0" anchor="ctr"/>
          <a:lstStyle/>
          <a:p>
            <a:pPr algn="ctr" indent="0" marL="0">
              <a:lnSpc>
                <a:spcPct val="100000"/>
              </a:lnSpc>
              <a:buNone/>
            </a:pPr>
            <a:r>
              <a:rPr lang="en-US" sz="1500" b="1" dirty="0">
                <a:solidFill>
                  <a:srgbClr val="1B2433"/>
                </a:solidFill>
                <a:latin typeface="Calibri" pitchFamily="34" charset="0"/>
                <a:ea typeface="Calibri" pitchFamily="34" charset="-122"/>
                <a:cs typeface="Calibri" pitchFamily="34" charset="-120"/>
              </a:rPr>
              <a:t>Human reference</a:t>
            </a:r>
            <a:endParaRPr lang="en-US" sz="1500" dirty="0"/>
          </a:p>
        </p:txBody>
      </p:sp>
      <p:sp>
        <p:nvSpPr>
          <p:cNvPr id="17" name="Shape 14"/>
          <p:cNvSpPr/>
          <p:nvPr/>
        </p:nvSpPr>
        <p:spPr>
          <a:xfrm>
            <a:off x="3063240" y="2761488"/>
            <a:ext cx="640080" cy="822960"/>
          </a:xfrm>
          <a:prstGeom prst="line">
            <a:avLst/>
          </a:prstGeom>
          <a:noFill/>
          <a:ln w="22225">
            <a:solidFill>
              <a:srgbClr val="2F6FB3"/>
            </a:solidFill>
            <a:prstDash val="solid"/>
            <a:tailEnd type="triangle"/>
          </a:ln>
        </p:spPr>
      </p:sp>
      <p:sp>
        <p:nvSpPr>
          <p:cNvPr id="18" name="Shape 15"/>
          <p:cNvSpPr/>
          <p:nvPr/>
        </p:nvSpPr>
        <p:spPr>
          <a:xfrm>
            <a:off x="3063240" y="3584448"/>
            <a:ext cx="640080" cy="0"/>
          </a:xfrm>
          <a:prstGeom prst="line">
            <a:avLst/>
          </a:prstGeom>
          <a:noFill/>
          <a:ln w="22225">
            <a:solidFill>
              <a:srgbClr val="2F6FB3"/>
            </a:solidFill>
            <a:prstDash val="solid"/>
            <a:tailEnd type="triangle"/>
          </a:ln>
        </p:spPr>
      </p:sp>
      <p:sp>
        <p:nvSpPr>
          <p:cNvPr id="19" name="Shape 16"/>
          <p:cNvSpPr/>
          <p:nvPr/>
        </p:nvSpPr>
        <p:spPr>
          <a:xfrm flipV="1">
            <a:off x="3063240" y="3584448"/>
            <a:ext cx="640080" cy="822960"/>
          </a:xfrm>
          <a:prstGeom prst="line">
            <a:avLst/>
          </a:prstGeom>
          <a:noFill/>
          <a:ln w="22225">
            <a:solidFill>
              <a:srgbClr val="2F6FB3"/>
            </a:solidFill>
            <a:prstDash val="solid"/>
            <a:tailEnd type="triangle"/>
          </a:ln>
        </p:spPr>
      </p:sp>
      <p:sp>
        <p:nvSpPr>
          <p:cNvPr id="20" name="Shape 17"/>
          <p:cNvSpPr/>
          <p:nvPr/>
        </p:nvSpPr>
        <p:spPr>
          <a:xfrm>
            <a:off x="3749040" y="3108960"/>
            <a:ext cx="2011680" cy="960120"/>
          </a:xfrm>
          <a:prstGeom prst="roundRect">
            <a:avLst>
              <a:gd name="adj" fmla="val 7619"/>
            </a:avLst>
          </a:prstGeom>
          <a:solidFill>
            <a:srgbClr val="2F6FB3"/>
          </a:solidFill>
          <a:ln w="12700">
            <a:solidFill>
              <a:srgbClr val="2F6FB3"/>
            </a:solidFill>
            <a:prstDash val="solid"/>
          </a:ln>
        </p:spPr>
      </p:sp>
      <p:sp>
        <p:nvSpPr>
          <p:cNvPr id="21" name="Text 18"/>
          <p:cNvSpPr/>
          <p:nvPr/>
        </p:nvSpPr>
        <p:spPr>
          <a:xfrm>
            <a:off x="3749040" y="3108960"/>
            <a:ext cx="2011680" cy="96012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metric → score</a:t>
            </a:r>
            <a:endParaRPr lang="en-US" sz="1500" dirty="0"/>
          </a:p>
        </p:txBody>
      </p:sp>
      <p:sp>
        <p:nvSpPr>
          <p:cNvPr id="22" name="Text 19"/>
          <p:cNvSpPr/>
          <p:nvPr/>
        </p:nvSpPr>
        <p:spPr>
          <a:xfrm>
            <a:off x="777240" y="4892040"/>
            <a:ext cx="5029200" cy="548640"/>
          </a:xfrm>
          <a:prstGeom prst="rect">
            <a:avLst/>
          </a:prstGeom>
          <a:noFill/>
          <a:ln/>
        </p:spPr>
        <p:txBody>
          <a:bodyPr wrap="square" lIns="0" tIns="0" rIns="0" bIns="0" rtlCol="0" anchor="t"/>
          <a:lstStyle/>
          <a:p>
            <a:pPr algn="l" indent="0" marL="0">
              <a:lnSpc>
                <a:spcPct val="100000"/>
              </a:lnSpc>
              <a:buNone/>
            </a:pPr>
            <a:r>
              <a:rPr lang="en-US" sz="1300" dirty="0">
                <a:solidFill>
                  <a:srgbClr val="1B2433"/>
                </a:solidFill>
                <a:latin typeface="Calibri" pitchFamily="34" charset="0"/>
                <a:ea typeface="Calibri" pitchFamily="34" charset="-122"/>
                <a:cs typeface="Calibri" pitchFamily="34" charset="-120"/>
              </a:rPr>
              <a:t>COMET-22 · xCOMET-XL · MetricX-24 · MetricX-23 · chrF2 · chrF++</a:t>
            </a:r>
            <a:endParaRPr lang="en-US" sz="1300" dirty="0"/>
          </a:p>
        </p:txBody>
      </p:sp>
      <p:sp>
        <p:nvSpPr>
          <p:cNvPr id="23" name="Shape 20"/>
          <p:cNvSpPr/>
          <p:nvPr/>
        </p:nvSpPr>
        <p:spPr>
          <a:xfrm>
            <a:off x="6172200" y="1737360"/>
            <a:ext cx="5440680" cy="3840480"/>
          </a:xfrm>
          <a:prstGeom prst="roundRect">
            <a:avLst>
              <a:gd name="adj" fmla="val 1905"/>
            </a:avLst>
          </a:prstGeom>
          <a:solidFill>
            <a:srgbClr val="EFE3F5"/>
          </a:solidFill>
          <a:ln w="12700">
            <a:solidFill>
              <a:srgbClr val="EFE3F5"/>
            </a:solidFill>
            <a:prstDash val="solid"/>
          </a:ln>
        </p:spPr>
      </p:sp>
      <p:sp>
        <p:nvSpPr>
          <p:cNvPr id="24" name="Text 21"/>
          <p:cNvSpPr/>
          <p:nvPr/>
        </p:nvSpPr>
        <p:spPr>
          <a:xfrm>
            <a:off x="6400800" y="1828800"/>
            <a:ext cx="5120640" cy="411480"/>
          </a:xfrm>
          <a:prstGeom prst="rect">
            <a:avLst/>
          </a:prstGeom>
          <a:noFill/>
          <a:ln/>
        </p:spPr>
        <p:txBody>
          <a:bodyPr wrap="square" lIns="0" tIns="0" rIns="0" bIns="0" rtlCol="0" anchor="t"/>
          <a:lstStyle/>
          <a:p>
            <a:pPr algn="l" indent="0" marL="0">
              <a:lnSpc>
                <a:spcPct val="100000"/>
              </a:lnSpc>
              <a:buNone/>
            </a:pPr>
            <a:r>
              <a:rPr lang="en-US" sz="2000" b="1" dirty="0">
                <a:solidFill>
                  <a:srgbClr val="8E44AD"/>
                </a:solidFill>
                <a:latin typeface="Calibri" pitchFamily="34" charset="0"/>
                <a:ea typeface="Calibri" pitchFamily="34" charset="-122"/>
                <a:cs typeface="Calibri" pitchFamily="34" charset="-120"/>
              </a:rPr>
              <a:t>Reference-free (quality estimation, "QE")</a:t>
            </a:r>
            <a:endParaRPr lang="en-US" sz="2000" dirty="0"/>
          </a:p>
        </p:txBody>
      </p:sp>
      <p:sp>
        <p:nvSpPr>
          <p:cNvPr id="25" name="Shape 22"/>
          <p:cNvSpPr/>
          <p:nvPr/>
        </p:nvSpPr>
        <p:spPr>
          <a:xfrm>
            <a:off x="6446520" y="2423160"/>
            <a:ext cx="2194560" cy="685800"/>
          </a:xfrm>
          <a:prstGeom prst="roundRect">
            <a:avLst>
              <a:gd name="adj" fmla="val 10667"/>
            </a:avLst>
          </a:prstGeom>
          <a:solidFill>
            <a:srgbClr val="FFFFFF"/>
          </a:solidFill>
          <a:ln w="19050">
            <a:solidFill>
              <a:srgbClr val="8E44AD"/>
            </a:solidFill>
            <a:prstDash val="solid"/>
          </a:ln>
        </p:spPr>
      </p:sp>
      <p:sp>
        <p:nvSpPr>
          <p:cNvPr id="26" name="Text 23"/>
          <p:cNvSpPr/>
          <p:nvPr/>
        </p:nvSpPr>
        <p:spPr>
          <a:xfrm>
            <a:off x="6446520" y="2423160"/>
            <a:ext cx="2194560" cy="685800"/>
          </a:xfrm>
          <a:prstGeom prst="rect">
            <a:avLst/>
          </a:prstGeom>
          <a:noFill/>
          <a:ln/>
        </p:spPr>
        <p:txBody>
          <a:bodyPr wrap="square" lIns="0" tIns="0" rIns="0" bIns="0" rtlCol="0" anchor="ctr"/>
          <a:lstStyle/>
          <a:p>
            <a:pPr algn="ctr" indent="0" marL="0">
              <a:lnSpc>
                <a:spcPct val="100000"/>
              </a:lnSpc>
              <a:buNone/>
            </a:pPr>
            <a:r>
              <a:rPr lang="en-US" sz="1500" b="1" dirty="0">
                <a:solidFill>
                  <a:srgbClr val="1B2433"/>
                </a:solidFill>
                <a:latin typeface="Calibri" pitchFamily="34" charset="0"/>
                <a:ea typeface="Calibri" pitchFamily="34" charset="-122"/>
                <a:cs typeface="Calibri" pitchFamily="34" charset="-120"/>
              </a:rPr>
              <a:t>English source</a:t>
            </a:r>
            <a:endParaRPr lang="en-US" sz="1500" dirty="0"/>
          </a:p>
        </p:txBody>
      </p:sp>
      <p:sp>
        <p:nvSpPr>
          <p:cNvPr id="27" name="Shape 24"/>
          <p:cNvSpPr/>
          <p:nvPr/>
        </p:nvSpPr>
        <p:spPr>
          <a:xfrm>
            <a:off x="6446520" y="3246120"/>
            <a:ext cx="2194560" cy="685800"/>
          </a:xfrm>
          <a:prstGeom prst="roundRect">
            <a:avLst>
              <a:gd name="adj" fmla="val 10667"/>
            </a:avLst>
          </a:prstGeom>
          <a:solidFill>
            <a:srgbClr val="FFFFFF"/>
          </a:solidFill>
          <a:ln w="19050">
            <a:solidFill>
              <a:srgbClr val="8E44AD"/>
            </a:solidFill>
            <a:prstDash val="solid"/>
          </a:ln>
        </p:spPr>
      </p:sp>
      <p:sp>
        <p:nvSpPr>
          <p:cNvPr id="28" name="Text 25"/>
          <p:cNvSpPr/>
          <p:nvPr/>
        </p:nvSpPr>
        <p:spPr>
          <a:xfrm>
            <a:off x="6446520" y="3246120"/>
            <a:ext cx="2194560" cy="685800"/>
          </a:xfrm>
          <a:prstGeom prst="rect">
            <a:avLst/>
          </a:prstGeom>
          <a:noFill/>
          <a:ln/>
        </p:spPr>
        <p:txBody>
          <a:bodyPr wrap="square" lIns="0" tIns="0" rIns="0" bIns="0" rtlCol="0" anchor="ctr"/>
          <a:lstStyle/>
          <a:p>
            <a:pPr algn="ctr" indent="0" marL="0">
              <a:lnSpc>
                <a:spcPct val="100000"/>
              </a:lnSpc>
              <a:buNone/>
            </a:pPr>
            <a:r>
              <a:rPr lang="en-US" sz="1500" b="1" dirty="0">
                <a:solidFill>
                  <a:srgbClr val="1B2433"/>
                </a:solidFill>
                <a:latin typeface="Calibri" pitchFamily="34" charset="0"/>
                <a:ea typeface="Calibri" pitchFamily="34" charset="-122"/>
                <a:cs typeface="Calibri" pitchFamily="34" charset="-120"/>
              </a:rPr>
              <a:t>System output</a:t>
            </a:r>
            <a:endParaRPr lang="en-US" sz="1500" dirty="0"/>
          </a:p>
        </p:txBody>
      </p:sp>
      <p:sp>
        <p:nvSpPr>
          <p:cNvPr id="29" name="Shape 26"/>
          <p:cNvSpPr/>
          <p:nvPr/>
        </p:nvSpPr>
        <p:spPr>
          <a:xfrm>
            <a:off x="6446520" y="4069080"/>
            <a:ext cx="2194560" cy="685800"/>
          </a:xfrm>
          <a:prstGeom prst="roundRect">
            <a:avLst>
              <a:gd name="adj" fmla="val 10667"/>
            </a:avLst>
          </a:prstGeom>
          <a:solidFill>
            <a:srgbClr val="FFFFFF"/>
          </a:solidFill>
          <a:ln w="15875">
            <a:solidFill>
              <a:srgbClr val="98A1B2"/>
            </a:solidFill>
            <a:prstDash val="dash"/>
          </a:ln>
        </p:spPr>
      </p:sp>
      <p:sp>
        <p:nvSpPr>
          <p:cNvPr id="30" name="Text 27"/>
          <p:cNvSpPr/>
          <p:nvPr/>
        </p:nvSpPr>
        <p:spPr>
          <a:xfrm>
            <a:off x="6446520" y="4069080"/>
            <a:ext cx="2194560" cy="685800"/>
          </a:xfrm>
          <a:prstGeom prst="rect">
            <a:avLst/>
          </a:prstGeom>
          <a:noFill/>
          <a:ln/>
        </p:spPr>
        <p:txBody>
          <a:bodyPr wrap="square" lIns="0" tIns="0" rIns="0" bIns="0" rtlCol="0" anchor="ctr"/>
          <a:lstStyle/>
          <a:p>
            <a:pPr algn="ctr" indent="0" marL="0">
              <a:lnSpc>
                <a:spcPct val="100000"/>
              </a:lnSpc>
              <a:buNone/>
            </a:pPr>
            <a:r>
              <a:rPr lang="en-US" sz="1400" i="1" dirty="0">
                <a:solidFill>
                  <a:srgbClr val="98A1B2"/>
                </a:solidFill>
                <a:latin typeface="Calibri" pitchFamily="34" charset="0"/>
                <a:ea typeface="Calibri" pitchFamily="34" charset="-122"/>
                <a:cs typeface="Calibri" pitchFamily="34" charset="-120"/>
              </a:rPr>
              <a:t>no reference</a:t>
            </a:r>
            <a:endParaRPr lang="en-US" sz="1400" dirty="0"/>
          </a:p>
        </p:txBody>
      </p:sp>
      <p:sp>
        <p:nvSpPr>
          <p:cNvPr id="31" name="Shape 28"/>
          <p:cNvSpPr/>
          <p:nvPr/>
        </p:nvSpPr>
        <p:spPr>
          <a:xfrm>
            <a:off x="8686800" y="2761488"/>
            <a:ext cx="640080" cy="822960"/>
          </a:xfrm>
          <a:prstGeom prst="line">
            <a:avLst/>
          </a:prstGeom>
          <a:noFill/>
          <a:ln w="22225">
            <a:solidFill>
              <a:srgbClr val="8E44AD"/>
            </a:solidFill>
            <a:prstDash val="solid"/>
            <a:tailEnd type="triangle"/>
          </a:ln>
        </p:spPr>
      </p:sp>
      <p:sp>
        <p:nvSpPr>
          <p:cNvPr id="32" name="Shape 29"/>
          <p:cNvSpPr/>
          <p:nvPr/>
        </p:nvSpPr>
        <p:spPr>
          <a:xfrm>
            <a:off x="8686800" y="3584448"/>
            <a:ext cx="640080" cy="0"/>
          </a:xfrm>
          <a:prstGeom prst="line">
            <a:avLst/>
          </a:prstGeom>
          <a:noFill/>
          <a:ln w="22225">
            <a:solidFill>
              <a:srgbClr val="8E44AD"/>
            </a:solidFill>
            <a:prstDash val="solid"/>
            <a:tailEnd type="triangle"/>
          </a:ln>
        </p:spPr>
      </p:sp>
      <p:sp>
        <p:nvSpPr>
          <p:cNvPr id="33" name="Shape 30"/>
          <p:cNvSpPr/>
          <p:nvPr/>
        </p:nvSpPr>
        <p:spPr>
          <a:xfrm>
            <a:off x="9372600" y="3108960"/>
            <a:ext cx="2011680" cy="960120"/>
          </a:xfrm>
          <a:prstGeom prst="roundRect">
            <a:avLst>
              <a:gd name="adj" fmla="val 7619"/>
            </a:avLst>
          </a:prstGeom>
          <a:solidFill>
            <a:srgbClr val="8E44AD"/>
          </a:solidFill>
          <a:ln w="12700">
            <a:solidFill>
              <a:srgbClr val="8E44AD"/>
            </a:solidFill>
            <a:prstDash val="solid"/>
          </a:ln>
        </p:spPr>
      </p:sp>
      <p:sp>
        <p:nvSpPr>
          <p:cNvPr id="34" name="Text 31"/>
          <p:cNvSpPr/>
          <p:nvPr/>
        </p:nvSpPr>
        <p:spPr>
          <a:xfrm>
            <a:off x="9372600" y="3108960"/>
            <a:ext cx="2011680" cy="96012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metric → score</a:t>
            </a:r>
            <a:endParaRPr lang="en-US" sz="1500" dirty="0"/>
          </a:p>
        </p:txBody>
      </p:sp>
      <p:sp>
        <p:nvSpPr>
          <p:cNvPr id="35" name="Text 32"/>
          <p:cNvSpPr/>
          <p:nvPr/>
        </p:nvSpPr>
        <p:spPr>
          <a:xfrm>
            <a:off x="6400800" y="4892040"/>
            <a:ext cx="5120640" cy="548640"/>
          </a:xfrm>
          <a:prstGeom prst="rect">
            <a:avLst/>
          </a:prstGeom>
          <a:noFill/>
          <a:ln/>
        </p:spPr>
        <p:txBody>
          <a:bodyPr wrap="square" lIns="0" tIns="0" rIns="0" bIns="0" rtlCol="0" anchor="t"/>
          <a:lstStyle/>
          <a:p>
            <a:pPr algn="l" indent="0" marL="0">
              <a:lnSpc>
                <a:spcPct val="100000"/>
              </a:lnSpc>
              <a:buNone/>
            </a:pPr>
            <a:r>
              <a:rPr lang="en-US" sz="1300" dirty="0">
                <a:solidFill>
                  <a:srgbClr val="1B2433"/>
                </a:solidFill>
                <a:latin typeface="Calibri" pitchFamily="34" charset="0"/>
                <a:ea typeface="Calibri" pitchFamily="34" charset="-122"/>
                <a:cs typeface="Calibri" pitchFamily="34" charset="-120"/>
              </a:rPr>
              <a:t>CometKiwi-22 · MetricX-24-QE</a:t>
            </a:r>
            <a:endParaRPr lang="en-US" sz="1300" dirty="0"/>
          </a:p>
        </p:txBody>
      </p:sp>
      <p:sp>
        <p:nvSpPr>
          <p:cNvPr id="36" name="Shape 33"/>
          <p:cNvSpPr/>
          <p:nvPr/>
        </p:nvSpPr>
        <p:spPr>
          <a:xfrm>
            <a:off x="548640" y="5760720"/>
            <a:ext cx="11064240" cy="566928"/>
          </a:xfrm>
          <a:prstGeom prst="roundRect">
            <a:avLst>
              <a:gd name="adj" fmla="val 12903"/>
            </a:avLst>
          </a:prstGeom>
          <a:solidFill>
            <a:srgbClr val="FBEBD2"/>
          </a:solidFill>
          <a:ln w="12700">
            <a:solidFill>
              <a:srgbClr val="E39B2D"/>
            </a:solidFill>
            <a:prstDash val="solid"/>
          </a:ln>
        </p:spPr>
      </p:sp>
      <p:sp>
        <p:nvSpPr>
          <p:cNvPr id="37" name="Text 34"/>
          <p:cNvSpPr/>
          <p:nvPr/>
        </p:nvSpPr>
        <p:spPr>
          <a:xfrm>
            <a:off x="777240" y="5760720"/>
            <a:ext cx="10607040" cy="566928"/>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In real use there is </a:t>
            </a:r>
            <a:r>
              <a:rPr lang="en-US" sz="1500" b="1" dirty="0">
                <a:solidFill>
                  <a:srgbClr val="1B2433"/>
                </a:solidFill>
                <a:latin typeface="Calibri" pitchFamily="34" charset="0"/>
                <a:ea typeface="Calibri" pitchFamily="34" charset="-122"/>
                <a:cs typeface="Calibri" pitchFamily="34" charset="-120"/>
              </a:rPr>
              <a:t>usually no human reference</a:t>
            </a:r>
            <a:r>
              <a:rPr lang="en-US" sz="1500" dirty="0">
                <a:solidFill>
                  <a:srgbClr val="1B2433"/>
                </a:solidFill>
                <a:latin typeface="Calibri" pitchFamily="34" charset="0"/>
                <a:ea typeface="Calibri" pitchFamily="34" charset="-122"/>
                <a:cs typeface="Calibri" pitchFamily="34" charset="-120"/>
              </a:rPr>
              <a:t>, e.g. monitoring a live system. That is where reference-free metrics are used.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PROBLEM</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Our research questions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14</a:t>
            </a:r>
            <a:endParaRPr lang="en-US" sz="900" dirty="0"/>
          </a:p>
        </p:txBody>
      </p:sp>
      <p:sp>
        <p:nvSpPr>
          <p:cNvPr id="9" name="Shape 6"/>
          <p:cNvSpPr/>
          <p:nvPr/>
        </p:nvSpPr>
        <p:spPr>
          <a:xfrm>
            <a:off x="548640" y="1737360"/>
            <a:ext cx="11064240" cy="1417320"/>
          </a:xfrm>
          <a:prstGeom prst="roundRect">
            <a:avLst>
              <a:gd name="adj" fmla="val 6452"/>
            </a:avLst>
          </a:prstGeom>
          <a:solidFill>
            <a:srgbClr val="14213D"/>
          </a:solidFill>
          <a:ln w="31750">
            <a:solidFill>
              <a:srgbClr val="E39B2D"/>
            </a:solidFill>
            <a:prstDash val="dash"/>
          </a:ln>
        </p:spPr>
      </p:sp>
      <p:sp>
        <p:nvSpPr>
          <p:cNvPr id="10" name="Text 7"/>
          <p:cNvSpPr/>
          <p:nvPr/>
        </p:nvSpPr>
        <p:spPr>
          <a:xfrm>
            <a:off x="914400" y="1737360"/>
            <a:ext cx="10332720" cy="1417320"/>
          </a:xfrm>
          <a:prstGeom prst="rect">
            <a:avLst/>
          </a:prstGeom>
          <a:noFill/>
          <a:ln/>
        </p:spPr>
        <p:txBody>
          <a:bodyPr wrap="square" lIns="0" tIns="0" rIns="0" bIns="0" rtlCol="0" anchor="ctr"/>
          <a:lstStyle/>
          <a:p>
            <a:pPr algn="l" indent="0" marL="0">
              <a:lnSpc>
                <a:spcPct val="100000"/>
              </a:lnSpc>
              <a:buNone/>
            </a:pPr>
            <a:r>
              <a:rPr lang="en-US" sz="2400" dirty="0">
                <a:solidFill>
                  <a:srgbClr val="FFFFFF"/>
                </a:solidFill>
                <a:latin typeface="Georgia" pitchFamily="34" charset="0"/>
                <a:ea typeface="Georgia" pitchFamily="34" charset="-122"/>
                <a:cs typeface="Georgia" pitchFamily="34" charset="-120"/>
              </a:rPr>
              <a:t>When the Tamil verb must choose, and the system chooses </a:t>
            </a:r>
            <a:r>
              <a:rPr lang="en-US" sz="2400" b="1" dirty="0">
                <a:solidFill>
                  <a:srgbClr val="FFFFFF"/>
                </a:solidFill>
                <a:latin typeface="Georgia" pitchFamily="34" charset="0"/>
                <a:ea typeface="Georgia" pitchFamily="34" charset="-122"/>
                <a:cs typeface="Georgia" pitchFamily="34" charset="-120"/>
              </a:rPr>
              <a:t>wrong</a:t>
            </a:r>
            <a:r>
              <a:rPr lang="en-US" sz="2400" dirty="0">
                <a:solidFill>
                  <a:srgbClr val="FFFFFF"/>
                </a:solidFill>
                <a:latin typeface="Georgia" pitchFamily="34" charset="0"/>
                <a:ea typeface="Georgia" pitchFamily="34" charset="-122"/>
                <a:cs typeface="Georgia" pitchFamily="34" charset="-120"/>
              </a:rPr>
              <a:t>, or </a:t>
            </a:r>
            <a:r>
              <a:rPr lang="en-US" sz="2400" b="1" dirty="0">
                <a:solidFill>
                  <a:srgbClr val="FFFFFF"/>
                </a:solidFill>
                <a:latin typeface="Georgia" pitchFamily="34" charset="0"/>
                <a:ea typeface="Georgia" pitchFamily="34" charset="-122"/>
                <a:cs typeface="Georgia" pitchFamily="34" charset="-120"/>
              </a:rPr>
              <a:t>does not choose at all</a:t>
            </a:r>
            <a:r>
              <a:rPr lang="en-US" sz="2400" dirty="0">
                <a:solidFill>
                  <a:srgbClr val="FFFFFF"/>
                </a:solidFill>
                <a:latin typeface="Georgia" pitchFamily="34" charset="0"/>
                <a:ea typeface="Georgia" pitchFamily="34" charset="-122"/>
                <a:cs typeface="Georgia" pitchFamily="34" charset="-120"/>
              </a:rPr>
              <a:t>, does automatic evaluation notice?</a:t>
            </a:r>
            <a:endParaRPr lang="en-US" sz="2400" dirty="0"/>
          </a:p>
        </p:txBody>
      </p:sp>
      <p:sp>
        <p:nvSpPr>
          <p:cNvPr id="11" name="Shape 8"/>
          <p:cNvSpPr/>
          <p:nvPr/>
        </p:nvSpPr>
        <p:spPr>
          <a:xfrm>
            <a:off x="548640" y="3474720"/>
            <a:ext cx="3566160" cy="1691640"/>
          </a:xfrm>
          <a:prstGeom prst="roundRect">
            <a:avLst>
              <a:gd name="adj" fmla="val 4324"/>
            </a:avLst>
          </a:prstGeom>
          <a:solidFill>
            <a:srgbClr val="FBEBD2"/>
          </a:solidFill>
          <a:ln w="12700">
            <a:solidFill>
              <a:srgbClr val="FBEBD2"/>
            </a:solidFill>
            <a:prstDash val="solid"/>
          </a:ln>
        </p:spPr>
      </p:sp>
      <p:sp>
        <p:nvSpPr>
          <p:cNvPr id="12" name="Text 9"/>
          <p:cNvSpPr/>
          <p:nvPr/>
        </p:nvSpPr>
        <p:spPr>
          <a:xfrm>
            <a:off x="749808" y="3621024"/>
            <a:ext cx="3163824" cy="411480"/>
          </a:xfrm>
          <a:prstGeom prst="rect">
            <a:avLst/>
          </a:prstGeom>
          <a:noFill/>
          <a:ln/>
        </p:spPr>
        <p:txBody>
          <a:bodyPr wrap="square" lIns="0" tIns="0" rIns="0" bIns="0" rtlCol="0" anchor="t"/>
          <a:lstStyle/>
          <a:p>
            <a:pPr indent="0" marL="0">
              <a:buNone/>
            </a:pPr>
            <a:r>
              <a:rPr lang="en-US" sz="1800" b="1" dirty="0">
                <a:solidFill>
                  <a:srgbClr val="1B2433"/>
                </a:solidFill>
                <a:latin typeface="Calibri" pitchFamily="34" charset="0"/>
                <a:ea typeface="Calibri" pitchFamily="34" charset="-122"/>
                <a:cs typeface="Calibri" pitchFamily="34" charset="-120"/>
              </a:rPr>
              <a:t>Q1 · Metrics (main question)</a:t>
            </a:r>
            <a:endParaRPr lang="en-US" sz="1800" dirty="0"/>
          </a:p>
        </p:txBody>
      </p:sp>
      <p:sp>
        <p:nvSpPr>
          <p:cNvPr id="13" name="Text 10"/>
          <p:cNvSpPr/>
          <p:nvPr/>
        </p:nvSpPr>
        <p:spPr>
          <a:xfrm>
            <a:off x="749808" y="4032504"/>
            <a:ext cx="3163824" cy="98755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How much does each metric lower its score for a wrong or missing value? Sections 5–6.</a:t>
            </a:r>
            <a:endParaRPr lang="en-US" sz="1500" dirty="0"/>
          </a:p>
        </p:txBody>
      </p:sp>
      <p:sp>
        <p:nvSpPr>
          <p:cNvPr id="14" name="Shape 11"/>
          <p:cNvSpPr/>
          <p:nvPr/>
        </p:nvSpPr>
        <p:spPr>
          <a:xfrm>
            <a:off x="4297680" y="3474720"/>
            <a:ext cx="3566160" cy="1691640"/>
          </a:xfrm>
          <a:prstGeom prst="roundRect">
            <a:avLst>
              <a:gd name="adj" fmla="val 4324"/>
            </a:avLst>
          </a:prstGeom>
          <a:solidFill>
            <a:srgbClr val="F2F4F8"/>
          </a:solidFill>
          <a:ln w="12700">
            <a:solidFill>
              <a:srgbClr val="F2F4F8"/>
            </a:solidFill>
            <a:prstDash val="solid"/>
          </a:ln>
        </p:spPr>
      </p:sp>
      <p:sp>
        <p:nvSpPr>
          <p:cNvPr id="15" name="Text 12"/>
          <p:cNvSpPr/>
          <p:nvPr/>
        </p:nvSpPr>
        <p:spPr>
          <a:xfrm>
            <a:off x="4498848" y="3621024"/>
            <a:ext cx="3163824" cy="411480"/>
          </a:xfrm>
          <a:prstGeom prst="rect">
            <a:avLst/>
          </a:prstGeom>
          <a:noFill/>
          <a:ln/>
        </p:spPr>
        <p:txBody>
          <a:bodyPr wrap="square" lIns="0" tIns="0" rIns="0" bIns="0" rtlCol="0" anchor="t"/>
          <a:lstStyle/>
          <a:p>
            <a:pPr indent="0" marL="0">
              <a:buNone/>
            </a:pPr>
            <a:r>
              <a:rPr lang="en-US" sz="1800" b="1" dirty="0">
                <a:solidFill>
                  <a:srgbClr val="1B2433"/>
                </a:solidFill>
                <a:latin typeface="Calibri" pitchFamily="34" charset="0"/>
                <a:ea typeface="Calibri" pitchFamily="34" charset="-122"/>
                <a:cs typeface="Calibri" pitchFamily="34" charset="-120"/>
              </a:rPr>
              <a:t>Q2 · Translation systems</a:t>
            </a:r>
            <a:endParaRPr lang="en-US" sz="1800" dirty="0"/>
          </a:p>
        </p:txBody>
      </p:sp>
      <p:sp>
        <p:nvSpPr>
          <p:cNvPr id="16" name="Text 13"/>
          <p:cNvSpPr/>
          <p:nvPr/>
        </p:nvSpPr>
        <p:spPr>
          <a:xfrm>
            <a:off x="4498848" y="4032504"/>
            <a:ext cx="3163824" cy="98755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How often do 13 real systems choose, choose correctly, or avoid? Section 7.</a:t>
            </a:r>
            <a:endParaRPr lang="en-US" sz="1500" dirty="0"/>
          </a:p>
        </p:txBody>
      </p:sp>
      <p:sp>
        <p:nvSpPr>
          <p:cNvPr id="17" name="Shape 14"/>
          <p:cNvSpPr/>
          <p:nvPr/>
        </p:nvSpPr>
        <p:spPr>
          <a:xfrm>
            <a:off x="8046720" y="3474720"/>
            <a:ext cx="3566160" cy="1691640"/>
          </a:xfrm>
          <a:prstGeom prst="roundRect">
            <a:avLst>
              <a:gd name="adj" fmla="val 4324"/>
            </a:avLst>
          </a:prstGeom>
          <a:solidFill>
            <a:srgbClr val="F2F4F8"/>
          </a:solidFill>
          <a:ln w="12700">
            <a:solidFill>
              <a:srgbClr val="F2F4F8"/>
            </a:solidFill>
            <a:prstDash val="solid"/>
          </a:ln>
        </p:spPr>
      </p:sp>
      <p:sp>
        <p:nvSpPr>
          <p:cNvPr id="18" name="Text 15"/>
          <p:cNvSpPr/>
          <p:nvPr/>
        </p:nvSpPr>
        <p:spPr>
          <a:xfrm>
            <a:off x="8247888" y="3621024"/>
            <a:ext cx="3163824" cy="411480"/>
          </a:xfrm>
          <a:prstGeom prst="rect">
            <a:avLst/>
          </a:prstGeom>
          <a:noFill/>
          <a:ln/>
        </p:spPr>
        <p:txBody>
          <a:bodyPr wrap="square" lIns="0" tIns="0" rIns="0" bIns="0" rtlCol="0" anchor="t"/>
          <a:lstStyle/>
          <a:p>
            <a:pPr indent="0" marL="0">
              <a:buNone/>
            </a:pPr>
            <a:r>
              <a:rPr lang="en-US" sz="1800" b="1" dirty="0">
                <a:solidFill>
                  <a:srgbClr val="1B2433"/>
                </a:solidFill>
                <a:latin typeface="Calibri" pitchFamily="34" charset="0"/>
                <a:ea typeface="Calibri" pitchFamily="34" charset="-122"/>
                <a:cs typeface="Calibri" pitchFamily="34" charset="-120"/>
              </a:rPr>
              <a:t>Q3 · Inside a model</a:t>
            </a:r>
            <a:endParaRPr lang="en-US" sz="1800" dirty="0"/>
          </a:p>
        </p:txBody>
      </p:sp>
      <p:sp>
        <p:nvSpPr>
          <p:cNvPr id="19" name="Text 16"/>
          <p:cNvSpPr/>
          <p:nvPr/>
        </p:nvSpPr>
        <p:spPr>
          <a:xfrm>
            <a:off x="8247888" y="4032504"/>
            <a:ext cx="3163824" cy="98755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Inside the neural network that translates: at what layer is the choice settled? Section 8.</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286000"/>
            <a:ext cx="1371600" cy="1097280"/>
          </a:xfrm>
          <a:prstGeom prst="roundRect">
            <a:avLst>
              <a:gd name="adj" fmla="val 10000"/>
            </a:avLst>
          </a:prstGeom>
          <a:solidFill>
            <a:srgbClr val="14213D"/>
          </a:solidFill>
          <a:ln w="31750">
            <a:solidFill>
              <a:srgbClr val="E39B2D"/>
            </a:solidFill>
            <a:prstDash val="dash"/>
          </a:ln>
        </p:spPr>
      </p:sp>
      <p:sp>
        <p:nvSpPr>
          <p:cNvPr id="3" name="Text 1"/>
          <p:cNvSpPr/>
          <p:nvPr/>
        </p:nvSpPr>
        <p:spPr>
          <a:xfrm>
            <a:off x="822960" y="2286000"/>
            <a:ext cx="1371600" cy="1097280"/>
          </a:xfrm>
          <a:prstGeom prst="rect">
            <a:avLst/>
          </a:prstGeom>
          <a:noFill/>
          <a:ln/>
        </p:spPr>
        <p:txBody>
          <a:bodyPr wrap="square" lIns="0" tIns="0" rIns="0" bIns="0" rtlCol="0" anchor="ctr"/>
          <a:lstStyle/>
          <a:p>
            <a:pPr algn="ctr" indent="0" marL="0">
              <a:buNone/>
            </a:pPr>
            <a:r>
              <a:rPr lang="en-US" sz="4800" b="1" dirty="0">
                <a:solidFill>
                  <a:srgbClr val="E39B2D"/>
                </a:solidFill>
                <a:latin typeface="Calibri" pitchFamily="34" charset="0"/>
                <a:ea typeface="Calibri" pitchFamily="34" charset="-122"/>
                <a:cs typeface="Calibri" pitchFamily="34" charset="-120"/>
              </a:rPr>
              <a:t>2</a:t>
            </a:r>
            <a:endParaRPr lang="en-US" sz="4800" dirty="0"/>
          </a:p>
        </p:txBody>
      </p:sp>
      <p:sp>
        <p:nvSpPr>
          <p:cNvPr id="4" name="Text 2"/>
          <p:cNvSpPr/>
          <p:nvPr/>
        </p:nvSpPr>
        <p:spPr>
          <a:xfrm>
            <a:off x="2560320" y="1097280"/>
            <a:ext cx="9052560" cy="1965960"/>
          </a:xfrm>
          <a:prstGeom prst="rect">
            <a:avLst/>
          </a:prstGeom>
          <a:noFill/>
          <a:ln/>
        </p:spPr>
        <p:txBody>
          <a:bodyPr wrap="square" lIns="0" tIns="0" rIns="0" bIns="0" rtlCol="0" anchor="b"/>
          <a:lstStyle/>
          <a:p>
            <a:pPr indent="0" marL="0">
              <a:buNone/>
            </a:pPr>
            <a:r>
              <a:rPr lang="en-US" sz="3600" b="1" dirty="0">
                <a:solidFill>
                  <a:srgbClr val="FFFFFF"/>
                </a:solidFill>
                <a:latin typeface="Georgia" pitchFamily="34" charset="0"/>
                <a:ea typeface="Georgia" pitchFamily="34" charset="-122"/>
                <a:cs typeface="Georgia" pitchFamily="34" charset="-120"/>
              </a:rPr>
              <a:t>What earlier work did, and what was missing</a:t>
            </a:r>
            <a:endParaRPr lang="en-US" sz="3600" dirty="0"/>
          </a:p>
        </p:txBody>
      </p:sp>
      <p:sp>
        <p:nvSpPr>
          <p:cNvPr id="5" name="Text 3"/>
          <p:cNvSpPr/>
          <p:nvPr/>
        </p:nvSpPr>
        <p:spPr>
          <a:xfrm>
            <a:off x="2560320" y="3246120"/>
            <a:ext cx="9052560" cy="1280160"/>
          </a:xfrm>
          <a:prstGeom prst="rect">
            <a:avLst/>
          </a:prstGeom>
          <a:noFill/>
          <a:ln/>
        </p:spPr>
        <p:txBody>
          <a:bodyPr wrap="square" lIns="0" tIns="0" rIns="0" bIns="0" rtlCol="0" anchor="t"/>
          <a:lstStyle/>
          <a:p>
            <a:pPr indent="0" marL="0">
              <a:buNone/>
            </a:pPr>
            <a:r>
              <a:rPr lang="en-US" sz="1800" dirty="0">
                <a:solidFill>
                  <a:srgbClr val="C9D2E3"/>
                </a:solidFill>
                <a:latin typeface="Calibri" pitchFamily="34" charset="0"/>
                <a:ea typeface="Calibri" pitchFamily="34" charset="-122"/>
                <a:cs typeface="Calibri" pitchFamily="34" charset="-120"/>
              </a:rPr>
              <a:t>Many test sets exist. None of them asks our question.</a:t>
            </a:r>
            <a:endParaRPr lang="en-US" sz="1800" dirty="0"/>
          </a:p>
        </p:txBody>
      </p:sp>
      <p:sp>
        <p:nvSpPr>
          <p:cNvPr id="6" name="Text 4"/>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7D8AA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2</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WHAT WAS MISSING</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Earlier test sets check whether information is carried across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035040" cy="914400"/>
        </p:xfrm>
        <a:graphic>
          <a:graphicData uri="http://schemas.openxmlformats.org/drawingml/2006/table">
            <a:tbl>
              <a:tblPr/>
              <a:tblGrid>
                <a:gridCol w="1737360"/>
                <a:gridCol w="1188720"/>
                <a:gridCol w="3108960"/>
              </a:tblGrid>
              <a:tr h="45720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Test set</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Year</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What it checks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r>
              <a:tr h="457200">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LingEval97</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2017</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agreement, negation and more (English→German)</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Bawden et al.</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2018</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links between sentences, using context</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457200">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ContraPro</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2018</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pronouns that need context</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Morpheval</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2017–18</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word endings: does a feature shown in the source survive?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457200">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DFKI suites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WMT yearly</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many kinds of grammar problems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10" name="Shape 6"/>
          <p:cNvSpPr/>
          <p:nvPr/>
        </p:nvSpPr>
        <p:spPr>
          <a:xfrm>
            <a:off x="6858000" y="1737360"/>
            <a:ext cx="4754880" cy="2834640"/>
          </a:xfrm>
          <a:prstGeom prst="roundRect">
            <a:avLst>
              <a:gd name="adj" fmla="val 2581"/>
            </a:avLst>
          </a:prstGeom>
          <a:solidFill>
            <a:srgbClr val="F2F4F8"/>
          </a:solidFill>
          <a:ln w="12700">
            <a:solidFill>
              <a:srgbClr val="F2F4F8"/>
            </a:solidFill>
            <a:prstDash val="solid"/>
          </a:ln>
        </p:spPr>
      </p:sp>
      <p:sp>
        <p:nvSpPr>
          <p:cNvPr id="11" name="Text 7"/>
          <p:cNvSpPr/>
          <p:nvPr/>
        </p:nvSpPr>
        <p:spPr>
          <a:xfrm>
            <a:off x="7086600" y="1874520"/>
            <a:ext cx="4389120" cy="365760"/>
          </a:xfrm>
          <a:prstGeom prst="rect">
            <a:avLst/>
          </a:prstGeom>
          <a:noFill/>
          <a:ln/>
        </p:spPr>
        <p:txBody>
          <a:bodyPr wrap="square" lIns="0" tIns="0" rIns="0" bIns="0" rtlCol="0" anchor="t"/>
          <a:lstStyle/>
          <a:p>
            <a:pPr algn="l" indent="0" marL="0">
              <a:lnSpc>
                <a:spcPct val="100000"/>
              </a:lnSpc>
              <a:buNone/>
            </a:pPr>
            <a:r>
              <a:rPr lang="en-US" sz="1700" dirty="0">
                <a:solidFill>
                  <a:srgbClr val="1B2433"/>
                </a:solidFill>
                <a:latin typeface="Calibri" pitchFamily="34" charset="0"/>
                <a:ea typeface="Calibri" pitchFamily="34" charset="-122"/>
                <a:cs typeface="Calibri" pitchFamily="34" charset="-120"/>
              </a:rPr>
              <a:t>The shared idea: </a:t>
            </a:r>
            <a:r>
              <a:rPr lang="en-US" sz="1700" b="1" dirty="0">
                <a:solidFill>
                  <a:srgbClr val="1B2433"/>
                </a:solidFill>
                <a:latin typeface="Calibri" pitchFamily="34" charset="0"/>
                <a:ea typeface="Calibri" pitchFamily="34" charset="-122"/>
                <a:cs typeface="Calibri" pitchFamily="34" charset="-120"/>
              </a:rPr>
              <a:t>propagation</a:t>
            </a:r>
            <a:endParaRPr lang="en-US" sz="1700" dirty="0"/>
          </a:p>
        </p:txBody>
      </p:sp>
      <p:sp>
        <p:nvSpPr>
          <p:cNvPr id="12" name="Shape 8"/>
          <p:cNvSpPr/>
          <p:nvPr/>
        </p:nvSpPr>
        <p:spPr>
          <a:xfrm>
            <a:off x="7086600" y="2423160"/>
            <a:ext cx="1828800" cy="822960"/>
          </a:xfrm>
          <a:prstGeom prst="roundRect">
            <a:avLst>
              <a:gd name="adj" fmla="val 8889"/>
            </a:avLst>
          </a:prstGeom>
          <a:solidFill>
            <a:srgbClr val="FFFFFF"/>
          </a:solidFill>
          <a:ln w="15875">
            <a:solidFill>
              <a:srgbClr val="2F6FB3"/>
            </a:solidFill>
            <a:prstDash val="solid"/>
          </a:ln>
        </p:spPr>
      </p:sp>
      <p:sp>
        <p:nvSpPr>
          <p:cNvPr id="13" name="Text 9"/>
          <p:cNvSpPr/>
          <p:nvPr/>
        </p:nvSpPr>
        <p:spPr>
          <a:xfrm>
            <a:off x="7086600" y="2423160"/>
            <a:ext cx="1828800" cy="822960"/>
          </a:xfrm>
          <a:prstGeom prst="rect">
            <a:avLst/>
          </a:prstGeom>
          <a:noFill/>
          <a:ln/>
        </p:spPr>
        <p:txBody>
          <a:bodyPr wrap="square" lIns="0" tIns="0" rIns="0" bIns="0" rtlCol="0" anchor="ctr"/>
          <a:lstStyle/>
          <a:p>
            <a:pPr algn="ctr" indent="0" marL="0">
              <a:lnSpc>
                <a:spcPct val="100000"/>
              </a:lnSpc>
              <a:buNone/>
            </a:pPr>
            <a:r>
              <a:rPr lang="en-US" sz="1400" dirty="0">
                <a:solidFill>
                  <a:srgbClr val="1B2433"/>
                </a:solidFill>
                <a:latin typeface="Calibri" pitchFamily="34" charset="0"/>
                <a:ea typeface="Calibri" pitchFamily="34" charset="-122"/>
                <a:cs typeface="Calibri" pitchFamily="34" charset="-120"/>
              </a:rPr>
              <a:t>English:</a:t>
            </a:r>
            <a:endParaRPr lang="en-US" sz="1400" dirty="0"/>
          </a:p>
          <a:p>
            <a:pPr algn="ctr" indent="0" marL="0">
              <a:lnSpc>
                <a:spcPct val="100000"/>
              </a:lnSpc>
              <a:buNone/>
            </a:pPr>
            <a:r>
              <a:rPr lang="en-US" sz="1400" dirty="0">
                <a:solidFill>
                  <a:srgbClr val="1B2433"/>
                </a:solidFill>
                <a:latin typeface="Calibri" pitchFamily="34" charset="0"/>
                <a:ea typeface="Calibri" pitchFamily="34" charset="-122"/>
                <a:cs typeface="Calibri" pitchFamily="34" charset="-120"/>
              </a:rPr>
              <a:t>"she came"</a:t>
            </a:r>
            <a:endParaRPr lang="en-US" sz="1400" dirty="0"/>
          </a:p>
        </p:txBody>
      </p:sp>
      <p:sp>
        <p:nvSpPr>
          <p:cNvPr id="14" name="Shape 10"/>
          <p:cNvSpPr/>
          <p:nvPr/>
        </p:nvSpPr>
        <p:spPr>
          <a:xfrm>
            <a:off x="8961120" y="2834640"/>
            <a:ext cx="502920" cy="0"/>
          </a:xfrm>
          <a:prstGeom prst="line">
            <a:avLst/>
          </a:prstGeom>
          <a:noFill/>
          <a:ln w="25400">
            <a:solidFill>
              <a:srgbClr val="1B2433"/>
            </a:solidFill>
            <a:prstDash val="solid"/>
            <a:tailEnd type="triangle"/>
          </a:ln>
        </p:spPr>
      </p:sp>
      <p:sp>
        <p:nvSpPr>
          <p:cNvPr id="15" name="Shape 11"/>
          <p:cNvSpPr/>
          <p:nvPr/>
        </p:nvSpPr>
        <p:spPr>
          <a:xfrm>
            <a:off x="9509760" y="2423160"/>
            <a:ext cx="1874520" cy="822960"/>
          </a:xfrm>
          <a:prstGeom prst="roundRect">
            <a:avLst>
              <a:gd name="adj" fmla="val 8889"/>
            </a:avLst>
          </a:prstGeom>
          <a:solidFill>
            <a:srgbClr val="FFFFFF"/>
          </a:solidFill>
          <a:ln w="15875">
            <a:solidFill>
              <a:srgbClr val="2F6FB3"/>
            </a:solidFill>
            <a:prstDash val="solid"/>
          </a:ln>
        </p:spPr>
      </p:sp>
      <p:sp>
        <p:nvSpPr>
          <p:cNvPr id="16" name="Text 12"/>
          <p:cNvSpPr/>
          <p:nvPr/>
        </p:nvSpPr>
        <p:spPr>
          <a:xfrm>
            <a:off x="9509760" y="2423160"/>
            <a:ext cx="1874520" cy="822960"/>
          </a:xfrm>
          <a:prstGeom prst="rect">
            <a:avLst/>
          </a:prstGeom>
          <a:noFill/>
          <a:ln/>
        </p:spPr>
        <p:txBody>
          <a:bodyPr wrap="square" lIns="0" tIns="0" rIns="0" bIns="0" rtlCol="0" anchor="ctr"/>
          <a:lstStyle/>
          <a:p>
            <a:pPr algn="ctr" indent="0" marL="0">
              <a:lnSpc>
                <a:spcPct val="100000"/>
              </a:lnSpc>
              <a:buNone/>
            </a:pPr>
            <a:r>
              <a:rPr lang="en-US" sz="1400" dirty="0">
                <a:solidFill>
                  <a:srgbClr val="1B2433"/>
                </a:solidFill>
                <a:latin typeface="Calibri" pitchFamily="34" charset="0"/>
                <a:ea typeface="Calibri" pitchFamily="34" charset="-122"/>
                <a:cs typeface="Calibri" pitchFamily="34" charset="-120"/>
              </a:rPr>
              <a:t>still feminine</a:t>
            </a:r>
            <a:endParaRPr lang="en-US" sz="1400" dirty="0"/>
          </a:p>
          <a:p>
            <a:pPr algn="ctr" indent="0" marL="0">
              <a:lnSpc>
                <a:spcPct val="100000"/>
              </a:lnSpc>
              <a:buNone/>
            </a:pPr>
            <a:r>
              <a:rPr lang="en-US" sz="1400" dirty="0">
                <a:solidFill>
                  <a:srgbClr val="1B2433"/>
                </a:solidFill>
                <a:latin typeface="Calibri" pitchFamily="34" charset="0"/>
                <a:ea typeface="Calibri" pitchFamily="34" charset="-122"/>
                <a:cs typeface="Calibri" pitchFamily="34" charset="-120"/>
              </a:rPr>
              <a:t>in the target?</a:t>
            </a:r>
            <a:endParaRPr lang="en-US" sz="1400" dirty="0"/>
          </a:p>
        </p:txBody>
      </p:sp>
      <p:sp>
        <p:nvSpPr>
          <p:cNvPr id="17" name="Text 13"/>
          <p:cNvSpPr/>
          <p:nvPr/>
        </p:nvSpPr>
        <p:spPr>
          <a:xfrm>
            <a:off x="7086600" y="3429000"/>
            <a:ext cx="4389120" cy="91440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The feature is </a:t>
            </a:r>
            <a:r>
              <a:rPr lang="en-US" sz="1400" b="1" dirty="0">
                <a:solidFill>
                  <a:srgbClr val="1B2433"/>
                </a:solidFill>
                <a:latin typeface="Calibri" pitchFamily="34" charset="0"/>
                <a:ea typeface="Calibri" pitchFamily="34" charset="-122"/>
                <a:cs typeface="Calibri" pitchFamily="34" charset="-120"/>
              </a:rPr>
              <a:t>marked</a:t>
            </a:r>
            <a:r>
              <a:rPr lang="en-US" sz="1400" dirty="0">
                <a:solidFill>
                  <a:srgbClr val="1B2433"/>
                </a:solidFill>
                <a:latin typeface="Calibri" pitchFamily="34" charset="0"/>
                <a:ea typeface="Calibri" pitchFamily="34" charset="-122"/>
                <a:cs typeface="Calibri" pitchFamily="34" charset="-120"/>
              </a:rPr>
              <a:t> in the source: shown by a word or a word ending. The test asks whether the system </a:t>
            </a:r>
            <a:r>
              <a:rPr lang="en-US" sz="1400" b="1" dirty="0">
                <a:solidFill>
                  <a:srgbClr val="1B2433"/>
                </a:solidFill>
                <a:latin typeface="Calibri" pitchFamily="34" charset="0"/>
                <a:ea typeface="Calibri" pitchFamily="34" charset="-122"/>
                <a:cs typeface="Calibri" pitchFamily="34" charset="-120"/>
              </a:rPr>
              <a:t>keeps</a:t>
            </a:r>
            <a:r>
              <a:rPr lang="en-US" sz="1400" dirty="0">
                <a:solidFill>
                  <a:srgbClr val="1B2433"/>
                </a:solidFill>
                <a:latin typeface="Calibri" pitchFamily="34" charset="0"/>
                <a:ea typeface="Calibri" pitchFamily="34" charset="-122"/>
                <a:cs typeface="Calibri" pitchFamily="34" charset="-120"/>
              </a:rPr>
              <a:t> it.</a:t>
            </a:r>
            <a:endParaRPr lang="en-US" sz="1400" dirty="0"/>
          </a:p>
        </p:txBody>
      </p:sp>
      <p:sp>
        <p:nvSpPr>
          <p:cNvPr id="18" name="Shape 14"/>
          <p:cNvSpPr/>
          <p:nvPr/>
        </p:nvSpPr>
        <p:spPr>
          <a:xfrm>
            <a:off x="548640" y="4846320"/>
            <a:ext cx="11064240" cy="566928"/>
          </a:xfrm>
          <a:prstGeom prst="roundRect">
            <a:avLst>
              <a:gd name="adj" fmla="val 12903"/>
            </a:avLst>
          </a:prstGeom>
          <a:solidFill>
            <a:srgbClr val="FBEBD2"/>
          </a:solidFill>
          <a:ln w="12700">
            <a:solidFill>
              <a:srgbClr val="E39B2D"/>
            </a:solidFill>
            <a:prstDash val="solid"/>
          </a:ln>
        </p:spPr>
      </p:sp>
      <p:sp>
        <p:nvSpPr>
          <p:cNvPr id="19" name="Text 15"/>
          <p:cNvSpPr/>
          <p:nvPr/>
        </p:nvSpPr>
        <p:spPr>
          <a:xfrm>
            <a:off x="777240" y="4846320"/>
            <a:ext cx="10607040" cy="566928"/>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All of these test information that the source </a:t>
            </a:r>
            <a:r>
              <a:rPr lang="en-US" sz="1500" b="1" dirty="0">
                <a:solidFill>
                  <a:srgbClr val="1B2433"/>
                </a:solidFill>
                <a:latin typeface="Calibri" pitchFamily="34" charset="0"/>
                <a:ea typeface="Calibri" pitchFamily="34" charset="-122"/>
                <a:cs typeface="Calibri" pitchFamily="34" charset="-120"/>
              </a:rPr>
              <a:t>does contain</a:t>
            </a:r>
            <a:r>
              <a:rPr lang="en-US" sz="1500" dirty="0">
                <a:solidFill>
                  <a:srgbClr val="1B2433"/>
                </a:solidFill>
                <a:latin typeface="Calibri" pitchFamily="34" charset="0"/>
                <a:ea typeface="Calibri" pitchFamily="34" charset="-122"/>
                <a:cs typeface="Calibri" pitchFamily="34" charset="-120"/>
              </a:rPr>
              <a:t>. Our slots have </a:t>
            </a:r>
            <a:r>
              <a:rPr lang="en-US" sz="1500" b="1" dirty="0">
                <a:solidFill>
                  <a:srgbClr val="1B2433"/>
                </a:solidFill>
                <a:latin typeface="Calibri" pitchFamily="34" charset="0"/>
                <a:ea typeface="Calibri" pitchFamily="34" charset="-122"/>
                <a:cs typeface="Calibri" pitchFamily="34" charset="-120"/>
              </a:rPr>
              <a:t>nothing to carry across</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2</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WHAT WAS MISSING</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Our case is different: there is nothing to copy</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17</a:t>
            </a:r>
            <a:endParaRPr lang="en-US" sz="900" dirty="0"/>
          </a:p>
        </p:txBody>
      </p:sp>
      <p:sp>
        <p:nvSpPr>
          <p:cNvPr id="9" name="Shape 6"/>
          <p:cNvSpPr/>
          <p:nvPr/>
        </p:nvSpPr>
        <p:spPr>
          <a:xfrm>
            <a:off x="548640" y="1737360"/>
            <a:ext cx="5394960" cy="2651760"/>
          </a:xfrm>
          <a:prstGeom prst="roundRect">
            <a:avLst>
              <a:gd name="adj" fmla="val 2759"/>
            </a:avLst>
          </a:prstGeom>
          <a:solidFill>
            <a:srgbClr val="DFE9F5"/>
          </a:solidFill>
          <a:ln w="12700">
            <a:solidFill>
              <a:srgbClr val="DFE9F5"/>
            </a:solidFill>
            <a:prstDash val="solid"/>
          </a:ln>
        </p:spPr>
      </p:sp>
      <p:sp>
        <p:nvSpPr>
          <p:cNvPr id="10" name="Text 7"/>
          <p:cNvSpPr/>
          <p:nvPr/>
        </p:nvSpPr>
        <p:spPr>
          <a:xfrm>
            <a:off x="749808" y="1883664"/>
            <a:ext cx="4992624" cy="411480"/>
          </a:xfrm>
          <a:prstGeom prst="rect">
            <a:avLst/>
          </a:prstGeom>
          <a:noFill/>
          <a:ln/>
        </p:spPr>
        <p:txBody>
          <a:bodyPr wrap="square" lIns="0" tIns="0" rIns="0" bIns="0" rtlCol="0" anchor="t"/>
          <a:lstStyle/>
          <a:p>
            <a:pPr indent="0" marL="0">
              <a:buNone/>
            </a:pPr>
            <a:r>
              <a:rPr lang="en-US" sz="1900" b="1" dirty="0">
                <a:solidFill>
                  <a:srgbClr val="2F6FB3"/>
                </a:solidFill>
                <a:latin typeface="Calibri" pitchFamily="34" charset="0"/>
                <a:ea typeface="Calibri" pitchFamily="34" charset="-122"/>
                <a:cs typeface="Calibri" pitchFamily="34" charset="-120"/>
              </a:rPr>
              <a:t>Morpheval-style test (propagation)</a:t>
            </a:r>
            <a:endParaRPr lang="en-US" sz="1900" dirty="0"/>
          </a:p>
        </p:txBody>
      </p:sp>
      <p:sp>
        <p:nvSpPr>
          <p:cNvPr id="11" name="Text 8"/>
          <p:cNvSpPr/>
          <p:nvPr/>
        </p:nvSpPr>
        <p:spPr>
          <a:xfrm>
            <a:off x="749808" y="2295144"/>
            <a:ext cx="4992624" cy="1947672"/>
          </a:xfrm>
          <a:prstGeom prst="rect">
            <a:avLst/>
          </a:prstGeom>
          <a:noFill/>
          <a:ln/>
        </p:spPr>
        <p:txBody>
          <a:bodyPr wrap="square" lIns="0" tIns="0" rIns="0" bIns="0" rtlCol="0" anchor="t"/>
          <a:lstStyle/>
          <a:p>
            <a:pPr marL="228600" indent="-228600">
              <a:spcAft>
                <a:spcPts val="500"/>
              </a:spcAft>
              <a:buSzPct val="100000"/>
              <a:buChar char="•"/>
            </a:pPr>
            <a:r>
              <a:rPr lang="en-US" sz="1600" dirty="0">
                <a:solidFill>
                  <a:srgbClr val="1B2433"/>
                </a:solidFill>
                <a:latin typeface="Calibri" pitchFamily="34" charset="0"/>
                <a:ea typeface="Calibri" pitchFamily="34" charset="-122"/>
                <a:cs typeface="Calibri" pitchFamily="34" charset="-120"/>
              </a:rPr>
              <a:t>Source </a:t>
            </a:r>
            <a:r>
              <a:rPr lang="en-US" sz="1600" b="1" dirty="0">
                <a:solidFill>
                  <a:srgbClr val="1B2433"/>
                </a:solidFill>
                <a:latin typeface="Calibri" pitchFamily="34" charset="0"/>
                <a:ea typeface="Calibri" pitchFamily="34" charset="-122"/>
                <a:cs typeface="Calibri" pitchFamily="34" charset="-120"/>
              </a:rPr>
              <a:t>marks</a:t>
            </a:r>
            <a:r>
              <a:rPr lang="en-US" sz="1600" dirty="0">
                <a:solidFill>
                  <a:srgbClr val="1B2433"/>
                </a:solidFill>
                <a:latin typeface="Calibri" pitchFamily="34" charset="0"/>
                <a:ea typeface="Calibri" pitchFamily="34" charset="-122"/>
                <a:cs typeface="Calibri" pitchFamily="34" charset="-120"/>
              </a:rPr>
              <a:t> the feature: "</a:t>
            </a:r>
            <a:r>
              <a:rPr lang="en-US" sz="1600" b="1" dirty="0">
                <a:solidFill>
                  <a:srgbClr val="1B2433"/>
                </a:solidFill>
                <a:latin typeface="Calibri" pitchFamily="34" charset="0"/>
                <a:ea typeface="Calibri" pitchFamily="34" charset="-122"/>
                <a:cs typeface="Calibri" pitchFamily="34" charset="-120"/>
              </a:rPr>
              <a:t>she</a:t>
            </a:r>
            <a:r>
              <a:rPr lang="en-US" sz="1600" dirty="0">
                <a:solidFill>
                  <a:srgbClr val="1B2433"/>
                </a:solidFill>
                <a:latin typeface="Calibri" pitchFamily="34" charset="0"/>
                <a:ea typeface="Calibri" pitchFamily="34" charset="-122"/>
                <a:cs typeface="Calibri" pitchFamily="34" charset="-120"/>
              </a:rPr>
              <a:t> came".</a:t>
            </a:r>
            <a:endParaRPr lang="en-US" sz="1600" dirty="0"/>
          </a:p>
          <a:p>
            <a:pPr marL="228600" indent="-228600">
              <a:spcAft>
                <a:spcPts val="500"/>
              </a:spcAft>
              <a:buSzPct val="100000"/>
              <a:buChar char="•"/>
            </a:pPr>
            <a:r>
              <a:rPr lang="en-US" sz="1600" dirty="0">
                <a:solidFill>
                  <a:srgbClr val="1B2433"/>
                </a:solidFill>
                <a:latin typeface="Calibri" pitchFamily="34" charset="0"/>
                <a:ea typeface="Calibri" pitchFamily="34" charset="-122"/>
                <a:cs typeface="Calibri" pitchFamily="34" charset="-120"/>
              </a:rPr>
              <a:t>Question: is it </a:t>
            </a:r>
            <a:r>
              <a:rPr lang="en-US" sz="1600" b="1" dirty="0">
                <a:solidFill>
                  <a:srgbClr val="1B2433"/>
                </a:solidFill>
                <a:latin typeface="Calibri" pitchFamily="34" charset="0"/>
                <a:ea typeface="Calibri" pitchFamily="34" charset="-122"/>
                <a:cs typeface="Calibri" pitchFamily="34" charset="-120"/>
              </a:rPr>
              <a:t>kept</a:t>
            </a:r>
            <a:r>
              <a:rPr lang="en-US" sz="1600" dirty="0">
                <a:solidFill>
                  <a:srgbClr val="1B2433"/>
                </a:solidFill>
                <a:latin typeface="Calibri" pitchFamily="34" charset="0"/>
                <a:ea typeface="Calibri" pitchFamily="34" charset="-122"/>
                <a:cs typeface="Calibri" pitchFamily="34" charset="-120"/>
              </a:rPr>
              <a:t> in the translation?</a:t>
            </a:r>
            <a:endParaRPr lang="en-US" sz="1600" dirty="0"/>
          </a:p>
          <a:p>
            <a:pPr marL="228600" indent="-228600">
              <a:spcAft>
                <a:spcPts val="500"/>
              </a:spcAft>
              <a:buSzPct val="100000"/>
              <a:buChar char="•"/>
            </a:pPr>
            <a:r>
              <a:rPr lang="en-US" sz="1600" dirty="0">
                <a:solidFill>
                  <a:srgbClr val="1B2433"/>
                </a:solidFill>
                <a:latin typeface="Calibri" pitchFamily="34" charset="0"/>
                <a:ea typeface="Calibri" pitchFamily="34" charset="-122"/>
                <a:cs typeface="Calibri" pitchFamily="34" charset="-120"/>
              </a:rPr>
              <a:t>There is always a right answer, taken from the source.</a:t>
            </a:r>
            <a:endParaRPr lang="en-US" sz="1600" dirty="0"/>
          </a:p>
        </p:txBody>
      </p:sp>
      <p:sp>
        <p:nvSpPr>
          <p:cNvPr id="12" name="Shape 9"/>
          <p:cNvSpPr/>
          <p:nvPr/>
        </p:nvSpPr>
        <p:spPr>
          <a:xfrm>
            <a:off x="6217920" y="1737360"/>
            <a:ext cx="5394960" cy="2651760"/>
          </a:xfrm>
          <a:prstGeom prst="roundRect">
            <a:avLst>
              <a:gd name="adj" fmla="val 2759"/>
            </a:avLst>
          </a:prstGeom>
          <a:solidFill>
            <a:srgbClr val="FBEBD2"/>
          </a:solidFill>
          <a:ln w="12700">
            <a:solidFill>
              <a:srgbClr val="FBEBD2"/>
            </a:solidFill>
            <a:prstDash val="solid"/>
          </a:ln>
        </p:spPr>
      </p:sp>
      <p:sp>
        <p:nvSpPr>
          <p:cNvPr id="13" name="Text 10"/>
          <p:cNvSpPr/>
          <p:nvPr/>
        </p:nvSpPr>
        <p:spPr>
          <a:xfrm>
            <a:off x="6419088" y="1883664"/>
            <a:ext cx="4992624" cy="411480"/>
          </a:xfrm>
          <a:prstGeom prst="rect">
            <a:avLst/>
          </a:prstGeom>
          <a:noFill/>
          <a:ln/>
        </p:spPr>
        <p:txBody>
          <a:bodyPr wrap="square" lIns="0" tIns="0" rIns="0" bIns="0" rtlCol="0" anchor="t"/>
          <a:lstStyle/>
          <a:p>
            <a:pPr indent="0" marL="0">
              <a:buNone/>
            </a:pPr>
            <a:r>
              <a:rPr lang="en-US" sz="1900" b="1" dirty="0">
                <a:solidFill>
                  <a:srgbClr val="E39B2D"/>
                </a:solidFill>
                <a:latin typeface="Calibri" pitchFamily="34" charset="0"/>
                <a:ea typeface="Calibri" pitchFamily="34" charset="-122"/>
                <a:cs typeface="Calibri" pitchFamily="34" charset="-120"/>
              </a:rPr>
              <a:t>Obligatory slot (this paper)</a:t>
            </a:r>
            <a:endParaRPr lang="en-US" sz="1900" dirty="0"/>
          </a:p>
        </p:txBody>
      </p:sp>
      <p:sp>
        <p:nvSpPr>
          <p:cNvPr id="14" name="Text 11"/>
          <p:cNvSpPr/>
          <p:nvPr/>
        </p:nvSpPr>
        <p:spPr>
          <a:xfrm>
            <a:off x="6419088" y="2295144"/>
            <a:ext cx="4992624" cy="1947672"/>
          </a:xfrm>
          <a:prstGeom prst="rect">
            <a:avLst/>
          </a:prstGeom>
          <a:noFill/>
          <a:ln/>
        </p:spPr>
        <p:txBody>
          <a:bodyPr wrap="square" lIns="0" tIns="0" rIns="0" bIns="0" rtlCol="0" anchor="t"/>
          <a:lstStyle/>
          <a:p>
            <a:pPr marL="228600" indent="-228600">
              <a:spcAft>
                <a:spcPts val="500"/>
              </a:spcAft>
              <a:buSzPct val="100000"/>
              <a:buChar char="•"/>
            </a:pPr>
            <a:r>
              <a:rPr lang="en-US" sz="1600" dirty="0">
                <a:solidFill>
                  <a:srgbClr val="1B2433"/>
                </a:solidFill>
                <a:latin typeface="Calibri" pitchFamily="34" charset="0"/>
                <a:ea typeface="Calibri" pitchFamily="34" charset="-122"/>
                <a:cs typeface="Calibri" pitchFamily="34" charset="-120"/>
              </a:rPr>
              <a:t>Source </a:t>
            </a:r>
            <a:r>
              <a:rPr lang="en-US" sz="1600" b="1" dirty="0">
                <a:solidFill>
                  <a:srgbClr val="1B2433"/>
                </a:solidFill>
                <a:latin typeface="Calibri" pitchFamily="34" charset="0"/>
                <a:ea typeface="Calibri" pitchFamily="34" charset="-122"/>
                <a:cs typeface="Calibri" pitchFamily="34" charset="-120"/>
              </a:rPr>
              <a:t>does not mark</a:t>
            </a:r>
            <a:r>
              <a:rPr lang="en-US" sz="1600" dirty="0">
                <a:solidFill>
                  <a:srgbClr val="1B2433"/>
                </a:solidFill>
                <a:latin typeface="Calibri" pitchFamily="34" charset="0"/>
                <a:ea typeface="Calibri" pitchFamily="34" charset="-122"/>
                <a:cs typeface="Calibri" pitchFamily="34" charset="-120"/>
              </a:rPr>
              <a:t> it: "</a:t>
            </a:r>
            <a:r>
              <a:rPr lang="en-US" sz="1600" b="1" dirty="0">
                <a:solidFill>
                  <a:srgbClr val="1B2433"/>
                </a:solidFill>
                <a:latin typeface="Calibri" pitchFamily="34" charset="0"/>
                <a:ea typeface="Calibri" pitchFamily="34" charset="-122"/>
                <a:cs typeface="Calibri" pitchFamily="34" charset="-120"/>
              </a:rPr>
              <a:t>they</a:t>
            </a:r>
            <a:r>
              <a:rPr lang="en-US" sz="1600" dirty="0">
                <a:solidFill>
                  <a:srgbClr val="1B2433"/>
                </a:solidFill>
                <a:latin typeface="Calibri" pitchFamily="34" charset="0"/>
                <a:ea typeface="Calibri" pitchFamily="34" charset="-122"/>
                <a:cs typeface="Calibri" pitchFamily="34" charset="-120"/>
              </a:rPr>
              <a:t> came".</a:t>
            </a:r>
            <a:endParaRPr lang="en-US" sz="1600" dirty="0"/>
          </a:p>
          <a:p>
            <a:pPr marL="228600" indent="-228600">
              <a:spcAft>
                <a:spcPts val="500"/>
              </a:spcAft>
              <a:buSzPct val="100000"/>
              <a:buChar char="•"/>
            </a:pPr>
            <a:r>
              <a:rPr lang="en-US" sz="1600" dirty="0">
                <a:solidFill>
                  <a:srgbClr val="1B2433"/>
                </a:solidFill>
                <a:latin typeface="Calibri" pitchFamily="34" charset="0"/>
                <a:ea typeface="Calibri" pitchFamily="34" charset="-122"/>
                <a:cs typeface="Calibri" pitchFamily="34" charset="-120"/>
              </a:rPr>
              <a:t>Question: what does the system put in the slot, and </a:t>
            </a:r>
            <a:r>
              <a:rPr lang="en-US" sz="1600" b="1" dirty="0">
                <a:solidFill>
                  <a:srgbClr val="1B2433"/>
                </a:solidFill>
                <a:latin typeface="Calibri" pitchFamily="34" charset="0"/>
                <a:ea typeface="Calibri" pitchFamily="34" charset="-122"/>
                <a:cs typeface="Calibri" pitchFamily="34" charset="-120"/>
              </a:rPr>
              <a:t>does evaluation notice</a:t>
            </a:r>
            <a:r>
              <a:rPr lang="en-US" sz="1600" dirty="0">
                <a:solidFill>
                  <a:srgbClr val="1B2433"/>
                </a:solidFill>
                <a:latin typeface="Calibri" pitchFamily="34" charset="0"/>
                <a:ea typeface="Calibri" pitchFamily="34" charset="-122"/>
                <a:cs typeface="Calibri" pitchFamily="34" charset="-120"/>
              </a:rPr>
              <a:t> when it is wrong or missing?</a:t>
            </a:r>
            <a:endParaRPr lang="en-US" sz="1600" dirty="0"/>
          </a:p>
          <a:p>
            <a:pPr marL="228600" indent="-228600">
              <a:spcAft>
                <a:spcPts val="500"/>
              </a:spcAft>
              <a:buSzPct val="100000"/>
              <a:buChar char="•"/>
            </a:pPr>
            <a:r>
              <a:rPr lang="en-US" sz="1600" dirty="0">
                <a:solidFill>
                  <a:srgbClr val="1B2433"/>
                </a:solidFill>
                <a:latin typeface="Calibri" pitchFamily="34" charset="0"/>
                <a:ea typeface="Calibri" pitchFamily="34" charset="-122"/>
                <a:cs typeface="Calibri" pitchFamily="34" charset="-120"/>
              </a:rPr>
              <a:t>Sometimes there is </a:t>
            </a:r>
            <a:r>
              <a:rPr lang="en-US" sz="1600" b="1" dirty="0">
                <a:solidFill>
                  <a:srgbClr val="1B2433"/>
                </a:solidFill>
                <a:latin typeface="Calibri" pitchFamily="34" charset="0"/>
                <a:ea typeface="Calibri" pitchFamily="34" charset="-122"/>
                <a:cs typeface="Calibri" pitchFamily="34" charset="-120"/>
              </a:rPr>
              <a:t>no right answer</a:t>
            </a:r>
            <a:r>
              <a:rPr lang="en-US" sz="1600" dirty="0">
                <a:solidFill>
                  <a:srgbClr val="1B2433"/>
                </a:solidFill>
                <a:latin typeface="Calibri" pitchFamily="34" charset="0"/>
                <a:ea typeface="Calibri" pitchFamily="34" charset="-122"/>
                <a:cs typeface="Calibri" pitchFamily="34" charset="-120"/>
              </a:rPr>
              <a:t> in the source at all.</a:t>
            </a:r>
            <a:endParaRPr lang="en-US" sz="1600" dirty="0"/>
          </a:p>
        </p:txBody>
      </p:sp>
      <p:sp>
        <p:nvSpPr>
          <p:cNvPr id="15" name="Shape 12"/>
          <p:cNvSpPr/>
          <p:nvPr/>
        </p:nvSpPr>
        <p:spPr>
          <a:xfrm>
            <a:off x="548640" y="4663440"/>
            <a:ext cx="11064240" cy="566928"/>
          </a:xfrm>
          <a:prstGeom prst="roundRect">
            <a:avLst>
              <a:gd name="adj" fmla="val 12903"/>
            </a:avLst>
          </a:prstGeom>
          <a:solidFill>
            <a:srgbClr val="FBEBD2"/>
          </a:solidFill>
          <a:ln w="12700">
            <a:solidFill>
              <a:srgbClr val="E39B2D"/>
            </a:solidFill>
            <a:prstDash val="solid"/>
          </a:ln>
        </p:spPr>
      </p:sp>
      <p:sp>
        <p:nvSpPr>
          <p:cNvPr id="16" name="Text 13"/>
          <p:cNvSpPr/>
          <p:nvPr/>
        </p:nvSpPr>
        <p:spPr>
          <a:xfrm>
            <a:off x="777240" y="4663440"/>
            <a:ext cx="10607040" cy="566928"/>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Propagation asks: </a:t>
            </a:r>
            <a:r>
              <a:rPr lang="en-US" sz="1500" b="1" dirty="0">
                <a:solidFill>
                  <a:srgbClr val="1B2433"/>
                </a:solidFill>
                <a:latin typeface="Calibri" pitchFamily="34" charset="0"/>
                <a:ea typeface="Calibri" pitchFamily="34" charset="-122"/>
                <a:cs typeface="Calibri" pitchFamily="34" charset="-120"/>
              </a:rPr>
              <a:t>was the information kept?</a:t>
            </a:r>
            <a:r>
              <a:rPr lang="en-US" sz="1500" dirty="0">
                <a:solidFill>
                  <a:srgbClr val="1B2433"/>
                </a:solidFill>
                <a:latin typeface="Calibri" pitchFamily="34" charset="0"/>
                <a:ea typeface="Calibri" pitchFamily="34" charset="-122"/>
                <a:cs typeface="Calibri" pitchFamily="34" charset="-120"/>
              </a:rPr>
              <a:t>  We ask: </a:t>
            </a:r>
            <a:r>
              <a:rPr lang="en-US" sz="1500" b="1" dirty="0">
                <a:solidFill>
                  <a:srgbClr val="1B2433"/>
                </a:solidFill>
                <a:latin typeface="Calibri" pitchFamily="34" charset="0"/>
                <a:ea typeface="Calibri" pitchFamily="34" charset="-122"/>
                <a:cs typeface="Calibri" pitchFamily="34" charset="-120"/>
              </a:rPr>
              <a:t>what happens when there was no information to keep?</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2</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WHAT WAS MISSING</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The closest earlier work, and how we differ</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3017520"/>
                <a:gridCol w="4572000"/>
                <a:gridCol w="3474720"/>
              </a:tblGrid>
              <a:tr h="65836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Work</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What it does not do</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r>
              <a:tr h="658368">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GENDER1PERSON (WMT 2025)</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Measures which gender systems choose when English "I" is unmarked (Russian, Serbian)</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Only gender; does not ask what metrics charge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58368">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CoCoA-MT, IWSLT formality (2022–23)</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Formal vs informal "you"; the unmarked case appears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Only as a side baseline, not studied as a condition</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658368">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Měchura (2022)</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Names the category of "bias-causing ambiguities"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Measures no system</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58368">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GRAPE, Prates et al., others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How often systems pick each gender, measured in several ways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Gender only; not about metrics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bl>
          </a:graphicData>
        </a:graphic>
      </p:graphicFrame>
      <p:sp>
        <p:nvSpPr>
          <p:cNvPr id="10" name="Shape 6"/>
          <p:cNvSpPr/>
          <p:nvPr/>
        </p:nvSpPr>
        <p:spPr>
          <a:xfrm>
            <a:off x="548640" y="5212080"/>
            <a:ext cx="11064240" cy="566928"/>
          </a:xfrm>
          <a:prstGeom prst="roundRect">
            <a:avLst>
              <a:gd name="adj" fmla="val 12903"/>
            </a:avLst>
          </a:prstGeom>
          <a:solidFill>
            <a:srgbClr val="FBEBD2"/>
          </a:solidFill>
          <a:ln w="12700">
            <a:solidFill>
              <a:srgbClr val="E39B2D"/>
            </a:solidFill>
            <a:prstDash val="solid"/>
          </a:ln>
        </p:spPr>
      </p:sp>
      <p:sp>
        <p:nvSpPr>
          <p:cNvPr id="11" name="Text 7"/>
          <p:cNvSpPr/>
          <p:nvPr/>
        </p:nvSpPr>
        <p:spPr>
          <a:xfrm>
            <a:off x="777240" y="5212080"/>
            <a:ext cx="10607040" cy="566928"/>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No earlier study asked </a:t>
            </a:r>
            <a:r>
              <a:rPr lang="en-US" sz="1500" b="1" dirty="0">
                <a:solidFill>
                  <a:srgbClr val="1B2433"/>
                </a:solidFill>
                <a:latin typeface="Calibri" pitchFamily="34" charset="0"/>
                <a:ea typeface="Calibri" pitchFamily="34" charset="-122"/>
                <a:cs typeface="Calibri" pitchFamily="34" charset="-120"/>
              </a:rPr>
              <a:t>how much metrics lower the score</a:t>
            </a:r>
            <a:r>
              <a:rPr lang="en-US" sz="1500" dirty="0">
                <a:solidFill>
                  <a:srgbClr val="1B2433"/>
                </a:solidFill>
                <a:latin typeface="Calibri" pitchFamily="34" charset="0"/>
                <a:ea typeface="Calibri" pitchFamily="34" charset="-122"/>
                <a:cs typeface="Calibri" pitchFamily="34" charset="-120"/>
              </a:rPr>
              <a:t> for these errors, and we found </a:t>
            </a:r>
            <a:r>
              <a:rPr lang="en-US" sz="1500" b="1" dirty="0">
                <a:solidFill>
                  <a:srgbClr val="1B2433"/>
                </a:solidFill>
                <a:latin typeface="Calibri" pitchFamily="34" charset="0"/>
                <a:ea typeface="Calibri" pitchFamily="34" charset="-122"/>
                <a:cs typeface="Calibri" pitchFamily="34" charset="-120"/>
              </a:rPr>
              <a:t>no earlier machine-translation study of rationality</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2</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WHAT WAS MISSING</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Test sets for metrics exist, but not for this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19</a:t>
            </a:r>
            <a:endParaRPr lang="en-US" sz="900" dirty="0"/>
          </a:p>
        </p:txBody>
      </p:sp>
      <p:sp>
        <p:nvSpPr>
          <p:cNvPr id="9" name="Shape 6"/>
          <p:cNvSpPr/>
          <p:nvPr/>
        </p:nvSpPr>
        <p:spPr>
          <a:xfrm>
            <a:off x="548640" y="1737360"/>
            <a:ext cx="3566160" cy="2011680"/>
          </a:xfrm>
          <a:prstGeom prst="roundRect">
            <a:avLst>
              <a:gd name="adj" fmla="val 3636"/>
            </a:avLst>
          </a:prstGeom>
          <a:solidFill>
            <a:srgbClr val="F2F4F8"/>
          </a:solidFill>
          <a:ln w="12700">
            <a:solidFill>
              <a:srgbClr val="F2F4F8"/>
            </a:solidFill>
            <a:prstDash val="solid"/>
          </a:ln>
        </p:spPr>
      </p:sp>
      <p:sp>
        <p:nvSpPr>
          <p:cNvPr id="10" name="Text 7"/>
          <p:cNvSpPr/>
          <p:nvPr/>
        </p:nvSpPr>
        <p:spPr>
          <a:xfrm>
            <a:off x="749808" y="188366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DEMETR (2022)</a:t>
            </a:r>
            <a:endParaRPr lang="en-US" sz="1700" dirty="0"/>
          </a:p>
        </p:txBody>
      </p:sp>
      <p:sp>
        <p:nvSpPr>
          <p:cNvPr id="11" name="Text 8"/>
          <p:cNvSpPr/>
          <p:nvPr/>
        </p:nvSpPr>
        <p:spPr>
          <a:xfrm>
            <a:off x="749808" y="2295144"/>
            <a:ext cx="3163824" cy="1307592"/>
          </a:xfrm>
          <a:prstGeom prst="rect">
            <a:avLst/>
          </a:prstGeom>
          <a:noFill/>
          <a:ln/>
        </p:spPr>
        <p:txBody>
          <a:bodyPr wrap="square" lIns="0" tIns="0" rIns="0" bIns="0" rtlCol="0" anchor="t"/>
          <a:lstStyle/>
          <a:p>
            <a:pPr indent="0" marL="0">
              <a:spcAft>
                <a:spcPts val="500"/>
              </a:spcAft>
              <a:buNone/>
            </a:pPr>
            <a:r>
              <a:rPr lang="en-US" sz="1600" dirty="0">
                <a:solidFill>
                  <a:srgbClr val="1B2433"/>
                </a:solidFill>
                <a:latin typeface="Calibri" pitchFamily="34" charset="0"/>
                <a:ea typeface="Calibri" pitchFamily="34" charset="-122"/>
                <a:cs typeface="Calibri" pitchFamily="34" charset="-120"/>
              </a:rPr>
              <a:t>Plants errors in translations to see whether metrics notice. </a:t>
            </a:r>
            <a:r>
              <a:rPr lang="en-US" sz="1600" b="1" dirty="0">
                <a:solidFill>
                  <a:srgbClr val="1B2433"/>
                </a:solidFill>
                <a:latin typeface="Calibri" pitchFamily="34" charset="0"/>
                <a:ea typeface="Calibri" pitchFamily="34" charset="-122"/>
                <a:cs typeface="Calibri" pitchFamily="34" charset="-120"/>
              </a:rPr>
              <a:t>All its examples are into English.</a:t>
            </a:r>
            <a:endParaRPr lang="en-US" sz="1600" dirty="0"/>
          </a:p>
        </p:txBody>
      </p:sp>
      <p:sp>
        <p:nvSpPr>
          <p:cNvPr id="12" name="Shape 9"/>
          <p:cNvSpPr/>
          <p:nvPr/>
        </p:nvSpPr>
        <p:spPr>
          <a:xfrm>
            <a:off x="4297680" y="1737360"/>
            <a:ext cx="3566160" cy="2011680"/>
          </a:xfrm>
          <a:prstGeom prst="roundRect">
            <a:avLst>
              <a:gd name="adj" fmla="val 3636"/>
            </a:avLst>
          </a:prstGeom>
          <a:solidFill>
            <a:srgbClr val="F2F4F8"/>
          </a:solidFill>
          <a:ln w="12700">
            <a:solidFill>
              <a:srgbClr val="F2F4F8"/>
            </a:solidFill>
            <a:prstDash val="solid"/>
          </a:ln>
        </p:spPr>
      </p:sp>
      <p:sp>
        <p:nvSpPr>
          <p:cNvPr id="13" name="Text 10"/>
          <p:cNvSpPr/>
          <p:nvPr/>
        </p:nvSpPr>
        <p:spPr>
          <a:xfrm>
            <a:off x="4498848" y="188366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ACES (2025)</a:t>
            </a:r>
            <a:endParaRPr lang="en-US" sz="1700" dirty="0"/>
          </a:p>
        </p:txBody>
      </p:sp>
      <p:sp>
        <p:nvSpPr>
          <p:cNvPr id="14" name="Text 11"/>
          <p:cNvSpPr/>
          <p:nvPr/>
        </p:nvSpPr>
        <p:spPr>
          <a:xfrm>
            <a:off x="4498848" y="2295144"/>
            <a:ext cx="3163824" cy="1307592"/>
          </a:xfrm>
          <a:prstGeom prst="rect">
            <a:avLst/>
          </a:prstGeom>
          <a:noFill/>
          <a:ln/>
        </p:spPr>
        <p:txBody>
          <a:bodyPr wrap="square" lIns="0" tIns="0" rIns="0" bIns="0" rtlCol="0" anchor="t"/>
          <a:lstStyle/>
          <a:p>
            <a:pPr indent="0" marL="0">
              <a:spcAft>
                <a:spcPts val="500"/>
              </a:spcAft>
              <a:buNone/>
            </a:pPr>
            <a:r>
              <a:rPr lang="en-US" sz="1600" dirty="0">
                <a:solidFill>
                  <a:srgbClr val="1B2433"/>
                </a:solidFill>
                <a:latin typeface="Calibri" pitchFamily="34" charset="0"/>
                <a:ea typeface="Calibri" pitchFamily="34" charset="-122"/>
                <a:cs typeface="Calibri" pitchFamily="34" charset="-120"/>
              </a:rPr>
              <a:t>The largest test set for metrics. It leaves out word-ending errors on purpose. Only </a:t>
            </a:r>
            <a:r>
              <a:rPr lang="en-US" sz="1600" b="1" dirty="0">
                <a:solidFill>
                  <a:srgbClr val="1B2433"/>
                </a:solidFill>
                <a:latin typeface="Calibri" pitchFamily="34" charset="0"/>
                <a:ea typeface="Calibri" pitchFamily="34" charset="-122"/>
                <a:cs typeface="Calibri" pitchFamily="34" charset="-120"/>
              </a:rPr>
              <a:t>1 of its 36,476</a:t>
            </a:r>
            <a:r>
              <a:rPr lang="en-US" sz="1600" dirty="0">
                <a:solidFill>
                  <a:srgbClr val="1B2433"/>
                </a:solidFill>
                <a:latin typeface="Calibri" pitchFamily="34" charset="0"/>
                <a:ea typeface="Calibri" pitchFamily="34" charset="-122"/>
                <a:cs typeface="Calibri" pitchFamily="34" charset="-120"/>
              </a:rPr>
              <a:t> examples is English→Tamil.</a:t>
            </a:r>
            <a:endParaRPr lang="en-US" sz="1600" dirty="0"/>
          </a:p>
        </p:txBody>
      </p:sp>
      <p:sp>
        <p:nvSpPr>
          <p:cNvPr id="15" name="Shape 12"/>
          <p:cNvSpPr/>
          <p:nvPr/>
        </p:nvSpPr>
        <p:spPr>
          <a:xfrm>
            <a:off x="8046720" y="1737360"/>
            <a:ext cx="3566160" cy="2011680"/>
          </a:xfrm>
          <a:prstGeom prst="roundRect">
            <a:avLst>
              <a:gd name="adj" fmla="val 3636"/>
            </a:avLst>
          </a:prstGeom>
          <a:solidFill>
            <a:srgbClr val="F2F4F8"/>
          </a:solidFill>
          <a:ln w="12700">
            <a:solidFill>
              <a:srgbClr val="F2F4F8"/>
            </a:solidFill>
            <a:prstDash val="solid"/>
          </a:ln>
        </p:spPr>
      </p:sp>
      <p:sp>
        <p:nvSpPr>
          <p:cNvPr id="16" name="Text 13"/>
          <p:cNvSpPr/>
          <p:nvPr/>
        </p:nvSpPr>
        <p:spPr>
          <a:xfrm>
            <a:off x="8247888" y="188366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IndicMT Eval (2023)</a:t>
            </a:r>
            <a:endParaRPr lang="en-US" sz="1700" dirty="0"/>
          </a:p>
        </p:txBody>
      </p:sp>
      <p:sp>
        <p:nvSpPr>
          <p:cNvPr id="17" name="Text 14"/>
          <p:cNvSpPr/>
          <p:nvPr/>
        </p:nvSpPr>
        <p:spPr>
          <a:xfrm>
            <a:off x="8247888" y="2295144"/>
            <a:ext cx="3163824" cy="1307592"/>
          </a:xfrm>
          <a:prstGeom prst="rect">
            <a:avLst/>
          </a:prstGeom>
          <a:noFill/>
          <a:ln/>
        </p:spPr>
        <p:txBody>
          <a:bodyPr wrap="square" lIns="0" tIns="0" rIns="0" bIns="0" rtlCol="0" anchor="t"/>
          <a:lstStyle/>
          <a:p>
            <a:pPr indent="0" marL="0">
              <a:spcAft>
                <a:spcPts val="500"/>
              </a:spcAft>
              <a:buNone/>
            </a:pPr>
            <a:r>
              <a:rPr lang="en-US" sz="1600" dirty="0">
                <a:solidFill>
                  <a:srgbClr val="1B2433"/>
                </a:solidFill>
                <a:latin typeface="Calibri" pitchFamily="34" charset="0"/>
                <a:ea typeface="Calibri" pitchFamily="34" charset="-122"/>
                <a:cs typeface="Calibri" pitchFamily="34" charset="-120"/>
              </a:rPr>
              <a:t>Covers Tamil. Metrics struggle with </a:t>
            </a:r>
            <a:r>
              <a:rPr lang="en-US" sz="1600" b="1" dirty="0">
                <a:solidFill>
                  <a:srgbClr val="1B2433"/>
                </a:solidFill>
                <a:latin typeface="Calibri" pitchFamily="34" charset="0"/>
                <a:ea typeface="Calibri" pitchFamily="34" charset="-122"/>
                <a:cs typeface="Calibri" pitchFamily="34" charset="-120"/>
              </a:rPr>
              <a:t>fluency</a:t>
            </a:r>
            <a:r>
              <a:rPr lang="en-US" sz="1600" dirty="0">
                <a:solidFill>
                  <a:srgbClr val="1B2433"/>
                </a:solidFill>
                <a:latin typeface="Calibri" pitchFamily="34" charset="0"/>
                <a:ea typeface="Calibri" pitchFamily="34" charset="-122"/>
                <a:cs typeface="Calibri" pitchFamily="34" charset="-120"/>
              </a:rPr>
              <a:t> errors (sentences that read unnaturally), which is where our errors land.</a:t>
            </a:r>
            <a:endParaRPr lang="en-US" sz="1600" dirty="0"/>
          </a:p>
        </p:txBody>
      </p:sp>
      <p:sp>
        <p:nvSpPr>
          <p:cNvPr id="18" name="Shape 15"/>
          <p:cNvSpPr/>
          <p:nvPr/>
        </p:nvSpPr>
        <p:spPr>
          <a:xfrm>
            <a:off x="548640" y="4023360"/>
            <a:ext cx="11064240" cy="566928"/>
          </a:xfrm>
          <a:prstGeom prst="roundRect">
            <a:avLst>
              <a:gd name="adj" fmla="val 12903"/>
            </a:avLst>
          </a:prstGeom>
          <a:solidFill>
            <a:srgbClr val="FBEBD2"/>
          </a:solidFill>
          <a:ln w="12700">
            <a:solidFill>
              <a:srgbClr val="E39B2D"/>
            </a:solidFill>
            <a:prstDash val="solid"/>
          </a:ln>
        </p:spPr>
      </p:sp>
      <p:sp>
        <p:nvSpPr>
          <p:cNvPr id="19" name="Text 16"/>
          <p:cNvSpPr/>
          <p:nvPr/>
        </p:nvSpPr>
        <p:spPr>
          <a:xfrm>
            <a:off x="777240" y="4023360"/>
            <a:ext cx="10607040" cy="566928"/>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No metric test set covers English→Tamil verb agreement, and none studies an </a:t>
            </a:r>
            <a:r>
              <a:rPr lang="en-US" sz="1500" b="1" dirty="0">
                <a:solidFill>
                  <a:srgbClr val="1B2433"/>
                </a:solidFill>
                <a:latin typeface="Calibri" pitchFamily="34" charset="0"/>
                <a:ea typeface="Calibri" pitchFamily="34" charset="-122"/>
                <a:cs typeface="Calibri" pitchFamily="34" charset="-120"/>
              </a:rPr>
              <a:t>unmarked</a:t>
            </a:r>
            <a:r>
              <a:rPr lang="en-US" sz="1500" dirty="0">
                <a:solidFill>
                  <a:srgbClr val="1B2433"/>
                </a:solidFill>
                <a:latin typeface="Calibri" pitchFamily="34" charset="0"/>
                <a:ea typeface="Calibri" pitchFamily="34" charset="-122"/>
                <a:cs typeface="Calibri" pitchFamily="34" charset="-120"/>
              </a:rPr>
              <a:t> distinction (one the English does not show).</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2</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WHAT WAS MISSING</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Standard Tamil language data cannot even label these features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20</a:t>
            </a:r>
            <a:endParaRPr lang="en-US" sz="900" dirty="0"/>
          </a:p>
        </p:txBody>
      </p:sp>
      <p:sp>
        <p:nvSpPr>
          <p:cNvPr id="9" name="Shape 6"/>
          <p:cNvSpPr/>
          <p:nvPr/>
        </p:nvSpPr>
        <p:spPr>
          <a:xfrm>
            <a:off x="548640" y="1783080"/>
            <a:ext cx="3566160" cy="1645920"/>
          </a:xfrm>
          <a:prstGeom prst="roundRect">
            <a:avLst>
              <a:gd name="adj" fmla="val 4444"/>
            </a:avLst>
          </a:prstGeom>
          <a:solidFill>
            <a:srgbClr val="F2F4F8"/>
          </a:solidFill>
          <a:ln w="12700">
            <a:solidFill>
              <a:srgbClr val="F2F4F8"/>
            </a:solidFill>
            <a:prstDash val="solid"/>
          </a:ln>
        </p:spPr>
      </p:sp>
      <p:sp>
        <p:nvSpPr>
          <p:cNvPr id="10" name="Text 7"/>
          <p:cNvSpPr/>
          <p:nvPr/>
        </p:nvSpPr>
        <p:spPr>
          <a:xfrm>
            <a:off x="731520" y="1892808"/>
            <a:ext cx="3200400" cy="731520"/>
          </a:xfrm>
          <a:prstGeom prst="rect">
            <a:avLst/>
          </a:prstGeom>
          <a:noFill/>
          <a:ln/>
        </p:spPr>
        <p:txBody>
          <a:bodyPr wrap="square" lIns="0" tIns="0" rIns="0" bIns="0" rtlCol="0" anchor="t"/>
          <a:lstStyle/>
          <a:p>
            <a:pPr algn="l" indent="0" marL="0">
              <a:lnSpc>
                <a:spcPct val="100000"/>
              </a:lnSpc>
              <a:buNone/>
            </a:pPr>
            <a:r>
              <a:rPr lang="en-US" sz="4000" b="1" dirty="0">
                <a:solidFill>
                  <a:srgbClr val="D55E00"/>
                </a:solidFill>
                <a:latin typeface="Calibri" pitchFamily="34" charset="0"/>
                <a:ea typeface="Calibri" pitchFamily="34" charset="-122"/>
                <a:cs typeface="Calibri" pitchFamily="34" charset="-120"/>
              </a:rPr>
              <a:t>0</a:t>
            </a:r>
            <a:endParaRPr lang="en-US" sz="4000" dirty="0"/>
          </a:p>
        </p:txBody>
      </p:sp>
      <p:sp>
        <p:nvSpPr>
          <p:cNvPr id="11" name="Text 8"/>
          <p:cNvSpPr/>
          <p:nvPr/>
        </p:nvSpPr>
        <p:spPr>
          <a:xfrm>
            <a:off x="731520" y="2651760"/>
            <a:ext cx="3200400" cy="73152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words labelled feminine in UD Tamil-TTB, a standard grammar-labelled Tamil collection (a "treebank")</a:t>
            </a:r>
            <a:endParaRPr lang="en-US" sz="1400" dirty="0"/>
          </a:p>
        </p:txBody>
      </p:sp>
      <p:sp>
        <p:nvSpPr>
          <p:cNvPr id="12" name="Shape 9"/>
          <p:cNvSpPr/>
          <p:nvPr/>
        </p:nvSpPr>
        <p:spPr>
          <a:xfrm>
            <a:off x="4297680" y="1783080"/>
            <a:ext cx="3566160" cy="1645920"/>
          </a:xfrm>
          <a:prstGeom prst="roundRect">
            <a:avLst>
              <a:gd name="adj" fmla="val 4444"/>
            </a:avLst>
          </a:prstGeom>
          <a:solidFill>
            <a:srgbClr val="F2F4F8"/>
          </a:solidFill>
          <a:ln w="12700">
            <a:solidFill>
              <a:srgbClr val="F2F4F8"/>
            </a:solidFill>
            <a:prstDash val="solid"/>
          </a:ln>
        </p:spPr>
      </p:sp>
      <p:sp>
        <p:nvSpPr>
          <p:cNvPr id="13" name="Text 10"/>
          <p:cNvSpPr/>
          <p:nvPr/>
        </p:nvSpPr>
        <p:spPr>
          <a:xfrm>
            <a:off x="4480560" y="1892808"/>
            <a:ext cx="3200400" cy="731520"/>
          </a:xfrm>
          <a:prstGeom prst="rect">
            <a:avLst/>
          </a:prstGeom>
          <a:noFill/>
          <a:ln/>
        </p:spPr>
        <p:txBody>
          <a:bodyPr wrap="square" lIns="0" tIns="0" rIns="0" bIns="0" rtlCol="0" anchor="t"/>
          <a:lstStyle/>
          <a:p>
            <a:pPr algn="l" indent="0" marL="0">
              <a:lnSpc>
                <a:spcPct val="100000"/>
              </a:lnSpc>
              <a:buNone/>
            </a:pPr>
            <a:r>
              <a:rPr lang="en-US" sz="4000" b="1" dirty="0">
                <a:solidFill>
                  <a:srgbClr val="D55E00"/>
                </a:solidFill>
                <a:latin typeface="Calibri" pitchFamily="34" charset="0"/>
                <a:ea typeface="Calibri" pitchFamily="34" charset="-122"/>
                <a:cs typeface="Calibri" pitchFamily="34" charset="-120"/>
              </a:rPr>
              <a:t>0</a:t>
            </a:r>
            <a:endParaRPr lang="en-US" sz="4000" dirty="0"/>
          </a:p>
        </p:txBody>
      </p:sp>
      <p:sp>
        <p:nvSpPr>
          <p:cNvPr id="14" name="Text 11"/>
          <p:cNvSpPr/>
          <p:nvPr/>
        </p:nvSpPr>
        <p:spPr>
          <a:xfrm>
            <a:off x="4480560" y="2651760"/>
            <a:ext cx="3200400" cy="73152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verbs with the he / she endings -ஆன் / -ஆள் in that collection</a:t>
            </a:r>
            <a:endParaRPr lang="en-US" sz="1400" dirty="0"/>
          </a:p>
        </p:txBody>
      </p:sp>
      <p:sp>
        <p:nvSpPr>
          <p:cNvPr id="15" name="Shape 12"/>
          <p:cNvSpPr/>
          <p:nvPr/>
        </p:nvSpPr>
        <p:spPr>
          <a:xfrm>
            <a:off x="8046720" y="1783080"/>
            <a:ext cx="3566160" cy="1645920"/>
          </a:xfrm>
          <a:prstGeom prst="roundRect">
            <a:avLst>
              <a:gd name="adj" fmla="val 4444"/>
            </a:avLst>
          </a:prstGeom>
          <a:solidFill>
            <a:srgbClr val="F2F4F8"/>
          </a:solidFill>
          <a:ln w="12700">
            <a:solidFill>
              <a:srgbClr val="F2F4F8"/>
            </a:solidFill>
            <a:prstDash val="solid"/>
          </a:ln>
        </p:spPr>
      </p:sp>
      <p:sp>
        <p:nvSpPr>
          <p:cNvPr id="16" name="Text 13"/>
          <p:cNvSpPr/>
          <p:nvPr/>
        </p:nvSpPr>
        <p:spPr>
          <a:xfrm>
            <a:off x="8229600" y="1892808"/>
            <a:ext cx="3200400" cy="731520"/>
          </a:xfrm>
          <a:prstGeom prst="rect">
            <a:avLst/>
          </a:prstGeom>
          <a:noFill/>
          <a:ln/>
        </p:spPr>
        <p:txBody>
          <a:bodyPr wrap="square" lIns="0" tIns="0" rIns="0" bIns="0" rtlCol="0" anchor="t"/>
          <a:lstStyle/>
          <a:p>
            <a:pPr algn="l" indent="0" marL="0">
              <a:lnSpc>
                <a:spcPct val="100000"/>
              </a:lnSpc>
              <a:buNone/>
            </a:pPr>
            <a:r>
              <a:rPr lang="en-US" sz="4000" b="1" dirty="0">
                <a:solidFill>
                  <a:srgbClr val="D55E00"/>
                </a:solidFill>
                <a:latin typeface="Calibri" pitchFamily="34" charset="0"/>
                <a:ea typeface="Calibri" pitchFamily="34" charset="-122"/>
                <a:cs typeface="Calibri" pitchFamily="34" charset="-120"/>
              </a:rPr>
              <a:t>0</a:t>
            </a:r>
            <a:endParaRPr lang="en-US" sz="4000" dirty="0"/>
          </a:p>
        </p:txBody>
      </p:sp>
      <p:sp>
        <p:nvSpPr>
          <p:cNvPr id="17" name="Text 14"/>
          <p:cNvSpPr/>
          <p:nvPr/>
        </p:nvSpPr>
        <p:spPr>
          <a:xfrm>
            <a:off x="8229600" y="2651760"/>
            <a:ext cx="3200400" cy="73152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words labelled for inclusive vs exclusive "we" in either Tamil treebank</a:t>
            </a:r>
            <a:endParaRPr lang="en-US" sz="1400" dirty="0"/>
          </a:p>
        </p:txBody>
      </p:sp>
      <p:sp>
        <p:nvSpPr>
          <p:cNvPr id="18" name="Shape 15"/>
          <p:cNvSpPr/>
          <p:nvPr/>
        </p:nvSpPr>
        <p:spPr>
          <a:xfrm>
            <a:off x="548640" y="3611880"/>
            <a:ext cx="3566160" cy="1645920"/>
          </a:xfrm>
          <a:prstGeom prst="roundRect">
            <a:avLst>
              <a:gd name="adj" fmla="val 4444"/>
            </a:avLst>
          </a:prstGeom>
          <a:solidFill>
            <a:srgbClr val="F2F4F8"/>
          </a:solidFill>
          <a:ln w="12700">
            <a:solidFill>
              <a:srgbClr val="F2F4F8"/>
            </a:solidFill>
            <a:prstDash val="solid"/>
          </a:ln>
        </p:spPr>
      </p:sp>
      <p:sp>
        <p:nvSpPr>
          <p:cNvPr id="19" name="Text 16"/>
          <p:cNvSpPr/>
          <p:nvPr/>
        </p:nvSpPr>
        <p:spPr>
          <a:xfrm>
            <a:off x="731520" y="3721608"/>
            <a:ext cx="3200400" cy="731520"/>
          </a:xfrm>
          <a:prstGeom prst="rect">
            <a:avLst/>
          </a:prstGeom>
          <a:noFill/>
          <a:ln/>
        </p:spPr>
        <p:txBody>
          <a:bodyPr wrap="square" lIns="0" tIns="0" rIns="0" bIns="0" rtlCol="0" anchor="t"/>
          <a:lstStyle/>
          <a:p>
            <a:pPr algn="l" indent="0" marL="0">
              <a:lnSpc>
                <a:spcPct val="100000"/>
              </a:lnSpc>
              <a:buNone/>
            </a:pPr>
            <a:r>
              <a:rPr lang="en-US" sz="4000" b="1" dirty="0">
                <a:solidFill>
                  <a:srgbClr val="D55E00"/>
                </a:solidFill>
                <a:latin typeface="Calibri" pitchFamily="34" charset="0"/>
                <a:ea typeface="Calibri" pitchFamily="34" charset="-122"/>
                <a:cs typeface="Calibri" pitchFamily="34" charset="-120"/>
              </a:rPr>
              <a:t>41 / 41</a:t>
            </a:r>
            <a:endParaRPr lang="en-US" sz="4000" dirty="0"/>
          </a:p>
        </p:txBody>
      </p:sp>
      <p:sp>
        <p:nvSpPr>
          <p:cNvPr id="20" name="Text 17"/>
          <p:cNvSpPr/>
          <p:nvPr/>
        </p:nvSpPr>
        <p:spPr>
          <a:xfrm>
            <a:off x="731520" y="4480560"/>
            <a:ext cx="3200400" cy="73152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negative verb forms wrongly labelled as positive</a:t>
            </a:r>
            <a:endParaRPr lang="en-US" sz="1400" dirty="0"/>
          </a:p>
        </p:txBody>
      </p:sp>
      <p:sp>
        <p:nvSpPr>
          <p:cNvPr id="21" name="Shape 18"/>
          <p:cNvSpPr/>
          <p:nvPr/>
        </p:nvSpPr>
        <p:spPr>
          <a:xfrm>
            <a:off x="4297680" y="3611880"/>
            <a:ext cx="3566160" cy="1645920"/>
          </a:xfrm>
          <a:prstGeom prst="roundRect">
            <a:avLst>
              <a:gd name="adj" fmla="val 4444"/>
            </a:avLst>
          </a:prstGeom>
          <a:solidFill>
            <a:srgbClr val="F2F4F8"/>
          </a:solidFill>
          <a:ln w="12700">
            <a:solidFill>
              <a:srgbClr val="F2F4F8"/>
            </a:solidFill>
            <a:prstDash val="solid"/>
          </a:ln>
        </p:spPr>
      </p:sp>
      <p:sp>
        <p:nvSpPr>
          <p:cNvPr id="22" name="Text 19"/>
          <p:cNvSpPr/>
          <p:nvPr/>
        </p:nvSpPr>
        <p:spPr>
          <a:xfrm>
            <a:off x="4480560" y="3721608"/>
            <a:ext cx="3200400" cy="731520"/>
          </a:xfrm>
          <a:prstGeom prst="rect">
            <a:avLst/>
          </a:prstGeom>
          <a:noFill/>
          <a:ln/>
        </p:spPr>
        <p:txBody>
          <a:bodyPr wrap="square" lIns="0" tIns="0" rIns="0" bIns="0" rtlCol="0" anchor="t"/>
          <a:lstStyle/>
          <a:p>
            <a:pPr algn="l" indent="0" marL="0">
              <a:lnSpc>
                <a:spcPct val="100000"/>
              </a:lnSpc>
              <a:buNone/>
            </a:pPr>
            <a:r>
              <a:rPr lang="en-US" sz="4000" b="1" dirty="0">
                <a:solidFill>
                  <a:srgbClr val="D55E00"/>
                </a:solidFill>
                <a:latin typeface="Calibri" pitchFamily="34" charset="0"/>
                <a:ea typeface="Calibri" pitchFamily="34" charset="-122"/>
                <a:cs typeface="Calibri" pitchFamily="34" charset="-120"/>
              </a:rPr>
              <a:t>7</a:t>
            </a:r>
            <a:endParaRPr lang="en-US" sz="4000" dirty="0"/>
          </a:p>
        </p:txBody>
      </p:sp>
      <p:sp>
        <p:nvSpPr>
          <p:cNvPr id="23" name="Text 20"/>
          <p:cNvSpPr/>
          <p:nvPr/>
        </p:nvSpPr>
        <p:spPr>
          <a:xfrm>
            <a:off x="4480560" y="4480560"/>
            <a:ext cx="3200400" cy="73152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central grammar categories the standard labels cannot express</a:t>
            </a:r>
            <a:endParaRPr lang="en-US" sz="1400" dirty="0"/>
          </a:p>
        </p:txBody>
      </p:sp>
      <p:sp>
        <p:nvSpPr>
          <p:cNvPr id="24" name="Shape 21"/>
          <p:cNvSpPr/>
          <p:nvPr/>
        </p:nvSpPr>
        <p:spPr>
          <a:xfrm>
            <a:off x="8046720" y="3611880"/>
            <a:ext cx="3566160" cy="1645920"/>
          </a:xfrm>
          <a:prstGeom prst="roundRect">
            <a:avLst>
              <a:gd name="adj" fmla="val 4444"/>
            </a:avLst>
          </a:prstGeom>
          <a:solidFill>
            <a:srgbClr val="F2F4F8"/>
          </a:solidFill>
          <a:ln w="12700">
            <a:solidFill>
              <a:srgbClr val="F2F4F8"/>
            </a:solidFill>
            <a:prstDash val="solid"/>
          </a:ln>
        </p:spPr>
      </p:sp>
      <p:sp>
        <p:nvSpPr>
          <p:cNvPr id="25" name="Text 22"/>
          <p:cNvSpPr/>
          <p:nvPr/>
        </p:nvSpPr>
        <p:spPr>
          <a:xfrm>
            <a:off x="8229600" y="3721608"/>
            <a:ext cx="3200400" cy="731520"/>
          </a:xfrm>
          <a:prstGeom prst="rect">
            <a:avLst/>
          </a:prstGeom>
          <a:noFill/>
          <a:ln/>
        </p:spPr>
        <p:txBody>
          <a:bodyPr wrap="square" lIns="0" tIns="0" rIns="0" bIns="0" rtlCol="0" anchor="t"/>
          <a:lstStyle/>
          <a:p>
            <a:pPr algn="l" indent="0" marL="0">
              <a:lnSpc>
                <a:spcPct val="100000"/>
              </a:lnSpc>
              <a:buNone/>
            </a:pPr>
            <a:r>
              <a:rPr lang="en-US" sz="4000" b="1" dirty="0">
                <a:solidFill>
                  <a:srgbClr val="D55E00"/>
                </a:solidFill>
                <a:latin typeface="Calibri" pitchFamily="34" charset="0"/>
                <a:ea typeface="Calibri" pitchFamily="34" charset="-122"/>
                <a:cs typeface="Calibri" pitchFamily="34" charset="-120"/>
              </a:rPr>
              <a:t>absent</a:t>
            </a:r>
            <a:endParaRPr lang="en-US" sz="4000" dirty="0"/>
          </a:p>
        </p:txBody>
      </p:sp>
      <p:sp>
        <p:nvSpPr>
          <p:cNvPr id="26" name="Text 23"/>
          <p:cNvSpPr/>
          <p:nvPr/>
        </p:nvSpPr>
        <p:spPr>
          <a:xfrm>
            <a:off x="8229600" y="4480560"/>
            <a:ext cx="3200400" cy="73152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Tamil in UniMorph, the big multilingual word-form database</a:t>
            </a:r>
            <a:endParaRPr lang="en-US" sz="1400" dirty="0"/>
          </a:p>
        </p:txBody>
      </p:sp>
      <p:sp>
        <p:nvSpPr>
          <p:cNvPr id="27" name="Shape 24"/>
          <p:cNvSpPr/>
          <p:nvPr/>
        </p:nvSpPr>
        <p:spPr>
          <a:xfrm>
            <a:off x="548640" y="5669280"/>
            <a:ext cx="11064240" cy="548640"/>
          </a:xfrm>
          <a:prstGeom prst="roundRect">
            <a:avLst>
              <a:gd name="adj" fmla="val 13333"/>
            </a:avLst>
          </a:prstGeom>
          <a:solidFill>
            <a:srgbClr val="FBEBD2"/>
          </a:solidFill>
          <a:ln w="12700">
            <a:solidFill>
              <a:srgbClr val="E39B2D"/>
            </a:solidFill>
            <a:prstDash val="solid"/>
          </a:ln>
        </p:spPr>
      </p:sp>
      <p:sp>
        <p:nvSpPr>
          <p:cNvPr id="28" name="Text 25"/>
          <p:cNvSpPr/>
          <p:nvPr/>
        </p:nvSpPr>
        <p:spPr>
          <a:xfrm>
            <a:off x="777240" y="5669280"/>
            <a:ext cx="10607040" cy="54864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So we had to </a:t>
            </a:r>
            <a:r>
              <a:rPr lang="en-US" sz="1500" b="1" dirty="0">
                <a:solidFill>
                  <a:srgbClr val="1B2433"/>
                </a:solidFill>
                <a:latin typeface="Calibri" pitchFamily="34" charset="0"/>
                <a:ea typeface="Calibri" pitchFamily="34" charset="-122"/>
                <a:cs typeface="Calibri" pitchFamily="34" charset="-120"/>
              </a:rPr>
              <a:t>build our own test set and checker</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2</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WHAT WAS MISSING</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The gap, in one table</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3931920"/>
                <a:gridCol w="1828800"/>
                <a:gridCol w="1645920"/>
                <a:gridCol w="1737360"/>
                <a:gridCol w="1920240"/>
              </a:tblGrid>
              <a:tr h="594360">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Feature absent from source</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Tamil / Dravidian</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Rationality studied</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Asks what metrics charge</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r>
              <a:tr h="594360">
                <a:tc>
                  <a:txBody>
                    <a:bodyPr/>
                    <a:lstStyle/>
                    <a:p>
                      <a:pPr algn="l" indent="0" marL="0">
                        <a:buNone/>
                      </a:pPr>
                      <a:r>
                        <a:rPr lang="en-US" sz="1500" dirty="0">
                          <a:solidFill>
                            <a:srgbClr val="1B2433"/>
                          </a:solidFill>
                          <a:latin typeface="Calibri" pitchFamily="34" charset="0"/>
                          <a:ea typeface="Calibri" pitchFamily="34" charset="-122"/>
                          <a:cs typeface="Calibri" pitchFamily="34" charset="-120"/>
                        </a:rPr>
                        <a:t>Propagation test sets (ContraPro, Morpheval, …)</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D55E0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D55E0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D55E0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D55E0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94360">
                <a:tc>
                  <a:txBody>
                    <a:bodyPr/>
                    <a:lstStyle/>
                    <a:p>
                      <a:pPr algn="l" indent="0" marL="0">
                        <a:buNone/>
                      </a:pPr>
                      <a:r>
                        <a:rPr lang="en-US" sz="1500" dirty="0">
                          <a:solidFill>
                            <a:srgbClr val="1B2433"/>
                          </a:solidFill>
                          <a:latin typeface="Calibri" pitchFamily="34" charset="0"/>
                          <a:ea typeface="Calibri" pitchFamily="34" charset="-122"/>
                          <a:cs typeface="Calibri" pitchFamily="34" charset="-120"/>
                        </a:rPr>
                        <a:t>Gender-skew studies (GENDER1PERSON, GRAPE, …)</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b="1" dirty="0">
                          <a:solidFill>
                            <a:srgbClr val="009E7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b="1" dirty="0">
                          <a:solidFill>
                            <a:srgbClr val="D55E0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b="1" dirty="0">
                          <a:solidFill>
                            <a:srgbClr val="D55E0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b="1" dirty="0">
                          <a:solidFill>
                            <a:srgbClr val="D55E0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594360">
                <a:tc>
                  <a:txBody>
                    <a:bodyPr/>
                    <a:lstStyle/>
                    <a:p>
                      <a:pPr algn="l" indent="0" marL="0">
                        <a:buNone/>
                      </a:pPr>
                      <a:r>
                        <a:rPr lang="en-US" sz="1500" dirty="0">
                          <a:solidFill>
                            <a:srgbClr val="1B2433"/>
                          </a:solidFill>
                          <a:latin typeface="Calibri" pitchFamily="34" charset="0"/>
                          <a:ea typeface="Calibri" pitchFamily="34" charset="-122"/>
                          <a:cs typeface="Calibri" pitchFamily="34" charset="-120"/>
                        </a:rPr>
                        <a:t>Formality tasks (CoCoA-MT, IWSLT)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5B6577"/>
                          </a:solidFill>
                          <a:latin typeface="Calibri" pitchFamily="34" charset="0"/>
                          <a:ea typeface="Calibri" pitchFamily="34" charset="-122"/>
                          <a:cs typeface="Calibri" pitchFamily="34" charset="-120"/>
                        </a:rPr>
                        <a:t>partly</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D55E0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D55E0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D55E0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94360">
                <a:tc>
                  <a:txBody>
                    <a:bodyPr/>
                    <a:lstStyle/>
                    <a:p>
                      <a:pPr algn="l" indent="0" marL="0">
                        <a:buNone/>
                      </a:pPr>
                      <a:r>
                        <a:rPr lang="en-US" sz="1500" dirty="0">
                          <a:solidFill>
                            <a:srgbClr val="1B2433"/>
                          </a:solidFill>
                          <a:latin typeface="Calibri" pitchFamily="34" charset="0"/>
                          <a:ea typeface="Calibri" pitchFamily="34" charset="-122"/>
                          <a:cs typeface="Calibri" pitchFamily="34" charset="-120"/>
                        </a:rPr>
                        <a:t>Metric test sets (DEMETR, ACES)</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b="1" dirty="0">
                          <a:solidFill>
                            <a:srgbClr val="D55E0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dirty="0">
                          <a:solidFill>
                            <a:srgbClr val="5B6577"/>
                          </a:solidFill>
                          <a:latin typeface="Calibri" pitchFamily="34" charset="0"/>
                          <a:ea typeface="Calibri" pitchFamily="34" charset="-122"/>
                          <a:cs typeface="Calibri" pitchFamily="34" charset="-120"/>
                        </a:rPr>
                        <a:t>partly</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b="1" dirty="0">
                          <a:solidFill>
                            <a:srgbClr val="D55E0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b="1" dirty="0">
                          <a:solidFill>
                            <a:srgbClr val="009E7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594360">
                <a:tc>
                  <a:txBody>
                    <a:bodyPr/>
                    <a:lstStyle/>
                    <a:p>
                      <a:pPr algn="l" indent="0" marL="0">
                        <a:buNone/>
                      </a:pPr>
                      <a:r>
                        <a:rPr lang="en-US" sz="1500" b="1" dirty="0">
                          <a:solidFill>
                            <a:srgbClr val="1B2433"/>
                          </a:solidFill>
                          <a:latin typeface="Calibri" pitchFamily="34" charset="0"/>
                          <a:ea typeface="Calibri" pitchFamily="34" charset="-122"/>
                          <a:cs typeface="Calibri" pitchFamily="34" charset="-120"/>
                        </a:rPr>
                        <a:t>This paper</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09E7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09E7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09E7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09E7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5486400"/>
            <a:ext cx="11064240" cy="566928"/>
          </a:xfrm>
          <a:prstGeom prst="roundRect">
            <a:avLst>
              <a:gd name="adj" fmla="val 12903"/>
            </a:avLst>
          </a:prstGeom>
          <a:solidFill>
            <a:srgbClr val="FBEBD2"/>
          </a:solidFill>
          <a:ln w="12700">
            <a:solidFill>
              <a:srgbClr val="E39B2D"/>
            </a:solidFill>
            <a:prstDash val="solid"/>
          </a:ln>
        </p:spPr>
      </p:sp>
      <p:sp>
        <p:nvSpPr>
          <p:cNvPr id="11" name="Text 7"/>
          <p:cNvSpPr/>
          <p:nvPr/>
        </p:nvSpPr>
        <p:spPr>
          <a:xfrm>
            <a:off x="777240" y="5486400"/>
            <a:ext cx="10607040" cy="566928"/>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We found </a:t>
            </a:r>
            <a:r>
              <a:rPr lang="en-US" sz="1500" b="1" dirty="0">
                <a:solidFill>
                  <a:srgbClr val="1B2433"/>
                </a:solidFill>
                <a:latin typeface="Calibri" pitchFamily="34" charset="0"/>
                <a:ea typeface="Calibri" pitchFamily="34" charset="-122"/>
                <a:cs typeface="Calibri" pitchFamily="34" charset="-120"/>
              </a:rPr>
              <a:t>no earlier study</a:t>
            </a:r>
            <a:r>
              <a:rPr lang="en-US" sz="1500" dirty="0">
                <a:solidFill>
                  <a:srgbClr val="1B2433"/>
                </a:solidFill>
                <a:latin typeface="Calibri" pitchFamily="34" charset="0"/>
                <a:ea typeface="Calibri" pitchFamily="34" charset="-122"/>
                <a:cs typeface="Calibri" pitchFamily="34" charset="-120"/>
              </a:rPr>
              <a:t> of </a:t>
            </a:r>
            <a:r>
              <a:rPr lang="en-US" sz="1500" b="1" dirty="0">
                <a:solidFill>
                  <a:srgbClr val="1B2433"/>
                </a:solidFill>
                <a:latin typeface="Calibri" pitchFamily="34" charset="0"/>
                <a:ea typeface="Calibri" pitchFamily="34" charset="-122"/>
                <a:cs typeface="Calibri" pitchFamily="34" charset="-120"/>
              </a:rPr>
              <a:t>what evaluation charges</a:t>
            </a:r>
            <a:r>
              <a:rPr lang="en-US" sz="1500" dirty="0">
                <a:solidFill>
                  <a:srgbClr val="1B2433"/>
                </a:solidFill>
                <a:latin typeface="Calibri" pitchFamily="34" charset="0"/>
                <a:ea typeface="Calibri" pitchFamily="34" charset="-122"/>
                <a:cs typeface="Calibri" pitchFamily="34" charset="-120"/>
              </a:rPr>
              <a:t> when a translation must fill a slot the source left </a:t>
            </a:r>
            <a:r>
              <a:rPr lang="en-US" sz="1500" b="1" dirty="0">
                <a:solidFill>
                  <a:srgbClr val="1B2433"/>
                </a:solidFill>
                <a:latin typeface="Calibri" pitchFamily="34" charset="0"/>
                <a:ea typeface="Calibri" pitchFamily="34" charset="-122"/>
                <a:cs typeface="Calibri" pitchFamily="34" charset="-120"/>
              </a:rPr>
              <a:t>empty</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2</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WHAT WAS MISSING</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What this paper contributes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22</a:t>
            </a:r>
            <a:endParaRPr lang="en-US" sz="900" dirty="0"/>
          </a:p>
        </p:txBody>
      </p:sp>
      <p:sp>
        <p:nvSpPr>
          <p:cNvPr id="9" name="Shape 6"/>
          <p:cNvSpPr/>
          <p:nvPr/>
        </p:nvSpPr>
        <p:spPr>
          <a:xfrm>
            <a:off x="548640" y="1828800"/>
            <a:ext cx="502920" cy="502920"/>
          </a:xfrm>
          <a:prstGeom prst="roundRect">
            <a:avLst>
              <a:gd name="adj" fmla="val 14545"/>
            </a:avLst>
          </a:prstGeom>
          <a:solidFill>
            <a:srgbClr val="1F3057"/>
          </a:solidFill>
          <a:ln w="12700">
            <a:solidFill>
              <a:srgbClr val="1F3057"/>
            </a:solidFill>
            <a:prstDash val="solid"/>
          </a:ln>
        </p:spPr>
      </p:sp>
      <p:sp>
        <p:nvSpPr>
          <p:cNvPr id="10" name="Text 7"/>
          <p:cNvSpPr/>
          <p:nvPr/>
        </p:nvSpPr>
        <p:spPr>
          <a:xfrm>
            <a:off x="548640" y="1828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8"/>
          <p:cNvSpPr/>
          <p:nvPr/>
        </p:nvSpPr>
        <p:spPr>
          <a:xfrm>
            <a:off x="1280160" y="1737360"/>
            <a:ext cx="10332720" cy="365760"/>
          </a:xfrm>
          <a:prstGeom prst="rect">
            <a:avLst/>
          </a:prstGeom>
          <a:noFill/>
          <a:ln/>
        </p:spPr>
        <p:txBody>
          <a:bodyPr wrap="square" lIns="0" tIns="0" rIns="0" bIns="0" rtlCol="0" anchor="t"/>
          <a:lstStyle/>
          <a:p>
            <a:pPr algn="l" indent="0" marL="0">
              <a:lnSpc>
                <a:spcPct val="100000"/>
              </a:lnSpc>
              <a:buNone/>
            </a:pPr>
            <a:r>
              <a:rPr lang="en-US" sz="1900" b="1" dirty="0">
                <a:solidFill>
                  <a:srgbClr val="1B2433"/>
                </a:solidFill>
                <a:latin typeface="Calibri" pitchFamily="34" charset="0"/>
                <a:ea typeface="Calibri" pitchFamily="34" charset="-122"/>
                <a:cs typeface="Calibri" pitchFamily="34" charset="-120"/>
              </a:rPr>
              <a:t>A measurement of what metrics charge</a:t>
            </a:r>
            <a:endParaRPr lang="en-US" sz="1900" dirty="0"/>
          </a:p>
        </p:txBody>
      </p:sp>
      <p:sp>
        <p:nvSpPr>
          <p:cNvPr id="12" name="Text 9"/>
          <p:cNvSpPr/>
          <p:nvPr/>
        </p:nvSpPr>
        <p:spPr>
          <a:xfrm>
            <a:off x="1280160" y="2121408"/>
            <a:ext cx="10332720" cy="365760"/>
          </a:xfrm>
          <a:prstGeom prst="rect">
            <a:avLst/>
          </a:prstGeom>
          <a:noFill/>
          <a:ln/>
        </p:spPr>
        <p:txBody>
          <a:bodyPr wrap="square" lIns="0" tIns="0" rIns="0" bIns="0" rtlCol="0" anchor="t"/>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for a wrong or missing value, including our failed prediction</a:t>
            </a:r>
            <a:endParaRPr lang="en-US" sz="1400" dirty="0"/>
          </a:p>
        </p:txBody>
      </p:sp>
      <p:sp>
        <p:nvSpPr>
          <p:cNvPr id="13" name="Shape 10"/>
          <p:cNvSpPr/>
          <p:nvPr/>
        </p:nvSpPr>
        <p:spPr>
          <a:xfrm>
            <a:off x="548640" y="2697480"/>
            <a:ext cx="502920" cy="502920"/>
          </a:xfrm>
          <a:prstGeom prst="roundRect">
            <a:avLst>
              <a:gd name="adj" fmla="val 14545"/>
            </a:avLst>
          </a:prstGeom>
          <a:solidFill>
            <a:srgbClr val="1F3057"/>
          </a:solidFill>
          <a:ln w="12700">
            <a:solidFill>
              <a:srgbClr val="1F3057"/>
            </a:solidFill>
            <a:prstDash val="solid"/>
          </a:ln>
        </p:spPr>
      </p:sp>
      <p:sp>
        <p:nvSpPr>
          <p:cNvPr id="14" name="Text 11"/>
          <p:cNvSpPr/>
          <p:nvPr/>
        </p:nvSpPr>
        <p:spPr>
          <a:xfrm>
            <a:off x="548640" y="2697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p:nvPr/>
        </p:nvSpPr>
        <p:spPr>
          <a:xfrm>
            <a:off x="1280160" y="2606040"/>
            <a:ext cx="10332720" cy="365760"/>
          </a:xfrm>
          <a:prstGeom prst="rect">
            <a:avLst/>
          </a:prstGeom>
          <a:noFill/>
          <a:ln/>
        </p:spPr>
        <p:txBody>
          <a:bodyPr wrap="square" lIns="0" tIns="0" rIns="0" bIns="0" rtlCol="0" anchor="t"/>
          <a:lstStyle/>
          <a:p>
            <a:pPr algn="l" indent="0" marL="0">
              <a:lnSpc>
                <a:spcPct val="100000"/>
              </a:lnSpc>
              <a:buNone/>
            </a:pPr>
            <a:r>
              <a:rPr lang="en-US" sz="1900" b="1" dirty="0">
                <a:solidFill>
                  <a:srgbClr val="1B2433"/>
                </a:solidFill>
                <a:latin typeface="Calibri" pitchFamily="34" charset="0"/>
                <a:ea typeface="Calibri" pitchFamily="34" charset="-122"/>
                <a:cs typeface="Calibri" pitchFamily="34" charset="-120"/>
              </a:rPr>
              <a:t>TamilLingBench</a:t>
            </a:r>
            <a:endParaRPr lang="en-US" sz="1900" dirty="0"/>
          </a:p>
        </p:txBody>
      </p:sp>
      <p:sp>
        <p:nvSpPr>
          <p:cNvPr id="16" name="Text 13"/>
          <p:cNvSpPr/>
          <p:nvPr/>
        </p:nvSpPr>
        <p:spPr>
          <a:xfrm>
            <a:off x="1280160" y="2990088"/>
            <a:ext cx="10332720" cy="365760"/>
          </a:xfrm>
          <a:prstGeom prst="rect">
            <a:avLst/>
          </a:prstGeom>
          <a:noFill/>
          <a:ln/>
        </p:spPr>
        <p:txBody>
          <a:bodyPr wrap="square" lIns="0" tIns="0" rIns="0" bIns="0" rtlCol="0" anchor="t"/>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a generator of test sentences + a rule-based Tamil checker, 12 automatic checks, reviewed by 2 native Tamil speakers</a:t>
            </a:r>
            <a:endParaRPr lang="en-US" sz="1400" dirty="0"/>
          </a:p>
        </p:txBody>
      </p:sp>
      <p:sp>
        <p:nvSpPr>
          <p:cNvPr id="17" name="Shape 14"/>
          <p:cNvSpPr/>
          <p:nvPr/>
        </p:nvSpPr>
        <p:spPr>
          <a:xfrm>
            <a:off x="548640" y="3566160"/>
            <a:ext cx="502920" cy="502920"/>
          </a:xfrm>
          <a:prstGeom prst="roundRect">
            <a:avLst>
              <a:gd name="adj" fmla="val 14545"/>
            </a:avLst>
          </a:prstGeom>
          <a:solidFill>
            <a:srgbClr val="1F3057"/>
          </a:solidFill>
          <a:ln w="12700">
            <a:solidFill>
              <a:srgbClr val="1F3057"/>
            </a:solidFill>
            <a:prstDash val="solid"/>
          </a:ln>
        </p:spPr>
      </p:sp>
      <p:sp>
        <p:nvSpPr>
          <p:cNvPr id="18" name="Text 15"/>
          <p:cNvSpPr/>
          <p:nvPr/>
        </p:nvSpPr>
        <p:spPr>
          <a:xfrm>
            <a:off x="548640" y="35661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6"/>
          <p:cNvSpPr/>
          <p:nvPr/>
        </p:nvSpPr>
        <p:spPr>
          <a:xfrm>
            <a:off x="1280160" y="3474720"/>
            <a:ext cx="10332720" cy="365760"/>
          </a:xfrm>
          <a:prstGeom prst="rect">
            <a:avLst/>
          </a:prstGeom>
          <a:noFill/>
          <a:ln/>
        </p:spPr>
        <p:txBody>
          <a:bodyPr wrap="square" lIns="0" tIns="0" rIns="0" bIns="0" rtlCol="0" anchor="t"/>
          <a:lstStyle/>
          <a:p>
            <a:pPr algn="l" indent="0" marL="0">
              <a:lnSpc>
                <a:spcPct val="100000"/>
              </a:lnSpc>
              <a:buNone/>
            </a:pPr>
            <a:r>
              <a:rPr lang="en-US" sz="1900" b="1" dirty="0">
                <a:solidFill>
                  <a:srgbClr val="1B2433"/>
                </a:solidFill>
                <a:latin typeface="Calibri" pitchFamily="34" charset="0"/>
                <a:ea typeface="Calibri" pitchFamily="34" charset="-122"/>
                <a:cs typeface="Calibri" pitchFamily="34" charset="-120"/>
              </a:rPr>
              <a:t>Three flaws in our own first release</a:t>
            </a:r>
            <a:endParaRPr lang="en-US" sz="1900" dirty="0"/>
          </a:p>
        </p:txBody>
      </p:sp>
      <p:sp>
        <p:nvSpPr>
          <p:cNvPr id="20" name="Text 17"/>
          <p:cNvSpPr/>
          <p:nvPr/>
        </p:nvSpPr>
        <p:spPr>
          <a:xfrm>
            <a:off x="1280160" y="3858768"/>
            <a:ext cx="10332720" cy="365760"/>
          </a:xfrm>
          <a:prstGeom prst="rect">
            <a:avLst/>
          </a:prstGeom>
          <a:noFill/>
          <a:ln/>
        </p:spPr>
        <p:txBody>
          <a:bodyPr wrap="square" lIns="0" tIns="0" rIns="0" bIns="0" rtlCol="0" anchor="t"/>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and the automated audit that caught them</a:t>
            </a:r>
            <a:endParaRPr lang="en-US" sz="1400" dirty="0"/>
          </a:p>
        </p:txBody>
      </p:sp>
      <p:sp>
        <p:nvSpPr>
          <p:cNvPr id="21" name="Shape 18"/>
          <p:cNvSpPr/>
          <p:nvPr/>
        </p:nvSpPr>
        <p:spPr>
          <a:xfrm>
            <a:off x="548640" y="4434840"/>
            <a:ext cx="502920" cy="502920"/>
          </a:xfrm>
          <a:prstGeom prst="roundRect">
            <a:avLst>
              <a:gd name="adj" fmla="val 14545"/>
            </a:avLst>
          </a:prstGeom>
          <a:solidFill>
            <a:srgbClr val="1F3057"/>
          </a:solidFill>
          <a:ln w="12700">
            <a:solidFill>
              <a:srgbClr val="1F3057"/>
            </a:solidFill>
            <a:prstDash val="solid"/>
          </a:ln>
        </p:spPr>
      </p:sp>
      <p:sp>
        <p:nvSpPr>
          <p:cNvPr id="22" name="Text 19"/>
          <p:cNvSpPr/>
          <p:nvPr/>
        </p:nvSpPr>
        <p:spPr>
          <a:xfrm>
            <a:off x="54864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0"/>
          <p:cNvSpPr/>
          <p:nvPr/>
        </p:nvSpPr>
        <p:spPr>
          <a:xfrm>
            <a:off x="1280160" y="4343400"/>
            <a:ext cx="10332720" cy="365760"/>
          </a:xfrm>
          <a:prstGeom prst="rect">
            <a:avLst/>
          </a:prstGeom>
          <a:noFill/>
          <a:ln/>
        </p:spPr>
        <p:txBody>
          <a:bodyPr wrap="square" lIns="0" tIns="0" rIns="0" bIns="0" rtlCol="0" anchor="t"/>
          <a:lstStyle/>
          <a:p>
            <a:pPr algn="l" indent="0" marL="0">
              <a:lnSpc>
                <a:spcPct val="100000"/>
              </a:lnSpc>
              <a:buNone/>
            </a:pPr>
            <a:r>
              <a:rPr lang="en-US" sz="1900" b="1" dirty="0">
                <a:solidFill>
                  <a:srgbClr val="1B2433"/>
                </a:solidFill>
                <a:latin typeface="Calibri" pitchFamily="34" charset="0"/>
                <a:ea typeface="Calibri" pitchFamily="34" charset="-122"/>
                <a:cs typeface="Calibri" pitchFamily="34" charset="-120"/>
              </a:rPr>
              <a:t>A pre-registered test inside one model</a:t>
            </a:r>
            <a:endParaRPr lang="en-US" sz="1900" dirty="0"/>
          </a:p>
        </p:txBody>
      </p:sp>
      <p:sp>
        <p:nvSpPr>
          <p:cNvPr id="24" name="Text 21"/>
          <p:cNvSpPr/>
          <p:nvPr/>
        </p:nvSpPr>
        <p:spPr>
          <a:xfrm>
            <a:off x="1280160" y="4727448"/>
            <a:ext cx="10332720" cy="365760"/>
          </a:xfrm>
          <a:prstGeom prst="rect">
            <a:avLst/>
          </a:prstGeom>
          <a:noFill/>
          <a:ln/>
        </p:spPr>
        <p:txBody>
          <a:bodyPr wrap="square" lIns="0" tIns="0" rIns="0" bIns="0" rtlCol="0" anchor="t"/>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where the decision is made, reported with the part that failed</a:t>
            </a:r>
            <a:endParaRPr lang="en-US" sz="1400" dirty="0"/>
          </a:p>
        </p:txBody>
      </p:sp>
      <p:sp>
        <p:nvSpPr>
          <p:cNvPr id="25" name="Shape 22"/>
          <p:cNvSpPr/>
          <p:nvPr/>
        </p:nvSpPr>
        <p:spPr>
          <a:xfrm>
            <a:off x="548640" y="5303520"/>
            <a:ext cx="502920" cy="502920"/>
          </a:xfrm>
          <a:prstGeom prst="roundRect">
            <a:avLst>
              <a:gd name="adj" fmla="val 14545"/>
            </a:avLst>
          </a:prstGeom>
          <a:solidFill>
            <a:srgbClr val="1F3057"/>
          </a:solidFill>
          <a:ln w="12700">
            <a:solidFill>
              <a:srgbClr val="1F3057"/>
            </a:solidFill>
            <a:prstDash val="solid"/>
          </a:ln>
        </p:spPr>
      </p:sp>
      <p:sp>
        <p:nvSpPr>
          <p:cNvPr id="26" name="Text 23"/>
          <p:cNvSpPr/>
          <p:nvPr/>
        </p:nvSpPr>
        <p:spPr>
          <a:xfrm>
            <a:off x="548640" y="5303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4"/>
          <p:cNvSpPr/>
          <p:nvPr/>
        </p:nvSpPr>
        <p:spPr>
          <a:xfrm>
            <a:off x="1280160" y="5212080"/>
            <a:ext cx="10332720" cy="365760"/>
          </a:xfrm>
          <a:prstGeom prst="rect">
            <a:avLst/>
          </a:prstGeom>
          <a:noFill/>
          <a:ln/>
        </p:spPr>
        <p:txBody>
          <a:bodyPr wrap="square" lIns="0" tIns="0" rIns="0" bIns="0" rtlCol="0" anchor="t"/>
          <a:lstStyle/>
          <a:p>
            <a:pPr algn="l" indent="0" marL="0">
              <a:lnSpc>
                <a:spcPct val="100000"/>
              </a:lnSpc>
              <a:buNone/>
            </a:pPr>
            <a:r>
              <a:rPr lang="en-US" sz="1900" b="1" dirty="0">
                <a:solidFill>
                  <a:srgbClr val="1B2433"/>
                </a:solidFill>
                <a:latin typeface="Calibri" pitchFamily="34" charset="0"/>
                <a:ea typeface="Calibri" pitchFamily="34" charset="-122"/>
                <a:cs typeface="Calibri" pitchFamily="34" charset="-120"/>
              </a:rPr>
              <a:t>Measurements of 13 translation systems</a:t>
            </a:r>
            <a:endParaRPr lang="en-US" sz="1900" dirty="0"/>
          </a:p>
        </p:txBody>
      </p:sp>
      <p:sp>
        <p:nvSpPr>
          <p:cNvPr id="28" name="Text 25"/>
          <p:cNvSpPr/>
          <p:nvPr/>
        </p:nvSpPr>
        <p:spPr>
          <a:xfrm>
            <a:off x="1280160" y="5596128"/>
            <a:ext cx="10332720" cy="365760"/>
          </a:xfrm>
          <a:prstGeom prst="rect">
            <a:avLst/>
          </a:prstGeom>
          <a:noFill/>
          <a:ln/>
        </p:spPr>
        <p:txBody>
          <a:bodyPr wrap="square" lIns="0" tIns="0" rIns="0" bIns="0" rtlCol="0" anchor="t"/>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preliminary, plus facts about gaps in Tamil language data</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286000"/>
            <a:ext cx="1371600" cy="1097280"/>
          </a:xfrm>
          <a:prstGeom prst="roundRect">
            <a:avLst>
              <a:gd name="adj" fmla="val 10000"/>
            </a:avLst>
          </a:prstGeom>
          <a:solidFill>
            <a:srgbClr val="14213D"/>
          </a:solidFill>
          <a:ln w="31750">
            <a:solidFill>
              <a:srgbClr val="E39B2D"/>
            </a:solidFill>
            <a:prstDash val="dash"/>
          </a:ln>
        </p:spPr>
      </p:sp>
      <p:sp>
        <p:nvSpPr>
          <p:cNvPr id="3" name="Text 1"/>
          <p:cNvSpPr/>
          <p:nvPr/>
        </p:nvSpPr>
        <p:spPr>
          <a:xfrm>
            <a:off x="822960" y="2286000"/>
            <a:ext cx="1371600" cy="1097280"/>
          </a:xfrm>
          <a:prstGeom prst="rect">
            <a:avLst/>
          </a:prstGeom>
          <a:noFill/>
          <a:ln/>
        </p:spPr>
        <p:txBody>
          <a:bodyPr wrap="square" lIns="0" tIns="0" rIns="0" bIns="0" rtlCol="0" anchor="ctr"/>
          <a:lstStyle/>
          <a:p>
            <a:pPr algn="ctr" indent="0" marL="0">
              <a:buNone/>
            </a:pPr>
            <a:r>
              <a:rPr lang="en-US" sz="4800" b="1" dirty="0">
                <a:solidFill>
                  <a:srgbClr val="E39B2D"/>
                </a:solidFill>
                <a:latin typeface="Calibri" pitchFamily="34" charset="0"/>
                <a:ea typeface="Calibri" pitchFamily="34" charset="-122"/>
                <a:cs typeface="Calibri" pitchFamily="34" charset="-120"/>
              </a:rPr>
              <a:t>3</a:t>
            </a:r>
            <a:endParaRPr lang="en-US" sz="4800" dirty="0"/>
          </a:p>
        </p:txBody>
      </p:sp>
      <p:sp>
        <p:nvSpPr>
          <p:cNvPr id="4" name="Text 2"/>
          <p:cNvSpPr/>
          <p:nvPr/>
        </p:nvSpPr>
        <p:spPr>
          <a:xfrm>
            <a:off x="2560320" y="1097280"/>
            <a:ext cx="9052560" cy="1965960"/>
          </a:xfrm>
          <a:prstGeom prst="rect">
            <a:avLst/>
          </a:prstGeom>
          <a:noFill/>
          <a:ln/>
        </p:spPr>
        <p:txBody>
          <a:bodyPr wrap="square" lIns="0" tIns="0" rIns="0" bIns="0" rtlCol="0" anchor="b"/>
          <a:lstStyle/>
          <a:p>
            <a:pPr indent="0" marL="0">
              <a:buNone/>
            </a:pPr>
            <a:r>
              <a:rPr lang="en-US" sz="3600" b="1" dirty="0">
                <a:solidFill>
                  <a:srgbClr val="FFFFFF"/>
                </a:solidFill>
                <a:latin typeface="Georgia" pitchFamily="34" charset="0"/>
                <a:ea typeface="Georgia" pitchFamily="34" charset="-122"/>
                <a:cs typeface="Georgia" pitchFamily="34" charset="-120"/>
              </a:rPr>
              <a:t>Our test set: TamilLingBench</a:t>
            </a:r>
            <a:endParaRPr lang="en-US" sz="3600" dirty="0"/>
          </a:p>
        </p:txBody>
      </p:sp>
      <p:sp>
        <p:nvSpPr>
          <p:cNvPr id="5" name="Text 3"/>
          <p:cNvSpPr/>
          <p:nvPr/>
        </p:nvSpPr>
        <p:spPr>
          <a:xfrm>
            <a:off x="2560320" y="3246120"/>
            <a:ext cx="9052560" cy="1280160"/>
          </a:xfrm>
          <a:prstGeom prst="rect">
            <a:avLst/>
          </a:prstGeom>
          <a:noFill/>
          <a:ln/>
        </p:spPr>
        <p:txBody>
          <a:bodyPr wrap="square" lIns="0" tIns="0" rIns="0" bIns="0" rtlCol="0" anchor="t"/>
          <a:lstStyle/>
          <a:p>
            <a:pPr indent="0" marL="0">
              <a:buNone/>
            </a:pPr>
            <a:r>
              <a:rPr lang="en-US" sz="1800" dirty="0">
                <a:solidFill>
                  <a:srgbClr val="C9D2E3"/>
                </a:solidFill>
                <a:latin typeface="Calibri" pitchFamily="34" charset="0"/>
                <a:ea typeface="Calibri" pitchFamily="34" charset="-122"/>
                <a:cs typeface="Calibri" pitchFamily="34" charset="-120"/>
              </a:rPr>
              <a:t>Which slots, which conditions, how items are made, and how Tamil is checked automatically.</a:t>
            </a:r>
            <a:endParaRPr lang="en-US" sz="1800" dirty="0"/>
          </a:p>
        </p:txBody>
      </p:sp>
      <p:sp>
        <p:nvSpPr>
          <p:cNvPr id="6" name="Text 4"/>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7D8AA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3</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OUR TEST SET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What we test: three slots, three different roles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2194560"/>
                <a:gridCol w="4206240"/>
                <a:gridCol w="2103120"/>
                <a:gridCol w="2560320"/>
              </a:tblGrid>
              <a:tr h="64008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Slot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Tamil forms tested</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Earlier MT research</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Role in this paper</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r>
              <a:tr h="640080">
                <a:tc>
                  <a:txBody>
                    <a:bodyPr/>
                    <a:lstStyle/>
                    <a:p>
                      <a:pPr algn="l" indent="0" marL="0">
                        <a:buNone/>
                      </a:pPr>
                      <a:r>
                        <a:rPr lang="en-US" sz="1500" b="1" dirty="0">
                          <a:solidFill>
                            <a:srgbClr val="1B2433"/>
                          </a:solidFill>
                          <a:latin typeface="Calibri" pitchFamily="34" charset="0"/>
                          <a:ea typeface="Calibri" pitchFamily="34" charset="-122"/>
                          <a:cs typeface="Calibri" pitchFamily="34" charset="-120"/>
                        </a:rPr>
                        <a:t>Rationality (திணை)</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வந்தார்கள் / வந்தன  (vantārkaḷ / vantaṉa)</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D55E00"/>
                          </a:solidFill>
                          <a:latin typeface="Calibri" pitchFamily="34" charset="0"/>
                          <a:ea typeface="Calibri" pitchFamily="34" charset="-122"/>
                          <a:cs typeface="Calibri" pitchFamily="34" charset="-120"/>
                        </a:rPr>
                        <a:t>none found</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new; results provisional</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40080">
                <a:tc>
                  <a:txBody>
                    <a:bodyPr/>
                    <a:lstStyle/>
                    <a:p>
                      <a:pPr algn="l" indent="0" marL="0">
                        <a:buNone/>
                      </a:pPr>
                      <a:r>
                        <a:rPr lang="en-US" sz="1500" b="1" dirty="0">
                          <a:solidFill>
                            <a:srgbClr val="1B2433"/>
                          </a:solidFill>
                          <a:latin typeface="Calibri" pitchFamily="34" charset="0"/>
                          <a:ea typeface="Calibri" pitchFamily="34" charset="-122"/>
                          <a:cs typeface="Calibri" pitchFamily="34" charset="-120"/>
                        </a:rPr>
                        <a:t>Gender</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வந்தான் / வந்தாள் / வந்தார்  (vantāṉ / vantāḷ / vantār)</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heavily studied</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comparison with earlier gender research</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640080">
                <a:tc>
                  <a:txBody>
                    <a:bodyPr/>
                    <a:lstStyle/>
                    <a:p>
                      <a:pPr algn="l" indent="0" marL="0">
                        <a:buNone/>
                      </a:pPr>
                      <a:r>
                        <a:rPr lang="en-US" sz="1500" b="1" dirty="0">
                          <a:solidFill>
                            <a:srgbClr val="1B2433"/>
                          </a:solidFill>
                          <a:latin typeface="Calibri" pitchFamily="34" charset="0"/>
                          <a:ea typeface="Calibri" pitchFamily="34" charset="-122"/>
                          <a:cs typeface="Calibri" pitchFamily="34" charset="-120"/>
                        </a:rPr>
                        <a:t>Number</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வந்தது / வந்தன  (vantatu / vantaṉa)</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marked in both languages</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control: should be easy</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4526280"/>
            <a:ext cx="11064240" cy="1463040"/>
          </a:xfrm>
          <a:prstGeom prst="roundRect">
            <a:avLst>
              <a:gd name="adj" fmla="val 5000"/>
            </a:avLst>
          </a:prstGeom>
          <a:solidFill>
            <a:srgbClr val="F2F4F8"/>
          </a:solidFill>
          <a:ln w="12700">
            <a:solidFill>
              <a:srgbClr val="F2F4F8"/>
            </a:solidFill>
            <a:prstDash val="solid"/>
          </a:ln>
        </p:spPr>
      </p:sp>
      <p:sp>
        <p:nvSpPr>
          <p:cNvPr id="11" name="Text 7"/>
          <p:cNvSpPr/>
          <p:nvPr/>
        </p:nvSpPr>
        <p:spPr>
          <a:xfrm>
            <a:off x="749808" y="4672584"/>
            <a:ext cx="10661904" cy="713232"/>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Removed: polite vs informal "you" (நீ / நீங்கள்) and inclusive vs exclusive "we" (நாம் "we, including you" / நாங்கள் "we, not you")</a:t>
            </a:r>
            <a:endParaRPr lang="en-US" sz="1700" dirty="0"/>
          </a:p>
        </p:txBody>
      </p:sp>
      <p:sp>
        <p:nvSpPr>
          <p:cNvPr id="12" name="Text 8"/>
          <p:cNvSpPr/>
          <p:nvPr/>
        </p:nvSpPr>
        <p:spPr>
          <a:xfrm>
            <a:off x="749808" y="5385816"/>
            <a:ext cx="10661904" cy="457200"/>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Tested in earlier versions, then removed because their test sentences were badly built. No results are reported for them.</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3</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OUR TEST SET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What a "control" is, and why number is ours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25</a:t>
            </a:r>
            <a:endParaRPr lang="en-US" sz="900" dirty="0"/>
          </a:p>
        </p:txBody>
      </p:sp>
      <p:sp>
        <p:nvSpPr>
          <p:cNvPr id="9" name="Shape 6"/>
          <p:cNvSpPr/>
          <p:nvPr/>
        </p:nvSpPr>
        <p:spPr>
          <a:xfrm>
            <a:off x="548640" y="1737360"/>
            <a:ext cx="5394960" cy="3429000"/>
          </a:xfrm>
          <a:prstGeom prst="roundRect">
            <a:avLst>
              <a:gd name="adj" fmla="val 2133"/>
            </a:avLst>
          </a:prstGeom>
          <a:solidFill>
            <a:srgbClr val="DCEBF6"/>
          </a:solidFill>
          <a:ln w="12700">
            <a:solidFill>
              <a:srgbClr val="DCEBF6"/>
            </a:solidFill>
            <a:prstDash val="solid"/>
          </a:ln>
        </p:spPr>
      </p:sp>
      <p:sp>
        <p:nvSpPr>
          <p:cNvPr id="10" name="Text 7"/>
          <p:cNvSpPr/>
          <p:nvPr/>
        </p:nvSpPr>
        <p:spPr>
          <a:xfrm>
            <a:off x="777240" y="1874520"/>
            <a:ext cx="5029200" cy="411480"/>
          </a:xfrm>
          <a:prstGeom prst="rect">
            <a:avLst/>
          </a:prstGeom>
          <a:noFill/>
          <a:ln/>
        </p:spPr>
        <p:txBody>
          <a:bodyPr wrap="square" lIns="0" tIns="0" rIns="0" bIns="0" rtlCol="0" anchor="t"/>
          <a:lstStyle/>
          <a:p>
            <a:pPr algn="l" indent="0" marL="0">
              <a:lnSpc>
                <a:spcPct val="100000"/>
              </a:lnSpc>
              <a:buNone/>
            </a:pPr>
            <a:r>
              <a:rPr lang="en-US" sz="1800" dirty="0">
                <a:solidFill>
                  <a:srgbClr val="0072B2"/>
                </a:solidFill>
                <a:latin typeface="Calibri" pitchFamily="34" charset="0"/>
                <a:ea typeface="Calibri" pitchFamily="34" charset="-122"/>
                <a:cs typeface="Calibri" pitchFamily="34" charset="-120"/>
              </a:rPr>
              <a:t>Number: English </a:t>
            </a:r>
            <a:r>
              <a:rPr lang="en-US" sz="1800" b="1" dirty="0">
                <a:solidFill>
                  <a:srgbClr val="0072B2"/>
                </a:solidFill>
                <a:latin typeface="Calibri" pitchFamily="34" charset="0"/>
                <a:ea typeface="Calibri" pitchFamily="34" charset="-122"/>
                <a:cs typeface="Calibri" pitchFamily="34" charset="-120"/>
              </a:rPr>
              <a:t>does</a:t>
            </a:r>
            <a:r>
              <a:rPr lang="en-US" sz="1800" dirty="0">
                <a:solidFill>
                  <a:srgbClr val="0072B2"/>
                </a:solidFill>
                <a:latin typeface="Calibri" pitchFamily="34" charset="0"/>
                <a:ea typeface="Calibri" pitchFamily="34" charset="-122"/>
                <a:cs typeface="Calibri" pitchFamily="34" charset="-120"/>
              </a:rPr>
              <a:t> mark it</a:t>
            </a:r>
            <a:endParaRPr lang="en-US" sz="1800" dirty="0"/>
          </a:p>
        </p:txBody>
      </p:sp>
      <p:sp>
        <p:nvSpPr>
          <p:cNvPr id="11" name="Text 8"/>
          <p:cNvSpPr/>
          <p:nvPr/>
        </p:nvSpPr>
        <p:spPr>
          <a:xfrm>
            <a:off x="777240" y="2377440"/>
            <a:ext cx="5029200" cy="365760"/>
          </a:xfrm>
          <a:prstGeom prst="rect">
            <a:avLst/>
          </a:prstGeom>
          <a:noFill/>
          <a:ln/>
        </p:spPr>
        <p:txBody>
          <a:bodyPr wrap="square" lIns="0" tIns="0" rIns="0" bIns="0" rtlCol="0" anchor="t"/>
          <a:lstStyle/>
          <a:p>
            <a:pPr algn="l" indent="0" marL="0">
              <a:lnSpc>
                <a:spcPct val="100000"/>
              </a:lnSpc>
              <a:buNone/>
            </a:pPr>
            <a:r>
              <a:rPr lang="en-US" sz="1500" i="1" dirty="0">
                <a:solidFill>
                  <a:srgbClr val="1B2433"/>
                </a:solidFill>
                <a:latin typeface="Calibri" pitchFamily="34" charset="0"/>
                <a:ea typeface="Calibri" pitchFamily="34" charset="-122"/>
                <a:cs typeface="Calibri" pitchFamily="34" charset="-120"/>
              </a:rPr>
              <a:t>The cow moved outside the gate.</a:t>
            </a:r>
            <a:endParaRPr lang="en-US" sz="1500" dirty="0"/>
          </a:p>
        </p:txBody>
      </p:sp>
      <p:sp>
        <p:nvSpPr>
          <p:cNvPr id="12" name="Shape 9"/>
          <p:cNvSpPr/>
          <p:nvPr/>
        </p:nvSpPr>
        <p:spPr>
          <a:xfrm>
            <a:off x="777240" y="2743200"/>
            <a:ext cx="4937760" cy="868680"/>
          </a:xfrm>
          <a:prstGeom prst="roundRect">
            <a:avLst>
              <a:gd name="adj" fmla="val 8421"/>
            </a:avLst>
          </a:prstGeom>
          <a:solidFill>
            <a:srgbClr val="FFFFFF"/>
          </a:solidFill>
          <a:ln w="19050">
            <a:solidFill>
              <a:srgbClr val="0072B2"/>
            </a:solidFill>
            <a:prstDash val="solid"/>
          </a:ln>
        </p:spPr>
      </p:sp>
      <p:sp>
        <p:nvSpPr>
          <p:cNvPr id="13" name="Text 10"/>
          <p:cNvSpPr/>
          <p:nvPr/>
        </p:nvSpPr>
        <p:spPr>
          <a:xfrm>
            <a:off x="868680" y="2852928"/>
            <a:ext cx="4754880" cy="390906"/>
          </a:xfrm>
          <a:prstGeom prst="rect">
            <a:avLst/>
          </a:prstGeom>
          <a:noFill/>
          <a:ln/>
        </p:spPr>
        <p:txBody>
          <a:bodyPr wrap="square" lIns="0" tIns="0" rIns="0" bIns="0" rtlCol="0" anchor="ctr"/>
          <a:lstStyle/>
          <a:p>
            <a:pPr algn="ctr" indent="0" marL="0">
              <a:buNone/>
            </a:pPr>
            <a:r>
              <a:rPr lang="en-US" sz="2000" dirty="0">
                <a:solidFill>
                  <a:srgbClr val="1B2433"/>
                </a:solidFill>
                <a:latin typeface="Calibri" pitchFamily="34" charset="0"/>
                <a:ea typeface="Calibri" pitchFamily="34" charset="-122"/>
                <a:cs typeface="Calibri" pitchFamily="34" charset="-120"/>
              </a:rPr>
              <a:t>மாடு நகர்ந்தது.</a:t>
            </a:r>
            <a:endParaRPr lang="en-US" sz="2000" dirty="0"/>
          </a:p>
        </p:txBody>
      </p:sp>
      <p:sp>
        <p:nvSpPr>
          <p:cNvPr id="14" name="Text 11"/>
          <p:cNvSpPr/>
          <p:nvPr/>
        </p:nvSpPr>
        <p:spPr>
          <a:xfrm>
            <a:off x="868680" y="3243834"/>
            <a:ext cx="4754880" cy="231140"/>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māṭu nakarntatu.</a:t>
            </a:r>
            <a:endParaRPr lang="en-US" sz="1400" dirty="0"/>
          </a:p>
        </p:txBody>
      </p:sp>
      <p:sp>
        <p:nvSpPr>
          <p:cNvPr id="15" name="Text 12"/>
          <p:cNvSpPr/>
          <p:nvPr/>
        </p:nvSpPr>
        <p:spPr>
          <a:xfrm>
            <a:off x="777240" y="3749040"/>
            <a:ext cx="5029200" cy="365760"/>
          </a:xfrm>
          <a:prstGeom prst="rect">
            <a:avLst/>
          </a:prstGeom>
          <a:noFill/>
          <a:ln/>
        </p:spPr>
        <p:txBody>
          <a:bodyPr wrap="square" lIns="0" tIns="0" rIns="0" bIns="0" rtlCol="0" anchor="t"/>
          <a:lstStyle/>
          <a:p>
            <a:pPr algn="l" indent="0" marL="0">
              <a:lnSpc>
                <a:spcPct val="100000"/>
              </a:lnSpc>
              <a:buNone/>
            </a:pPr>
            <a:r>
              <a:rPr lang="en-US" sz="1500" i="1" dirty="0">
                <a:solidFill>
                  <a:srgbClr val="1B2433"/>
                </a:solidFill>
                <a:latin typeface="Calibri" pitchFamily="34" charset="0"/>
                <a:ea typeface="Calibri" pitchFamily="34" charset="-122"/>
                <a:cs typeface="Calibri" pitchFamily="34" charset="-120"/>
              </a:rPr>
              <a:t>The cows moved outside the gate.</a:t>
            </a:r>
            <a:endParaRPr lang="en-US" sz="1500" dirty="0"/>
          </a:p>
        </p:txBody>
      </p:sp>
      <p:sp>
        <p:nvSpPr>
          <p:cNvPr id="16" name="Shape 13"/>
          <p:cNvSpPr/>
          <p:nvPr/>
        </p:nvSpPr>
        <p:spPr>
          <a:xfrm>
            <a:off x="777240" y="4114800"/>
            <a:ext cx="4937760" cy="868680"/>
          </a:xfrm>
          <a:prstGeom prst="roundRect">
            <a:avLst>
              <a:gd name="adj" fmla="val 8421"/>
            </a:avLst>
          </a:prstGeom>
          <a:solidFill>
            <a:srgbClr val="FFFFFF"/>
          </a:solidFill>
          <a:ln w="19050">
            <a:solidFill>
              <a:srgbClr val="0072B2"/>
            </a:solidFill>
            <a:prstDash val="solid"/>
          </a:ln>
        </p:spPr>
      </p:sp>
      <p:sp>
        <p:nvSpPr>
          <p:cNvPr id="17" name="Text 14"/>
          <p:cNvSpPr/>
          <p:nvPr/>
        </p:nvSpPr>
        <p:spPr>
          <a:xfrm>
            <a:off x="868680" y="4224528"/>
            <a:ext cx="4754880" cy="390906"/>
          </a:xfrm>
          <a:prstGeom prst="rect">
            <a:avLst/>
          </a:prstGeom>
          <a:noFill/>
          <a:ln/>
        </p:spPr>
        <p:txBody>
          <a:bodyPr wrap="square" lIns="0" tIns="0" rIns="0" bIns="0" rtlCol="0" anchor="ctr"/>
          <a:lstStyle/>
          <a:p>
            <a:pPr algn="ctr" indent="0" marL="0">
              <a:buNone/>
            </a:pPr>
            <a:r>
              <a:rPr lang="en-US" sz="2000" dirty="0">
                <a:solidFill>
                  <a:srgbClr val="1B2433"/>
                </a:solidFill>
                <a:latin typeface="Calibri" pitchFamily="34" charset="0"/>
                <a:ea typeface="Calibri" pitchFamily="34" charset="-122"/>
                <a:cs typeface="Calibri" pitchFamily="34" charset="-120"/>
              </a:rPr>
              <a:t>மாடுகள் நகர்ந்தன.</a:t>
            </a:r>
            <a:endParaRPr lang="en-US" sz="2000" dirty="0"/>
          </a:p>
        </p:txBody>
      </p:sp>
      <p:sp>
        <p:nvSpPr>
          <p:cNvPr id="18" name="Text 15"/>
          <p:cNvSpPr/>
          <p:nvPr/>
        </p:nvSpPr>
        <p:spPr>
          <a:xfrm>
            <a:off x="868680" y="4615434"/>
            <a:ext cx="4754880" cy="231140"/>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māṭukaḷ nakarntaṉa.</a:t>
            </a:r>
            <a:endParaRPr lang="en-US" sz="1400" dirty="0"/>
          </a:p>
        </p:txBody>
      </p:sp>
      <p:sp>
        <p:nvSpPr>
          <p:cNvPr id="19" name="Text 16"/>
          <p:cNvSpPr/>
          <p:nvPr/>
        </p:nvSpPr>
        <p:spPr>
          <a:xfrm>
            <a:off x="6217920" y="1737360"/>
            <a:ext cx="5394960" cy="3840480"/>
          </a:xfrm>
          <a:prstGeom prst="rect">
            <a:avLst/>
          </a:prstGeom>
          <a:noFill/>
          <a:ln/>
        </p:spPr>
        <p:txBody>
          <a:bodyPr wrap="square" lIns="0" tIns="0" rIns="0" bIns="0" rtlCol="0" anchor="t"/>
          <a:lstStyle/>
          <a:p>
            <a:pPr marL="228600" indent="-228600">
              <a:lnSpc>
                <a:spcPct val="105000"/>
              </a:lnSpc>
              <a:spcAft>
                <a:spcPts val="800"/>
              </a:spcAft>
              <a:buSzPct val="100000"/>
              <a:buChar char="•"/>
            </a:pPr>
            <a:r>
              <a:rPr lang="en-US" sz="1600" dirty="0">
                <a:solidFill>
                  <a:srgbClr val="1B2433"/>
                </a:solidFill>
                <a:latin typeface="Calibri" pitchFamily="34" charset="0"/>
                <a:ea typeface="Calibri" pitchFamily="34" charset="-122"/>
                <a:cs typeface="Calibri" pitchFamily="34" charset="-120"/>
              </a:rPr>
              <a:t>A </a:t>
            </a:r>
            <a:r>
              <a:rPr lang="en-US" sz="1600" b="1" dirty="0">
                <a:solidFill>
                  <a:srgbClr val="1B2433"/>
                </a:solidFill>
                <a:latin typeface="Calibri" pitchFamily="34" charset="0"/>
                <a:ea typeface="Calibri" pitchFamily="34" charset="-122"/>
                <a:cs typeface="Calibri" pitchFamily="34" charset="-120"/>
              </a:rPr>
              <a:t>control</a:t>
            </a:r>
            <a:r>
              <a:rPr lang="en-US" sz="1600" dirty="0">
                <a:solidFill>
                  <a:srgbClr val="1B2433"/>
                </a:solidFill>
                <a:latin typeface="Calibri" pitchFamily="34" charset="0"/>
                <a:ea typeface="Calibri" pitchFamily="34" charset="-122"/>
                <a:cs typeface="Calibri" pitchFamily="34" charset="-120"/>
              </a:rPr>
              <a:t> is a part of the experiment where you already know the expected answer.</a:t>
            </a:r>
            <a:endParaRPr lang="en-US" sz="1600" dirty="0"/>
          </a:p>
          <a:p>
            <a:pPr marL="228600" indent="-228600">
              <a:lnSpc>
                <a:spcPct val="105000"/>
              </a:lnSpc>
              <a:spcAft>
                <a:spcPts val="800"/>
              </a:spcAft>
              <a:buSzPct val="100000"/>
              <a:buChar char="•"/>
            </a:pPr>
            <a:r>
              <a:rPr lang="en-US" sz="1600" dirty="0">
                <a:solidFill>
                  <a:srgbClr val="1B2433"/>
                </a:solidFill>
                <a:latin typeface="Calibri" pitchFamily="34" charset="0"/>
                <a:ea typeface="Calibri" pitchFamily="34" charset="-122"/>
                <a:cs typeface="Calibri" pitchFamily="34" charset="-120"/>
              </a:rPr>
              <a:t>If systems fail the control, suspect the </a:t>
            </a:r>
            <a:r>
              <a:rPr lang="en-US" sz="1600" b="1" dirty="0">
                <a:solidFill>
                  <a:srgbClr val="1B2433"/>
                </a:solidFill>
                <a:latin typeface="Calibri" pitchFamily="34" charset="0"/>
                <a:ea typeface="Calibri" pitchFamily="34" charset="-122"/>
                <a:cs typeface="Calibri" pitchFamily="34" charset="-120"/>
              </a:rPr>
              <a:t>test</a:t>
            </a:r>
            <a:r>
              <a:rPr lang="en-US" sz="1600" dirty="0">
                <a:solidFill>
                  <a:srgbClr val="1B2433"/>
                </a:solidFill>
                <a:latin typeface="Calibri" pitchFamily="34" charset="0"/>
                <a:ea typeface="Calibri" pitchFamily="34" charset="-122"/>
                <a:cs typeface="Calibri" pitchFamily="34" charset="-120"/>
              </a:rPr>
              <a:t>, not the systems.</a:t>
            </a:r>
            <a:endParaRPr lang="en-US" sz="1600" dirty="0"/>
          </a:p>
          <a:p>
            <a:pPr marL="228600" indent="-228600">
              <a:lnSpc>
                <a:spcPct val="105000"/>
              </a:lnSpc>
              <a:spcAft>
                <a:spcPts val="800"/>
              </a:spcAft>
              <a:buSzPct val="100000"/>
              <a:buChar char="•"/>
            </a:pPr>
            <a:r>
              <a:rPr lang="en-US" sz="1600" dirty="0">
                <a:solidFill>
                  <a:srgbClr val="1B2433"/>
                </a:solidFill>
                <a:latin typeface="Calibri" pitchFamily="34" charset="0"/>
                <a:ea typeface="Calibri" pitchFamily="34" charset="-122"/>
                <a:cs typeface="Calibri" pitchFamily="34" charset="-120"/>
              </a:rPr>
              <a:t>Number is marked in English, so a good system should be near perfect on it.</a:t>
            </a:r>
            <a:endParaRPr lang="en-US" sz="1600" dirty="0"/>
          </a:p>
          <a:p>
            <a:pPr marL="228600" indent="-228600">
              <a:lnSpc>
                <a:spcPct val="105000"/>
              </a:lnSpc>
              <a:spcAft>
                <a:spcPts val="800"/>
              </a:spcAft>
              <a:buSzPct val="100000"/>
              <a:buChar char="•"/>
            </a:pPr>
            <a:r>
              <a:rPr lang="en-US" sz="1600" b="1" dirty="0">
                <a:solidFill>
                  <a:srgbClr val="1B2433"/>
                </a:solidFill>
                <a:latin typeface="Calibri" pitchFamily="34" charset="0"/>
                <a:ea typeface="Calibri" pitchFamily="34" charset="-122"/>
                <a:cs typeface="Calibri" pitchFamily="34" charset="-120"/>
              </a:rPr>
              <a:t>Honest note:</a:t>
            </a:r>
            <a:r>
              <a:rPr lang="en-US" sz="1600" dirty="0">
                <a:solidFill>
                  <a:srgbClr val="1B2433"/>
                </a:solidFill>
                <a:latin typeface="Calibri" pitchFamily="34" charset="0"/>
                <a:ea typeface="Calibri" pitchFamily="34" charset="-122"/>
                <a:cs typeface="Calibri" pitchFamily="34" charset="-120"/>
              </a:rPr>
              <a:t> on these items the number control did not work cleanly, so the paper draws </a:t>
            </a:r>
            <a:r>
              <a:rPr lang="en-US" sz="1600" b="1" dirty="0">
                <a:solidFill>
                  <a:srgbClr val="1B2433"/>
                </a:solidFill>
                <a:latin typeface="Calibri" pitchFamily="34" charset="0"/>
                <a:ea typeface="Calibri" pitchFamily="34" charset="-122"/>
                <a:cs typeface="Calibri" pitchFamily="34" charset="-120"/>
              </a:rPr>
              <a:t>no comparison between slots</a:t>
            </a:r>
            <a:r>
              <a:rPr lang="en-US" sz="1600" dirty="0">
                <a:solidFill>
                  <a:srgbClr val="1B2433"/>
                </a:solidFill>
                <a:latin typeface="Calibri" pitchFamily="34" charset="0"/>
                <a:ea typeface="Calibri" pitchFamily="34" charset="-122"/>
                <a:cs typeface="Calibri" pitchFamily="34" charset="-120"/>
              </a:rPr>
              <a:t>.</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3</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OUR TEST SET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Four conditions: where is the clue?</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26</a:t>
            </a:r>
            <a:endParaRPr lang="en-US" sz="900" dirty="0"/>
          </a:p>
        </p:txBody>
      </p:sp>
      <p:sp>
        <p:nvSpPr>
          <p:cNvPr id="9" name="Shape 6"/>
          <p:cNvSpPr/>
          <p:nvPr/>
        </p:nvSpPr>
        <p:spPr>
          <a:xfrm>
            <a:off x="548640" y="1901952"/>
            <a:ext cx="2377440" cy="548640"/>
          </a:xfrm>
          <a:prstGeom prst="roundRect">
            <a:avLst>
              <a:gd name="adj" fmla="val 13333"/>
            </a:avLst>
          </a:prstGeom>
          <a:solidFill>
            <a:srgbClr val="1F3057"/>
          </a:solidFill>
          <a:ln w="12700">
            <a:solidFill>
              <a:srgbClr val="1F3057"/>
            </a:solidFill>
            <a:prstDash val="solid"/>
          </a:ln>
        </p:spPr>
      </p:sp>
      <p:sp>
        <p:nvSpPr>
          <p:cNvPr id="10" name="Text 7"/>
          <p:cNvSpPr/>
          <p:nvPr/>
        </p:nvSpPr>
        <p:spPr>
          <a:xfrm>
            <a:off x="548640" y="1901952"/>
            <a:ext cx="23774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Instructed</a:t>
            </a:r>
            <a:endParaRPr lang="en-US" sz="1500" dirty="0"/>
          </a:p>
        </p:txBody>
      </p:sp>
      <p:sp>
        <p:nvSpPr>
          <p:cNvPr id="11" name="Text 8"/>
          <p:cNvSpPr/>
          <p:nvPr/>
        </p:nvSpPr>
        <p:spPr>
          <a:xfrm>
            <a:off x="3154680" y="1783080"/>
            <a:ext cx="4754880" cy="822960"/>
          </a:xfrm>
          <a:prstGeom prst="rect">
            <a:avLst/>
          </a:prstGeom>
          <a:noFill/>
          <a:ln/>
        </p:spPr>
        <p:txBody>
          <a:bodyPr wrap="square" lIns="0" tIns="0" rIns="0" bIns="0" rtlCol="0" anchor="ctr"/>
          <a:lstStyle/>
          <a:p>
            <a:pPr algn="l" indent="0" marL="0">
              <a:lnSpc>
                <a:spcPct val="100000"/>
              </a:lnSpc>
              <a:buNone/>
            </a:pPr>
            <a:r>
              <a:rPr lang="en-US" sz="1500" dirty="0">
                <a:solidFill>
                  <a:srgbClr val="1B2433"/>
                </a:solidFill>
                <a:latin typeface="Calibri" pitchFamily="34" charset="0"/>
                <a:ea typeface="Calibri" pitchFamily="34" charset="-122"/>
                <a:cs typeface="Calibri" pitchFamily="34" charset="-120"/>
              </a:rPr>
              <a:t>The instruction names the Tamil form to use.</a:t>
            </a:r>
            <a:endParaRPr lang="en-US" sz="1500" dirty="0"/>
          </a:p>
        </p:txBody>
      </p:sp>
      <p:sp>
        <p:nvSpPr>
          <p:cNvPr id="12" name="Text 9"/>
          <p:cNvSpPr/>
          <p:nvPr/>
        </p:nvSpPr>
        <p:spPr>
          <a:xfrm>
            <a:off x="8046720" y="1783080"/>
            <a:ext cx="2423160" cy="822960"/>
          </a:xfrm>
          <a:prstGeom prst="rect">
            <a:avLst/>
          </a:prstGeom>
          <a:noFill/>
          <a:ln/>
        </p:spPr>
        <p:txBody>
          <a:bodyPr wrap="square" lIns="0" tIns="0" rIns="0" bIns="0" rtlCol="0" anchor="ctr"/>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Can the system produce it at all? (its best case)</a:t>
            </a:r>
            <a:endParaRPr lang="en-US" sz="1400" dirty="0"/>
          </a:p>
        </p:txBody>
      </p:sp>
      <p:sp>
        <p:nvSpPr>
          <p:cNvPr id="13" name="Shape 10"/>
          <p:cNvSpPr/>
          <p:nvPr/>
        </p:nvSpPr>
        <p:spPr>
          <a:xfrm>
            <a:off x="10561320" y="1965960"/>
            <a:ext cx="1051560" cy="420624"/>
          </a:xfrm>
          <a:prstGeom prst="roundRect">
            <a:avLst>
              <a:gd name="adj" fmla="val 17391"/>
            </a:avLst>
          </a:prstGeom>
          <a:solidFill>
            <a:srgbClr val="009E73"/>
          </a:solidFill>
          <a:ln w="12700">
            <a:solidFill>
              <a:srgbClr val="009E73"/>
            </a:solidFill>
            <a:prstDash val="solid"/>
          </a:ln>
        </p:spPr>
      </p:sp>
      <p:sp>
        <p:nvSpPr>
          <p:cNvPr id="14" name="Text 11"/>
          <p:cNvSpPr/>
          <p:nvPr/>
        </p:nvSpPr>
        <p:spPr>
          <a:xfrm>
            <a:off x="10561320" y="1965960"/>
            <a:ext cx="105156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gold ✓</a:t>
            </a:r>
            <a:endParaRPr lang="en-US" sz="1200" dirty="0"/>
          </a:p>
        </p:txBody>
      </p:sp>
      <p:sp>
        <p:nvSpPr>
          <p:cNvPr id="15" name="Shape 12"/>
          <p:cNvSpPr/>
          <p:nvPr/>
        </p:nvSpPr>
        <p:spPr>
          <a:xfrm>
            <a:off x="548640" y="2889504"/>
            <a:ext cx="2377440" cy="548640"/>
          </a:xfrm>
          <a:prstGeom prst="roundRect">
            <a:avLst>
              <a:gd name="adj" fmla="val 13333"/>
            </a:avLst>
          </a:prstGeom>
          <a:solidFill>
            <a:srgbClr val="009E73"/>
          </a:solidFill>
          <a:ln w="12700">
            <a:solidFill>
              <a:srgbClr val="009E73"/>
            </a:solidFill>
            <a:prstDash val="solid"/>
          </a:ln>
        </p:spPr>
      </p:sp>
      <p:sp>
        <p:nvSpPr>
          <p:cNvPr id="16" name="Text 13"/>
          <p:cNvSpPr/>
          <p:nvPr/>
        </p:nvSpPr>
        <p:spPr>
          <a:xfrm>
            <a:off x="548640" y="2889504"/>
            <a:ext cx="23774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In-sentence cue</a:t>
            </a:r>
            <a:endParaRPr lang="en-US" sz="1500" dirty="0"/>
          </a:p>
        </p:txBody>
      </p:sp>
      <p:sp>
        <p:nvSpPr>
          <p:cNvPr id="17" name="Text 14"/>
          <p:cNvSpPr/>
          <p:nvPr/>
        </p:nvSpPr>
        <p:spPr>
          <a:xfrm>
            <a:off x="3154680" y="2770632"/>
            <a:ext cx="4754880" cy="822960"/>
          </a:xfrm>
          <a:prstGeom prst="rect">
            <a:avLst/>
          </a:prstGeom>
          <a:noFill/>
          <a:ln/>
        </p:spPr>
        <p:txBody>
          <a:bodyPr wrap="square" lIns="0" tIns="0" rIns="0" bIns="0" rtlCol="0" anchor="ctr"/>
          <a:lstStyle/>
          <a:p>
            <a:pPr algn="l" indent="0" marL="0">
              <a:lnSpc>
                <a:spcPct val="100000"/>
              </a:lnSpc>
              <a:buNone/>
            </a:pPr>
            <a:r>
              <a:rPr lang="en-US" sz="1500" dirty="0">
                <a:solidFill>
                  <a:srgbClr val="1B2433"/>
                </a:solidFill>
                <a:latin typeface="Calibri" pitchFamily="34" charset="0"/>
                <a:ea typeface="Calibri" pitchFamily="34" charset="-122"/>
                <a:cs typeface="Calibri" pitchFamily="34" charset="-120"/>
              </a:rPr>
              <a:t>The English sentence itself contains the clue ("the dogs").</a:t>
            </a:r>
            <a:endParaRPr lang="en-US" sz="1500" dirty="0"/>
          </a:p>
        </p:txBody>
      </p:sp>
      <p:sp>
        <p:nvSpPr>
          <p:cNvPr id="18" name="Text 15"/>
          <p:cNvSpPr/>
          <p:nvPr/>
        </p:nvSpPr>
        <p:spPr>
          <a:xfrm>
            <a:off x="8046720" y="2770632"/>
            <a:ext cx="2423160" cy="822960"/>
          </a:xfrm>
          <a:prstGeom prst="rect">
            <a:avLst/>
          </a:prstGeom>
          <a:noFill/>
          <a:ln/>
        </p:spPr>
        <p:txBody>
          <a:bodyPr wrap="square" lIns="0" tIns="0" rIns="0" bIns="0" rtlCol="0" anchor="ctr"/>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A normal test with a right answer</a:t>
            </a:r>
            <a:endParaRPr lang="en-US" sz="1400" dirty="0"/>
          </a:p>
        </p:txBody>
      </p:sp>
      <p:sp>
        <p:nvSpPr>
          <p:cNvPr id="19" name="Shape 16"/>
          <p:cNvSpPr/>
          <p:nvPr/>
        </p:nvSpPr>
        <p:spPr>
          <a:xfrm>
            <a:off x="10561320" y="2953512"/>
            <a:ext cx="1051560" cy="420624"/>
          </a:xfrm>
          <a:prstGeom prst="roundRect">
            <a:avLst>
              <a:gd name="adj" fmla="val 17391"/>
            </a:avLst>
          </a:prstGeom>
          <a:solidFill>
            <a:srgbClr val="009E73"/>
          </a:solidFill>
          <a:ln w="12700">
            <a:solidFill>
              <a:srgbClr val="009E73"/>
            </a:solidFill>
            <a:prstDash val="solid"/>
          </a:ln>
        </p:spPr>
      </p:sp>
      <p:sp>
        <p:nvSpPr>
          <p:cNvPr id="20" name="Text 17"/>
          <p:cNvSpPr/>
          <p:nvPr/>
        </p:nvSpPr>
        <p:spPr>
          <a:xfrm>
            <a:off x="10561320" y="2953512"/>
            <a:ext cx="105156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gold ✓</a:t>
            </a:r>
            <a:endParaRPr lang="en-US" sz="1200" dirty="0"/>
          </a:p>
        </p:txBody>
      </p:sp>
      <p:sp>
        <p:nvSpPr>
          <p:cNvPr id="21" name="Shape 18"/>
          <p:cNvSpPr/>
          <p:nvPr/>
        </p:nvSpPr>
        <p:spPr>
          <a:xfrm>
            <a:off x="548640" y="3877056"/>
            <a:ext cx="2377440" cy="548640"/>
          </a:xfrm>
          <a:prstGeom prst="roundRect">
            <a:avLst>
              <a:gd name="adj" fmla="val 13333"/>
            </a:avLst>
          </a:prstGeom>
          <a:solidFill>
            <a:srgbClr val="0072B2"/>
          </a:solidFill>
          <a:ln w="12700">
            <a:solidFill>
              <a:srgbClr val="0072B2"/>
            </a:solidFill>
            <a:prstDash val="solid"/>
          </a:ln>
        </p:spPr>
      </p:sp>
      <p:sp>
        <p:nvSpPr>
          <p:cNvPr id="22" name="Text 19"/>
          <p:cNvSpPr/>
          <p:nvPr/>
        </p:nvSpPr>
        <p:spPr>
          <a:xfrm>
            <a:off x="548640" y="3877056"/>
            <a:ext cx="23774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Prior-sentence cue</a:t>
            </a:r>
            <a:endParaRPr lang="en-US" sz="1500" dirty="0"/>
          </a:p>
        </p:txBody>
      </p:sp>
      <p:sp>
        <p:nvSpPr>
          <p:cNvPr id="23" name="Text 20"/>
          <p:cNvSpPr/>
          <p:nvPr/>
        </p:nvSpPr>
        <p:spPr>
          <a:xfrm>
            <a:off x="3154680" y="3758184"/>
            <a:ext cx="4754880" cy="822960"/>
          </a:xfrm>
          <a:prstGeom prst="rect">
            <a:avLst/>
          </a:prstGeom>
          <a:noFill/>
          <a:ln/>
        </p:spPr>
        <p:txBody>
          <a:bodyPr wrap="square" lIns="0" tIns="0" rIns="0" bIns="0" rtlCol="0" anchor="ctr"/>
          <a:lstStyle/>
          <a:p>
            <a:pPr algn="l" indent="0" marL="0">
              <a:lnSpc>
                <a:spcPct val="100000"/>
              </a:lnSpc>
              <a:buNone/>
            </a:pPr>
            <a:r>
              <a:rPr lang="en-US" sz="1500" dirty="0">
                <a:solidFill>
                  <a:srgbClr val="1B2433"/>
                </a:solidFill>
                <a:latin typeface="Calibri" pitchFamily="34" charset="0"/>
                <a:ea typeface="Calibri" pitchFamily="34" charset="-122"/>
                <a:cs typeface="Calibri" pitchFamily="34" charset="-120"/>
              </a:rPr>
              <a:t>The clue is only in the sentence before.</a:t>
            </a:r>
            <a:endParaRPr lang="en-US" sz="1500" dirty="0"/>
          </a:p>
        </p:txBody>
      </p:sp>
      <p:sp>
        <p:nvSpPr>
          <p:cNvPr id="24" name="Text 21"/>
          <p:cNvSpPr/>
          <p:nvPr/>
        </p:nvSpPr>
        <p:spPr>
          <a:xfrm>
            <a:off x="8046720" y="3758184"/>
            <a:ext cx="2423160" cy="822960"/>
          </a:xfrm>
          <a:prstGeom prst="rect">
            <a:avLst/>
          </a:prstGeom>
          <a:noFill/>
          <a:ln/>
        </p:spPr>
        <p:txBody>
          <a:bodyPr wrap="square" lIns="0" tIns="0" rIns="0" bIns="0" rtlCol="0" anchor="ctr"/>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Uses context; answers balanced so guessing = 50%</a:t>
            </a:r>
            <a:endParaRPr lang="en-US" sz="1400" dirty="0"/>
          </a:p>
        </p:txBody>
      </p:sp>
      <p:sp>
        <p:nvSpPr>
          <p:cNvPr id="25" name="Shape 22"/>
          <p:cNvSpPr/>
          <p:nvPr/>
        </p:nvSpPr>
        <p:spPr>
          <a:xfrm>
            <a:off x="10561320" y="3941064"/>
            <a:ext cx="1051560" cy="420624"/>
          </a:xfrm>
          <a:prstGeom prst="roundRect">
            <a:avLst>
              <a:gd name="adj" fmla="val 17391"/>
            </a:avLst>
          </a:prstGeom>
          <a:solidFill>
            <a:srgbClr val="009E73"/>
          </a:solidFill>
          <a:ln w="12700">
            <a:solidFill>
              <a:srgbClr val="009E73"/>
            </a:solidFill>
            <a:prstDash val="solid"/>
          </a:ln>
        </p:spPr>
      </p:sp>
      <p:sp>
        <p:nvSpPr>
          <p:cNvPr id="26" name="Text 23"/>
          <p:cNvSpPr/>
          <p:nvPr/>
        </p:nvSpPr>
        <p:spPr>
          <a:xfrm>
            <a:off x="10561320" y="3941064"/>
            <a:ext cx="105156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gold ✓</a:t>
            </a:r>
            <a:endParaRPr lang="en-US" sz="1200" dirty="0"/>
          </a:p>
        </p:txBody>
      </p:sp>
      <p:sp>
        <p:nvSpPr>
          <p:cNvPr id="27" name="Shape 24"/>
          <p:cNvSpPr/>
          <p:nvPr/>
        </p:nvSpPr>
        <p:spPr>
          <a:xfrm>
            <a:off x="548640" y="4864608"/>
            <a:ext cx="2377440" cy="548640"/>
          </a:xfrm>
          <a:prstGeom prst="roundRect">
            <a:avLst>
              <a:gd name="adj" fmla="val 13333"/>
            </a:avLst>
          </a:prstGeom>
          <a:solidFill>
            <a:srgbClr val="E39B2D"/>
          </a:solidFill>
          <a:ln w="12700">
            <a:solidFill>
              <a:srgbClr val="E39B2D"/>
            </a:solidFill>
            <a:prstDash val="solid"/>
          </a:ln>
        </p:spPr>
      </p:sp>
      <p:sp>
        <p:nvSpPr>
          <p:cNvPr id="28" name="Text 25"/>
          <p:cNvSpPr/>
          <p:nvPr/>
        </p:nvSpPr>
        <p:spPr>
          <a:xfrm>
            <a:off x="548640" y="4864608"/>
            <a:ext cx="23774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Cue-free</a:t>
            </a:r>
            <a:endParaRPr lang="en-US" sz="1500" dirty="0"/>
          </a:p>
        </p:txBody>
      </p:sp>
      <p:sp>
        <p:nvSpPr>
          <p:cNvPr id="29" name="Text 26"/>
          <p:cNvSpPr/>
          <p:nvPr/>
        </p:nvSpPr>
        <p:spPr>
          <a:xfrm>
            <a:off x="3154680" y="4745736"/>
            <a:ext cx="4754880" cy="822960"/>
          </a:xfrm>
          <a:prstGeom prst="rect">
            <a:avLst/>
          </a:prstGeom>
          <a:noFill/>
          <a:ln/>
        </p:spPr>
        <p:txBody>
          <a:bodyPr wrap="square" lIns="0" tIns="0" rIns="0" bIns="0" rtlCol="0" anchor="ctr"/>
          <a:lstStyle/>
          <a:p>
            <a:pPr algn="l" indent="0" marL="0">
              <a:lnSpc>
                <a:spcPct val="100000"/>
              </a:lnSpc>
              <a:buNone/>
            </a:pPr>
            <a:r>
              <a:rPr lang="en-US" sz="1500" dirty="0">
                <a:solidFill>
                  <a:srgbClr val="1B2433"/>
                </a:solidFill>
                <a:latin typeface="Calibri" pitchFamily="34" charset="0"/>
                <a:ea typeface="Calibri" pitchFamily="34" charset="-122"/>
                <a:cs typeface="Calibri" pitchFamily="34" charset="-120"/>
              </a:rPr>
              <a:t>No clue anywhere. </a:t>
            </a:r>
            <a:r>
              <a:rPr lang="en-US" sz="1500" b="1" dirty="0">
                <a:solidFill>
                  <a:srgbClr val="1B2433"/>
                </a:solidFill>
                <a:latin typeface="Calibri" pitchFamily="34" charset="0"/>
                <a:ea typeface="Calibri" pitchFamily="34" charset="-122"/>
                <a:cs typeface="Calibri" pitchFamily="34" charset="-120"/>
              </a:rPr>
              <a:t>No correct answer exists.</a:t>
            </a:r>
            <a:endParaRPr lang="en-US" sz="1500" dirty="0"/>
          </a:p>
        </p:txBody>
      </p:sp>
      <p:sp>
        <p:nvSpPr>
          <p:cNvPr id="30" name="Text 27"/>
          <p:cNvSpPr/>
          <p:nvPr/>
        </p:nvSpPr>
        <p:spPr>
          <a:xfrm>
            <a:off x="8046720" y="4745736"/>
            <a:ext cx="2423160" cy="822960"/>
          </a:xfrm>
          <a:prstGeom prst="rect">
            <a:avLst/>
          </a:prstGeom>
          <a:noFill/>
          <a:ln/>
        </p:spPr>
        <p:txBody>
          <a:bodyPr wrap="square" lIns="0" tIns="0" rIns="0" bIns="0" rtlCol="0" anchor="ctr"/>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We record what systems choose by default</a:t>
            </a:r>
            <a:endParaRPr lang="en-US" sz="1400" dirty="0"/>
          </a:p>
        </p:txBody>
      </p:sp>
      <p:sp>
        <p:nvSpPr>
          <p:cNvPr id="31" name="Shape 28"/>
          <p:cNvSpPr/>
          <p:nvPr/>
        </p:nvSpPr>
        <p:spPr>
          <a:xfrm>
            <a:off x="10561320" y="4928616"/>
            <a:ext cx="1051560" cy="420624"/>
          </a:xfrm>
          <a:prstGeom prst="roundRect">
            <a:avLst>
              <a:gd name="adj" fmla="val 17391"/>
            </a:avLst>
          </a:prstGeom>
          <a:solidFill>
            <a:srgbClr val="D55E00"/>
          </a:solidFill>
          <a:ln w="12700">
            <a:solidFill>
              <a:srgbClr val="D55E00"/>
            </a:solidFill>
            <a:prstDash val="solid"/>
          </a:ln>
        </p:spPr>
      </p:sp>
      <p:sp>
        <p:nvSpPr>
          <p:cNvPr id="32" name="Text 29"/>
          <p:cNvSpPr/>
          <p:nvPr/>
        </p:nvSpPr>
        <p:spPr>
          <a:xfrm>
            <a:off x="10561320" y="4928616"/>
            <a:ext cx="105156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 gold</a:t>
            </a:r>
            <a:endParaRPr lang="en-US" sz="1200" dirty="0"/>
          </a:p>
        </p:txBody>
      </p:sp>
      <p:sp>
        <p:nvSpPr>
          <p:cNvPr id="33" name="Shape 30"/>
          <p:cNvSpPr/>
          <p:nvPr/>
        </p:nvSpPr>
        <p:spPr>
          <a:xfrm>
            <a:off x="548640" y="5760720"/>
            <a:ext cx="11064240" cy="566928"/>
          </a:xfrm>
          <a:prstGeom prst="roundRect">
            <a:avLst>
              <a:gd name="adj" fmla="val 12903"/>
            </a:avLst>
          </a:prstGeom>
          <a:solidFill>
            <a:srgbClr val="FBEBD2"/>
          </a:solidFill>
          <a:ln w="12700">
            <a:solidFill>
              <a:srgbClr val="E39B2D"/>
            </a:solidFill>
            <a:prstDash val="solid"/>
          </a:ln>
        </p:spPr>
      </p:sp>
      <p:sp>
        <p:nvSpPr>
          <p:cNvPr id="34" name="Text 31"/>
          <p:cNvSpPr/>
          <p:nvPr/>
        </p:nvSpPr>
        <p:spPr>
          <a:xfrm>
            <a:off x="777240" y="5760720"/>
            <a:ext cx="10607040" cy="566928"/>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A </a:t>
            </a:r>
            <a:r>
              <a:rPr lang="en-US" sz="1500" b="1" dirty="0">
                <a:solidFill>
                  <a:srgbClr val="1B2433"/>
                </a:solidFill>
                <a:latin typeface="Calibri" pitchFamily="34" charset="0"/>
                <a:ea typeface="Calibri" pitchFamily="34" charset="-122"/>
                <a:cs typeface="Calibri" pitchFamily="34" charset="-120"/>
              </a:rPr>
              <a:t>cue</a:t>
            </a:r>
            <a:r>
              <a:rPr lang="en-US" sz="1500" dirty="0">
                <a:solidFill>
                  <a:srgbClr val="1B2433"/>
                </a:solidFill>
                <a:latin typeface="Calibri" pitchFamily="34" charset="0"/>
                <a:ea typeface="Calibri" pitchFamily="34" charset="-122"/>
                <a:cs typeface="Calibri" pitchFamily="34" charset="-120"/>
              </a:rPr>
              <a:t> is simply a clue. </a:t>
            </a:r>
            <a:r>
              <a:rPr lang="en-US" sz="1500" b="1" dirty="0">
                <a:solidFill>
                  <a:srgbClr val="1B2433"/>
                </a:solidFill>
                <a:latin typeface="Calibri" pitchFamily="34" charset="0"/>
                <a:ea typeface="Calibri" pitchFamily="34" charset="-122"/>
                <a:cs typeface="Calibri" pitchFamily="34" charset="-120"/>
              </a:rPr>
              <a:t>Gold</a:t>
            </a:r>
            <a:r>
              <a:rPr lang="en-US" sz="1500" dirty="0">
                <a:solidFill>
                  <a:srgbClr val="1B2433"/>
                </a:solidFill>
                <a:latin typeface="Calibri" pitchFamily="34" charset="0"/>
                <a:ea typeface="Calibri" pitchFamily="34" charset="-122"/>
                <a:cs typeface="Calibri" pitchFamily="34" charset="-120"/>
              </a:rPr>
              <a:t> is the correct answer. Only </a:t>
            </a:r>
            <a:r>
              <a:rPr lang="en-US" sz="1500" b="1" dirty="0">
                <a:solidFill>
                  <a:srgbClr val="1B2433"/>
                </a:solidFill>
                <a:latin typeface="Calibri" pitchFamily="34" charset="0"/>
                <a:ea typeface="Calibri" pitchFamily="34" charset="-122"/>
                <a:cs typeface="Calibri" pitchFamily="34" charset="-120"/>
              </a:rPr>
              <a:t>cue-free</a:t>
            </a:r>
            <a:r>
              <a:rPr lang="en-US" sz="1500" dirty="0">
                <a:solidFill>
                  <a:srgbClr val="1B2433"/>
                </a:solidFill>
                <a:latin typeface="Calibri" pitchFamily="34" charset="0"/>
                <a:ea typeface="Calibri" pitchFamily="34" charset="-122"/>
                <a:cs typeface="Calibri" pitchFamily="34" charset="-120"/>
              </a:rPr>
              <a:t> items have no gold: that is where the forced choice happens.</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3</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OUR TEST SET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Example: one rationality item in all four conditions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27</a:t>
            </a:r>
            <a:endParaRPr lang="en-US" sz="900" dirty="0"/>
          </a:p>
        </p:txBody>
      </p:sp>
      <p:sp>
        <p:nvSpPr>
          <p:cNvPr id="9" name="Text 6"/>
          <p:cNvSpPr/>
          <p:nvPr/>
        </p:nvSpPr>
        <p:spPr>
          <a:xfrm>
            <a:off x="548640" y="1691640"/>
            <a:ext cx="2011680" cy="320040"/>
          </a:xfrm>
          <a:prstGeom prst="rect">
            <a:avLst/>
          </a:prstGeom>
          <a:noFill/>
          <a:ln/>
        </p:spPr>
        <p:txBody>
          <a:bodyPr wrap="square" lIns="0" tIns="0" rIns="0" bIns="0" rtlCol="0" anchor="t"/>
          <a:lstStyle/>
          <a:p>
            <a:pPr algn="l" indent="0" marL="0">
              <a:lnSpc>
                <a:spcPct val="100000"/>
              </a:lnSpc>
              <a:buNone/>
            </a:pPr>
            <a:r>
              <a:rPr lang="en-US" sz="1300" b="1" dirty="0">
                <a:solidFill>
                  <a:srgbClr val="5B6577"/>
                </a:solidFill>
                <a:latin typeface="Calibri" pitchFamily="34" charset="0"/>
                <a:ea typeface="Calibri" pitchFamily="34" charset="-122"/>
                <a:cs typeface="Calibri" pitchFamily="34" charset="-120"/>
              </a:rPr>
              <a:t>Condition</a:t>
            </a:r>
            <a:endParaRPr lang="en-US" sz="1300" dirty="0"/>
          </a:p>
        </p:txBody>
      </p:sp>
      <p:sp>
        <p:nvSpPr>
          <p:cNvPr id="10" name="Text 7"/>
          <p:cNvSpPr/>
          <p:nvPr/>
        </p:nvSpPr>
        <p:spPr>
          <a:xfrm>
            <a:off x="2743200" y="1691640"/>
            <a:ext cx="5669280" cy="320040"/>
          </a:xfrm>
          <a:prstGeom prst="rect">
            <a:avLst/>
          </a:prstGeom>
          <a:noFill/>
          <a:ln/>
        </p:spPr>
        <p:txBody>
          <a:bodyPr wrap="square" lIns="0" tIns="0" rIns="0" bIns="0" rtlCol="0" anchor="t"/>
          <a:lstStyle/>
          <a:p>
            <a:pPr algn="l" indent="0" marL="0">
              <a:lnSpc>
                <a:spcPct val="100000"/>
              </a:lnSpc>
              <a:buNone/>
            </a:pPr>
            <a:r>
              <a:rPr lang="en-US" sz="1300" b="1" dirty="0">
                <a:solidFill>
                  <a:srgbClr val="5B6577"/>
                </a:solidFill>
                <a:latin typeface="Calibri" pitchFamily="34" charset="0"/>
                <a:ea typeface="Calibri" pitchFamily="34" charset="-122"/>
                <a:cs typeface="Calibri" pitchFamily="34" charset="-120"/>
              </a:rPr>
              <a:t>English given to the system  ([…] = context, not translated)</a:t>
            </a:r>
            <a:endParaRPr lang="en-US" sz="1300" dirty="0"/>
          </a:p>
        </p:txBody>
      </p:sp>
      <p:sp>
        <p:nvSpPr>
          <p:cNvPr id="11" name="Text 8"/>
          <p:cNvSpPr/>
          <p:nvPr/>
        </p:nvSpPr>
        <p:spPr>
          <a:xfrm>
            <a:off x="8595360" y="1691640"/>
            <a:ext cx="3017520" cy="320040"/>
          </a:xfrm>
          <a:prstGeom prst="rect">
            <a:avLst/>
          </a:prstGeom>
          <a:noFill/>
          <a:ln/>
        </p:spPr>
        <p:txBody>
          <a:bodyPr wrap="square" lIns="0" tIns="0" rIns="0" bIns="0" rtlCol="0" anchor="t"/>
          <a:lstStyle/>
          <a:p>
            <a:pPr algn="l" indent="0" marL="0">
              <a:lnSpc>
                <a:spcPct val="100000"/>
              </a:lnSpc>
              <a:buNone/>
            </a:pPr>
            <a:r>
              <a:rPr lang="en-US" sz="1300" b="1" dirty="0">
                <a:solidFill>
                  <a:srgbClr val="5B6577"/>
                </a:solidFill>
                <a:latin typeface="Calibri" pitchFamily="34" charset="0"/>
                <a:ea typeface="Calibri" pitchFamily="34" charset="-122"/>
                <a:cs typeface="Calibri" pitchFamily="34" charset="-120"/>
              </a:rPr>
              <a:t>Tamil gold (correct answer)</a:t>
            </a:r>
            <a:endParaRPr lang="en-US" sz="1300" dirty="0"/>
          </a:p>
        </p:txBody>
      </p:sp>
      <p:sp>
        <p:nvSpPr>
          <p:cNvPr id="12" name="Shape 9"/>
          <p:cNvSpPr/>
          <p:nvPr/>
        </p:nvSpPr>
        <p:spPr>
          <a:xfrm>
            <a:off x="548640" y="2057400"/>
            <a:ext cx="11064240" cy="804672"/>
          </a:xfrm>
          <a:prstGeom prst="roundRect">
            <a:avLst>
              <a:gd name="adj" fmla="val 9091"/>
            </a:avLst>
          </a:prstGeom>
          <a:solidFill>
            <a:srgbClr val="F2F4F8"/>
          </a:solidFill>
          <a:ln w="12700">
            <a:solidFill>
              <a:srgbClr val="F2F4F8"/>
            </a:solidFill>
            <a:prstDash val="solid"/>
          </a:ln>
        </p:spPr>
      </p:sp>
      <p:sp>
        <p:nvSpPr>
          <p:cNvPr id="13" name="Shape 10"/>
          <p:cNvSpPr/>
          <p:nvPr/>
        </p:nvSpPr>
        <p:spPr>
          <a:xfrm>
            <a:off x="685800" y="2240280"/>
            <a:ext cx="1874520" cy="438912"/>
          </a:xfrm>
          <a:prstGeom prst="roundRect">
            <a:avLst>
              <a:gd name="adj" fmla="val 16667"/>
            </a:avLst>
          </a:prstGeom>
          <a:solidFill>
            <a:srgbClr val="1F3057"/>
          </a:solidFill>
          <a:ln w="12700">
            <a:solidFill>
              <a:srgbClr val="1F3057"/>
            </a:solidFill>
            <a:prstDash val="solid"/>
          </a:ln>
        </p:spPr>
      </p:sp>
      <p:sp>
        <p:nvSpPr>
          <p:cNvPr id="14" name="Text 11"/>
          <p:cNvSpPr/>
          <p:nvPr/>
        </p:nvSpPr>
        <p:spPr>
          <a:xfrm>
            <a:off x="685800" y="2240280"/>
            <a:ext cx="187452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Instructed</a:t>
            </a:r>
            <a:endParaRPr lang="en-US" sz="1300" dirty="0"/>
          </a:p>
        </p:txBody>
      </p:sp>
      <p:sp>
        <p:nvSpPr>
          <p:cNvPr id="15" name="Text 12"/>
          <p:cNvSpPr/>
          <p:nvPr/>
        </p:nvSpPr>
        <p:spPr>
          <a:xfrm>
            <a:off x="2743200" y="2057400"/>
            <a:ext cx="5669280" cy="804672"/>
          </a:xfrm>
          <a:prstGeom prst="rect">
            <a:avLst/>
          </a:prstGeom>
          <a:noFill/>
          <a:ln/>
        </p:spPr>
        <p:txBody>
          <a:bodyPr wrap="square" lIns="0" tIns="0" rIns="0" bIns="0" rtlCol="0" anchor="ctr"/>
          <a:lstStyle/>
          <a:p>
            <a:pPr algn="l" indent="0" marL="0">
              <a:lnSpc>
                <a:spcPct val="100000"/>
              </a:lnSpc>
              <a:buNone/>
            </a:pPr>
            <a:r>
              <a:rPr lang="en-US" sz="1500" i="1" dirty="0">
                <a:solidFill>
                  <a:srgbClr val="1B2433"/>
                </a:solidFill>
                <a:latin typeface="Calibri" pitchFamily="34" charset="0"/>
                <a:ea typeface="Calibri" pitchFamily="34" charset="-122"/>
                <a:cs typeface="Calibri" pitchFamily="34" charset="-120"/>
              </a:rPr>
              <a:t>They came at dawn.  + instruction: "…realising the rationality value 'UYAR' on the verb."</a:t>
            </a:r>
            <a:endParaRPr lang="en-US" sz="1500" dirty="0"/>
          </a:p>
        </p:txBody>
      </p:sp>
      <p:sp>
        <p:nvSpPr>
          <p:cNvPr id="16" name="Text 13"/>
          <p:cNvSpPr/>
          <p:nvPr/>
        </p:nvSpPr>
        <p:spPr>
          <a:xfrm>
            <a:off x="8595360" y="2057400"/>
            <a:ext cx="2926080" cy="804672"/>
          </a:xfrm>
          <a:prstGeom prst="rect">
            <a:avLst/>
          </a:prstGeom>
          <a:noFill/>
          <a:ln/>
        </p:spPr>
        <p:txBody>
          <a:bodyPr wrap="square" lIns="0" tIns="0" rIns="0" bIns="0" rtlCol="0" anchor="ctr"/>
          <a:lstStyle/>
          <a:p>
            <a:pPr algn="l" indent="0" marL="0">
              <a:lnSpc>
                <a:spcPct val="100000"/>
              </a:lnSpc>
              <a:buNone/>
            </a:pPr>
            <a:r>
              <a:rPr lang="en-US" sz="1900" b="1" dirty="0">
                <a:solidFill>
                  <a:srgbClr val="1B2433"/>
                </a:solidFill>
              </a:rPr>
              <a:t>வந்தார்கள்.  </a:t>
            </a:r>
            <a:r>
              <a:rPr lang="en-US" sz="1300" i="1" dirty="0">
                <a:solidFill>
                  <a:srgbClr val="5B6577"/>
                </a:solidFill>
              </a:rPr>
              <a:t>vantārkaḷ.</a:t>
            </a:r>
            <a:endParaRPr lang="en-US" sz="1900" dirty="0"/>
          </a:p>
        </p:txBody>
      </p:sp>
      <p:sp>
        <p:nvSpPr>
          <p:cNvPr id="17" name="Shape 14"/>
          <p:cNvSpPr/>
          <p:nvPr/>
        </p:nvSpPr>
        <p:spPr>
          <a:xfrm>
            <a:off x="548640" y="2971800"/>
            <a:ext cx="11064240" cy="804672"/>
          </a:xfrm>
          <a:prstGeom prst="roundRect">
            <a:avLst>
              <a:gd name="adj" fmla="val 9091"/>
            </a:avLst>
          </a:prstGeom>
          <a:solidFill>
            <a:srgbClr val="FFFFFF"/>
          </a:solidFill>
          <a:ln w="12700">
            <a:solidFill>
              <a:srgbClr val="FFFFFF"/>
            </a:solidFill>
            <a:prstDash val="solid"/>
          </a:ln>
        </p:spPr>
      </p:sp>
      <p:sp>
        <p:nvSpPr>
          <p:cNvPr id="18" name="Shape 15"/>
          <p:cNvSpPr/>
          <p:nvPr/>
        </p:nvSpPr>
        <p:spPr>
          <a:xfrm>
            <a:off x="685800" y="3154680"/>
            <a:ext cx="1874520" cy="438912"/>
          </a:xfrm>
          <a:prstGeom prst="roundRect">
            <a:avLst>
              <a:gd name="adj" fmla="val 16667"/>
            </a:avLst>
          </a:prstGeom>
          <a:solidFill>
            <a:srgbClr val="009E73"/>
          </a:solidFill>
          <a:ln w="12700">
            <a:solidFill>
              <a:srgbClr val="009E73"/>
            </a:solidFill>
            <a:prstDash val="solid"/>
          </a:ln>
        </p:spPr>
      </p:sp>
      <p:sp>
        <p:nvSpPr>
          <p:cNvPr id="19" name="Text 16"/>
          <p:cNvSpPr/>
          <p:nvPr/>
        </p:nvSpPr>
        <p:spPr>
          <a:xfrm>
            <a:off x="685800" y="3154680"/>
            <a:ext cx="187452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In-sentence</a:t>
            </a:r>
            <a:endParaRPr lang="en-US" sz="1300" dirty="0"/>
          </a:p>
        </p:txBody>
      </p:sp>
      <p:sp>
        <p:nvSpPr>
          <p:cNvPr id="20" name="Text 17"/>
          <p:cNvSpPr/>
          <p:nvPr/>
        </p:nvSpPr>
        <p:spPr>
          <a:xfrm>
            <a:off x="2743200" y="2971800"/>
            <a:ext cx="5669280" cy="804672"/>
          </a:xfrm>
          <a:prstGeom prst="rect">
            <a:avLst/>
          </a:prstGeom>
          <a:noFill/>
          <a:ln/>
        </p:spPr>
        <p:txBody>
          <a:bodyPr wrap="square" lIns="0" tIns="0" rIns="0" bIns="0" rtlCol="0" anchor="ctr"/>
          <a:lstStyle/>
          <a:p>
            <a:pPr algn="l" indent="0" marL="0">
              <a:lnSpc>
                <a:spcPct val="100000"/>
              </a:lnSpc>
              <a:buNone/>
            </a:pPr>
            <a:r>
              <a:rPr lang="en-US" sz="1500" i="1" dirty="0">
                <a:solidFill>
                  <a:srgbClr val="1B2433"/>
                </a:solidFill>
                <a:latin typeface="Calibri" pitchFamily="34" charset="0"/>
                <a:ea typeface="Calibri" pitchFamily="34" charset="-122"/>
                <a:cs typeface="Calibri" pitchFamily="34" charset="-120"/>
              </a:rPr>
              <a:t>The dogs came at dawn.</a:t>
            </a:r>
            <a:endParaRPr lang="en-US" sz="1500" dirty="0"/>
          </a:p>
        </p:txBody>
      </p:sp>
      <p:sp>
        <p:nvSpPr>
          <p:cNvPr id="21" name="Text 18"/>
          <p:cNvSpPr/>
          <p:nvPr/>
        </p:nvSpPr>
        <p:spPr>
          <a:xfrm>
            <a:off x="8595360" y="2971800"/>
            <a:ext cx="2926080" cy="804672"/>
          </a:xfrm>
          <a:prstGeom prst="rect">
            <a:avLst/>
          </a:prstGeom>
          <a:noFill/>
          <a:ln/>
        </p:spPr>
        <p:txBody>
          <a:bodyPr wrap="square" lIns="0" tIns="0" rIns="0" bIns="0" rtlCol="0" anchor="ctr"/>
          <a:lstStyle/>
          <a:p>
            <a:pPr algn="l" indent="0" marL="0">
              <a:lnSpc>
                <a:spcPct val="100000"/>
              </a:lnSpc>
              <a:buNone/>
            </a:pPr>
            <a:r>
              <a:rPr lang="en-US" sz="1900" b="1" dirty="0">
                <a:solidFill>
                  <a:srgbClr val="1B2433"/>
                </a:solidFill>
              </a:rPr>
              <a:t>நாய்கள் வந்தன.  </a:t>
            </a:r>
            <a:r>
              <a:rPr lang="en-US" sz="1300" i="1" dirty="0">
                <a:solidFill>
                  <a:srgbClr val="5B6577"/>
                </a:solidFill>
              </a:rPr>
              <a:t>nāykaḷ vantaṉa.</a:t>
            </a:r>
            <a:endParaRPr lang="en-US" sz="1900" dirty="0"/>
          </a:p>
        </p:txBody>
      </p:sp>
      <p:sp>
        <p:nvSpPr>
          <p:cNvPr id="22" name="Shape 19"/>
          <p:cNvSpPr/>
          <p:nvPr/>
        </p:nvSpPr>
        <p:spPr>
          <a:xfrm>
            <a:off x="548640" y="3886200"/>
            <a:ext cx="11064240" cy="804672"/>
          </a:xfrm>
          <a:prstGeom prst="roundRect">
            <a:avLst>
              <a:gd name="adj" fmla="val 9091"/>
            </a:avLst>
          </a:prstGeom>
          <a:solidFill>
            <a:srgbClr val="F2F4F8"/>
          </a:solidFill>
          <a:ln w="12700">
            <a:solidFill>
              <a:srgbClr val="F2F4F8"/>
            </a:solidFill>
            <a:prstDash val="solid"/>
          </a:ln>
        </p:spPr>
      </p:sp>
      <p:sp>
        <p:nvSpPr>
          <p:cNvPr id="23" name="Shape 20"/>
          <p:cNvSpPr/>
          <p:nvPr/>
        </p:nvSpPr>
        <p:spPr>
          <a:xfrm>
            <a:off x="685800" y="4069080"/>
            <a:ext cx="1874520" cy="438912"/>
          </a:xfrm>
          <a:prstGeom prst="roundRect">
            <a:avLst>
              <a:gd name="adj" fmla="val 16667"/>
            </a:avLst>
          </a:prstGeom>
          <a:solidFill>
            <a:srgbClr val="0072B2"/>
          </a:solidFill>
          <a:ln w="12700">
            <a:solidFill>
              <a:srgbClr val="0072B2"/>
            </a:solidFill>
            <a:prstDash val="solid"/>
          </a:ln>
        </p:spPr>
      </p:sp>
      <p:sp>
        <p:nvSpPr>
          <p:cNvPr id="24" name="Text 21"/>
          <p:cNvSpPr/>
          <p:nvPr/>
        </p:nvSpPr>
        <p:spPr>
          <a:xfrm>
            <a:off x="685800" y="4069080"/>
            <a:ext cx="187452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Prior-sentence</a:t>
            </a:r>
            <a:endParaRPr lang="en-US" sz="1300" dirty="0"/>
          </a:p>
        </p:txBody>
      </p:sp>
      <p:sp>
        <p:nvSpPr>
          <p:cNvPr id="25" name="Text 22"/>
          <p:cNvSpPr/>
          <p:nvPr/>
        </p:nvSpPr>
        <p:spPr>
          <a:xfrm>
            <a:off x="2743200" y="3886200"/>
            <a:ext cx="5669280" cy="804672"/>
          </a:xfrm>
          <a:prstGeom prst="rect">
            <a:avLst/>
          </a:prstGeom>
          <a:noFill/>
          <a:ln/>
        </p:spPr>
        <p:txBody>
          <a:bodyPr wrap="square" lIns="0" tIns="0" rIns="0" bIns="0" rtlCol="0" anchor="ctr"/>
          <a:lstStyle/>
          <a:p>
            <a:pPr algn="l" indent="0" marL="0">
              <a:lnSpc>
                <a:spcPct val="100000"/>
              </a:lnSpc>
              <a:buNone/>
            </a:pPr>
            <a:r>
              <a:rPr lang="en-US" sz="1500" i="1" dirty="0">
                <a:solidFill>
                  <a:srgbClr val="1B2433"/>
                </a:solidFill>
                <a:latin typeface="Calibri" pitchFamily="34" charset="0"/>
                <a:ea typeface="Calibri" pitchFamily="34" charset="-122"/>
                <a:cs typeface="Calibri" pitchFamily="34" charset="-120"/>
              </a:rPr>
              <a:t>[The horses had gathered outside since dawn.]  They came at dawn.</a:t>
            </a:r>
            <a:endParaRPr lang="en-US" sz="1500" dirty="0"/>
          </a:p>
        </p:txBody>
      </p:sp>
      <p:sp>
        <p:nvSpPr>
          <p:cNvPr id="26" name="Text 23"/>
          <p:cNvSpPr/>
          <p:nvPr/>
        </p:nvSpPr>
        <p:spPr>
          <a:xfrm>
            <a:off x="8595360" y="3886200"/>
            <a:ext cx="2926080" cy="804672"/>
          </a:xfrm>
          <a:prstGeom prst="rect">
            <a:avLst/>
          </a:prstGeom>
          <a:noFill/>
          <a:ln/>
        </p:spPr>
        <p:txBody>
          <a:bodyPr wrap="square" lIns="0" tIns="0" rIns="0" bIns="0" rtlCol="0" anchor="ctr"/>
          <a:lstStyle/>
          <a:p>
            <a:pPr algn="l" indent="0" marL="0">
              <a:lnSpc>
                <a:spcPct val="100000"/>
              </a:lnSpc>
              <a:buNone/>
            </a:pPr>
            <a:r>
              <a:rPr lang="en-US" sz="1900" b="1" dirty="0">
                <a:solidFill>
                  <a:srgbClr val="1B2433"/>
                </a:solidFill>
              </a:rPr>
              <a:t>வந்தன.  </a:t>
            </a:r>
            <a:r>
              <a:rPr lang="en-US" sz="1300" i="1" dirty="0">
                <a:solidFill>
                  <a:srgbClr val="5B6577"/>
                </a:solidFill>
              </a:rPr>
              <a:t>vantaṉa.</a:t>
            </a:r>
            <a:endParaRPr lang="en-US" sz="1900" dirty="0"/>
          </a:p>
        </p:txBody>
      </p:sp>
      <p:sp>
        <p:nvSpPr>
          <p:cNvPr id="27" name="Shape 24"/>
          <p:cNvSpPr/>
          <p:nvPr/>
        </p:nvSpPr>
        <p:spPr>
          <a:xfrm>
            <a:off x="548640" y="4800600"/>
            <a:ext cx="11064240" cy="804672"/>
          </a:xfrm>
          <a:prstGeom prst="roundRect">
            <a:avLst>
              <a:gd name="adj" fmla="val 9091"/>
            </a:avLst>
          </a:prstGeom>
          <a:solidFill>
            <a:srgbClr val="FFFFFF"/>
          </a:solidFill>
          <a:ln w="12700">
            <a:solidFill>
              <a:srgbClr val="FFFFFF"/>
            </a:solidFill>
            <a:prstDash val="solid"/>
          </a:ln>
        </p:spPr>
      </p:sp>
      <p:sp>
        <p:nvSpPr>
          <p:cNvPr id="28" name="Shape 25"/>
          <p:cNvSpPr/>
          <p:nvPr/>
        </p:nvSpPr>
        <p:spPr>
          <a:xfrm>
            <a:off x="685800" y="4983480"/>
            <a:ext cx="1874520" cy="438912"/>
          </a:xfrm>
          <a:prstGeom prst="roundRect">
            <a:avLst>
              <a:gd name="adj" fmla="val 16667"/>
            </a:avLst>
          </a:prstGeom>
          <a:solidFill>
            <a:srgbClr val="E39B2D"/>
          </a:solidFill>
          <a:ln w="12700">
            <a:solidFill>
              <a:srgbClr val="E39B2D"/>
            </a:solidFill>
            <a:prstDash val="solid"/>
          </a:ln>
        </p:spPr>
      </p:sp>
      <p:sp>
        <p:nvSpPr>
          <p:cNvPr id="29" name="Text 26"/>
          <p:cNvSpPr/>
          <p:nvPr/>
        </p:nvSpPr>
        <p:spPr>
          <a:xfrm>
            <a:off x="685800" y="4983480"/>
            <a:ext cx="187452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Cue-free</a:t>
            </a:r>
            <a:endParaRPr lang="en-US" sz="1300" dirty="0"/>
          </a:p>
        </p:txBody>
      </p:sp>
      <p:sp>
        <p:nvSpPr>
          <p:cNvPr id="30" name="Text 27"/>
          <p:cNvSpPr/>
          <p:nvPr/>
        </p:nvSpPr>
        <p:spPr>
          <a:xfrm>
            <a:off x="2743200" y="4800600"/>
            <a:ext cx="5669280" cy="804672"/>
          </a:xfrm>
          <a:prstGeom prst="rect">
            <a:avLst/>
          </a:prstGeom>
          <a:noFill/>
          <a:ln/>
        </p:spPr>
        <p:txBody>
          <a:bodyPr wrap="square" lIns="0" tIns="0" rIns="0" bIns="0" rtlCol="0" anchor="ctr"/>
          <a:lstStyle/>
          <a:p>
            <a:pPr algn="l" indent="0" marL="0">
              <a:lnSpc>
                <a:spcPct val="100000"/>
              </a:lnSpc>
              <a:buNone/>
            </a:pPr>
            <a:r>
              <a:rPr lang="en-US" sz="1500" i="1" dirty="0">
                <a:solidFill>
                  <a:srgbClr val="1B2433"/>
                </a:solidFill>
                <a:latin typeface="Calibri" pitchFamily="34" charset="0"/>
                <a:ea typeface="Calibri" pitchFamily="34" charset="-122"/>
                <a:cs typeface="Calibri" pitchFamily="34" charset="-120"/>
              </a:rPr>
              <a:t>[The sky had been overcast since dawn.]  They came at dawn.</a:t>
            </a:r>
            <a:endParaRPr lang="en-US" sz="1500" dirty="0"/>
          </a:p>
        </p:txBody>
      </p:sp>
      <p:sp>
        <p:nvSpPr>
          <p:cNvPr id="31" name="Text 28"/>
          <p:cNvSpPr/>
          <p:nvPr/>
        </p:nvSpPr>
        <p:spPr>
          <a:xfrm>
            <a:off x="8595360" y="4800600"/>
            <a:ext cx="2926080" cy="804672"/>
          </a:xfrm>
          <a:prstGeom prst="rect">
            <a:avLst/>
          </a:prstGeom>
          <a:noFill/>
          <a:ln/>
        </p:spPr>
        <p:txBody>
          <a:bodyPr wrap="square" lIns="0" tIns="0" rIns="0" bIns="0" rtlCol="0" anchor="ctr"/>
          <a:lstStyle/>
          <a:p>
            <a:pPr algn="l" indent="0" marL="0">
              <a:lnSpc>
                <a:spcPct val="100000"/>
              </a:lnSpc>
              <a:buNone/>
            </a:pPr>
            <a:r>
              <a:rPr lang="en-US" sz="1400" i="1" dirty="0">
                <a:solidFill>
                  <a:srgbClr val="5B6577"/>
                </a:solidFill>
                <a:latin typeface="Calibri" pitchFamily="34" charset="0"/>
                <a:ea typeface="Calibri" pitchFamily="34" charset="-122"/>
                <a:cs typeface="Calibri" pitchFamily="34" charset="-120"/>
              </a:rPr>
              <a:t>no gold: any value is acceptable</a:t>
            </a:r>
            <a:endParaRPr lang="en-US" sz="1400" dirty="0"/>
          </a:p>
        </p:txBody>
      </p:sp>
      <p:sp>
        <p:nvSpPr>
          <p:cNvPr id="32" name="Shape 29"/>
          <p:cNvSpPr/>
          <p:nvPr/>
        </p:nvSpPr>
        <p:spPr>
          <a:xfrm>
            <a:off x="548640" y="5852160"/>
            <a:ext cx="11064240" cy="502920"/>
          </a:xfrm>
          <a:prstGeom prst="roundRect">
            <a:avLst>
              <a:gd name="adj" fmla="val 14545"/>
            </a:avLst>
          </a:prstGeom>
          <a:solidFill>
            <a:srgbClr val="FBEBD2"/>
          </a:solidFill>
          <a:ln w="12700">
            <a:solidFill>
              <a:srgbClr val="E39B2D"/>
            </a:solidFill>
            <a:prstDash val="solid"/>
          </a:ln>
        </p:spPr>
      </p:sp>
      <p:sp>
        <p:nvSpPr>
          <p:cNvPr id="33" name="Text 30"/>
          <p:cNvSpPr/>
          <p:nvPr/>
        </p:nvSpPr>
        <p:spPr>
          <a:xfrm>
            <a:off x="777240" y="5852160"/>
            <a:ext cx="10607040" cy="50292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Same sentence pattern, same verb. Only the </a:t>
            </a:r>
            <a:r>
              <a:rPr lang="en-US" sz="1500" b="1" dirty="0">
                <a:solidFill>
                  <a:srgbClr val="1B2433"/>
                </a:solidFill>
                <a:latin typeface="Calibri" pitchFamily="34" charset="0"/>
                <a:ea typeface="Calibri" pitchFamily="34" charset="-122"/>
                <a:cs typeface="Calibri" pitchFamily="34" charset="-120"/>
              </a:rPr>
              <a:t>location of the clue</a:t>
            </a:r>
            <a:r>
              <a:rPr lang="en-US" sz="1500" dirty="0">
                <a:solidFill>
                  <a:srgbClr val="1B2433"/>
                </a:solidFill>
                <a:latin typeface="Calibri" pitchFamily="34" charset="0"/>
                <a:ea typeface="Calibri" pitchFamily="34" charset="-122"/>
                <a:cs typeface="Calibri" pitchFamily="34" charset="-120"/>
              </a:rPr>
              <a:t> changes. Real items from the released TamilLingBench file.</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3</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OUR TEST SET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Examples: gender and number</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28</a:t>
            </a:r>
            <a:endParaRPr lang="en-US" sz="900" dirty="0"/>
          </a:p>
        </p:txBody>
      </p:sp>
      <p:sp>
        <p:nvSpPr>
          <p:cNvPr id="9" name="Text 6"/>
          <p:cNvSpPr/>
          <p:nvPr/>
        </p:nvSpPr>
        <p:spPr>
          <a:xfrm>
            <a:off x="548640" y="1691640"/>
            <a:ext cx="5486400" cy="365760"/>
          </a:xfrm>
          <a:prstGeom prst="rect">
            <a:avLst/>
          </a:prstGeom>
          <a:noFill/>
          <a:ln/>
        </p:spPr>
        <p:txBody>
          <a:bodyPr wrap="square" lIns="0" tIns="0" rIns="0" bIns="0" rtlCol="0" anchor="t"/>
          <a:lstStyle/>
          <a:p>
            <a:pPr algn="l" indent="0" marL="0">
              <a:lnSpc>
                <a:spcPct val="100000"/>
              </a:lnSpc>
              <a:buNone/>
            </a:pPr>
            <a:r>
              <a:rPr lang="en-US" sz="1900" b="1" dirty="0">
                <a:solidFill>
                  <a:srgbClr val="D55E00"/>
                </a:solidFill>
                <a:latin typeface="Calibri" pitchFamily="34" charset="0"/>
                <a:ea typeface="Calibri" pitchFamily="34" charset="-122"/>
                <a:cs typeface="Calibri" pitchFamily="34" charset="-120"/>
              </a:rPr>
              <a:t>Gender</a:t>
            </a:r>
            <a:endParaRPr lang="en-US" sz="1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1463040"/>
                <a:gridCol w="6035040"/>
                <a:gridCol w="356616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Cue</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English</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Tamil gold</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r>
              <a:tr h="384048">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in-sentence</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Aram, my younger sister, came at noon.</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அறம் வந்தாள்.  aṟam vantāḷ.</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in-sentence</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Aram, my younger brother, came at noon.</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அறம் வந்தான்.  aṟam vantāṉ.</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384048">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cue-free</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[Aram, our new neighbour, had been waiting at the station since noon.] Aram came at noon.</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i="1" dirty="0">
                          <a:solidFill>
                            <a:srgbClr val="5B6577"/>
                          </a:solidFill>
                          <a:latin typeface="Calibri" pitchFamily="34" charset="0"/>
                          <a:ea typeface="Calibri" pitchFamily="34" charset="-122"/>
                          <a:cs typeface="Calibri" pitchFamily="34" charset="-120"/>
                        </a:rPr>
                        <a:t>no gold; systems mostly say வந்தார் (avoid)</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11" name="Text 7"/>
          <p:cNvSpPr/>
          <p:nvPr/>
        </p:nvSpPr>
        <p:spPr>
          <a:xfrm>
            <a:off x="548640" y="4069080"/>
            <a:ext cx="5486400" cy="365760"/>
          </a:xfrm>
          <a:prstGeom prst="rect">
            <a:avLst/>
          </a:prstGeom>
          <a:noFill/>
          <a:ln/>
        </p:spPr>
        <p:txBody>
          <a:bodyPr wrap="square" lIns="0" tIns="0" rIns="0" bIns="0" rtlCol="0" anchor="t"/>
          <a:lstStyle/>
          <a:p>
            <a:pPr algn="l" indent="0" marL="0">
              <a:lnSpc>
                <a:spcPct val="100000"/>
              </a:lnSpc>
              <a:buNone/>
            </a:pPr>
            <a:r>
              <a:rPr lang="en-US" sz="1900" b="1" dirty="0">
                <a:solidFill>
                  <a:srgbClr val="0072B2"/>
                </a:solidFill>
                <a:latin typeface="Calibri" pitchFamily="34" charset="0"/>
                <a:ea typeface="Calibri" pitchFamily="34" charset="-122"/>
                <a:cs typeface="Calibri" pitchFamily="34" charset="-120"/>
              </a:rPr>
              <a:t>Number (control)</a:t>
            </a:r>
            <a:endParaRPr lang="en-US" sz="1900" dirty="0"/>
          </a:p>
        </p:txBody>
      </p:sp>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548640" y="4480560"/>
          <a:ext cx="11064240" cy="914400"/>
        </p:xfrm>
        <a:graphic>
          <a:graphicData uri="http://schemas.openxmlformats.org/drawingml/2006/table">
            <a:tbl>
              <a:tblPr/>
              <a:tblGrid>
                <a:gridCol w="1463040"/>
                <a:gridCol w="6035040"/>
                <a:gridCol w="356616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Cue</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English</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Tamil gold</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r>
              <a:tr h="384048">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in-sentence</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The cows moved outside the gate.</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மாடுகள் நகர்ந்தன.  māṭukaḷ nakarntaṉa.</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in-sentence</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The cow moved outside the gate.</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மாடு நகர்ந்தது.  māṭu nakarntatu.</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384048">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cue-free</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[A new tower had been opened the previous week.] The aircraft moved outside the gate.</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i="1" dirty="0">
                          <a:solidFill>
                            <a:srgbClr val="5B6577"/>
                          </a:solidFill>
                          <a:latin typeface="Calibri" pitchFamily="34" charset="0"/>
                          <a:ea typeface="Calibri" pitchFamily="34" charset="-122"/>
                          <a:cs typeface="Calibri" pitchFamily="34" charset="-120"/>
                        </a:rPr>
                        <a:t>no gold: "aircraft" can be one or many</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3</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OUR TEST SET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Important: only the cue-free condition has no right answer</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29</a:t>
            </a:r>
            <a:endParaRPr lang="en-US" sz="900" dirty="0"/>
          </a:p>
        </p:txBody>
      </p:sp>
      <p:sp>
        <p:nvSpPr>
          <p:cNvPr id="9" name="Shape 6"/>
          <p:cNvSpPr/>
          <p:nvPr/>
        </p:nvSpPr>
        <p:spPr>
          <a:xfrm>
            <a:off x="548640" y="1737360"/>
            <a:ext cx="6949440" cy="1463040"/>
          </a:xfrm>
          <a:prstGeom prst="roundRect">
            <a:avLst>
              <a:gd name="adj" fmla="val 5000"/>
            </a:avLst>
          </a:prstGeom>
          <a:solidFill>
            <a:srgbClr val="DDF2EA"/>
          </a:solidFill>
          <a:ln w="12700">
            <a:solidFill>
              <a:srgbClr val="DDF2EA"/>
            </a:solidFill>
            <a:prstDash val="solid"/>
          </a:ln>
        </p:spPr>
      </p:sp>
      <p:sp>
        <p:nvSpPr>
          <p:cNvPr id="10" name="Text 7"/>
          <p:cNvSpPr/>
          <p:nvPr/>
        </p:nvSpPr>
        <p:spPr>
          <a:xfrm>
            <a:off x="777240" y="1874520"/>
            <a:ext cx="6583680" cy="457200"/>
          </a:xfrm>
          <a:prstGeom prst="rect">
            <a:avLst/>
          </a:prstGeom>
          <a:noFill/>
          <a:ln/>
        </p:spPr>
        <p:txBody>
          <a:bodyPr wrap="square" lIns="0" tIns="0" rIns="0" bIns="0" rtlCol="0" anchor="t"/>
          <a:lstStyle/>
          <a:p>
            <a:pPr algn="l" indent="0" marL="0">
              <a:lnSpc>
                <a:spcPct val="100000"/>
              </a:lnSpc>
              <a:buNone/>
            </a:pPr>
            <a:r>
              <a:rPr lang="en-US" sz="1700" b="1" dirty="0">
                <a:solidFill>
                  <a:srgbClr val="1B2433"/>
                </a:solidFill>
                <a:latin typeface="Calibri" pitchFamily="34" charset="0"/>
                <a:ea typeface="Calibri" pitchFamily="34" charset="-122"/>
                <a:cs typeface="Calibri" pitchFamily="34" charset="-120"/>
              </a:rPr>
              <a:t>3 conditions with gold</a:t>
            </a:r>
            <a:r>
              <a:rPr lang="en-US" sz="1700" dirty="0">
                <a:solidFill>
                  <a:srgbClr val="1B2433"/>
                </a:solidFill>
                <a:latin typeface="Calibri" pitchFamily="34" charset="0"/>
                <a:ea typeface="Calibri" pitchFamily="34" charset="-122"/>
                <a:cs typeface="Calibri" pitchFamily="34" charset="-120"/>
              </a:rPr>
              <a:t>: Instructed · In-sentence · Prior-sentence</a:t>
            </a:r>
            <a:endParaRPr lang="en-US" sz="1700" dirty="0"/>
          </a:p>
        </p:txBody>
      </p:sp>
      <p:sp>
        <p:nvSpPr>
          <p:cNvPr id="11" name="Text 8"/>
          <p:cNvSpPr/>
          <p:nvPr/>
        </p:nvSpPr>
        <p:spPr>
          <a:xfrm>
            <a:off x="777240" y="2377440"/>
            <a:ext cx="6583680" cy="1097280"/>
          </a:xfrm>
          <a:prstGeom prst="rect">
            <a:avLst/>
          </a:prstGeom>
          <a:noFill/>
          <a:ln/>
        </p:spPr>
        <p:txBody>
          <a:bodyPr wrap="square" lIns="0" tIns="0" rIns="0" bIns="0" rtlCol="0" anchor="t"/>
          <a:lstStyle/>
          <a:p>
            <a:pPr algn="l" indent="0" marL="0">
              <a:lnSpc>
                <a:spcPct val="100000"/>
              </a:lnSpc>
              <a:buNone/>
            </a:pPr>
            <a:r>
              <a:rPr lang="en-US" sz="1500" dirty="0">
                <a:solidFill>
                  <a:srgbClr val="1B2433"/>
                </a:solidFill>
                <a:latin typeface="Calibri" pitchFamily="34" charset="0"/>
                <a:ea typeface="Calibri" pitchFamily="34" charset="-122"/>
                <a:cs typeface="Calibri" pitchFamily="34" charset="-120"/>
              </a:rPr>
              <a:t>These work like normal test sets: there is a correct answer, taken from the instruction, the sentence, or the sentence before.</a:t>
            </a:r>
            <a:endParaRPr lang="en-US" sz="1500" dirty="0"/>
          </a:p>
        </p:txBody>
      </p:sp>
      <p:sp>
        <p:nvSpPr>
          <p:cNvPr id="12" name="Shape 9"/>
          <p:cNvSpPr/>
          <p:nvPr/>
        </p:nvSpPr>
        <p:spPr>
          <a:xfrm>
            <a:off x="7680960" y="1737360"/>
            <a:ext cx="3931920" cy="1463040"/>
          </a:xfrm>
          <a:prstGeom prst="roundRect">
            <a:avLst>
              <a:gd name="adj" fmla="val 5000"/>
            </a:avLst>
          </a:prstGeom>
          <a:solidFill>
            <a:srgbClr val="FBEBD2"/>
          </a:solidFill>
          <a:ln w="15875">
            <a:solidFill>
              <a:srgbClr val="E39B2D"/>
            </a:solidFill>
            <a:prstDash val="solid"/>
          </a:ln>
        </p:spPr>
      </p:sp>
      <p:sp>
        <p:nvSpPr>
          <p:cNvPr id="13" name="Text 10"/>
          <p:cNvSpPr/>
          <p:nvPr/>
        </p:nvSpPr>
        <p:spPr>
          <a:xfrm>
            <a:off x="7909560" y="1874520"/>
            <a:ext cx="3566160" cy="457200"/>
          </a:xfrm>
          <a:prstGeom prst="rect">
            <a:avLst/>
          </a:prstGeom>
          <a:noFill/>
          <a:ln/>
        </p:spPr>
        <p:txBody>
          <a:bodyPr wrap="square" lIns="0" tIns="0" rIns="0" bIns="0" rtlCol="0" anchor="t"/>
          <a:lstStyle/>
          <a:p>
            <a:pPr algn="l" indent="0" marL="0">
              <a:lnSpc>
                <a:spcPct val="100000"/>
              </a:lnSpc>
              <a:buNone/>
            </a:pPr>
            <a:r>
              <a:rPr lang="en-US" sz="1700" b="1" dirty="0">
                <a:solidFill>
                  <a:srgbClr val="1B2433"/>
                </a:solidFill>
                <a:latin typeface="Calibri" pitchFamily="34" charset="0"/>
                <a:ea typeface="Calibri" pitchFamily="34" charset="-122"/>
                <a:cs typeface="Calibri" pitchFamily="34" charset="-120"/>
              </a:rPr>
              <a:t>1 condition without gold</a:t>
            </a:r>
            <a:r>
              <a:rPr lang="en-US" sz="1700" dirty="0">
                <a:solidFill>
                  <a:srgbClr val="1B2433"/>
                </a:solidFill>
                <a:latin typeface="Calibri" pitchFamily="34" charset="0"/>
                <a:ea typeface="Calibri" pitchFamily="34" charset="-122"/>
                <a:cs typeface="Calibri" pitchFamily="34" charset="-120"/>
              </a:rPr>
              <a:t>: Cue-free</a:t>
            </a:r>
            <a:endParaRPr lang="en-US" sz="1700" dirty="0"/>
          </a:p>
        </p:txBody>
      </p:sp>
      <p:sp>
        <p:nvSpPr>
          <p:cNvPr id="14" name="Text 11"/>
          <p:cNvSpPr/>
          <p:nvPr/>
        </p:nvSpPr>
        <p:spPr>
          <a:xfrm>
            <a:off x="7909560" y="2377440"/>
            <a:ext cx="3566160" cy="1097280"/>
          </a:xfrm>
          <a:prstGeom prst="rect">
            <a:avLst/>
          </a:prstGeom>
          <a:noFill/>
          <a:ln/>
        </p:spPr>
        <p:txBody>
          <a:bodyPr wrap="square" lIns="0" tIns="0" rIns="0" bIns="0" rtlCol="0" anchor="t"/>
          <a:lstStyle/>
          <a:p>
            <a:pPr algn="l" indent="0" marL="0">
              <a:lnSpc>
                <a:spcPct val="100000"/>
              </a:lnSpc>
              <a:buNone/>
            </a:pPr>
            <a:r>
              <a:rPr lang="en-US" sz="1500" dirty="0">
                <a:solidFill>
                  <a:srgbClr val="1B2433"/>
                </a:solidFill>
                <a:latin typeface="Calibri" pitchFamily="34" charset="0"/>
                <a:ea typeface="Calibri" pitchFamily="34" charset="-122"/>
                <a:cs typeface="Calibri" pitchFamily="34" charset="-120"/>
              </a:rPr>
              <a:t>The genuinely new part. We report what systems choose.</a:t>
            </a:r>
            <a:endParaRPr lang="en-US" sz="1500" dirty="0"/>
          </a:p>
        </p:txBody>
      </p:sp>
      <p:sp>
        <p:nvSpPr>
          <p:cNvPr id="15" name="Shape 12"/>
          <p:cNvSpPr/>
          <p:nvPr/>
        </p:nvSpPr>
        <p:spPr>
          <a:xfrm>
            <a:off x="548640" y="3474720"/>
            <a:ext cx="5394960" cy="1828800"/>
          </a:xfrm>
          <a:prstGeom prst="roundRect">
            <a:avLst>
              <a:gd name="adj" fmla="val 4000"/>
            </a:avLst>
          </a:prstGeom>
          <a:solidFill>
            <a:srgbClr val="F2F4F8"/>
          </a:solidFill>
          <a:ln w="12700">
            <a:solidFill>
              <a:srgbClr val="F2F4F8"/>
            </a:solidFill>
            <a:prstDash val="solid"/>
          </a:ln>
        </p:spPr>
      </p:sp>
      <p:sp>
        <p:nvSpPr>
          <p:cNvPr id="16" name="Text 13"/>
          <p:cNvSpPr/>
          <p:nvPr/>
        </p:nvSpPr>
        <p:spPr>
          <a:xfrm>
            <a:off x="749808" y="3621024"/>
            <a:ext cx="49926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 The main comparison</a:t>
            </a:r>
            <a:endParaRPr lang="en-US" sz="1700" dirty="0"/>
          </a:p>
        </p:txBody>
      </p:sp>
      <p:sp>
        <p:nvSpPr>
          <p:cNvPr id="17" name="Text 14"/>
          <p:cNvSpPr/>
          <p:nvPr/>
        </p:nvSpPr>
        <p:spPr>
          <a:xfrm>
            <a:off x="749808" y="4032504"/>
            <a:ext cx="4992624" cy="112471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In-sentence </a:t>
            </a:r>
            <a:r>
              <a:rPr lang="en-US" sz="1500" b="1" dirty="0">
                <a:solidFill>
                  <a:srgbClr val="1B2433"/>
                </a:solidFill>
                <a:latin typeface="Calibri" pitchFamily="34" charset="0"/>
                <a:ea typeface="Calibri" pitchFamily="34" charset="-122"/>
                <a:cs typeface="Calibri" pitchFamily="34" charset="-120"/>
              </a:rPr>
              <a:t>vs</a:t>
            </a:r>
            <a:r>
              <a:rPr lang="en-US" sz="1500" dirty="0">
                <a:solidFill>
                  <a:srgbClr val="1B2433"/>
                </a:solidFill>
                <a:latin typeface="Calibri" pitchFamily="34" charset="0"/>
                <a:ea typeface="Calibri" pitchFamily="34" charset="-122"/>
                <a:cs typeface="Calibri" pitchFamily="34" charset="-120"/>
              </a:rPr>
              <a:t> cue-free: same sentence pattern, same kind of clue; the clue is simply </a:t>
            </a:r>
            <a:r>
              <a:rPr lang="en-US" sz="1500" b="1" dirty="0">
                <a:solidFill>
                  <a:srgbClr val="1B2433"/>
                </a:solidFill>
                <a:latin typeface="Calibri" pitchFamily="34" charset="0"/>
                <a:ea typeface="Calibri" pitchFamily="34" charset="-122"/>
                <a:cs typeface="Calibri" pitchFamily="34" charset="-120"/>
              </a:rPr>
              <a:t>deleted</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
        <p:nvSpPr>
          <p:cNvPr id="18" name="Shape 15"/>
          <p:cNvSpPr/>
          <p:nvPr/>
        </p:nvSpPr>
        <p:spPr>
          <a:xfrm>
            <a:off x="6217920" y="3474720"/>
            <a:ext cx="5394960" cy="1828800"/>
          </a:xfrm>
          <a:prstGeom prst="roundRect">
            <a:avLst>
              <a:gd name="adj" fmla="val 4000"/>
            </a:avLst>
          </a:prstGeom>
          <a:solidFill>
            <a:srgbClr val="F2F4F8"/>
          </a:solidFill>
          <a:ln w="12700">
            <a:solidFill>
              <a:srgbClr val="F2F4F8"/>
            </a:solidFill>
            <a:prstDash val="solid"/>
          </a:ln>
        </p:spPr>
      </p:sp>
      <p:sp>
        <p:nvSpPr>
          <p:cNvPr id="19" name="Text 16"/>
          <p:cNvSpPr/>
          <p:nvPr/>
        </p:nvSpPr>
        <p:spPr>
          <a:xfrm>
            <a:off x="6419088" y="3621024"/>
            <a:ext cx="49926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 In-sentence vs prior-sentence: rationality only</a:t>
            </a:r>
            <a:endParaRPr lang="en-US" sz="1700" dirty="0"/>
          </a:p>
        </p:txBody>
      </p:sp>
      <p:sp>
        <p:nvSpPr>
          <p:cNvPr id="20" name="Text 17"/>
          <p:cNvSpPr/>
          <p:nvPr/>
        </p:nvSpPr>
        <p:spPr>
          <a:xfrm>
            <a:off x="6419088" y="4032504"/>
            <a:ext cx="4992624" cy="1124712"/>
          </a:xfrm>
          <a:prstGeom prst="rect">
            <a:avLst/>
          </a:prstGeom>
          <a:noFill/>
          <a:ln/>
        </p:spPr>
        <p:txBody>
          <a:bodyPr wrap="square" lIns="0" tIns="0" rIns="0" bIns="0" rtlCol="0" anchor="t"/>
          <a:lstStyle/>
          <a:p>
            <a:pPr indent="0" marL="0">
              <a:spcAft>
                <a:spcPts val="500"/>
              </a:spcAft>
              <a:buNone/>
            </a:pPr>
            <a:r>
              <a:rPr lang="en-US" sz="1400" dirty="0">
                <a:solidFill>
                  <a:srgbClr val="1B2433"/>
                </a:solidFill>
                <a:latin typeface="Calibri" pitchFamily="34" charset="0"/>
                <a:ea typeface="Calibri" pitchFamily="34" charset="-122"/>
                <a:cs typeface="Calibri" pitchFamily="34" charset="-120"/>
              </a:rPr>
              <a:t>Allowed only where both give the clue </a:t>
            </a:r>
            <a:r>
              <a:rPr lang="en-US" sz="1400" b="1" dirty="0">
                <a:solidFill>
                  <a:srgbClr val="1B2433"/>
                </a:solidFill>
                <a:latin typeface="Calibri" pitchFamily="34" charset="0"/>
                <a:ea typeface="Calibri" pitchFamily="34" charset="-122"/>
                <a:cs typeface="Calibri" pitchFamily="34" charset="-120"/>
              </a:rPr>
              <a:t>the same way</a:t>
            </a:r>
            <a:r>
              <a:rPr lang="en-US" sz="1400" dirty="0">
                <a:solidFill>
                  <a:srgbClr val="1B2433"/>
                </a:solidFill>
                <a:latin typeface="Calibri" pitchFamily="34" charset="0"/>
                <a:ea typeface="Calibri" pitchFamily="34" charset="-122"/>
                <a:cs typeface="Calibri" pitchFamily="34" charset="-120"/>
              </a:rPr>
              <a:t> (rationality: a noun in both). In </a:t>
            </a:r>
            <a:r>
              <a:rPr lang="en-US" sz="1400" b="1" dirty="0">
                <a:solidFill>
                  <a:srgbClr val="1B2433"/>
                </a:solidFill>
                <a:latin typeface="Calibri" pitchFamily="34" charset="0"/>
                <a:ea typeface="Calibri" pitchFamily="34" charset="-122"/>
                <a:cs typeface="Calibri" pitchFamily="34" charset="-120"/>
              </a:rPr>
              <a:t>gender</a:t>
            </a:r>
            <a:r>
              <a:rPr lang="en-US" sz="1400" dirty="0">
                <a:solidFill>
                  <a:srgbClr val="1B2433"/>
                </a:solidFill>
                <a:latin typeface="Calibri" pitchFamily="34" charset="0"/>
                <a:ea typeface="Calibri" pitchFamily="34" charset="-122"/>
                <a:cs typeface="Calibri" pitchFamily="34" charset="-120"/>
              </a:rPr>
              <a:t> one uses a Tamil name, the other an English word, so </a:t>
            </a:r>
            <a:r>
              <a:rPr lang="en-US" sz="1400" b="1" dirty="0">
                <a:solidFill>
                  <a:srgbClr val="1B2433"/>
                </a:solidFill>
                <a:latin typeface="Calibri" pitchFamily="34" charset="0"/>
                <a:ea typeface="Calibri" pitchFamily="34" charset="-122"/>
                <a:cs typeface="Calibri" pitchFamily="34" charset="-120"/>
              </a:rPr>
              <a:t>no gender comparison</a:t>
            </a:r>
            <a:r>
              <a:rPr lang="en-US" sz="1400" dirty="0">
                <a:solidFill>
                  <a:srgbClr val="1B2433"/>
                </a:solidFill>
                <a:latin typeface="Calibri" pitchFamily="34" charset="0"/>
                <a:ea typeface="Calibri" pitchFamily="34" charset="-122"/>
                <a:cs typeface="Calibri" pitchFamily="34" charset="-120"/>
              </a:rPr>
              <a:t> is made.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3</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OUR TEST SET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How the test items were made</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30</a:t>
            </a:r>
            <a:endParaRPr lang="en-US" sz="900" dirty="0"/>
          </a:p>
        </p:txBody>
      </p:sp>
      <p:sp>
        <p:nvSpPr>
          <p:cNvPr id="9" name="Shape 6"/>
          <p:cNvSpPr/>
          <p:nvPr/>
        </p:nvSpPr>
        <p:spPr>
          <a:xfrm>
            <a:off x="548640" y="1828800"/>
            <a:ext cx="2011680" cy="2011680"/>
          </a:xfrm>
          <a:prstGeom prst="roundRect">
            <a:avLst>
              <a:gd name="adj" fmla="val 3636"/>
            </a:avLst>
          </a:prstGeom>
          <a:solidFill>
            <a:srgbClr val="F2F4F8"/>
          </a:solidFill>
          <a:ln w="12700">
            <a:solidFill>
              <a:srgbClr val="F2F4F8"/>
            </a:solidFill>
            <a:prstDash val="solid"/>
          </a:ln>
        </p:spPr>
      </p:sp>
      <p:sp>
        <p:nvSpPr>
          <p:cNvPr id="10" name="Text 7"/>
          <p:cNvSpPr/>
          <p:nvPr/>
        </p:nvSpPr>
        <p:spPr>
          <a:xfrm>
            <a:off x="658368" y="1938528"/>
            <a:ext cx="1792224" cy="457200"/>
          </a:xfrm>
          <a:prstGeom prst="rect">
            <a:avLst/>
          </a:prstGeom>
          <a:noFill/>
          <a:ln/>
        </p:spPr>
        <p:txBody>
          <a:bodyPr wrap="square" lIns="0" tIns="0" rIns="0" bIns="0" rtlCol="0" anchor="t"/>
          <a:lstStyle/>
          <a:p>
            <a:pPr algn="ctr" indent="0" marL="0">
              <a:lnSpc>
                <a:spcPct val="100000"/>
              </a:lnSpc>
              <a:buNone/>
            </a:pPr>
            <a:r>
              <a:rPr lang="en-US" sz="1600" b="1" dirty="0">
                <a:solidFill>
                  <a:srgbClr val="1B2433"/>
                </a:solidFill>
                <a:latin typeface="Calibri" pitchFamily="34" charset="0"/>
                <a:ea typeface="Calibri" pitchFamily="34" charset="-122"/>
                <a:cs typeface="Calibri" pitchFamily="34" charset="-120"/>
              </a:rPr>
              <a:t>Template</a:t>
            </a:r>
            <a:endParaRPr lang="en-US" sz="1600" dirty="0"/>
          </a:p>
        </p:txBody>
      </p:sp>
      <p:sp>
        <p:nvSpPr>
          <p:cNvPr id="11" name="Text 8"/>
          <p:cNvSpPr/>
          <p:nvPr/>
        </p:nvSpPr>
        <p:spPr>
          <a:xfrm>
            <a:off x="658368" y="2423160"/>
            <a:ext cx="1792224" cy="1371600"/>
          </a:xfrm>
          <a:prstGeom prst="rect">
            <a:avLst/>
          </a:prstGeom>
          <a:noFill/>
          <a:ln/>
        </p:spPr>
        <p:txBody>
          <a:bodyPr wrap="square" lIns="0" tIns="0" rIns="0" bIns="0" rtlCol="0" anchor="t"/>
          <a:lstStyle/>
          <a:p>
            <a:pPr algn="ctr" indent="0" marL="0">
              <a:lnSpc>
                <a:spcPct val="100000"/>
              </a:lnSpc>
              <a:buNone/>
            </a:pPr>
            <a:r>
              <a:rPr lang="en-US" sz="1400" dirty="0">
                <a:solidFill>
                  <a:srgbClr val="5B6577"/>
                </a:solidFill>
                <a:latin typeface="Calibri" pitchFamily="34" charset="0"/>
                <a:ea typeface="Calibri" pitchFamily="34" charset="-122"/>
                <a:cs typeface="Calibri" pitchFamily="34" charset="-120"/>
              </a:rPr>
              <a:t>a sentence pattern: "The ___ came at dawn."</a:t>
            </a:r>
            <a:endParaRPr lang="en-US" sz="1400" dirty="0"/>
          </a:p>
        </p:txBody>
      </p:sp>
      <p:sp>
        <p:nvSpPr>
          <p:cNvPr id="12" name="Shape 9"/>
          <p:cNvSpPr/>
          <p:nvPr/>
        </p:nvSpPr>
        <p:spPr>
          <a:xfrm>
            <a:off x="2578608" y="2834640"/>
            <a:ext cx="219456" cy="0"/>
          </a:xfrm>
          <a:prstGeom prst="line">
            <a:avLst/>
          </a:prstGeom>
          <a:noFill/>
          <a:ln w="25400">
            <a:solidFill>
              <a:srgbClr val="1B2433"/>
            </a:solidFill>
            <a:prstDash val="solid"/>
            <a:tailEnd type="triangle"/>
          </a:ln>
        </p:spPr>
      </p:sp>
      <p:sp>
        <p:nvSpPr>
          <p:cNvPr id="13" name="Shape 10"/>
          <p:cNvSpPr/>
          <p:nvPr/>
        </p:nvSpPr>
        <p:spPr>
          <a:xfrm>
            <a:off x="2816352" y="1828800"/>
            <a:ext cx="2011680" cy="2011680"/>
          </a:xfrm>
          <a:prstGeom prst="roundRect">
            <a:avLst>
              <a:gd name="adj" fmla="val 3636"/>
            </a:avLst>
          </a:prstGeom>
          <a:solidFill>
            <a:srgbClr val="F2F4F8"/>
          </a:solidFill>
          <a:ln w="12700">
            <a:solidFill>
              <a:srgbClr val="F2F4F8"/>
            </a:solidFill>
            <a:prstDash val="solid"/>
          </a:ln>
        </p:spPr>
      </p:sp>
      <p:sp>
        <p:nvSpPr>
          <p:cNvPr id="14" name="Text 11"/>
          <p:cNvSpPr/>
          <p:nvPr/>
        </p:nvSpPr>
        <p:spPr>
          <a:xfrm>
            <a:off x="2926080" y="1938528"/>
            <a:ext cx="1792224" cy="457200"/>
          </a:xfrm>
          <a:prstGeom prst="rect">
            <a:avLst/>
          </a:prstGeom>
          <a:noFill/>
          <a:ln/>
        </p:spPr>
        <p:txBody>
          <a:bodyPr wrap="square" lIns="0" tIns="0" rIns="0" bIns="0" rtlCol="0" anchor="t"/>
          <a:lstStyle/>
          <a:p>
            <a:pPr algn="ctr" indent="0" marL="0">
              <a:lnSpc>
                <a:spcPct val="100000"/>
              </a:lnSpc>
              <a:buNone/>
            </a:pPr>
            <a:r>
              <a:rPr lang="en-US" sz="1600" b="1" dirty="0">
                <a:solidFill>
                  <a:srgbClr val="1B2433"/>
                </a:solidFill>
                <a:latin typeface="Calibri" pitchFamily="34" charset="0"/>
                <a:ea typeface="Calibri" pitchFamily="34" charset="-122"/>
                <a:cs typeface="Calibri" pitchFamily="34" charset="-120"/>
              </a:rPr>
              <a:t>Fill</a:t>
            </a:r>
            <a:endParaRPr lang="en-US" sz="1600" dirty="0"/>
          </a:p>
        </p:txBody>
      </p:sp>
      <p:sp>
        <p:nvSpPr>
          <p:cNvPr id="15" name="Text 12"/>
          <p:cNvSpPr/>
          <p:nvPr/>
        </p:nvSpPr>
        <p:spPr>
          <a:xfrm>
            <a:off x="2926080" y="2423160"/>
            <a:ext cx="1792224" cy="1371600"/>
          </a:xfrm>
          <a:prstGeom prst="rect">
            <a:avLst/>
          </a:prstGeom>
          <a:noFill/>
          <a:ln/>
        </p:spPr>
        <p:txBody>
          <a:bodyPr wrap="square" lIns="0" tIns="0" rIns="0" bIns="0" rtlCol="0" anchor="t"/>
          <a:lstStyle/>
          <a:p>
            <a:pPr algn="ctr" indent="0" marL="0">
              <a:lnSpc>
                <a:spcPct val="100000"/>
              </a:lnSpc>
              <a:buNone/>
            </a:pPr>
            <a:r>
              <a:rPr lang="en-US" sz="1400" dirty="0">
                <a:solidFill>
                  <a:srgbClr val="5B6577"/>
                </a:solidFill>
                <a:latin typeface="Calibri" pitchFamily="34" charset="0"/>
                <a:ea typeface="Calibri" pitchFamily="34" charset="-122"/>
                <a:cs typeface="Calibri" pitchFamily="34" charset="-120"/>
              </a:rPr>
              <a:t>nouns and verbs from a word list, with a fixed random seed so anyone can rebuild them</a:t>
            </a:r>
            <a:endParaRPr lang="en-US" sz="1400" dirty="0"/>
          </a:p>
        </p:txBody>
      </p:sp>
      <p:sp>
        <p:nvSpPr>
          <p:cNvPr id="16" name="Shape 13"/>
          <p:cNvSpPr/>
          <p:nvPr/>
        </p:nvSpPr>
        <p:spPr>
          <a:xfrm>
            <a:off x="4846320" y="2834640"/>
            <a:ext cx="219456" cy="0"/>
          </a:xfrm>
          <a:prstGeom prst="line">
            <a:avLst/>
          </a:prstGeom>
          <a:noFill/>
          <a:ln w="25400">
            <a:solidFill>
              <a:srgbClr val="1B2433"/>
            </a:solidFill>
            <a:prstDash val="solid"/>
            <a:tailEnd type="triangle"/>
          </a:ln>
        </p:spPr>
      </p:sp>
      <p:sp>
        <p:nvSpPr>
          <p:cNvPr id="17" name="Shape 14"/>
          <p:cNvSpPr/>
          <p:nvPr/>
        </p:nvSpPr>
        <p:spPr>
          <a:xfrm>
            <a:off x="5084064" y="1828800"/>
            <a:ext cx="2011680" cy="2011680"/>
          </a:xfrm>
          <a:prstGeom prst="roundRect">
            <a:avLst>
              <a:gd name="adj" fmla="val 3636"/>
            </a:avLst>
          </a:prstGeom>
          <a:solidFill>
            <a:srgbClr val="F2F4F8"/>
          </a:solidFill>
          <a:ln w="12700">
            <a:solidFill>
              <a:srgbClr val="F2F4F8"/>
            </a:solidFill>
            <a:prstDash val="solid"/>
          </a:ln>
        </p:spPr>
      </p:sp>
      <p:sp>
        <p:nvSpPr>
          <p:cNvPr id="18" name="Text 15"/>
          <p:cNvSpPr/>
          <p:nvPr/>
        </p:nvSpPr>
        <p:spPr>
          <a:xfrm>
            <a:off x="5193792" y="1938528"/>
            <a:ext cx="1792224" cy="457200"/>
          </a:xfrm>
          <a:prstGeom prst="rect">
            <a:avLst/>
          </a:prstGeom>
          <a:noFill/>
          <a:ln/>
        </p:spPr>
        <p:txBody>
          <a:bodyPr wrap="square" lIns="0" tIns="0" rIns="0" bIns="0" rtlCol="0" anchor="t"/>
          <a:lstStyle/>
          <a:p>
            <a:pPr algn="ctr" indent="0" marL="0">
              <a:lnSpc>
                <a:spcPct val="100000"/>
              </a:lnSpc>
              <a:buNone/>
            </a:pPr>
            <a:r>
              <a:rPr lang="en-US" sz="1600" b="1" dirty="0">
                <a:solidFill>
                  <a:srgbClr val="1B2433"/>
                </a:solidFill>
                <a:latin typeface="Calibri" pitchFamily="34" charset="0"/>
                <a:ea typeface="Calibri" pitchFamily="34" charset="-122"/>
                <a:cs typeface="Calibri" pitchFamily="34" charset="-120"/>
              </a:rPr>
              <a:t>Generate Tamil</a:t>
            </a:r>
            <a:endParaRPr lang="en-US" sz="1600" dirty="0"/>
          </a:p>
        </p:txBody>
      </p:sp>
      <p:sp>
        <p:nvSpPr>
          <p:cNvPr id="19" name="Text 16"/>
          <p:cNvSpPr/>
          <p:nvPr/>
        </p:nvSpPr>
        <p:spPr>
          <a:xfrm>
            <a:off x="5193792" y="2423160"/>
            <a:ext cx="1792224" cy="1371600"/>
          </a:xfrm>
          <a:prstGeom prst="rect">
            <a:avLst/>
          </a:prstGeom>
          <a:noFill/>
          <a:ln/>
        </p:spPr>
        <p:txBody>
          <a:bodyPr wrap="square" lIns="0" tIns="0" rIns="0" bIns="0" rtlCol="0" anchor="t"/>
          <a:lstStyle/>
          <a:p>
            <a:pPr algn="ctr" indent="0" marL="0">
              <a:lnSpc>
                <a:spcPct val="100000"/>
              </a:lnSpc>
              <a:buNone/>
            </a:pPr>
            <a:r>
              <a:rPr lang="en-US" sz="1400" dirty="0">
                <a:solidFill>
                  <a:srgbClr val="5B6577"/>
                </a:solidFill>
                <a:latin typeface="Calibri" pitchFamily="34" charset="0"/>
                <a:ea typeface="Calibri" pitchFamily="34" charset="-122"/>
                <a:cs typeface="Calibri" pitchFamily="34" charset="-120"/>
              </a:rPr>
              <a:t>correct answers produced and checked by the analyser</a:t>
            </a:r>
            <a:endParaRPr lang="en-US" sz="1400" dirty="0"/>
          </a:p>
        </p:txBody>
      </p:sp>
      <p:sp>
        <p:nvSpPr>
          <p:cNvPr id="20" name="Shape 17"/>
          <p:cNvSpPr/>
          <p:nvPr/>
        </p:nvSpPr>
        <p:spPr>
          <a:xfrm>
            <a:off x="7114032" y="2834640"/>
            <a:ext cx="219456" cy="0"/>
          </a:xfrm>
          <a:prstGeom prst="line">
            <a:avLst/>
          </a:prstGeom>
          <a:noFill/>
          <a:ln w="25400">
            <a:solidFill>
              <a:srgbClr val="1B2433"/>
            </a:solidFill>
            <a:prstDash val="solid"/>
            <a:tailEnd type="triangle"/>
          </a:ln>
        </p:spPr>
      </p:sp>
      <p:sp>
        <p:nvSpPr>
          <p:cNvPr id="21" name="Shape 18"/>
          <p:cNvSpPr/>
          <p:nvPr/>
        </p:nvSpPr>
        <p:spPr>
          <a:xfrm>
            <a:off x="7351776" y="1828800"/>
            <a:ext cx="2011680" cy="2011680"/>
          </a:xfrm>
          <a:prstGeom prst="roundRect">
            <a:avLst>
              <a:gd name="adj" fmla="val 3636"/>
            </a:avLst>
          </a:prstGeom>
          <a:solidFill>
            <a:srgbClr val="FBEBD2"/>
          </a:solidFill>
          <a:ln w="15875">
            <a:solidFill>
              <a:srgbClr val="E39B2D"/>
            </a:solidFill>
            <a:prstDash val="solid"/>
          </a:ln>
        </p:spPr>
      </p:sp>
      <p:sp>
        <p:nvSpPr>
          <p:cNvPr id="22" name="Text 19"/>
          <p:cNvSpPr/>
          <p:nvPr/>
        </p:nvSpPr>
        <p:spPr>
          <a:xfrm>
            <a:off x="7461504" y="1938528"/>
            <a:ext cx="1792224" cy="457200"/>
          </a:xfrm>
          <a:prstGeom prst="rect">
            <a:avLst/>
          </a:prstGeom>
          <a:noFill/>
          <a:ln/>
        </p:spPr>
        <p:txBody>
          <a:bodyPr wrap="square" lIns="0" tIns="0" rIns="0" bIns="0" rtlCol="0" anchor="t"/>
          <a:lstStyle/>
          <a:p>
            <a:pPr algn="ctr" indent="0" marL="0">
              <a:lnSpc>
                <a:spcPct val="100000"/>
              </a:lnSpc>
              <a:buNone/>
            </a:pPr>
            <a:r>
              <a:rPr lang="en-US" sz="1600" b="1" dirty="0">
                <a:solidFill>
                  <a:srgbClr val="1B2433"/>
                </a:solidFill>
                <a:latin typeface="Calibri" pitchFamily="34" charset="0"/>
                <a:ea typeface="Calibri" pitchFamily="34" charset="-122"/>
                <a:cs typeface="Calibri" pitchFamily="34" charset="-120"/>
              </a:rPr>
              <a:t>Automatic audit</a:t>
            </a:r>
            <a:endParaRPr lang="en-US" sz="1600" dirty="0"/>
          </a:p>
        </p:txBody>
      </p:sp>
      <p:sp>
        <p:nvSpPr>
          <p:cNvPr id="23" name="Text 20"/>
          <p:cNvSpPr/>
          <p:nvPr/>
        </p:nvSpPr>
        <p:spPr>
          <a:xfrm>
            <a:off x="7461504" y="2423160"/>
            <a:ext cx="1792224" cy="1371600"/>
          </a:xfrm>
          <a:prstGeom prst="rect">
            <a:avLst/>
          </a:prstGeom>
          <a:noFill/>
          <a:ln/>
        </p:spPr>
        <p:txBody>
          <a:bodyPr wrap="square" lIns="0" tIns="0" rIns="0" bIns="0" rtlCol="0" anchor="t"/>
          <a:lstStyle/>
          <a:p>
            <a:pPr algn="ctr" indent="0" marL="0">
              <a:lnSpc>
                <a:spcPct val="100000"/>
              </a:lnSpc>
              <a:buNone/>
            </a:pPr>
            <a:r>
              <a:rPr lang="en-US" sz="1400" dirty="0">
                <a:solidFill>
                  <a:srgbClr val="5B6577"/>
                </a:solidFill>
                <a:latin typeface="Calibri" pitchFamily="34" charset="0"/>
                <a:ea typeface="Calibri" pitchFamily="34" charset="-122"/>
                <a:cs typeface="Calibri" pitchFamily="34" charset="-120"/>
              </a:rPr>
              <a:t>does the English really contain the clue? If not, stop</a:t>
            </a:r>
            <a:endParaRPr lang="en-US" sz="1400" dirty="0"/>
          </a:p>
        </p:txBody>
      </p:sp>
      <p:sp>
        <p:nvSpPr>
          <p:cNvPr id="24" name="Shape 21"/>
          <p:cNvSpPr/>
          <p:nvPr/>
        </p:nvSpPr>
        <p:spPr>
          <a:xfrm>
            <a:off x="9381744" y="2834640"/>
            <a:ext cx="219456" cy="0"/>
          </a:xfrm>
          <a:prstGeom prst="line">
            <a:avLst/>
          </a:prstGeom>
          <a:noFill/>
          <a:ln w="25400">
            <a:solidFill>
              <a:srgbClr val="1B2433"/>
            </a:solidFill>
            <a:prstDash val="solid"/>
            <a:tailEnd type="triangle"/>
          </a:ln>
        </p:spPr>
      </p:sp>
      <p:sp>
        <p:nvSpPr>
          <p:cNvPr id="25" name="Shape 22"/>
          <p:cNvSpPr/>
          <p:nvPr/>
        </p:nvSpPr>
        <p:spPr>
          <a:xfrm>
            <a:off x="9619488" y="1828800"/>
            <a:ext cx="2011680" cy="2011680"/>
          </a:xfrm>
          <a:prstGeom prst="roundRect">
            <a:avLst>
              <a:gd name="adj" fmla="val 3636"/>
            </a:avLst>
          </a:prstGeom>
          <a:solidFill>
            <a:srgbClr val="F2F4F8"/>
          </a:solidFill>
          <a:ln w="12700">
            <a:solidFill>
              <a:srgbClr val="F2F4F8"/>
            </a:solidFill>
            <a:prstDash val="solid"/>
          </a:ln>
        </p:spPr>
      </p:sp>
      <p:sp>
        <p:nvSpPr>
          <p:cNvPr id="26" name="Text 23"/>
          <p:cNvSpPr/>
          <p:nvPr/>
        </p:nvSpPr>
        <p:spPr>
          <a:xfrm>
            <a:off x="9729216" y="1938528"/>
            <a:ext cx="1792224" cy="457200"/>
          </a:xfrm>
          <a:prstGeom prst="rect">
            <a:avLst/>
          </a:prstGeom>
          <a:noFill/>
          <a:ln/>
        </p:spPr>
        <p:txBody>
          <a:bodyPr wrap="square" lIns="0" tIns="0" rIns="0" bIns="0" rtlCol="0" anchor="t"/>
          <a:lstStyle/>
          <a:p>
            <a:pPr algn="ctr" indent="0" marL="0">
              <a:lnSpc>
                <a:spcPct val="100000"/>
              </a:lnSpc>
              <a:buNone/>
            </a:pPr>
            <a:r>
              <a:rPr lang="en-US" sz="1600" b="1" dirty="0">
                <a:solidFill>
                  <a:srgbClr val="1B2433"/>
                </a:solidFill>
                <a:latin typeface="Calibri" pitchFamily="34" charset="0"/>
                <a:ea typeface="Calibri" pitchFamily="34" charset="-122"/>
                <a:cs typeface="Calibri" pitchFamily="34" charset="-120"/>
              </a:rPr>
              <a:t>Native speakers</a:t>
            </a:r>
            <a:endParaRPr lang="en-US" sz="1600" dirty="0"/>
          </a:p>
        </p:txBody>
      </p:sp>
      <p:sp>
        <p:nvSpPr>
          <p:cNvPr id="27" name="Text 24"/>
          <p:cNvSpPr/>
          <p:nvPr/>
        </p:nvSpPr>
        <p:spPr>
          <a:xfrm>
            <a:off x="9729216" y="2423160"/>
            <a:ext cx="1792224" cy="1371600"/>
          </a:xfrm>
          <a:prstGeom prst="rect">
            <a:avLst/>
          </a:prstGeom>
          <a:noFill/>
          <a:ln/>
        </p:spPr>
        <p:txBody>
          <a:bodyPr wrap="square" lIns="0" tIns="0" rIns="0" bIns="0" rtlCol="0" anchor="t"/>
          <a:lstStyle/>
          <a:p>
            <a:pPr algn="ctr" indent="0" marL="0">
              <a:lnSpc>
                <a:spcPct val="100000"/>
              </a:lnSpc>
              <a:buNone/>
            </a:pPr>
            <a:r>
              <a:rPr lang="en-US" sz="1400" dirty="0">
                <a:solidFill>
                  <a:srgbClr val="5B6577"/>
                </a:solidFill>
                <a:latin typeface="Calibri" pitchFamily="34" charset="0"/>
                <a:ea typeface="Calibri" pitchFamily="34" charset="-122"/>
                <a:cs typeface="Calibri" pitchFamily="34" charset="-120"/>
              </a:rPr>
              <a:t>two native Tamil speakers review and correct</a:t>
            </a:r>
            <a:endParaRPr lang="en-US" sz="1400" dirty="0"/>
          </a:p>
        </p:txBody>
      </p:sp>
      <p:sp>
        <p:nvSpPr>
          <p:cNvPr id="28" name="Text 25"/>
          <p:cNvSpPr/>
          <p:nvPr/>
        </p:nvSpPr>
        <p:spPr>
          <a:xfrm>
            <a:off x="548640" y="4114800"/>
            <a:ext cx="11064240" cy="1737360"/>
          </a:xfrm>
          <a:prstGeom prst="rect">
            <a:avLst/>
          </a:prstGeom>
          <a:noFill/>
          <a:ln/>
        </p:spPr>
        <p:txBody>
          <a:bodyPr wrap="square" lIns="0" tIns="0" rIns="0" bIns="0" rtlCol="0" anchor="t"/>
          <a:lstStyle/>
          <a:p>
            <a:pPr marL="228600" indent="-228600">
              <a:lnSpc>
                <a:spcPct val="105000"/>
              </a:lnSpc>
              <a:spcAft>
                <a:spcPts val="800"/>
              </a:spcAft>
              <a:buSzPct val="100000"/>
              <a:buChar char="•"/>
            </a:pPr>
            <a:r>
              <a:rPr lang="en-US" sz="1600" b="1" dirty="0">
                <a:solidFill>
                  <a:srgbClr val="1B2433"/>
                </a:solidFill>
                <a:latin typeface="Calibri" pitchFamily="34" charset="0"/>
                <a:ea typeface="Calibri" pitchFamily="34" charset="-122"/>
                <a:cs typeface="Calibri" pitchFamily="34" charset="-120"/>
              </a:rPr>
              <a:t>2,873 test items</a:t>
            </a:r>
            <a:r>
              <a:rPr lang="en-US" sz="1600" dirty="0">
                <a:solidFill>
                  <a:srgbClr val="1B2433"/>
                </a:solidFill>
                <a:latin typeface="Calibri" pitchFamily="34" charset="0"/>
                <a:ea typeface="Calibri" pitchFamily="34" charset="-122"/>
                <a:cs typeface="Calibri" pitchFamily="34" charset="-120"/>
              </a:rPr>
              <a:t> in the release (an item = one test sentence plus its correct answer).</a:t>
            </a:r>
            <a:endParaRPr lang="en-US" sz="1600" dirty="0"/>
          </a:p>
          <a:p>
            <a:pPr marL="228600" indent="-228600">
              <a:lnSpc>
                <a:spcPct val="105000"/>
              </a:lnSpc>
              <a:spcAft>
                <a:spcPts val="800"/>
              </a:spcAft>
              <a:buSzPct val="100000"/>
              <a:buChar char="•"/>
            </a:pPr>
            <a:r>
              <a:rPr lang="en-US" sz="1600" dirty="0">
                <a:solidFill>
                  <a:srgbClr val="1B2433"/>
                </a:solidFill>
                <a:latin typeface="Calibri" pitchFamily="34" charset="0"/>
                <a:ea typeface="Calibri" pitchFamily="34" charset="-122"/>
                <a:cs typeface="Calibri" pitchFamily="34" charset="-120"/>
              </a:rPr>
              <a:t>Some items are </a:t>
            </a:r>
            <a:r>
              <a:rPr lang="en-US" sz="1600" b="1" dirty="0">
                <a:solidFill>
                  <a:srgbClr val="1B2433"/>
                </a:solidFill>
                <a:latin typeface="Calibri" pitchFamily="34" charset="0"/>
                <a:ea typeface="Calibri" pitchFamily="34" charset="-122"/>
                <a:cs typeface="Calibri" pitchFamily="34" charset="-120"/>
              </a:rPr>
              <a:t>hidden</a:t>
            </a:r>
            <a:r>
              <a:rPr lang="en-US" sz="1600" dirty="0">
                <a:solidFill>
                  <a:srgbClr val="1B2433"/>
                </a:solidFill>
                <a:latin typeface="Calibri" pitchFamily="34" charset="0"/>
                <a:ea typeface="Calibri" pitchFamily="34" charset="-122"/>
                <a:cs typeface="Calibri" pitchFamily="34" charset="-120"/>
              </a:rPr>
              <a:t> (a "blind" set). We hide </a:t>
            </a:r>
            <a:r>
              <a:rPr lang="en-US" sz="1600" b="1" dirty="0">
                <a:solidFill>
                  <a:srgbClr val="1B2433"/>
                </a:solidFill>
                <a:latin typeface="Calibri" pitchFamily="34" charset="0"/>
                <a:ea typeface="Calibri" pitchFamily="34" charset="-122"/>
                <a:cs typeface="Calibri" pitchFamily="34" charset="-120"/>
              </a:rPr>
              <a:t>whole templates</a:t>
            </a:r>
            <a:r>
              <a:rPr lang="en-US" sz="1600" dirty="0">
                <a:solidFill>
                  <a:srgbClr val="1B2433"/>
                </a:solidFill>
                <a:latin typeface="Calibri" pitchFamily="34" charset="0"/>
                <a:ea typeface="Calibri" pitchFamily="34" charset="-122"/>
                <a:cs typeface="Calibri" pitchFamily="34" charset="-120"/>
              </a:rPr>
              <a:t>, not single sentences, because anyone with the public generator could rebuild a hidden sentence.</a:t>
            </a:r>
            <a:endParaRPr lang="en-US" sz="1600" dirty="0"/>
          </a:p>
          <a:p>
            <a:pPr marL="228600" indent="-228600">
              <a:lnSpc>
                <a:spcPct val="105000"/>
              </a:lnSpc>
              <a:spcAft>
                <a:spcPts val="800"/>
              </a:spcAft>
              <a:buSzPct val="100000"/>
              <a:buChar char="•"/>
            </a:pPr>
            <a:r>
              <a:rPr lang="en-US" sz="1600" b="1" dirty="0">
                <a:solidFill>
                  <a:srgbClr val="1B2433"/>
                </a:solidFill>
                <a:latin typeface="Calibri" pitchFamily="34" charset="0"/>
                <a:ea typeface="Calibri" pitchFamily="34" charset="-122"/>
                <a:cs typeface="Calibri" pitchFamily="34" charset="-120"/>
              </a:rPr>
              <a:t>12 automatic checks</a:t>
            </a:r>
            <a:r>
              <a:rPr lang="en-US" sz="1600" dirty="0">
                <a:solidFill>
                  <a:srgbClr val="1B2433"/>
                </a:solidFill>
                <a:latin typeface="Calibri" pitchFamily="34" charset="0"/>
                <a:ea typeface="Calibri" pitchFamily="34" charset="-122"/>
                <a:cs typeface="Calibri" pitchFamily="34" charset="-120"/>
              </a:rPr>
              <a:t> run every time the test set is rebuilt.</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3</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OUR TEST SET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Checking Tamil automatically: the morphological analyser</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31</a:t>
            </a:r>
            <a:endParaRPr lang="en-US" sz="900" dirty="0"/>
          </a:p>
        </p:txBody>
      </p:sp>
      <p:sp>
        <p:nvSpPr>
          <p:cNvPr id="9" name="Shape 6"/>
          <p:cNvSpPr/>
          <p:nvPr/>
        </p:nvSpPr>
        <p:spPr>
          <a:xfrm>
            <a:off x="548640" y="1828800"/>
            <a:ext cx="2011680" cy="1737360"/>
          </a:xfrm>
          <a:prstGeom prst="roundRect">
            <a:avLst>
              <a:gd name="adj" fmla="val 4211"/>
            </a:avLst>
          </a:prstGeom>
          <a:solidFill>
            <a:srgbClr val="F2F4F8"/>
          </a:solidFill>
          <a:ln w="12700">
            <a:solidFill>
              <a:srgbClr val="F2F4F8"/>
            </a:solidFill>
            <a:prstDash val="solid"/>
          </a:ln>
        </p:spPr>
      </p:sp>
      <p:sp>
        <p:nvSpPr>
          <p:cNvPr id="10" name="Text 7"/>
          <p:cNvSpPr/>
          <p:nvPr/>
        </p:nvSpPr>
        <p:spPr>
          <a:xfrm>
            <a:off x="640080" y="1920240"/>
            <a:ext cx="1828800" cy="365760"/>
          </a:xfrm>
          <a:prstGeom prst="rect">
            <a:avLst/>
          </a:prstGeom>
          <a:noFill/>
          <a:ln/>
        </p:spPr>
        <p:txBody>
          <a:bodyPr wrap="square" lIns="0" tIns="0" rIns="0" bIns="0" rtlCol="0" anchor="t"/>
          <a:lstStyle/>
          <a:p>
            <a:pPr algn="ctr" indent="0" marL="0">
              <a:lnSpc>
                <a:spcPct val="100000"/>
              </a:lnSpc>
              <a:buNone/>
            </a:pPr>
            <a:r>
              <a:rPr lang="en-US" sz="1400" b="1" dirty="0">
                <a:solidFill>
                  <a:srgbClr val="1B2433"/>
                </a:solidFill>
                <a:latin typeface="Calibri" pitchFamily="34" charset="0"/>
                <a:ea typeface="Calibri" pitchFamily="34" charset="-122"/>
                <a:cs typeface="Calibri" pitchFamily="34" charset="-120"/>
              </a:rPr>
              <a:t>System output</a:t>
            </a:r>
            <a:endParaRPr lang="en-US" sz="1400" dirty="0"/>
          </a:p>
        </p:txBody>
      </p:sp>
      <p:sp>
        <p:nvSpPr>
          <p:cNvPr id="11" name="Text 8"/>
          <p:cNvSpPr/>
          <p:nvPr/>
        </p:nvSpPr>
        <p:spPr>
          <a:xfrm>
            <a:off x="640080" y="2331720"/>
            <a:ext cx="1828800" cy="1143000"/>
          </a:xfrm>
          <a:prstGeom prst="rect">
            <a:avLst/>
          </a:prstGeom>
          <a:noFill/>
          <a:ln/>
        </p:spPr>
        <p:txBody>
          <a:bodyPr wrap="square" lIns="0" tIns="0" rIns="0" bIns="0" rtlCol="0" anchor="ctr"/>
          <a:lstStyle/>
          <a:p>
            <a:pPr algn="ctr" indent="0" marL="0">
              <a:lnSpc>
                <a:spcPct val="100000"/>
              </a:lnSpc>
              <a:buNone/>
            </a:pPr>
            <a:r>
              <a:rPr lang="en-US" sz="1700" dirty="0">
                <a:solidFill>
                  <a:srgbClr val="1B2433"/>
                </a:solidFill>
                <a:latin typeface="Calibri" pitchFamily="34" charset="0"/>
                <a:ea typeface="Calibri" pitchFamily="34" charset="-122"/>
                <a:cs typeface="Calibri" pitchFamily="34" charset="-120"/>
              </a:rPr>
              <a:t>நாய்கள் வந்தன.</a:t>
            </a:r>
            <a:endParaRPr lang="en-US" sz="1700" dirty="0"/>
          </a:p>
        </p:txBody>
      </p:sp>
      <p:sp>
        <p:nvSpPr>
          <p:cNvPr id="12" name="Shape 9"/>
          <p:cNvSpPr/>
          <p:nvPr/>
        </p:nvSpPr>
        <p:spPr>
          <a:xfrm>
            <a:off x="2578608" y="2697480"/>
            <a:ext cx="219456" cy="0"/>
          </a:xfrm>
          <a:prstGeom prst="line">
            <a:avLst/>
          </a:prstGeom>
          <a:noFill/>
          <a:ln w="25400">
            <a:solidFill>
              <a:srgbClr val="1B2433"/>
            </a:solidFill>
            <a:prstDash val="solid"/>
            <a:tailEnd type="triangle"/>
          </a:ln>
        </p:spPr>
      </p:sp>
      <p:sp>
        <p:nvSpPr>
          <p:cNvPr id="13" name="Shape 10"/>
          <p:cNvSpPr/>
          <p:nvPr/>
        </p:nvSpPr>
        <p:spPr>
          <a:xfrm>
            <a:off x="2816352" y="1828800"/>
            <a:ext cx="2011680" cy="1737360"/>
          </a:xfrm>
          <a:prstGeom prst="roundRect">
            <a:avLst>
              <a:gd name="adj" fmla="val 4211"/>
            </a:avLst>
          </a:prstGeom>
          <a:solidFill>
            <a:srgbClr val="F2F4F8"/>
          </a:solidFill>
          <a:ln w="12700">
            <a:solidFill>
              <a:srgbClr val="F2F4F8"/>
            </a:solidFill>
            <a:prstDash val="solid"/>
          </a:ln>
        </p:spPr>
      </p:sp>
      <p:sp>
        <p:nvSpPr>
          <p:cNvPr id="14" name="Text 11"/>
          <p:cNvSpPr/>
          <p:nvPr/>
        </p:nvSpPr>
        <p:spPr>
          <a:xfrm>
            <a:off x="2907792" y="1920240"/>
            <a:ext cx="1828800" cy="365760"/>
          </a:xfrm>
          <a:prstGeom prst="rect">
            <a:avLst/>
          </a:prstGeom>
          <a:noFill/>
          <a:ln/>
        </p:spPr>
        <p:txBody>
          <a:bodyPr wrap="square" lIns="0" tIns="0" rIns="0" bIns="0" rtlCol="0" anchor="t"/>
          <a:lstStyle/>
          <a:p>
            <a:pPr algn="ctr" indent="0" marL="0">
              <a:lnSpc>
                <a:spcPct val="100000"/>
              </a:lnSpc>
              <a:buNone/>
            </a:pPr>
            <a:r>
              <a:rPr lang="en-US" sz="1400" b="1" dirty="0">
                <a:solidFill>
                  <a:srgbClr val="1B2433"/>
                </a:solidFill>
                <a:latin typeface="Calibri" pitchFamily="34" charset="0"/>
                <a:ea typeface="Calibri" pitchFamily="34" charset="-122"/>
                <a:cs typeface="Calibri" pitchFamily="34" charset="-120"/>
              </a:rPr>
              <a:t>Find the verb</a:t>
            </a:r>
            <a:endParaRPr lang="en-US" sz="1400" dirty="0"/>
          </a:p>
        </p:txBody>
      </p:sp>
      <p:sp>
        <p:nvSpPr>
          <p:cNvPr id="15" name="Text 12"/>
          <p:cNvSpPr/>
          <p:nvPr/>
        </p:nvSpPr>
        <p:spPr>
          <a:xfrm>
            <a:off x="2907792" y="2331720"/>
            <a:ext cx="1828800" cy="1143000"/>
          </a:xfrm>
          <a:prstGeom prst="rect">
            <a:avLst/>
          </a:prstGeom>
          <a:noFill/>
          <a:ln/>
        </p:spPr>
        <p:txBody>
          <a:bodyPr wrap="square" lIns="0" tIns="0" rIns="0" bIns="0" rtlCol="0" anchor="ctr"/>
          <a:lstStyle/>
          <a:p>
            <a:pPr algn="ctr" indent="0" marL="0">
              <a:lnSpc>
                <a:spcPct val="100000"/>
              </a:lnSpc>
              <a:buNone/>
            </a:pPr>
            <a:r>
              <a:rPr lang="en-US" sz="1700" dirty="0">
                <a:solidFill>
                  <a:srgbClr val="1B2433"/>
                </a:solidFill>
                <a:latin typeface="Calibri" pitchFamily="34" charset="0"/>
                <a:ea typeface="Calibri" pitchFamily="34" charset="-122"/>
                <a:cs typeface="Calibri" pitchFamily="34" charset="-120"/>
              </a:rPr>
              <a:t>வந்தன</a:t>
            </a:r>
            <a:endParaRPr lang="en-US" sz="1700" dirty="0"/>
          </a:p>
        </p:txBody>
      </p:sp>
      <p:sp>
        <p:nvSpPr>
          <p:cNvPr id="16" name="Shape 13"/>
          <p:cNvSpPr/>
          <p:nvPr/>
        </p:nvSpPr>
        <p:spPr>
          <a:xfrm>
            <a:off x="4846320" y="2697480"/>
            <a:ext cx="219456" cy="0"/>
          </a:xfrm>
          <a:prstGeom prst="line">
            <a:avLst/>
          </a:prstGeom>
          <a:noFill/>
          <a:ln w="25400">
            <a:solidFill>
              <a:srgbClr val="1B2433"/>
            </a:solidFill>
            <a:prstDash val="solid"/>
            <a:tailEnd type="triangle"/>
          </a:ln>
        </p:spPr>
      </p:sp>
      <p:sp>
        <p:nvSpPr>
          <p:cNvPr id="17" name="Shape 14"/>
          <p:cNvSpPr/>
          <p:nvPr/>
        </p:nvSpPr>
        <p:spPr>
          <a:xfrm>
            <a:off x="5084064" y="1828800"/>
            <a:ext cx="2011680" cy="1737360"/>
          </a:xfrm>
          <a:prstGeom prst="roundRect">
            <a:avLst>
              <a:gd name="adj" fmla="val 4211"/>
            </a:avLst>
          </a:prstGeom>
          <a:solidFill>
            <a:srgbClr val="1F3057"/>
          </a:solidFill>
          <a:ln w="12700">
            <a:solidFill>
              <a:srgbClr val="1F3057"/>
            </a:solidFill>
            <a:prstDash val="solid"/>
          </a:ln>
        </p:spPr>
      </p:sp>
      <p:sp>
        <p:nvSpPr>
          <p:cNvPr id="18" name="Text 15"/>
          <p:cNvSpPr/>
          <p:nvPr/>
        </p:nvSpPr>
        <p:spPr>
          <a:xfrm>
            <a:off x="5175504" y="1920240"/>
            <a:ext cx="1828800" cy="365760"/>
          </a:xfrm>
          <a:prstGeom prst="rect">
            <a:avLst/>
          </a:prstGeom>
          <a:noFill/>
          <a:ln/>
        </p:spPr>
        <p:txBody>
          <a:bodyPr wrap="square" lIns="0" tIns="0" rIns="0" bIns="0" rtlCol="0" anchor="t"/>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Analyser (FST)</a:t>
            </a:r>
            <a:endParaRPr lang="en-US" sz="1400" dirty="0"/>
          </a:p>
        </p:txBody>
      </p:sp>
      <p:sp>
        <p:nvSpPr>
          <p:cNvPr id="19" name="Text 16"/>
          <p:cNvSpPr/>
          <p:nvPr/>
        </p:nvSpPr>
        <p:spPr>
          <a:xfrm>
            <a:off x="5175504" y="2331720"/>
            <a:ext cx="1828800" cy="1143000"/>
          </a:xfrm>
          <a:prstGeom prst="rect">
            <a:avLst/>
          </a:prstGeom>
          <a:noFill/>
          <a:ln/>
        </p:spPr>
        <p:txBody>
          <a:bodyPr wrap="square" lIns="0" tIns="0" rIns="0" bIns="0" rtlCol="0" anchor="ctr"/>
          <a:lstStyle/>
          <a:p>
            <a:pPr algn="ctr" indent="0" marL="0">
              <a:lnSpc>
                <a:spcPct val="100000"/>
              </a:lnSpc>
              <a:buNone/>
            </a:pPr>
            <a:r>
              <a:rPr lang="en-US" sz="1300" dirty="0">
                <a:solidFill>
                  <a:srgbClr val="FFFFFF"/>
                </a:solidFill>
                <a:latin typeface="Calibri" pitchFamily="34" charset="0"/>
                <a:ea typeface="Calibri" pitchFamily="34" charset="-122"/>
                <a:cs typeface="Calibri" pitchFamily="34" charset="-120"/>
              </a:rPr>
              <a:t>come + past + 3rd person</a:t>
            </a:r>
            <a:endParaRPr lang="en-US" sz="1300" dirty="0"/>
          </a:p>
          <a:p>
            <a:pPr algn="ctr" indent="0" marL="0">
              <a:lnSpc>
                <a:spcPct val="100000"/>
              </a:lnSpc>
              <a:buNone/>
            </a:pPr>
            <a:r>
              <a:rPr lang="en-US" sz="1300" dirty="0">
                <a:solidFill>
                  <a:srgbClr val="FFFFFF"/>
                </a:solidFill>
                <a:latin typeface="Calibri" pitchFamily="34" charset="0"/>
                <a:ea typeface="Calibri" pitchFamily="34" charset="-122"/>
                <a:cs typeface="Calibri" pitchFamily="34" charset="-120"/>
              </a:rPr>
              <a:t>plural · non-people</a:t>
            </a:r>
            <a:endParaRPr lang="en-US" sz="1300" dirty="0"/>
          </a:p>
        </p:txBody>
      </p:sp>
      <p:sp>
        <p:nvSpPr>
          <p:cNvPr id="20" name="Shape 17"/>
          <p:cNvSpPr/>
          <p:nvPr/>
        </p:nvSpPr>
        <p:spPr>
          <a:xfrm>
            <a:off x="7114032" y="2697480"/>
            <a:ext cx="219456" cy="0"/>
          </a:xfrm>
          <a:prstGeom prst="line">
            <a:avLst/>
          </a:prstGeom>
          <a:noFill/>
          <a:ln w="25400">
            <a:solidFill>
              <a:srgbClr val="1B2433"/>
            </a:solidFill>
            <a:prstDash val="solid"/>
            <a:tailEnd type="triangle"/>
          </a:ln>
        </p:spPr>
      </p:sp>
      <p:sp>
        <p:nvSpPr>
          <p:cNvPr id="21" name="Shape 18"/>
          <p:cNvSpPr/>
          <p:nvPr/>
        </p:nvSpPr>
        <p:spPr>
          <a:xfrm>
            <a:off x="7351776" y="1828800"/>
            <a:ext cx="2011680" cy="1737360"/>
          </a:xfrm>
          <a:prstGeom prst="roundRect">
            <a:avLst>
              <a:gd name="adj" fmla="val 4211"/>
            </a:avLst>
          </a:prstGeom>
          <a:solidFill>
            <a:srgbClr val="F2F4F8"/>
          </a:solidFill>
          <a:ln w="12700">
            <a:solidFill>
              <a:srgbClr val="F2F4F8"/>
            </a:solidFill>
            <a:prstDash val="solid"/>
          </a:ln>
        </p:spPr>
      </p:sp>
      <p:sp>
        <p:nvSpPr>
          <p:cNvPr id="22" name="Text 19"/>
          <p:cNvSpPr/>
          <p:nvPr/>
        </p:nvSpPr>
        <p:spPr>
          <a:xfrm>
            <a:off x="7443216" y="1920240"/>
            <a:ext cx="1828800" cy="365760"/>
          </a:xfrm>
          <a:prstGeom prst="rect">
            <a:avLst/>
          </a:prstGeom>
          <a:noFill/>
          <a:ln/>
        </p:spPr>
        <p:txBody>
          <a:bodyPr wrap="square" lIns="0" tIns="0" rIns="0" bIns="0" rtlCol="0" anchor="t"/>
          <a:lstStyle/>
          <a:p>
            <a:pPr algn="ctr" indent="0" marL="0">
              <a:lnSpc>
                <a:spcPct val="100000"/>
              </a:lnSpc>
              <a:buNone/>
            </a:pPr>
            <a:r>
              <a:rPr lang="en-US" sz="1400" b="1" dirty="0">
                <a:solidFill>
                  <a:srgbClr val="1B2433"/>
                </a:solidFill>
                <a:latin typeface="Calibri" pitchFamily="34" charset="0"/>
                <a:ea typeface="Calibri" pitchFamily="34" charset="-122"/>
                <a:cs typeface="Calibri" pitchFamily="34" charset="-120"/>
              </a:rPr>
              <a:t>Compare with gold</a:t>
            </a:r>
            <a:endParaRPr lang="en-US" sz="1400" dirty="0"/>
          </a:p>
        </p:txBody>
      </p:sp>
      <p:sp>
        <p:nvSpPr>
          <p:cNvPr id="23" name="Text 20"/>
          <p:cNvSpPr/>
          <p:nvPr/>
        </p:nvSpPr>
        <p:spPr>
          <a:xfrm>
            <a:off x="7443216" y="2331720"/>
            <a:ext cx="1828800" cy="1143000"/>
          </a:xfrm>
          <a:prstGeom prst="rect">
            <a:avLst/>
          </a:prstGeom>
          <a:noFill/>
          <a:ln/>
        </p:spPr>
        <p:txBody>
          <a:bodyPr wrap="square" lIns="0" tIns="0" rIns="0" bIns="0" rtlCol="0" anchor="ctr"/>
          <a:lstStyle/>
          <a:p>
            <a:pPr algn="ctr" indent="0" marL="0">
              <a:lnSpc>
                <a:spcPct val="100000"/>
              </a:lnSpc>
              <a:buNone/>
            </a:pPr>
            <a:r>
              <a:rPr lang="en-US" sz="1700" dirty="0">
                <a:solidFill>
                  <a:srgbClr val="1B2433"/>
                </a:solidFill>
                <a:latin typeface="Calibri" pitchFamily="34" charset="0"/>
                <a:ea typeface="Calibri" pitchFamily="34" charset="-122"/>
                <a:cs typeface="Calibri" pitchFamily="34" charset="-120"/>
              </a:rPr>
              <a:t>gold = non-people</a:t>
            </a:r>
            <a:endParaRPr lang="en-US" sz="1700" dirty="0"/>
          </a:p>
        </p:txBody>
      </p:sp>
      <p:sp>
        <p:nvSpPr>
          <p:cNvPr id="24" name="Shape 21"/>
          <p:cNvSpPr/>
          <p:nvPr/>
        </p:nvSpPr>
        <p:spPr>
          <a:xfrm>
            <a:off x="9381744" y="2697480"/>
            <a:ext cx="219456" cy="0"/>
          </a:xfrm>
          <a:prstGeom prst="line">
            <a:avLst/>
          </a:prstGeom>
          <a:noFill/>
          <a:ln w="25400">
            <a:solidFill>
              <a:srgbClr val="1B2433"/>
            </a:solidFill>
            <a:prstDash val="solid"/>
            <a:tailEnd type="triangle"/>
          </a:ln>
        </p:spPr>
      </p:sp>
      <p:sp>
        <p:nvSpPr>
          <p:cNvPr id="25" name="Shape 22"/>
          <p:cNvSpPr/>
          <p:nvPr/>
        </p:nvSpPr>
        <p:spPr>
          <a:xfrm>
            <a:off x="9619488" y="1828800"/>
            <a:ext cx="2011680" cy="1737360"/>
          </a:xfrm>
          <a:prstGeom prst="roundRect">
            <a:avLst>
              <a:gd name="adj" fmla="val 4211"/>
            </a:avLst>
          </a:prstGeom>
          <a:solidFill>
            <a:srgbClr val="DDF2EA"/>
          </a:solidFill>
          <a:ln w="12700">
            <a:solidFill>
              <a:srgbClr val="DDF2EA"/>
            </a:solidFill>
            <a:prstDash val="solid"/>
          </a:ln>
        </p:spPr>
      </p:sp>
      <p:sp>
        <p:nvSpPr>
          <p:cNvPr id="26" name="Text 23"/>
          <p:cNvSpPr/>
          <p:nvPr/>
        </p:nvSpPr>
        <p:spPr>
          <a:xfrm>
            <a:off x="9710928" y="1920240"/>
            <a:ext cx="1828800" cy="365760"/>
          </a:xfrm>
          <a:prstGeom prst="rect">
            <a:avLst/>
          </a:prstGeom>
          <a:noFill/>
          <a:ln/>
        </p:spPr>
        <p:txBody>
          <a:bodyPr wrap="square" lIns="0" tIns="0" rIns="0" bIns="0" rtlCol="0" anchor="t"/>
          <a:lstStyle/>
          <a:p>
            <a:pPr algn="ctr" indent="0" marL="0">
              <a:lnSpc>
                <a:spcPct val="100000"/>
              </a:lnSpc>
              <a:buNone/>
            </a:pPr>
            <a:r>
              <a:rPr lang="en-US" sz="1400" b="1" dirty="0">
                <a:solidFill>
                  <a:srgbClr val="1B2433"/>
                </a:solidFill>
                <a:latin typeface="Calibri" pitchFamily="34" charset="0"/>
                <a:ea typeface="Calibri" pitchFamily="34" charset="-122"/>
                <a:cs typeface="Calibri" pitchFamily="34" charset="-120"/>
              </a:rPr>
              <a:t>Outcome</a:t>
            </a:r>
            <a:endParaRPr lang="en-US" sz="1400" dirty="0"/>
          </a:p>
        </p:txBody>
      </p:sp>
      <p:sp>
        <p:nvSpPr>
          <p:cNvPr id="27" name="Text 24"/>
          <p:cNvSpPr/>
          <p:nvPr/>
        </p:nvSpPr>
        <p:spPr>
          <a:xfrm>
            <a:off x="9710928" y="2331720"/>
            <a:ext cx="1828800" cy="1143000"/>
          </a:xfrm>
          <a:prstGeom prst="rect">
            <a:avLst/>
          </a:prstGeom>
          <a:noFill/>
          <a:ln/>
        </p:spPr>
        <p:txBody>
          <a:bodyPr wrap="square" lIns="0" tIns="0" rIns="0" bIns="0" rtlCol="0" anchor="ctr"/>
          <a:lstStyle/>
          <a:p>
            <a:pPr algn="ctr" indent="0" marL="0">
              <a:lnSpc>
                <a:spcPct val="100000"/>
              </a:lnSpc>
              <a:buNone/>
            </a:pPr>
            <a:r>
              <a:rPr lang="en-US" sz="1700" b="1" dirty="0">
                <a:solidFill>
                  <a:srgbClr val="009E73"/>
                </a:solidFill>
                <a:latin typeface="Calibri" pitchFamily="34" charset="0"/>
                <a:ea typeface="Calibri" pitchFamily="34" charset="-122"/>
                <a:cs typeface="Calibri" pitchFamily="34" charset="-120"/>
              </a:rPr>
              <a:t>CORRECT</a:t>
            </a:r>
            <a:endParaRPr lang="en-US" sz="1700" dirty="0"/>
          </a:p>
        </p:txBody>
      </p:sp>
      <p:sp>
        <p:nvSpPr>
          <p:cNvPr id="28" name="Text 25"/>
          <p:cNvSpPr/>
          <p:nvPr/>
        </p:nvSpPr>
        <p:spPr>
          <a:xfrm>
            <a:off x="548640" y="3840480"/>
            <a:ext cx="11064240" cy="2011680"/>
          </a:xfrm>
          <a:prstGeom prst="rect">
            <a:avLst/>
          </a:prstGeom>
          <a:noFill/>
          <a:ln/>
        </p:spPr>
        <p:txBody>
          <a:bodyPr wrap="square" lIns="0" tIns="0" rIns="0" bIns="0" rtlCol="0" anchor="t"/>
          <a:lstStyle/>
          <a:p>
            <a:pPr marL="228600" indent="-228600">
              <a:lnSpc>
                <a:spcPct val="105000"/>
              </a:lnSpc>
              <a:spcAft>
                <a:spcPts val="800"/>
              </a:spcAft>
              <a:buSzPct val="100000"/>
              <a:buChar char="•"/>
            </a:pPr>
            <a:r>
              <a:rPr lang="en-US" sz="1600" b="1" dirty="0">
                <a:solidFill>
                  <a:srgbClr val="1B2433"/>
                </a:solidFill>
                <a:latin typeface="Calibri" pitchFamily="34" charset="0"/>
                <a:ea typeface="Calibri" pitchFamily="34" charset="-122"/>
                <a:cs typeface="Calibri" pitchFamily="34" charset="-120"/>
              </a:rPr>
              <a:t>FST = finite-state transducer</a:t>
            </a:r>
            <a:r>
              <a:rPr lang="en-US" sz="1600" dirty="0">
                <a:solidFill>
                  <a:srgbClr val="1B2433"/>
                </a:solidFill>
                <a:latin typeface="Calibri" pitchFamily="34" charset="0"/>
                <a:ea typeface="Calibri" pitchFamily="34" charset="-122"/>
                <a:cs typeface="Calibri" pitchFamily="34" charset="-120"/>
              </a:rPr>
              <a:t>: a rule-based word analyser built from a dictionary and grammar rules.</a:t>
            </a:r>
            <a:endParaRPr lang="en-US" sz="1600" dirty="0"/>
          </a:p>
          <a:p>
            <a:pPr marL="228600" indent="-228600">
              <a:lnSpc>
                <a:spcPct val="105000"/>
              </a:lnSpc>
              <a:spcAft>
                <a:spcPts val="800"/>
              </a:spcAft>
              <a:buSzPct val="100000"/>
              <a:buChar char="•"/>
            </a:pPr>
            <a:r>
              <a:rPr lang="en-US" sz="1600" b="1" dirty="0">
                <a:solidFill>
                  <a:srgbClr val="1B2433"/>
                </a:solidFill>
                <a:latin typeface="Calibri" pitchFamily="34" charset="0"/>
                <a:ea typeface="Calibri" pitchFamily="34" charset="-122"/>
                <a:cs typeface="Calibri" pitchFamily="34" charset="-120"/>
              </a:rPr>
              <a:t>Why not an AI (neural) model?</a:t>
            </a:r>
            <a:r>
              <a:rPr lang="en-US" sz="1600" dirty="0">
                <a:solidFill>
                  <a:srgbClr val="1B2433"/>
                </a:solidFill>
                <a:latin typeface="Calibri" pitchFamily="34" charset="0"/>
                <a:ea typeface="Calibri" pitchFamily="34" charset="-122"/>
                <a:cs typeface="Calibri" pitchFamily="34" charset="-120"/>
              </a:rPr>
              <a:t> Rules give the </a:t>
            </a:r>
            <a:r>
              <a:rPr lang="en-US" sz="1600" b="1" dirty="0">
                <a:solidFill>
                  <a:srgbClr val="1B2433"/>
                </a:solidFill>
                <a:latin typeface="Calibri" pitchFamily="34" charset="0"/>
                <a:ea typeface="Calibri" pitchFamily="34" charset="-122"/>
                <a:cs typeface="Calibri" pitchFamily="34" charset="-120"/>
              </a:rPr>
              <a:t>same answer every time</a:t>
            </a:r>
            <a:r>
              <a:rPr lang="en-US" sz="1600" dirty="0">
                <a:solidFill>
                  <a:srgbClr val="1B2433"/>
                </a:solidFill>
                <a:latin typeface="Calibri" pitchFamily="34" charset="0"/>
                <a:ea typeface="Calibri" pitchFamily="34" charset="-122"/>
                <a:cs typeface="Calibri" pitchFamily="34" charset="-120"/>
              </a:rPr>
              <a:t>, and you can see why. The best published AI tool for Tamil grammar errors scores only </a:t>
            </a:r>
            <a:r>
              <a:rPr lang="en-US" sz="1600" b="1" dirty="0">
                <a:solidFill>
                  <a:srgbClr val="1B2433"/>
                </a:solidFill>
                <a:latin typeface="Calibri" pitchFamily="34" charset="0"/>
                <a:ea typeface="Calibri" pitchFamily="34" charset="-122"/>
                <a:cs typeface="Calibri" pitchFamily="34" charset="-120"/>
              </a:rPr>
              <a:t>73.4 out of 100</a:t>
            </a:r>
            <a:r>
              <a:rPr lang="en-US" sz="1600" dirty="0">
                <a:solidFill>
                  <a:srgbClr val="1B2433"/>
                </a:solidFill>
                <a:latin typeface="Calibri" pitchFamily="34" charset="0"/>
                <a:ea typeface="Calibri" pitchFamily="34" charset="-122"/>
                <a:cs typeface="Calibri" pitchFamily="34" charset="-120"/>
              </a:rPr>
              <a:t> (F1 score).</a:t>
            </a:r>
            <a:endParaRPr lang="en-US" sz="1600" dirty="0"/>
          </a:p>
          <a:p>
            <a:pPr marL="228600" indent="-228600">
              <a:lnSpc>
                <a:spcPct val="105000"/>
              </a:lnSpc>
              <a:spcAft>
                <a:spcPts val="800"/>
              </a:spcAft>
              <a:buSzPct val="100000"/>
              <a:buChar char="•"/>
            </a:pPr>
            <a:r>
              <a:rPr lang="en-US" sz="1600" dirty="0">
                <a:solidFill>
                  <a:srgbClr val="1B2433"/>
                </a:solidFill>
                <a:latin typeface="Calibri" pitchFamily="34" charset="0"/>
                <a:ea typeface="Calibri" pitchFamily="34" charset="-122"/>
                <a:cs typeface="Calibri" pitchFamily="34" charset="-120"/>
              </a:rPr>
              <a:t>Built on </a:t>
            </a:r>
            <a:r>
              <a:rPr lang="en-US" sz="1600" b="1" dirty="0">
                <a:solidFill>
                  <a:srgbClr val="1B2433"/>
                </a:solidFill>
                <a:latin typeface="Calibri" pitchFamily="34" charset="0"/>
                <a:ea typeface="Calibri" pitchFamily="34" charset="-122"/>
                <a:cs typeface="Calibri" pitchFamily="34" charset="-120"/>
              </a:rPr>
              <a:t>ThamizhiMorph</a:t>
            </a:r>
            <a:r>
              <a:rPr lang="en-US" sz="1600" dirty="0">
                <a:solidFill>
                  <a:srgbClr val="1B2433"/>
                </a:solidFill>
                <a:latin typeface="Calibri" pitchFamily="34" charset="0"/>
                <a:ea typeface="Calibri" pitchFamily="34" charset="-122"/>
                <a:cs typeface="Calibri" pitchFamily="34" charset="-120"/>
              </a:rPr>
              <a:t> (Sarveswaran et al., 2021) plus hand-written fallback rules.</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3</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OUR TEST SET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The analyser is good, but not perfect, and we say so</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32</a:t>
            </a:r>
            <a:endParaRPr lang="en-US" sz="900" dirty="0"/>
          </a:p>
        </p:txBody>
      </p:sp>
      <p:sp>
        <p:nvSpPr>
          <p:cNvPr id="9" name="Shape 6"/>
          <p:cNvSpPr/>
          <p:nvPr/>
        </p:nvSpPr>
        <p:spPr>
          <a:xfrm>
            <a:off x="2926080" y="2148840"/>
            <a:ext cx="0" cy="2377440"/>
          </a:xfrm>
          <a:prstGeom prst="line">
            <a:avLst/>
          </a:prstGeom>
          <a:noFill/>
          <a:ln w="9525">
            <a:solidFill>
              <a:srgbClr val="D5DAE3"/>
            </a:solidFill>
            <a:prstDash val="solid"/>
          </a:ln>
        </p:spPr>
      </p:sp>
      <p:sp>
        <p:nvSpPr>
          <p:cNvPr id="10" name="Text 7"/>
          <p:cNvSpPr/>
          <p:nvPr/>
        </p:nvSpPr>
        <p:spPr>
          <a:xfrm>
            <a:off x="2560320" y="45628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0%</a:t>
            </a:r>
            <a:endParaRPr lang="en-US" sz="1100" dirty="0"/>
          </a:p>
        </p:txBody>
      </p:sp>
      <p:sp>
        <p:nvSpPr>
          <p:cNvPr id="11" name="Shape 8"/>
          <p:cNvSpPr/>
          <p:nvPr/>
        </p:nvSpPr>
        <p:spPr>
          <a:xfrm>
            <a:off x="4572000" y="2148840"/>
            <a:ext cx="0" cy="2377440"/>
          </a:xfrm>
          <a:prstGeom prst="line">
            <a:avLst/>
          </a:prstGeom>
          <a:noFill/>
          <a:ln w="9525">
            <a:solidFill>
              <a:srgbClr val="D5DAE3"/>
            </a:solidFill>
            <a:prstDash val="solid"/>
          </a:ln>
        </p:spPr>
      </p:sp>
      <p:sp>
        <p:nvSpPr>
          <p:cNvPr id="12" name="Text 9"/>
          <p:cNvSpPr/>
          <p:nvPr/>
        </p:nvSpPr>
        <p:spPr>
          <a:xfrm>
            <a:off x="4206240" y="45628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50%</a:t>
            </a:r>
            <a:endParaRPr lang="en-US" sz="1100" dirty="0"/>
          </a:p>
        </p:txBody>
      </p:sp>
      <p:sp>
        <p:nvSpPr>
          <p:cNvPr id="13" name="Shape 10"/>
          <p:cNvSpPr/>
          <p:nvPr/>
        </p:nvSpPr>
        <p:spPr>
          <a:xfrm>
            <a:off x="6217920" y="2148840"/>
            <a:ext cx="0" cy="2377440"/>
          </a:xfrm>
          <a:prstGeom prst="line">
            <a:avLst/>
          </a:prstGeom>
          <a:noFill/>
          <a:ln w="9525">
            <a:solidFill>
              <a:srgbClr val="D5DAE3"/>
            </a:solidFill>
            <a:prstDash val="solid"/>
          </a:ln>
        </p:spPr>
      </p:sp>
      <p:sp>
        <p:nvSpPr>
          <p:cNvPr id="14" name="Text 11"/>
          <p:cNvSpPr/>
          <p:nvPr/>
        </p:nvSpPr>
        <p:spPr>
          <a:xfrm>
            <a:off x="5852160" y="45628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100%</a:t>
            </a:r>
            <a:endParaRPr lang="en-US" sz="1100" dirty="0"/>
          </a:p>
        </p:txBody>
      </p:sp>
      <p:sp>
        <p:nvSpPr>
          <p:cNvPr id="15" name="Text 12"/>
          <p:cNvSpPr/>
          <p:nvPr/>
        </p:nvSpPr>
        <p:spPr>
          <a:xfrm>
            <a:off x="548640" y="2148840"/>
            <a:ext cx="2286000" cy="396240"/>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TTB: dictionary only</a:t>
            </a:r>
            <a:endParaRPr lang="en-US" sz="1300" dirty="0"/>
          </a:p>
        </p:txBody>
      </p:sp>
      <p:sp>
        <p:nvSpPr>
          <p:cNvPr id="16" name="Shape 13"/>
          <p:cNvSpPr/>
          <p:nvPr/>
        </p:nvSpPr>
        <p:spPr>
          <a:xfrm>
            <a:off x="2926080" y="2224126"/>
            <a:ext cx="1270650" cy="245669"/>
          </a:xfrm>
          <a:prstGeom prst="rect">
            <a:avLst/>
          </a:prstGeom>
          <a:solidFill>
            <a:srgbClr val="98A1B2"/>
          </a:solidFill>
          <a:ln w="12700">
            <a:solidFill>
              <a:srgbClr val="98A1B2"/>
            </a:solidFill>
            <a:prstDash val="solid"/>
          </a:ln>
        </p:spPr>
      </p:sp>
      <p:sp>
        <p:nvSpPr>
          <p:cNvPr id="17" name="Text 14"/>
          <p:cNvSpPr/>
          <p:nvPr/>
        </p:nvSpPr>
        <p:spPr>
          <a:xfrm>
            <a:off x="4260738" y="2191512"/>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38.6%</a:t>
            </a:r>
            <a:endParaRPr lang="en-US" sz="1300" dirty="0"/>
          </a:p>
        </p:txBody>
      </p:sp>
      <p:sp>
        <p:nvSpPr>
          <p:cNvPr id="18" name="Text 15"/>
          <p:cNvSpPr/>
          <p:nvPr/>
        </p:nvSpPr>
        <p:spPr>
          <a:xfrm>
            <a:off x="548640" y="2545080"/>
            <a:ext cx="2286000" cy="396240"/>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 guesser</a:t>
            </a:r>
            <a:endParaRPr lang="en-US" sz="1300" dirty="0"/>
          </a:p>
        </p:txBody>
      </p:sp>
      <p:sp>
        <p:nvSpPr>
          <p:cNvPr id="19" name="Shape 16"/>
          <p:cNvSpPr/>
          <p:nvPr/>
        </p:nvSpPr>
        <p:spPr>
          <a:xfrm>
            <a:off x="2926080" y="2620366"/>
            <a:ext cx="2106778" cy="245669"/>
          </a:xfrm>
          <a:prstGeom prst="rect">
            <a:avLst/>
          </a:prstGeom>
          <a:solidFill>
            <a:srgbClr val="0072B2"/>
          </a:solidFill>
          <a:ln w="12700">
            <a:solidFill>
              <a:srgbClr val="0072B2"/>
            </a:solidFill>
            <a:prstDash val="solid"/>
          </a:ln>
        </p:spPr>
      </p:sp>
      <p:sp>
        <p:nvSpPr>
          <p:cNvPr id="20" name="Text 17"/>
          <p:cNvSpPr/>
          <p:nvPr/>
        </p:nvSpPr>
        <p:spPr>
          <a:xfrm>
            <a:off x="5096866" y="2587752"/>
            <a:ext cx="352044"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64%</a:t>
            </a:r>
            <a:endParaRPr lang="en-US" sz="1300" dirty="0"/>
          </a:p>
        </p:txBody>
      </p:sp>
      <p:sp>
        <p:nvSpPr>
          <p:cNvPr id="21" name="Text 18"/>
          <p:cNvSpPr/>
          <p:nvPr/>
        </p:nvSpPr>
        <p:spPr>
          <a:xfrm>
            <a:off x="548640" y="2941320"/>
            <a:ext cx="2286000" cy="396240"/>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 fallback rules</a:t>
            </a:r>
            <a:endParaRPr lang="en-US" sz="1300" dirty="0"/>
          </a:p>
        </p:txBody>
      </p:sp>
      <p:sp>
        <p:nvSpPr>
          <p:cNvPr id="22" name="Shape 19"/>
          <p:cNvSpPr/>
          <p:nvPr/>
        </p:nvSpPr>
        <p:spPr>
          <a:xfrm>
            <a:off x="2926080" y="3016606"/>
            <a:ext cx="2281245" cy="245669"/>
          </a:xfrm>
          <a:prstGeom prst="rect">
            <a:avLst/>
          </a:prstGeom>
          <a:solidFill>
            <a:srgbClr val="009E73"/>
          </a:solidFill>
          <a:ln w="12700">
            <a:solidFill>
              <a:srgbClr val="009E73"/>
            </a:solidFill>
            <a:prstDash val="solid"/>
          </a:ln>
        </p:spPr>
      </p:sp>
      <p:sp>
        <p:nvSpPr>
          <p:cNvPr id="23" name="Text 20"/>
          <p:cNvSpPr/>
          <p:nvPr/>
        </p:nvSpPr>
        <p:spPr>
          <a:xfrm>
            <a:off x="5271333" y="2983992"/>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69.3%</a:t>
            </a:r>
            <a:endParaRPr lang="en-US" sz="1300" dirty="0"/>
          </a:p>
        </p:txBody>
      </p:sp>
      <p:sp>
        <p:nvSpPr>
          <p:cNvPr id="24" name="Text 21"/>
          <p:cNvSpPr/>
          <p:nvPr/>
        </p:nvSpPr>
        <p:spPr>
          <a:xfrm>
            <a:off x="548640" y="3337560"/>
            <a:ext cx="2286000" cy="396240"/>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MWTT: dictionary only</a:t>
            </a:r>
            <a:endParaRPr lang="en-US" sz="1300" dirty="0"/>
          </a:p>
        </p:txBody>
      </p:sp>
      <p:sp>
        <p:nvSpPr>
          <p:cNvPr id="25" name="Shape 22"/>
          <p:cNvSpPr/>
          <p:nvPr/>
        </p:nvSpPr>
        <p:spPr>
          <a:xfrm>
            <a:off x="2926080" y="3412846"/>
            <a:ext cx="2040941" cy="245669"/>
          </a:xfrm>
          <a:prstGeom prst="rect">
            <a:avLst/>
          </a:prstGeom>
          <a:solidFill>
            <a:srgbClr val="98A1B2"/>
          </a:solidFill>
          <a:ln w="12700">
            <a:solidFill>
              <a:srgbClr val="98A1B2"/>
            </a:solidFill>
            <a:prstDash val="solid"/>
          </a:ln>
        </p:spPr>
      </p:sp>
      <p:sp>
        <p:nvSpPr>
          <p:cNvPr id="26" name="Text 23"/>
          <p:cNvSpPr/>
          <p:nvPr/>
        </p:nvSpPr>
        <p:spPr>
          <a:xfrm>
            <a:off x="5031029" y="3380232"/>
            <a:ext cx="352044"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62%</a:t>
            </a:r>
            <a:endParaRPr lang="en-US" sz="1300" dirty="0"/>
          </a:p>
        </p:txBody>
      </p:sp>
      <p:sp>
        <p:nvSpPr>
          <p:cNvPr id="27" name="Text 24"/>
          <p:cNvSpPr/>
          <p:nvPr/>
        </p:nvSpPr>
        <p:spPr>
          <a:xfrm>
            <a:off x="548640" y="3733800"/>
            <a:ext cx="2286000" cy="396240"/>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 guesser</a:t>
            </a:r>
            <a:endParaRPr lang="en-US" sz="1300" dirty="0"/>
          </a:p>
        </p:txBody>
      </p:sp>
      <p:sp>
        <p:nvSpPr>
          <p:cNvPr id="28" name="Shape 25"/>
          <p:cNvSpPr/>
          <p:nvPr/>
        </p:nvSpPr>
        <p:spPr>
          <a:xfrm>
            <a:off x="2926080" y="3809086"/>
            <a:ext cx="2478756" cy="245669"/>
          </a:xfrm>
          <a:prstGeom prst="rect">
            <a:avLst/>
          </a:prstGeom>
          <a:solidFill>
            <a:srgbClr val="0072B2"/>
          </a:solidFill>
          <a:ln w="12700">
            <a:solidFill>
              <a:srgbClr val="0072B2"/>
            </a:solidFill>
            <a:prstDash val="solid"/>
          </a:ln>
        </p:spPr>
      </p:sp>
      <p:sp>
        <p:nvSpPr>
          <p:cNvPr id="29" name="Text 26"/>
          <p:cNvSpPr/>
          <p:nvPr/>
        </p:nvSpPr>
        <p:spPr>
          <a:xfrm>
            <a:off x="5468844" y="3776472"/>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75.3%</a:t>
            </a:r>
            <a:endParaRPr lang="en-US" sz="1300" dirty="0"/>
          </a:p>
        </p:txBody>
      </p:sp>
      <p:sp>
        <p:nvSpPr>
          <p:cNvPr id="30" name="Text 27"/>
          <p:cNvSpPr/>
          <p:nvPr/>
        </p:nvSpPr>
        <p:spPr>
          <a:xfrm>
            <a:off x="548640" y="4130040"/>
            <a:ext cx="2286000" cy="396240"/>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 fallback rules</a:t>
            </a:r>
            <a:endParaRPr lang="en-US" sz="1300" dirty="0"/>
          </a:p>
        </p:txBody>
      </p:sp>
      <p:sp>
        <p:nvSpPr>
          <p:cNvPr id="31" name="Shape 28"/>
          <p:cNvSpPr/>
          <p:nvPr/>
        </p:nvSpPr>
        <p:spPr>
          <a:xfrm>
            <a:off x="2926080" y="4205326"/>
            <a:ext cx="2956072" cy="245669"/>
          </a:xfrm>
          <a:prstGeom prst="rect">
            <a:avLst/>
          </a:prstGeom>
          <a:solidFill>
            <a:srgbClr val="009E73"/>
          </a:solidFill>
          <a:ln w="12700">
            <a:solidFill>
              <a:srgbClr val="009E73"/>
            </a:solidFill>
            <a:prstDash val="solid"/>
          </a:ln>
        </p:spPr>
      </p:sp>
      <p:sp>
        <p:nvSpPr>
          <p:cNvPr id="32" name="Text 29"/>
          <p:cNvSpPr/>
          <p:nvPr/>
        </p:nvSpPr>
        <p:spPr>
          <a:xfrm>
            <a:off x="5946160" y="4172712"/>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89.8%</a:t>
            </a:r>
            <a:endParaRPr lang="en-US" sz="1300" dirty="0"/>
          </a:p>
        </p:txBody>
      </p:sp>
      <p:sp>
        <p:nvSpPr>
          <p:cNvPr id="33" name="Text 30"/>
          <p:cNvSpPr/>
          <p:nvPr/>
        </p:nvSpPr>
        <p:spPr>
          <a:xfrm>
            <a:off x="548640" y="1737360"/>
            <a:ext cx="6583680" cy="320040"/>
          </a:xfrm>
          <a:prstGeom prst="rect">
            <a:avLst/>
          </a:prstGeom>
          <a:noFill/>
          <a:ln/>
        </p:spPr>
        <p:txBody>
          <a:bodyPr wrap="square" lIns="0" tIns="0" rIns="0" bIns="0" rtlCol="0" anchor="t"/>
          <a:lstStyle/>
          <a:p>
            <a:pPr algn="l" indent="0" marL="0">
              <a:lnSpc>
                <a:spcPct val="100000"/>
              </a:lnSpc>
              <a:buNone/>
            </a:pPr>
            <a:r>
              <a:rPr lang="en-US" sz="1400" b="1" dirty="0">
                <a:solidFill>
                  <a:srgbClr val="5B6577"/>
                </a:solidFill>
                <a:latin typeface="Calibri" pitchFamily="34" charset="0"/>
                <a:ea typeface="Calibri" pitchFamily="34" charset="-122"/>
                <a:cs typeface="Calibri" pitchFamily="34" charset="-120"/>
              </a:rPr>
              <a:t>Share of verbs from two standard Tamil treebanks the analyser can read</a:t>
            </a:r>
            <a:endParaRPr lang="en-US" sz="1400" dirty="0"/>
          </a:p>
        </p:txBody>
      </p:sp>
      <p:sp>
        <p:nvSpPr>
          <p:cNvPr id="34" name="Shape 31"/>
          <p:cNvSpPr/>
          <p:nvPr/>
        </p:nvSpPr>
        <p:spPr>
          <a:xfrm>
            <a:off x="7498080" y="1737360"/>
            <a:ext cx="4114800" cy="1737360"/>
          </a:xfrm>
          <a:prstGeom prst="roundRect">
            <a:avLst>
              <a:gd name="adj" fmla="val 4211"/>
            </a:avLst>
          </a:prstGeom>
          <a:solidFill>
            <a:srgbClr val="DDF2EA"/>
          </a:solidFill>
          <a:ln w="12700">
            <a:solidFill>
              <a:srgbClr val="DDF2EA"/>
            </a:solidFill>
            <a:prstDash val="solid"/>
          </a:ln>
        </p:spPr>
      </p:sp>
      <p:sp>
        <p:nvSpPr>
          <p:cNvPr id="35" name="Text 32"/>
          <p:cNvSpPr/>
          <p:nvPr/>
        </p:nvSpPr>
        <p:spPr>
          <a:xfrm>
            <a:off x="7699248" y="1883664"/>
            <a:ext cx="371246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Hand-checked on masculine verbs</a:t>
            </a:r>
            <a:endParaRPr lang="en-US" sz="1700" dirty="0"/>
          </a:p>
        </p:txBody>
      </p:sp>
      <p:sp>
        <p:nvSpPr>
          <p:cNvPr id="36" name="Text 33"/>
          <p:cNvSpPr/>
          <p:nvPr/>
        </p:nvSpPr>
        <p:spPr>
          <a:xfrm>
            <a:off x="7699248" y="2295144"/>
            <a:ext cx="3712464" cy="1033272"/>
          </a:xfrm>
          <a:prstGeom prst="rect">
            <a:avLst/>
          </a:prstGeom>
          <a:noFill/>
          <a:ln/>
        </p:spPr>
        <p:txBody>
          <a:bodyPr wrap="square" lIns="0" tIns="0" rIns="0" bIns="0" rtlCol="0" anchor="t"/>
          <a:lstStyle/>
          <a:p>
            <a:pPr marL="228600" indent="-228600">
              <a:spcAft>
                <a:spcPts val="500"/>
              </a:spcAft>
              <a:buSzPct val="100000"/>
              <a:buChar char="•"/>
            </a:pPr>
            <a:r>
              <a:rPr lang="en-US" sz="1500" dirty="0">
                <a:solidFill>
                  <a:srgbClr val="1B2433"/>
                </a:solidFill>
                <a:latin typeface="Calibri" pitchFamily="34" charset="0"/>
                <a:ea typeface="Calibri" pitchFamily="34" charset="-122"/>
                <a:cs typeface="Calibri" pitchFamily="34" charset="-120"/>
              </a:rPr>
              <a:t>Every reading it gave was right (</a:t>
            </a:r>
            <a:r>
              <a:rPr lang="en-US" sz="1500" b="1" dirty="0">
                <a:solidFill>
                  <a:srgbClr val="1B2433"/>
                </a:solidFill>
                <a:latin typeface="Calibri" pitchFamily="34" charset="0"/>
                <a:ea typeface="Calibri" pitchFamily="34" charset="-122"/>
                <a:cs typeface="Calibri" pitchFamily="34" charset="-120"/>
              </a:rPr>
              <a:t>precision 100%</a:t>
            </a:r>
            <a:r>
              <a:rPr lang="en-US" sz="1500" dirty="0">
                <a:solidFill>
                  <a:srgbClr val="1B2433"/>
                </a:solidFill>
                <a:latin typeface="Calibri" pitchFamily="34" charset="0"/>
                <a:ea typeface="Calibri" pitchFamily="34" charset="-122"/>
                <a:cs typeface="Calibri" pitchFamily="34" charset="-120"/>
              </a:rPr>
              <a:t>).</a:t>
            </a:r>
            <a:endParaRPr lang="en-US" sz="1500" dirty="0"/>
          </a:p>
          <a:p>
            <a:pPr marL="228600" indent="-228600">
              <a:spcAft>
                <a:spcPts val="500"/>
              </a:spcAft>
              <a:buSzPct val="100000"/>
              <a:buChar char="•"/>
            </a:pPr>
            <a:r>
              <a:rPr lang="en-US" sz="1500" dirty="0">
                <a:solidFill>
                  <a:srgbClr val="1B2433"/>
                </a:solidFill>
                <a:latin typeface="Calibri" pitchFamily="34" charset="0"/>
                <a:ea typeface="Calibri" pitchFamily="34" charset="-122"/>
                <a:cs typeface="Calibri" pitchFamily="34" charset="-120"/>
              </a:rPr>
              <a:t>It found </a:t>
            </a:r>
            <a:r>
              <a:rPr lang="en-US" sz="1500" b="1" dirty="0">
                <a:solidFill>
                  <a:srgbClr val="1B2433"/>
                </a:solidFill>
                <a:latin typeface="Calibri" pitchFamily="34" charset="0"/>
                <a:ea typeface="Calibri" pitchFamily="34" charset="-122"/>
                <a:cs typeface="Calibri" pitchFamily="34" charset="-120"/>
              </a:rPr>
              <a:t>98.7%</a:t>
            </a:r>
            <a:r>
              <a:rPr lang="en-US" sz="1500" dirty="0">
                <a:solidFill>
                  <a:srgbClr val="1B2433"/>
                </a:solidFill>
                <a:latin typeface="Calibri" pitchFamily="34" charset="0"/>
                <a:ea typeface="Calibri" pitchFamily="34" charset="-122"/>
                <a:cs typeface="Calibri" pitchFamily="34" charset="-120"/>
              </a:rPr>
              <a:t> of them (</a:t>
            </a:r>
            <a:r>
              <a:rPr lang="en-US" sz="1500" b="1" dirty="0">
                <a:solidFill>
                  <a:srgbClr val="1B2433"/>
                </a:solidFill>
                <a:latin typeface="Calibri" pitchFamily="34" charset="0"/>
                <a:ea typeface="Calibri" pitchFamily="34" charset="-122"/>
                <a:cs typeface="Calibri" pitchFamily="34" charset="-120"/>
              </a:rPr>
              <a:t>recall</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
        <p:nvSpPr>
          <p:cNvPr id="37" name="Shape 34"/>
          <p:cNvSpPr/>
          <p:nvPr/>
        </p:nvSpPr>
        <p:spPr>
          <a:xfrm>
            <a:off x="7498080" y="3657600"/>
            <a:ext cx="4114800" cy="1920240"/>
          </a:xfrm>
          <a:prstGeom prst="roundRect">
            <a:avLst>
              <a:gd name="adj" fmla="val 3810"/>
            </a:avLst>
          </a:prstGeom>
          <a:solidFill>
            <a:srgbClr val="F2F4F8"/>
          </a:solidFill>
          <a:ln w="12700">
            <a:solidFill>
              <a:srgbClr val="F2F4F8"/>
            </a:solidFill>
            <a:prstDash val="solid"/>
          </a:ln>
        </p:spPr>
      </p:sp>
      <p:sp>
        <p:nvSpPr>
          <p:cNvPr id="38" name="Text 35"/>
          <p:cNvSpPr/>
          <p:nvPr/>
        </p:nvSpPr>
        <p:spPr>
          <a:xfrm>
            <a:off x="7699248" y="3803904"/>
            <a:ext cx="371246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Cannot read it?</a:t>
            </a:r>
            <a:endParaRPr lang="en-US" sz="1700" dirty="0"/>
          </a:p>
        </p:txBody>
      </p:sp>
      <p:sp>
        <p:nvSpPr>
          <p:cNvPr id="39" name="Text 36"/>
          <p:cNvSpPr/>
          <p:nvPr/>
        </p:nvSpPr>
        <p:spPr>
          <a:xfrm>
            <a:off x="7699248" y="4215384"/>
            <a:ext cx="3712464" cy="1216152"/>
          </a:xfrm>
          <a:prstGeom prst="rect">
            <a:avLst/>
          </a:prstGeom>
          <a:noFill/>
          <a:ln/>
        </p:spPr>
        <p:txBody>
          <a:bodyPr wrap="square" lIns="0" tIns="0" rIns="0" bIns="0" rtlCol="0" anchor="t"/>
          <a:lstStyle/>
          <a:p>
            <a:pPr indent="0" marL="0">
              <a:spcAft>
                <a:spcPts val="500"/>
              </a:spcAft>
              <a:buNone/>
            </a:pPr>
            <a:r>
              <a:rPr lang="en-US" sz="1400" dirty="0">
                <a:solidFill>
                  <a:srgbClr val="1B2433"/>
                </a:solidFill>
                <a:latin typeface="Calibri" pitchFamily="34" charset="0"/>
                <a:ea typeface="Calibri" pitchFamily="34" charset="-122"/>
                <a:cs typeface="Calibri" pitchFamily="34" charset="-120"/>
              </a:rPr>
              <a:t>Labelled </a:t>
            </a:r>
            <a:r>
              <a:rPr lang="en-US" sz="1400" b="1" dirty="0">
                <a:solidFill>
                  <a:srgbClr val="1B2433"/>
                </a:solidFill>
                <a:latin typeface="Calibri" pitchFamily="34" charset="0"/>
                <a:ea typeface="Calibri" pitchFamily="34" charset="-122"/>
                <a:cs typeface="Calibri" pitchFamily="34" charset="-120"/>
              </a:rPr>
              <a:t>UNPARSED</a:t>
            </a:r>
            <a:r>
              <a:rPr lang="en-US" sz="1400" dirty="0">
                <a:solidFill>
                  <a:srgbClr val="1B2433"/>
                </a:solidFill>
                <a:latin typeface="Calibri" pitchFamily="34" charset="0"/>
                <a:ea typeface="Calibri" pitchFamily="34" charset="-122"/>
                <a:cs typeface="Calibri" pitchFamily="34" charset="-120"/>
              </a:rPr>
              <a:t>, reported separately, </a:t>
            </a:r>
            <a:r>
              <a:rPr lang="en-US" sz="1400" b="1" dirty="0">
                <a:solidFill>
                  <a:srgbClr val="1B2433"/>
                </a:solidFill>
                <a:latin typeface="Calibri" pitchFamily="34" charset="0"/>
                <a:ea typeface="Calibri" pitchFamily="34" charset="-122"/>
                <a:cs typeface="Calibri" pitchFamily="34" charset="-120"/>
              </a:rPr>
              <a:t>never dropped</a:t>
            </a:r>
            <a:r>
              <a:rPr lang="en-US" sz="1400" dirty="0">
                <a:solidFill>
                  <a:srgbClr val="1B2433"/>
                </a:solidFill>
                <a:latin typeface="Calibri" pitchFamily="34" charset="0"/>
                <a:ea typeface="Calibri" pitchFamily="34" charset="-122"/>
                <a:cs typeface="Calibri" pitchFamily="34" charset="-120"/>
              </a:rPr>
              <a:t>: 6.5% of our outputs on average. Our test sentences use a small set of pre-checked verbs; treebanks contain every kind of real verb.</a:t>
            </a:r>
            <a:endParaRPr lang="en-US" sz="1400" dirty="0"/>
          </a:p>
        </p:txBody>
      </p:sp>
      <p:sp>
        <p:nvSpPr>
          <p:cNvPr id="40" name="Shape 37"/>
          <p:cNvSpPr/>
          <p:nvPr/>
        </p:nvSpPr>
        <p:spPr>
          <a:xfrm>
            <a:off x="548640" y="5760720"/>
            <a:ext cx="11064240" cy="502920"/>
          </a:xfrm>
          <a:prstGeom prst="roundRect">
            <a:avLst>
              <a:gd name="adj" fmla="val 14545"/>
            </a:avLst>
          </a:prstGeom>
          <a:solidFill>
            <a:srgbClr val="FBEBD2"/>
          </a:solidFill>
          <a:ln w="12700">
            <a:solidFill>
              <a:srgbClr val="E39B2D"/>
            </a:solidFill>
            <a:prstDash val="solid"/>
          </a:ln>
        </p:spPr>
      </p:sp>
      <p:sp>
        <p:nvSpPr>
          <p:cNvPr id="41" name="Text 38"/>
          <p:cNvSpPr/>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The analyser is </a:t>
            </a:r>
            <a:r>
              <a:rPr lang="en-US" sz="1500" b="1" dirty="0">
                <a:solidFill>
                  <a:srgbClr val="1B2433"/>
                </a:solidFill>
                <a:latin typeface="Calibri" pitchFamily="34" charset="0"/>
                <a:ea typeface="Calibri" pitchFamily="34" charset="-122"/>
                <a:cs typeface="Calibri" pitchFamily="34" charset="-120"/>
              </a:rPr>
              <a:t>not 100% accurate</a:t>
            </a:r>
            <a:r>
              <a:rPr lang="en-US" sz="1500" dirty="0">
                <a:solidFill>
                  <a:srgbClr val="1B2433"/>
                </a:solidFill>
                <a:latin typeface="Calibri" pitchFamily="34" charset="0"/>
                <a:ea typeface="Calibri" pitchFamily="34" charset="-122"/>
                <a:cs typeface="Calibri" pitchFamily="34" charset="-120"/>
              </a:rPr>
              <a:t> and the paper </a:t>
            </a:r>
            <a:r>
              <a:rPr lang="en-US" sz="1500" b="1" dirty="0">
                <a:solidFill>
                  <a:srgbClr val="1B2433"/>
                </a:solidFill>
                <a:latin typeface="Calibri" pitchFamily="34" charset="0"/>
                <a:ea typeface="Calibri" pitchFamily="34" charset="-122"/>
                <a:cs typeface="Calibri" pitchFamily="34" charset="-120"/>
              </a:rPr>
              <a:t>never claims</a:t>
            </a:r>
            <a:r>
              <a:rPr lang="en-US" sz="1500" dirty="0">
                <a:solidFill>
                  <a:srgbClr val="1B2433"/>
                </a:solidFill>
                <a:latin typeface="Calibri" pitchFamily="34" charset="0"/>
                <a:ea typeface="Calibri" pitchFamily="34" charset="-122"/>
                <a:cs typeface="Calibri" pitchFamily="34" charset="-120"/>
              </a:rPr>
              <a:t> it is.</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3</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OUR TEST SET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Five repairs we had to make to the analyser</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33</a:t>
            </a:r>
            <a:endParaRPr lang="en-US" sz="900" dirty="0"/>
          </a:p>
        </p:txBody>
      </p:sp>
      <p:sp>
        <p:nvSpPr>
          <p:cNvPr id="9" name="Shape 6"/>
          <p:cNvSpPr/>
          <p:nvPr/>
        </p:nvSpPr>
        <p:spPr>
          <a:xfrm>
            <a:off x="548640" y="1737360"/>
            <a:ext cx="11064240" cy="713232"/>
          </a:xfrm>
          <a:prstGeom prst="roundRect">
            <a:avLst>
              <a:gd name="adj" fmla="val 10256"/>
            </a:avLst>
          </a:prstGeom>
          <a:solidFill>
            <a:srgbClr val="F2F4F8"/>
          </a:solidFill>
          <a:ln w="12700">
            <a:solidFill>
              <a:srgbClr val="F2F4F8"/>
            </a:solidFill>
            <a:prstDash val="solid"/>
          </a:ln>
        </p:spPr>
      </p:sp>
      <p:sp>
        <p:nvSpPr>
          <p:cNvPr id="10" name="Shape 7"/>
          <p:cNvSpPr/>
          <p:nvPr/>
        </p:nvSpPr>
        <p:spPr>
          <a:xfrm>
            <a:off x="685800" y="1892808"/>
            <a:ext cx="411480" cy="411480"/>
          </a:xfrm>
          <a:prstGeom prst="roundRect">
            <a:avLst>
              <a:gd name="adj" fmla="val 17778"/>
            </a:avLst>
          </a:prstGeom>
          <a:solidFill>
            <a:srgbClr val="1F3057"/>
          </a:solidFill>
          <a:ln w="12700">
            <a:solidFill>
              <a:srgbClr val="1F3057"/>
            </a:solidFill>
            <a:prstDash val="solid"/>
          </a:ln>
        </p:spPr>
      </p:sp>
      <p:sp>
        <p:nvSpPr>
          <p:cNvPr id="11" name="Text 8"/>
          <p:cNvSpPr/>
          <p:nvPr/>
        </p:nvSpPr>
        <p:spPr>
          <a:xfrm>
            <a:off x="685800" y="1892808"/>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9"/>
          <p:cNvSpPr/>
          <p:nvPr/>
        </p:nvSpPr>
        <p:spPr>
          <a:xfrm>
            <a:off x="1280160" y="1737360"/>
            <a:ext cx="3291840" cy="713232"/>
          </a:xfrm>
          <a:prstGeom prst="rect">
            <a:avLst/>
          </a:prstGeom>
          <a:noFill/>
          <a:ln/>
        </p:spPr>
        <p:txBody>
          <a:bodyPr wrap="square" lIns="0" tIns="0" rIns="0" bIns="0" rtlCol="0" anchor="ctr"/>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-ஆர் -ār</a:t>
            </a:r>
            <a:endParaRPr lang="en-US" sz="1600" dirty="0"/>
          </a:p>
        </p:txBody>
      </p:sp>
      <p:sp>
        <p:nvSpPr>
          <p:cNvPr id="13" name="Text 10"/>
          <p:cNvSpPr/>
          <p:nvPr/>
        </p:nvSpPr>
        <p:spPr>
          <a:xfrm>
            <a:off x="4663440" y="1737360"/>
            <a:ext cx="6858000" cy="713232"/>
          </a:xfrm>
          <a:prstGeom prst="rect">
            <a:avLst/>
          </a:prstGeom>
          <a:noFill/>
          <a:ln/>
        </p:spPr>
        <p:txBody>
          <a:bodyPr wrap="square" lIns="0" tIns="0" rIns="0" bIns="0" rtlCol="0" anchor="ctr"/>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can mean one respected person </a:t>
            </a:r>
            <a:r>
              <a:rPr lang="en-US" sz="1400" b="1" dirty="0">
                <a:solidFill>
                  <a:srgbClr val="1B2433"/>
                </a:solidFill>
                <a:latin typeface="Calibri" pitchFamily="34" charset="0"/>
                <a:ea typeface="Calibri" pitchFamily="34" charset="-122"/>
                <a:cs typeface="Calibri" pitchFamily="34" charset="-120"/>
              </a:rPr>
              <a:t>or</a:t>
            </a:r>
            <a:r>
              <a:rPr lang="en-US" sz="1400" dirty="0">
                <a:solidFill>
                  <a:srgbClr val="1B2433"/>
                </a:solidFill>
                <a:latin typeface="Calibri" pitchFamily="34" charset="0"/>
                <a:ea typeface="Calibri" pitchFamily="34" charset="-122"/>
                <a:cs typeface="Calibri" pitchFamily="34" charset="-120"/>
              </a:rPr>
              <a:t> several people; resolved using context</a:t>
            </a:r>
            <a:endParaRPr lang="en-US" sz="1400" dirty="0"/>
          </a:p>
        </p:txBody>
      </p:sp>
      <p:sp>
        <p:nvSpPr>
          <p:cNvPr id="14" name="Shape 11"/>
          <p:cNvSpPr/>
          <p:nvPr/>
        </p:nvSpPr>
        <p:spPr>
          <a:xfrm>
            <a:off x="548640" y="2542032"/>
            <a:ext cx="11064240" cy="713232"/>
          </a:xfrm>
          <a:prstGeom prst="roundRect">
            <a:avLst>
              <a:gd name="adj" fmla="val 10256"/>
            </a:avLst>
          </a:prstGeom>
          <a:solidFill>
            <a:srgbClr val="FFFFFF"/>
          </a:solidFill>
          <a:ln w="12700">
            <a:solidFill>
              <a:srgbClr val="FFFFFF"/>
            </a:solidFill>
            <a:prstDash val="solid"/>
          </a:ln>
        </p:spPr>
      </p:sp>
      <p:sp>
        <p:nvSpPr>
          <p:cNvPr id="15" name="Shape 12"/>
          <p:cNvSpPr/>
          <p:nvPr/>
        </p:nvSpPr>
        <p:spPr>
          <a:xfrm>
            <a:off x="685800" y="2697480"/>
            <a:ext cx="411480" cy="411480"/>
          </a:xfrm>
          <a:prstGeom prst="roundRect">
            <a:avLst>
              <a:gd name="adj" fmla="val 17778"/>
            </a:avLst>
          </a:prstGeom>
          <a:solidFill>
            <a:srgbClr val="1F3057"/>
          </a:solidFill>
          <a:ln w="12700">
            <a:solidFill>
              <a:srgbClr val="1F3057"/>
            </a:solidFill>
            <a:prstDash val="solid"/>
          </a:ln>
        </p:spPr>
      </p:sp>
      <p:sp>
        <p:nvSpPr>
          <p:cNvPr id="16" name="Text 13"/>
          <p:cNvSpPr/>
          <p:nvPr/>
        </p:nvSpPr>
        <p:spPr>
          <a:xfrm>
            <a:off x="685800" y="26974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4"/>
          <p:cNvSpPr/>
          <p:nvPr/>
        </p:nvSpPr>
        <p:spPr>
          <a:xfrm>
            <a:off x="1280160" y="2542032"/>
            <a:ext cx="3291840" cy="713232"/>
          </a:xfrm>
          <a:prstGeom prst="rect">
            <a:avLst/>
          </a:prstGeom>
          <a:noFill/>
          <a:ln/>
        </p:spPr>
        <p:txBody>
          <a:bodyPr wrap="square" lIns="0" tIns="0" rIns="0" bIns="0" rtlCol="0" anchor="ctr"/>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-ஈர்கள் / -உங்கள்</a:t>
            </a:r>
            <a:endParaRPr lang="en-US" sz="1600" dirty="0"/>
          </a:p>
        </p:txBody>
      </p:sp>
      <p:sp>
        <p:nvSpPr>
          <p:cNvPr id="18" name="Text 15"/>
          <p:cNvSpPr/>
          <p:nvPr/>
        </p:nvSpPr>
        <p:spPr>
          <a:xfrm>
            <a:off x="4663440" y="2542032"/>
            <a:ext cx="6858000" cy="713232"/>
          </a:xfrm>
          <a:prstGeom prst="rect">
            <a:avLst/>
          </a:prstGeom>
          <a:noFill/>
          <a:ln/>
        </p:spPr>
        <p:txBody>
          <a:bodyPr wrap="square" lIns="0" tIns="0" rIns="0" bIns="0" rtlCol="0" anchor="ctr"/>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second-person endings ambiguous in the same way</a:t>
            </a:r>
            <a:endParaRPr lang="en-US" sz="1400" dirty="0"/>
          </a:p>
        </p:txBody>
      </p:sp>
      <p:sp>
        <p:nvSpPr>
          <p:cNvPr id="19" name="Shape 16"/>
          <p:cNvSpPr/>
          <p:nvPr/>
        </p:nvSpPr>
        <p:spPr>
          <a:xfrm>
            <a:off x="548640" y="3346704"/>
            <a:ext cx="11064240" cy="713232"/>
          </a:xfrm>
          <a:prstGeom prst="roundRect">
            <a:avLst>
              <a:gd name="adj" fmla="val 10256"/>
            </a:avLst>
          </a:prstGeom>
          <a:solidFill>
            <a:srgbClr val="F2F4F8"/>
          </a:solidFill>
          <a:ln w="12700">
            <a:solidFill>
              <a:srgbClr val="F2F4F8"/>
            </a:solidFill>
            <a:prstDash val="solid"/>
          </a:ln>
        </p:spPr>
      </p:sp>
      <p:sp>
        <p:nvSpPr>
          <p:cNvPr id="20" name="Shape 17"/>
          <p:cNvSpPr/>
          <p:nvPr/>
        </p:nvSpPr>
        <p:spPr>
          <a:xfrm>
            <a:off x="685800" y="3502152"/>
            <a:ext cx="411480" cy="411480"/>
          </a:xfrm>
          <a:prstGeom prst="roundRect">
            <a:avLst>
              <a:gd name="adj" fmla="val 17778"/>
            </a:avLst>
          </a:prstGeom>
          <a:solidFill>
            <a:srgbClr val="1F3057"/>
          </a:solidFill>
          <a:ln w="12700">
            <a:solidFill>
              <a:srgbClr val="1F3057"/>
            </a:solidFill>
            <a:prstDash val="solid"/>
          </a:ln>
        </p:spPr>
      </p:sp>
      <p:sp>
        <p:nvSpPr>
          <p:cNvPr id="21" name="Text 18"/>
          <p:cNvSpPr/>
          <p:nvPr/>
        </p:nvSpPr>
        <p:spPr>
          <a:xfrm>
            <a:off x="685800" y="3502152"/>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19"/>
          <p:cNvSpPr/>
          <p:nvPr/>
        </p:nvSpPr>
        <p:spPr>
          <a:xfrm>
            <a:off x="1280160" y="3346704"/>
            <a:ext cx="3291840" cy="713232"/>
          </a:xfrm>
          <a:prstGeom prst="rect">
            <a:avLst/>
          </a:prstGeom>
          <a:noFill/>
          <a:ln/>
        </p:spPr>
        <p:txBody>
          <a:bodyPr wrap="square" lIns="0" tIns="0" rIns="0" bIns="0" rtlCol="0" anchor="ctr"/>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-அனர் -aṉar</a:t>
            </a:r>
            <a:endParaRPr lang="en-US" sz="1600" dirty="0"/>
          </a:p>
        </p:txBody>
      </p:sp>
      <p:sp>
        <p:nvSpPr>
          <p:cNvPr id="23" name="Text 20"/>
          <p:cNvSpPr/>
          <p:nvPr/>
        </p:nvSpPr>
        <p:spPr>
          <a:xfrm>
            <a:off x="4663440" y="3346704"/>
            <a:ext cx="6858000" cy="713232"/>
          </a:xfrm>
          <a:prstGeom prst="rect">
            <a:avLst/>
          </a:prstGeom>
          <a:noFill/>
          <a:ln/>
        </p:spPr>
        <p:txBody>
          <a:bodyPr wrap="square" lIns="0" tIns="0" rIns="0" bIns="0" rtlCol="0" anchor="ctr"/>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tagged singular although it is plural</a:t>
            </a:r>
            <a:endParaRPr lang="en-US" sz="1400" dirty="0"/>
          </a:p>
        </p:txBody>
      </p:sp>
      <p:sp>
        <p:nvSpPr>
          <p:cNvPr id="24" name="Shape 21"/>
          <p:cNvSpPr/>
          <p:nvPr/>
        </p:nvSpPr>
        <p:spPr>
          <a:xfrm>
            <a:off x="548640" y="4151376"/>
            <a:ext cx="11064240" cy="713232"/>
          </a:xfrm>
          <a:prstGeom prst="roundRect">
            <a:avLst>
              <a:gd name="adj" fmla="val 10256"/>
            </a:avLst>
          </a:prstGeom>
          <a:solidFill>
            <a:srgbClr val="FFFFFF"/>
          </a:solidFill>
          <a:ln w="12700">
            <a:solidFill>
              <a:srgbClr val="FFFFFF"/>
            </a:solidFill>
            <a:prstDash val="solid"/>
          </a:ln>
        </p:spPr>
      </p:sp>
      <p:sp>
        <p:nvSpPr>
          <p:cNvPr id="25" name="Shape 22"/>
          <p:cNvSpPr/>
          <p:nvPr/>
        </p:nvSpPr>
        <p:spPr>
          <a:xfrm>
            <a:off x="685800" y="4306824"/>
            <a:ext cx="411480" cy="411480"/>
          </a:xfrm>
          <a:prstGeom prst="roundRect">
            <a:avLst>
              <a:gd name="adj" fmla="val 17778"/>
            </a:avLst>
          </a:prstGeom>
          <a:solidFill>
            <a:srgbClr val="1F3057"/>
          </a:solidFill>
          <a:ln w="12700">
            <a:solidFill>
              <a:srgbClr val="1F3057"/>
            </a:solidFill>
            <a:prstDash val="solid"/>
          </a:ln>
        </p:spPr>
      </p:sp>
      <p:sp>
        <p:nvSpPr>
          <p:cNvPr id="26" name="Text 23"/>
          <p:cNvSpPr/>
          <p:nvPr/>
        </p:nvSpPr>
        <p:spPr>
          <a:xfrm>
            <a:off x="685800" y="4306824"/>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4"/>
          <p:cNvSpPr/>
          <p:nvPr/>
        </p:nvSpPr>
        <p:spPr>
          <a:xfrm>
            <a:off x="1280160" y="4151376"/>
            <a:ext cx="3291840" cy="713232"/>
          </a:xfrm>
          <a:prstGeom prst="rect">
            <a:avLst/>
          </a:prstGeom>
          <a:noFill/>
          <a:ln/>
        </p:spPr>
        <p:txBody>
          <a:bodyPr wrap="square" lIns="0" tIns="0" rIns="0" bIns="0" rtlCol="0" anchor="ctr"/>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sound change at word ends</a:t>
            </a:r>
            <a:endParaRPr lang="en-US" sz="1600" dirty="0"/>
          </a:p>
        </p:txBody>
      </p:sp>
      <p:sp>
        <p:nvSpPr>
          <p:cNvPr id="28" name="Text 25"/>
          <p:cNvSpPr/>
          <p:nvPr/>
        </p:nvSpPr>
        <p:spPr>
          <a:xfrm>
            <a:off x="4663440" y="4151376"/>
            <a:ext cx="6858000" cy="713232"/>
          </a:xfrm>
          <a:prstGeom prst="rect">
            <a:avLst/>
          </a:prstGeom>
          <a:noFill/>
          <a:ln/>
        </p:spPr>
        <p:txBody>
          <a:bodyPr wrap="square" lIns="0" tIns="0" rIns="0" bIns="0" rtlCol="0" anchor="ctr"/>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hid a pronoun and created a false verb reading</a:t>
            </a:r>
            <a:endParaRPr lang="en-US" sz="1400" dirty="0"/>
          </a:p>
        </p:txBody>
      </p:sp>
      <p:sp>
        <p:nvSpPr>
          <p:cNvPr id="29" name="Shape 26"/>
          <p:cNvSpPr/>
          <p:nvPr/>
        </p:nvSpPr>
        <p:spPr>
          <a:xfrm>
            <a:off x="548640" y="4956048"/>
            <a:ext cx="11064240" cy="713232"/>
          </a:xfrm>
          <a:prstGeom prst="roundRect">
            <a:avLst>
              <a:gd name="adj" fmla="val 10256"/>
            </a:avLst>
          </a:prstGeom>
          <a:solidFill>
            <a:srgbClr val="FBEBD2"/>
          </a:solidFill>
          <a:ln w="15875">
            <a:solidFill>
              <a:srgbClr val="E39B2D"/>
            </a:solidFill>
            <a:prstDash val="solid"/>
          </a:ln>
        </p:spPr>
      </p:sp>
      <p:sp>
        <p:nvSpPr>
          <p:cNvPr id="30" name="Shape 27"/>
          <p:cNvSpPr/>
          <p:nvPr/>
        </p:nvSpPr>
        <p:spPr>
          <a:xfrm>
            <a:off x="685800" y="5111496"/>
            <a:ext cx="411480" cy="411480"/>
          </a:xfrm>
          <a:prstGeom prst="roundRect">
            <a:avLst>
              <a:gd name="adj" fmla="val 17778"/>
            </a:avLst>
          </a:prstGeom>
          <a:solidFill>
            <a:srgbClr val="E39B2D"/>
          </a:solidFill>
          <a:ln w="12700">
            <a:solidFill>
              <a:srgbClr val="E39B2D"/>
            </a:solidFill>
            <a:prstDash val="solid"/>
          </a:ln>
        </p:spPr>
      </p:sp>
      <p:sp>
        <p:nvSpPr>
          <p:cNvPr id="31" name="Text 28"/>
          <p:cNvSpPr/>
          <p:nvPr/>
        </p:nvSpPr>
        <p:spPr>
          <a:xfrm>
            <a:off x="685800" y="5111496"/>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29"/>
          <p:cNvSpPr/>
          <p:nvPr/>
        </p:nvSpPr>
        <p:spPr>
          <a:xfrm>
            <a:off x="1280160" y="4956048"/>
            <a:ext cx="3291840" cy="713232"/>
          </a:xfrm>
          <a:prstGeom prst="rect">
            <a:avLst/>
          </a:prstGeom>
          <a:noFill/>
          <a:ln/>
        </p:spPr>
        <p:txBody>
          <a:bodyPr wrap="square" lIns="0" tIns="0" rIns="0" bIns="0" rtlCol="0" anchor="ctr"/>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ஓடின ōṭiṉa  "(they) ran"</a:t>
            </a:r>
            <a:endParaRPr lang="en-US" sz="1600" dirty="0"/>
          </a:p>
        </p:txBody>
      </p:sp>
      <p:sp>
        <p:nvSpPr>
          <p:cNvPr id="33" name="Text 30"/>
          <p:cNvSpPr/>
          <p:nvPr/>
        </p:nvSpPr>
        <p:spPr>
          <a:xfrm>
            <a:off x="4663440" y="4956048"/>
            <a:ext cx="6858000" cy="713232"/>
          </a:xfrm>
          <a:prstGeom prst="rect">
            <a:avLst/>
          </a:prstGeom>
          <a:noFill/>
          <a:ln/>
        </p:spPr>
        <p:txBody>
          <a:bodyPr wrap="square" lIns="0" tIns="0" rIns="0" bIns="0" rtlCol="0" anchor="ctr"/>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read only as a describing form ("that ran"), not a full verb, so </a:t>
            </a:r>
            <a:r>
              <a:rPr lang="en-US" sz="1400" b="1" dirty="0">
                <a:solidFill>
                  <a:srgbClr val="1B2433"/>
                </a:solidFill>
                <a:latin typeface="Calibri" pitchFamily="34" charset="0"/>
                <a:ea typeface="Calibri" pitchFamily="34" charset="-122"/>
                <a:cs typeface="Calibri" pitchFamily="34" charset="-120"/>
              </a:rPr>
              <a:t>correct Tamil was marked wrong</a:t>
            </a:r>
            <a:r>
              <a:rPr lang="en-US" sz="1400" dirty="0">
                <a:solidFill>
                  <a:srgbClr val="1B2433"/>
                </a:solidFill>
                <a:latin typeface="Calibri" pitchFamily="34" charset="0"/>
                <a:ea typeface="Calibri" pitchFamily="34" charset="-122"/>
                <a:cs typeface="Calibri" pitchFamily="34" charset="-120"/>
              </a:rPr>
              <a:t>. Fixed; everything re-scored.</a:t>
            </a:r>
            <a:endParaRPr lang="en-US" sz="1400" dirty="0"/>
          </a:p>
        </p:txBody>
      </p:sp>
      <p:sp>
        <p:nvSpPr>
          <p:cNvPr id="34" name="Shape 31"/>
          <p:cNvSpPr/>
          <p:nvPr/>
        </p:nvSpPr>
        <p:spPr>
          <a:xfrm>
            <a:off x="548640" y="5852160"/>
            <a:ext cx="11064240" cy="502920"/>
          </a:xfrm>
          <a:prstGeom prst="roundRect">
            <a:avLst>
              <a:gd name="adj" fmla="val 14545"/>
            </a:avLst>
          </a:prstGeom>
          <a:solidFill>
            <a:srgbClr val="FBEBD2"/>
          </a:solidFill>
          <a:ln w="12700">
            <a:solidFill>
              <a:srgbClr val="E39B2D"/>
            </a:solidFill>
            <a:prstDash val="solid"/>
          </a:ln>
        </p:spPr>
      </p:sp>
      <p:sp>
        <p:nvSpPr>
          <p:cNvPr id="35" name="Text 32"/>
          <p:cNvSpPr/>
          <p:nvPr/>
        </p:nvSpPr>
        <p:spPr>
          <a:xfrm>
            <a:off x="777240" y="5852160"/>
            <a:ext cx="10607040" cy="50292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Repairs change </a:t>
            </a:r>
            <a:r>
              <a:rPr lang="en-US" sz="1500" b="1" dirty="0">
                <a:solidFill>
                  <a:srgbClr val="1B2433"/>
                </a:solidFill>
                <a:latin typeface="Calibri" pitchFamily="34" charset="0"/>
                <a:ea typeface="Calibri" pitchFamily="34" charset="-122"/>
                <a:cs typeface="Calibri" pitchFamily="34" charset="-120"/>
              </a:rPr>
              <a:t>how we read</a:t>
            </a:r>
            <a:r>
              <a:rPr lang="en-US" sz="1500" dirty="0">
                <a:solidFill>
                  <a:srgbClr val="1B2433"/>
                </a:solidFill>
                <a:latin typeface="Calibri" pitchFamily="34" charset="0"/>
                <a:ea typeface="Calibri" pitchFamily="34" charset="-122"/>
                <a:cs typeface="Calibri" pitchFamily="34" charset="-120"/>
              </a:rPr>
              <a:t> the analyser's output. The published analyser itself is </a:t>
            </a:r>
            <a:r>
              <a:rPr lang="en-US" sz="1500" b="1" dirty="0">
                <a:solidFill>
                  <a:srgbClr val="1B2433"/>
                </a:solidFill>
                <a:latin typeface="Calibri" pitchFamily="34" charset="0"/>
                <a:ea typeface="Calibri" pitchFamily="34" charset="-122"/>
                <a:cs typeface="Calibri" pitchFamily="34" charset="-120"/>
              </a:rPr>
              <a:t>untouched</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3</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OUR TEST SET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Every output gets one of five outcomes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34</a:t>
            </a:r>
            <a:endParaRPr lang="en-US" sz="900" dirty="0"/>
          </a:p>
        </p:txBody>
      </p:sp>
      <p:sp>
        <p:nvSpPr>
          <p:cNvPr id="9" name="Shape 6"/>
          <p:cNvSpPr/>
          <p:nvPr/>
        </p:nvSpPr>
        <p:spPr>
          <a:xfrm>
            <a:off x="548640" y="1892808"/>
            <a:ext cx="2286000" cy="502920"/>
          </a:xfrm>
          <a:prstGeom prst="roundRect">
            <a:avLst>
              <a:gd name="adj" fmla="val 14545"/>
            </a:avLst>
          </a:prstGeom>
          <a:solidFill>
            <a:srgbClr val="009E73"/>
          </a:solidFill>
          <a:ln w="12700">
            <a:solidFill>
              <a:srgbClr val="009E73"/>
            </a:solidFill>
            <a:prstDash val="solid"/>
          </a:ln>
        </p:spPr>
      </p:sp>
      <p:sp>
        <p:nvSpPr>
          <p:cNvPr id="10" name="Text 7"/>
          <p:cNvSpPr/>
          <p:nvPr/>
        </p:nvSpPr>
        <p:spPr>
          <a:xfrm>
            <a:off x="548640" y="1892808"/>
            <a:ext cx="22860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CORRECT</a:t>
            </a:r>
            <a:endParaRPr lang="en-US" sz="1500" dirty="0"/>
          </a:p>
        </p:txBody>
      </p:sp>
      <p:sp>
        <p:nvSpPr>
          <p:cNvPr id="11" name="Text 8"/>
          <p:cNvSpPr/>
          <p:nvPr/>
        </p:nvSpPr>
        <p:spPr>
          <a:xfrm>
            <a:off x="3063240" y="1783080"/>
            <a:ext cx="8503920" cy="731520"/>
          </a:xfrm>
          <a:prstGeom prst="rect">
            <a:avLst/>
          </a:prstGeom>
          <a:noFill/>
          <a:ln/>
        </p:spPr>
        <p:txBody>
          <a:bodyPr wrap="square" lIns="0" tIns="0" rIns="0" bIns="0" rtlCol="0" anchor="ctr"/>
          <a:lstStyle/>
          <a:p>
            <a:pPr algn="l" indent="0" marL="0">
              <a:lnSpc>
                <a:spcPct val="100000"/>
              </a:lnSpc>
              <a:buNone/>
            </a:pPr>
            <a:r>
              <a:rPr lang="en-US" sz="1700" dirty="0">
                <a:solidFill>
                  <a:srgbClr val="1B2433"/>
                </a:solidFill>
                <a:latin typeface="Calibri" pitchFamily="34" charset="0"/>
                <a:ea typeface="Calibri" pitchFamily="34" charset="-122"/>
                <a:cs typeface="Calibri" pitchFamily="34" charset="-120"/>
              </a:rPr>
              <a:t>the value matches the gold answer</a:t>
            </a:r>
            <a:endParaRPr lang="en-US" sz="1700" dirty="0"/>
          </a:p>
        </p:txBody>
      </p:sp>
      <p:sp>
        <p:nvSpPr>
          <p:cNvPr id="12" name="Shape 9"/>
          <p:cNvSpPr/>
          <p:nvPr/>
        </p:nvSpPr>
        <p:spPr>
          <a:xfrm>
            <a:off x="548640" y="2670048"/>
            <a:ext cx="2286000" cy="502920"/>
          </a:xfrm>
          <a:prstGeom prst="roundRect">
            <a:avLst>
              <a:gd name="adj" fmla="val 14545"/>
            </a:avLst>
          </a:prstGeom>
          <a:solidFill>
            <a:srgbClr val="D55E00"/>
          </a:solidFill>
          <a:ln w="12700">
            <a:solidFill>
              <a:srgbClr val="D55E00"/>
            </a:solidFill>
            <a:prstDash val="solid"/>
          </a:ln>
        </p:spPr>
      </p:sp>
      <p:sp>
        <p:nvSpPr>
          <p:cNvPr id="13" name="Text 10"/>
          <p:cNvSpPr/>
          <p:nvPr/>
        </p:nvSpPr>
        <p:spPr>
          <a:xfrm>
            <a:off x="548640" y="2670048"/>
            <a:ext cx="22860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WRONG</a:t>
            </a:r>
            <a:endParaRPr lang="en-US" sz="1500" dirty="0"/>
          </a:p>
        </p:txBody>
      </p:sp>
      <p:sp>
        <p:nvSpPr>
          <p:cNvPr id="14" name="Text 11"/>
          <p:cNvSpPr/>
          <p:nvPr/>
        </p:nvSpPr>
        <p:spPr>
          <a:xfrm>
            <a:off x="3063240" y="2560320"/>
            <a:ext cx="8503920" cy="731520"/>
          </a:xfrm>
          <a:prstGeom prst="rect">
            <a:avLst/>
          </a:prstGeom>
          <a:noFill/>
          <a:ln/>
        </p:spPr>
        <p:txBody>
          <a:bodyPr wrap="square" lIns="0" tIns="0" rIns="0" bIns="0" rtlCol="0" anchor="ctr"/>
          <a:lstStyle/>
          <a:p>
            <a:pPr algn="l" indent="0" marL="0">
              <a:lnSpc>
                <a:spcPct val="100000"/>
              </a:lnSpc>
              <a:buNone/>
            </a:pPr>
            <a:r>
              <a:rPr lang="en-US" sz="1700" dirty="0">
                <a:solidFill>
                  <a:srgbClr val="1B2433"/>
                </a:solidFill>
                <a:latin typeface="Calibri" pitchFamily="34" charset="0"/>
                <a:ea typeface="Calibri" pitchFamily="34" charset="-122"/>
                <a:cs typeface="Calibri" pitchFamily="34" charset="-120"/>
              </a:rPr>
              <a:t>the value is the other one</a:t>
            </a:r>
            <a:endParaRPr lang="en-US" sz="1700" dirty="0"/>
          </a:p>
        </p:txBody>
      </p:sp>
      <p:sp>
        <p:nvSpPr>
          <p:cNvPr id="15" name="Shape 12"/>
          <p:cNvSpPr/>
          <p:nvPr/>
        </p:nvSpPr>
        <p:spPr>
          <a:xfrm>
            <a:off x="548640" y="3447288"/>
            <a:ext cx="2286000" cy="502920"/>
          </a:xfrm>
          <a:prstGeom prst="roundRect">
            <a:avLst>
              <a:gd name="adj" fmla="val 14545"/>
            </a:avLst>
          </a:prstGeom>
          <a:solidFill>
            <a:srgbClr val="0072B2"/>
          </a:solidFill>
          <a:ln w="12700">
            <a:solidFill>
              <a:srgbClr val="0072B2"/>
            </a:solidFill>
            <a:prstDash val="solid"/>
          </a:ln>
        </p:spPr>
      </p:sp>
      <p:sp>
        <p:nvSpPr>
          <p:cNvPr id="16" name="Text 13"/>
          <p:cNvSpPr/>
          <p:nvPr/>
        </p:nvSpPr>
        <p:spPr>
          <a:xfrm>
            <a:off x="548640" y="3447288"/>
            <a:ext cx="22860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AVOIDANT</a:t>
            </a:r>
            <a:endParaRPr lang="en-US" sz="1500" dirty="0"/>
          </a:p>
        </p:txBody>
      </p:sp>
      <p:sp>
        <p:nvSpPr>
          <p:cNvPr id="17" name="Text 14"/>
          <p:cNvSpPr/>
          <p:nvPr/>
        </p:nvSpPr>
        <p:spPr>
          <a:xfrm>
            <a:off x="3063240" y="3337560"/>
            <a:ext cx="8503920" cy="731520"/>
          </a:xfrm>
          <a:prstGeom prst="rect">
            <a:avLst/>
          </a:prstGeom>
          <a:noFill/>
          <a:ln/>
        </p:spPr>
        <p:txBody>
          <a:bodyPr wrap="square" lIns="0" tIns="0" rIns="0" bIns="0" rtlCol="0" anchor="ctr"/>
          <a:lstStyle/>
          <a:p>
            <a:pPr algn="l" indent="0" marL="0">
              <a:lnSpc>
                <a:spcPct val="100000"/>
              </a:lnSpc>
              <a:buNone/>
            </a:pPr>
            <a:r>
              <a:rPr lang="en-US" sz="1700" dirty="0">
                <a:solidFill>
                  <a:srgbClr val="1B2433"/>
                </a:solidFill>
                <a:latin typeface="Calibri" pitchFamily="34" charset="0"/>
                <a:ea typeface="Calibri" pitchFamily="34" charset="-122"/>
                <a:cs typeface="Calibri" pitchFamily="34" charset="-120"/>
              </a:rPr>
              <a:t>no value chosen: verb dropped, a neutral form (e.g. வந்தார்), or a negative sentence that removes the ending</a:t>
            </a:r>
            <a:endParaRPr lang="en-US" sz="1700" dirty="0"/>
          </a:p>
        </p:txBody>
      </p:sp>
      <p:sp>
        <p:nvSpPr>
          <p:cNvPr id="18" name="Shape 15"/>
          <p:cNvSpPr/>
          <p:nvPr/>
        </p:nvSpPr>
        <p:spPr>
          <a:xfrm>
            <a:off x="548640" y="4224528"/>
            <a:ext cx="2286000" cy="502920"/>
          </a:xfrm>
          <a:prstGeom prst="roundRect">
            <a:avLst>
              <a:gd name="adj" fmla="val 14545"/>
            </a:avLst>
          </a:prstGeom>
          <a:solidFill>
            <a:srgbClr val="B89F00"/>
          </a:solidFill>
          <a:ln w="12700">
            <a:solidFill>
              <a:srgbClr val="B89F00"/>
            </a:solidFill>
            <a:prstDash val="solid"/>
          </a:ln>
        </p:spPr>
      </p:sp>
      <p:sp>
        <p:nvSpPr>
          <p:cNvPr id="19" name="Text 16"/>
          <p:cNvSpPr/>
          <p:nvPr/>
        </p:nvSpPr>
        <p:spPr>
          <a:xfrm>
            <a:off x="548640" y="4224528"/>
            <a:ext cx="22860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UNDECIDABLE</a:t>
            </a:r>
            <a:endParaRPr lang="en-US" sz="1500" dirty="0"/>
          </a:p>
        </p:txBody>
      </p:sp>
      <p:sp>
        <p:nvSpPr>
          <p:cNvPr id="20" name="Text 17"/>
          <p:cNvSpPr/>
          <p:nvPr/>
        </p:nvSpPr>
        <p:spPr>
          <a:xfrm>
            <a:off x="3063240" y="4114800"/>
            <a:ext cx="8503920" cy="731520"/>
          </a:xfrm>
          <a:prstGeom prst="rect">
            <a:avLst/>
          </a:prstGeom>
          <a:noFill/>
          <a:ln/>
        </p:spPr>
        <p:txBody>
          <a:bodyPr wrap="square" lIns="0" tIns="0" rIns="0" bIns="0" rtlCol="0" anchor="ctr"/>
          <a:lstStyle/>
          <a:p>
            <a:pPr algn="l" indent="0" marL="0">
              <a:lnSpc>
                <a:spcPct val="100000"/>
              </a:lnSpc>
              <a:buNone/>
            </a:pPr>
            <a:r>
              <a:rPr lang="en-US" sz="1700" dirty="0">
                <a:solidFill>
                  <a:srgbClr val="1B2433"/>
                </a:solidFill>
                <a:latin typeface="Calibri" pitchFamily="34" charset="0"/>
                <a:ea typeface="Calibri" pitchFamily="34" charset="-122"/>
                <a:cs typeface="Calibri" pitchFamily="34" charset="-120"/>
              </a:rPr>
              <a:t>the form is ambiguous even after using context</a:t>
            </a:r>
            <a:endParaRPr lang="en-US" sz="1700" dirty="0"/>
          </a:p>
        </p:txBody>
      </p:sp>
      <p:sp>
        <p:nvSpPr>
          <p:cNvPr id="21" name="Shape 18"/>
          <p:cNvSpPr/>
          <p:nvPr/>
        </p:nvSpPr>
        <p:spPr>
          <a:xfrm>
            <a:off x="548640" y="5001768"/>
            <a:ext cx="2286000" cy="502920"/>
          </a:xfrm>
          <a:prstGeom prst="roundRect">
            <a:avLst>
              <a:gd name="adj" fmla="val 14545"/>
            </a:avLst>
          </a:prstGeom>
          <a:solidFill>
            <a:srgbClr val="8C8C8C"/>
          </a:solidFill>
          <a:ln w="12700">
            <a:solidFill>
              <a:srgbClr val="8C8C8C"/>
            </a:solidFill>
            <a:prstDash val="solid"/>
          </a:ln>
        </p:spPr>
      </p:sp>
      <p:sp>
        <p:nvSpPr>
          <p:cNvPr id="22" name="Text 19"/>
          <p:cNvSpPr/>
          <p:nvPr/>
        </p:nvSpPr>
        <p:spPr>
          <a:xfrm>
            <a:off x="548640" y="5001768"/>
            <a:ext cx="22860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UNPARSED</a:t>
            </a:r>
            <a:endParaRPr lang="en-US" sz="1500" dirty="0"/>
          </a:p>
        </p:txBody>
      </p:sp>
      <p:sp>
        <p:nvSpPr>
          <p:cNvPr id="23" name="Text 20"/>
          <p:cNvSpPr/>
          <p:nvPr/>
        </p:nvSpPr>
        <p:spPr>
          <a:xfrm>
            <a:off x="3063240" y="4892040"/>
            <a:ext cx="8503920" cy="731520"/>
          </a:xfrm>
          <a:prstGeom prst="rect">
            <a:avLst/>
          </a:prstGeom>
          <a:noFill/>
          <a:ln/>
        </p:spPr>
        <p:txBody>
          <a:bodyPr wrap="square" lIns="0" tIns="0" rIns="0" bIns="0" rtlCol="0" anchor="ctr"/>
          <a:lstStyle/>
          <a:p>
            <a:pPr algn="l" indent="0" marL="0">
              <a:lnSpc>
                <a:spcPct val="100000"/>
              </a:lnSpc>
              <a:buNone/>
            </a:pPr>
            <a:r>
              <a:rPr lang="en-US" sz="1700" dirty="0">
                <a:solidFill>
                  <a:srgbClr val="1B2433"/>
                </a:solidFill>
                <a:latin typeface="Calibri" pitchFamily="34" charset="0"/>
                <a:ea typeface="Calibri" pitchFamily="34" charset="-122"/>
                <a:cs typeface="Calibri" pitchFamily="34" charset="-120"/>
              </a:rPr>
              <a:t>the analyser could not read the output</a:t>
            </a:r>
            <a:endParaRPr lang="en-US" sz="1700" dirty="0"/>
          </a:p>
        </p:txBody>
      </p:sp>
      <p:sp>
        <p:nvSpPr>
          <p:cNvPr id="24" name="Shape 21"/>
          <p:cNvSpPr/>
          <p:nvPr/>
        </p:nvSpPr>
        <p:spPr>
          <a:xfrm>
            <a:off x="548640" y="5760720"/>
            <a:ext cx="11064240" cy="548640"/>
          </a:xfrm>
          <a:prstGeom prst="roundRect">
            <a:avLst>
              <a:gd name="adj" fmla="val 13333"/>
            </a:avLst>
          </a:prstGeom>
          <a:solidFill>
            <a:srgbClr val="FBEBD2"/>
          </a:solidFill>
          <a:ln w="12700">
            <a:solidFill>
              <a:srgbClr val="E39B2D"/>
            </a:solidFill>
            <a:prstDash val="solid"/>
          </a:ln>
        </p:spPr>
      </p:sp>
      <p:sp>
        <p:nvSpPr>
          <p:cNvPr id="25" name="Text 22"/>
          <p:cNvSpPr/>
          <p:nvPr/>
        </p:nvSpPr>
        <p:spPr>
          <a:xfrm>
            <a:off x="777240" y="5760720"/>
            <a:ext cx="10607040" cy="54864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We </a:t>
            </a:r>
            <a:r>
              <a:rPr lang="en-US" sz="1500" b="1" dirty="0">
                <a:solidFill>
                  <a:srgbClr val="1B2433"/>
                </a:solidFill>
                <a:latin typeface="Calibri" pitchFamily="34" charset="0"/>
                <a:ea typeface="Calibri" pitchFamily="34" charset="-122"/>
                <a:cs typeface="Calibri" pitchFamily="34" charset="-120"/>
              </a:rPr>
              <a:t>never count AVOIDANT as wrong</a:t>
            </a:r>
            <a:r>
              <a:rPr lang="en-US" sz="1500" dirty="0">
                <a:solidFill>
                  <a:srgbClr val="1B2433"/>
                </a:solidFill>
                <a:latin typeface="Calibri" pitchFamily="34" charset="0"/>
                <a:ea typeface="Calibri" pitchFamily="34" charset="-122"/>
                <a:cs typeface="Calibri" pitchFamily="34" charset="-120"/>
              </a:rPr>
              <a:t>. Otherwise a system that politely declines to guess would look as if it makes many mistakes.</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3</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OUR TEST SET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Two numbers we report: commitment and accuracy</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35</a:t>
            </a:r>
            <a:endParaRPr lang="en-US" sz="900" dirty="0"/>
          </a:p>
        </p:txBody>
      </p:sp>
      <p:sp>
        <p:nvSpPr>
          <p:cNvPr id="9" name="Shape 6"/>
          <p:cNvSpPr/>
          <p:nvPr/>
        </p:nvSpPr>
        <p:spPr>
          <a:xfrm>
            <a:off x="731520" y="1874520"/>
            <a:ext cx="512064" cy="512064"/>
          </a:xfrm>
          <a:prstGeom prst="ellipse">
            <a:avLst/>
          </a:prstGeom>
          <a:solidFill>
            <a:srgbClr val="009E73"/>
          </a:solidFill>
          <a:ln w="12700">
            <a:solidFill>
              <a:srgbClr val="009E73"/>
            </a:solidFill>
            <a:prstDash val="solid"/>
          </a:ln>
        </p:spPr>
      </p:sp>
      <p:sp>
        <p:nvSpPr>
          <p:cNvPr id="10" name="Text 7"/>
          <p:cNvSpPr/>
          <p:nvPr/>
        </p:nvSpPr>
        <p:spPr>
          <a:xfrm>
            <a:off x="731520" y="187452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Shape 8"/>
          <p:cNvSpPr/>
          <p:nvPr/>
        </p:nvSpPr>
        <p:spPr>
          <a:xfrm>
            <a:off x="1389888" y="1874520"/>
            <a:ext cx="512064" cy="512064"/>
          </a:xfrm>
          <a:prstGeom prst="ellipse">
            <a:avLst/>
          </a:prstGeom>
          <a:solidFill>
            <a:srgbClr val="009E73"/>
          </a:solidFill>
          <a:ln w="12700">
            <a:solidFill>
              <a:srgbClr val="009E73"/>
            </a:solidFill>
            <a:prstDash val="solid"/>
          </a:ln>
        </p:spPr>
      </p:sp>
      <p:sp>
        <p:nvSpPr>
          <p:cNvPr id="12" name="Text 9"/>
          <p:cNvSpPr/>
          <p:nvPr/>
        </p:nvSpPr>
        <p:spPr>
          <a:xfrm>
            <a:off x="1389888" y="187452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Shape 10"/>
          <p:cNvSpPr/>
          <p:nvPr/>
        </p:nvSpPr>
        <p:spPr>
          <a:xfrm>
            <a:off x="2048256" y="1874520"/>
            <a:ext cx="512064" cy="512064"/>
          </a:xfrm>
          <a:prstGeom prst="ellipse">
            <a:avLst/>
          </a:prstGeom>
          <a:solidFill>
            <a:srgbClr val="D55E00"/>
          </a:solidFill>
          <a:ln w="12700">
            <a:solidFill>
              <a:srgbClr val="D55E00"/>
            </a:solidFill>
            <a:prstDash val="solid"/>
          </a:ln>
        </p:spPr>
      </p:sp>
      <p:sp>
        <p:nvSpPr>
          <p:cNvPr id="14" name="Text 11"/>
          <p:cNvSpPr/>
          <p:nvPr/>
        </p:nvSpPr>
        <p:spPr>
          <a:xfrm>
            <a:off x="2048256" y="187452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Shape 12"/>
          <p:cNvSpPr/>
          <p:nvPr/>
        </p:nvSpPr>
        <p:spPr>
          <a:xfrm>
            <a:off x="2706624" y="1874520"/>
            <a:ext cx="512064" cy="512064"/>
          </a:xfrm>
          <a:prstGeom prst="ellipse">
            <a:avLst/>
          </a:prstGeom>
          <a:solidFill>
            <a:srgbClr val="009E73"/>
          </a:solidFill>
          <a:ln w="12700">
            <a:solidFill>
              <a:srgbClr val="009E73"/>
            </a:solidFill>
            <a:prstDash val="solid"/>
          </a:ln>
        </p:spPr>
      </p:sp>
      <p:sp>
        <p:nvSpPr>
          <p:cNvPr id="16" name="Text 13"/>
          <p:cNvSpPr/>
          <p:nvPr/>
        </p:nvSpPr>
        <p:spPr>
          <a:xfrm>
            <a:off x="2706624" y="187452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7" name="Shape 14"/>
          <p:cNvSpPr/>
          <p:nvPr/>
        </p:nvSpPr>
        <p:spPr>
          <a:xfrm>
            <a:off x="3364992" y="1874520"/>
            <a:ext cx="512064" cy="512064"/>
          </a:xfrm>
          <a:prstGeom prst="ellipse">
            <a:avLst/>
          </a:prstGeom>
          <a:solidFill>
            <a:srgbClr val="0072B2"/>
          </a:solidFill>
          <a:ln w="12700">
            <a:solidFill>
              <a:srgbClr val="0072B2"/>
            </a:solidFill>
            <a:prstDash val="solid"/>
          </a:ln>
        </p:spPr>
      </p:sp>
      <p:sp>
        <p:nvSpPr>
          <p:cNvPr id="18" name="Text 15"/>
          <p:cNvSpPr/>
          <p:nvPr/>
        </p:nvSpPr>
        <p:spPr>
          <a:xfrm>
            <a:off x="3364992" y="187452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9" name="Shape 16"/>
          <p:cNvSpPr/>
          <p:nvPr/>
        </p:nvSpPr>
        <p:spPr>
          <a:xfrm>
            <a:off x="4023360" y="1874520"/>
            <a:ext cx="512064" cy="512064"/>
          </a:xfrm>
          <a:prstGeom prst="ellipse">
            <a:avLst/>
          </a:prstGeom>
          <a:solidFill>
            <a:srgbClr val="009E73"/>
          </a:solidFill>
          <a:ln w="12700">
            <a:solidFill>
              <a:srgbClr val="009E73"/>
            </a:solidFill>
            <a:prstDash val="solid"/>
          </a:ln>
        </p:spPr>
      </p:sp>
      <p:sp>
        <p:nvSpPr>
          <p:cNvPr id="20" name="Text 17"/>
          <p:cNvSpPr/>
          <p:nvPr/>
        </p:nvSpPr>
        <p:spPr>
          <a:xfrm>
            <a:off x="4023360" y="187452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1" name="Shape 18"/>
          <p:cNvSpPr/>
          <p:nvPr/>
        </p:nvSpPr>
        <p:spPr>
          <a:xfrm>
            <a:off x="4681728" y="1874520"/>
            <a:ext cx="512064" cy="512064"/>
          </a:xfrm>
          <a:prstGeom prst="ellipse">
            <a:avLst/>
          </a:prstGeom>
          <a:solidFill>
            <a:srgbClr val="D55E00"/>
          </a:solidFill>
          <a:ln w="12700">
            <a:solidFill>
              <a:srgbClr val="D55E00"/>
            </a:solidFill>
            <a:prstDash val="solid"/>
          </a:ln>
        </p:spPr>
      </p:sp>
      <p:sp>
        <p:nvSpPr>
          <p:cNvPr id="22" name="Text 19"/>
          <p:cNvSpPr/>
          <p:nvPr/>
        </p:nvSpPr>
        <p:spPr>
          <a:xfrm>
            <a:off x="4681728" y="187452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3" name="Shape 20"/>
          <p:cNvSpPr/>
          <p:nvPr/>
        </p:nvSpPr>
        <p:spPr>
          <a:xfrm>
            <a:off x="5340096" y="1874520"/>
            <a:ext cx="512064" cy="512064"/>
          </a:xfrm>
          <a:prstGeom prst="ellipse">
            <a:avLst/>
          </a:prstGeom>
          <a:solidFill>
            <a:srgbClr val="009E73"/>
          </a:solidFill>
          <a:ln w="12700">
            <a:solidFill>
              <a:srgbClr val="009E73"/>
            </a:solidFill>
            <a:prstDash val="solid"/>
          </a:ln>
        </p:spPr>
      </p:sp>
      <p:sp>
        <p:nvSpPr>
          <p:cNvPr id="24" name="Text 21"/>
          <p:cNvSpPr/>
          <p:nvPr/>
        </p:nvSpPr>
        <p:spPr>
          <a:xfrm>
            <a:off x="5340096" y="187452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5" name="Shape 22"/>
          <p:cNvSpPr/>
          <p:nvPr/>
        </p:nvSpPr>
        <p:spPr>
          <a:xfrm>
            <a:off x="5998464" y="1874520"/>
            <a:ext cx="512064" cy="512064"/>
          </a:xfrm>
          <a:prstGeom prst="ellipse">
            <a:avLst/>
          </a:prstGeom>
          <a:solidFill>
            <a:srgbClr val="0072B2"/>
          </a:solidFill>
          <a:ln w="12700">
            <a:solidFill>
              <a:srgbClr val="0072B2"/>
            </a:solidFill>
            <a:prstDash val="solid"/>
          </a:ln>
        </p:spPr>
      </p:sp>
      <p:sp>
        <p:nvSpPr>
          <p:cNvPr id="26" name="Text 23"/>
          <p:cNvSpPr/>
          <p:nvPr/>
        </p:nvSpPr>
        <p:spPr>
          <a:xfrm>
            <a:off x="5998464" y="187452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7" name="Shape 24"/>
          <p:cNvSpPr/>
          <p:nvPr/>
        </p:nvSpPr>
        <p:spPr>
          <a:xfrm>
            <a:off x="6656832" y="1874520"/>
            <a:ext cx="512064" cy="512064"/>
          </a:xfrm>
          <a:prstGeom prst="ellipse">
            <a:avLst/>
          </a:prstGeom>
          <a:solidFill>
            <a:srgbClr val="009E73"/>
          </a:solidFill>
          <a:ln w="12700">
            <a:solidFill>
              <a:srgbClr val="009E73"/>
            </a:solidFill>
            <a:prstDash val="solid"/>
          </a:ln>
        </p:spPr>
      </p:sp>
      <p:sp>
        <p:nvSpPr>
          <p:cNvPr id="28" name="Text 25"/>
          <p:cNvSpPr/>
          <p:nvPr/>
        </p:nvSpPr>
        <p:spPr>
          <a:xfrm>
            <a:off x="6656832" y="187452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9" name="Shape 26"/>
          <p:cNvSpPr/>
          <p:nvPr/>
        </p:nvSpPr>
        <p:spPr>
          <a:xfrm>
            <a:off x="7406640" y="2029968"/>
            <a:ext cx="201168" cy="201168"/>
          </a:xfrm>
          <a:prstGeom prst="rect">
            <a:avLst/>
          </a:prstGeom>
          <a:solidFill>
            <a:srgbClr val="009E73"/>
          </a:solidFill>
          <a:ln w="12700">
            <a:solidFill>
              <a:srgbClr val="009E73"/>
            </a:solidFill>
            <a:prstDash val="solid"/>
          </a:ln>
        </p:spPr>
      </p:sp>
      <p:sp>
        <p:nvSpPr>
          <p:cNvPr id="30" name="Text 27"/>
          <p:cNvSpPr/>
          <p:nvPr/>
        </p:nvSpPr>
        <p:spPr>
          <a:xfrm>
            <a:off x="7680960" y="1965960"/>
            <a:ext cx="960120" cy="329184"/>
          </a:xfrm>
          <a:prstGeom prst="rect">
            <a:avLst/>
          </a:prstGeom>
          <a:noFill/>
          <a:ln/>
        </p:spPr>
        <p:txBody>
          <a:bodyPr wrap="square" lIns="0" tIns="0" rIns="0" bIns="0" rtlCol="0" anchor="ctr"/>
          <a:lstStyle/>
          <a:p>
            <a:pPr indent="0" marL="0">
              <a:buNone/>
            </a:pPr>
            <a:r>
              <a:rPr lang="en-US" sz="1300" dirty="0">
                <a:solidFill>
                  <a:srgbClr val="1B2433"/>
                </a:solidFill>
                <a:latin typeface="Calibri" pitchFamily="34" charset="0"/>
                <a:ea typeface="Calibri" pitchFamily="34" charset="-122"/>
                <a:cs typeface="Calibri" pitchFamily="34" charset="-120"/>
              </a:rPr>
              <a:t>correct (6)</a:t>
            </a:r>
            <a:endParaRPr lang="en-US" sz="1300" dirty="0"/>
          </a:p>
        </p:txBody>
      </p:sp>
      <p:sp>
        <p:nvSpPr>
          <p:cNvPr id="31" name="Shape 28"/>
          <p:cNvSpPr/>
          <p:nvPr/>
        </p:nvSpPr>
        <p:spPr>
          <a:xfrm>
            <a:off x="8869680" y="2029968"/>
            <a:ext cx="201168" cy="201168"/>
          </a:xfrm>
          <a:prstGeom prst="rect">
            <a:avLst/>
          </a:prstGeom>
          <a:solidFill>
            <a:srgbClr val="D55E00"/>
          </a:solidFill>
          <a:ln w="12700">
            <a:solidFill>
              <a:srgbClr val="D55E00"/>
            </a:solidFill>
            <a:prstDash val="solid"/>
          </a:ln>
        </p:spPr>
      </p:sp>
      <p:sp>
        <p:nvSpPr>
          <p:cNvPr id="32" name="Text 29"/>
          <p:cNvSpPr/>
          <p:nvPr/>
        </p:nvSpPr>
        <p:spPr>
          <a:xfrm>
            <a:off x="9144000" y="1965960"/>
            <a:ext cx="960120" cy="329184"/>
          </a:xfrm>
          <a:prstGeom prst="rect">
            <a:avLst/>
          </a:prstGeom>
          <a:noFill/>
          <a:ln/>
        </p:spPr>
        <p:txBody>
          <a:bodyPr wrap="square" lIns="0" tIns="0" rIns="0" bIns="0" rtlCol="0" anchor="ctr"/>
          <a:lstStyle/>
          <a:p>
            <a:pPr indent="0" marL="0">
              <a:buNone/>
            </a:pPr>
            <a:r>
              <a:rPr lang="en-US" sz="1300" dirty="0">
                <a:solidFill>
                  <a:srgbClr val="1B2433"/>
                </a:solidFill>
                <a:latin typeface="Calibri" pitchFamily="34" charset="0"/>
                <a:ea typeface="Calibri" pitchFamily="34" charset="-122"/>
                <a:cs typeface="Calibri" pitchFamily="34" charset="-120"/>
              </a:rPr>
              <a:t>wrong (2)</a:t>
            </a:r>
            <a:endParaRPr lang="en-US" sz="1300" dirty="0"/>
          </a:p>
        </p:txBody>
      </p:sp>
      <p:sp>
        <p:nvSpPr>
          <p:cNvPr id="33" name="Shape 30"/>
          <p:cNvSpPr/>
          <p:nvPr/>
        </p:nvSpPr>
        <p:spPr>
          <a:xfrm>
            <a:off x="10332720" y="2029968"/>
            <a:ext cx="201168" cy="201168"/>
          </a:xfrm>
          <a:prstGeom prst="rect">
            <a:avLst/>
          </a:prstGeom>
          <a:solidFill>
            <a:srgbClr val="0072B2"/>
          </a:solidFill>
          <a:ln w="12700">
            <a:solidFill>
              <a:srgbClr val="0072B2"/>
            </a:solidFill>
            <a:prstDash val="solid"/>
          </a:ln>
        </p:spPr>
      </p:sp>
      <p:sp>
        <p:nvSpPr>
          <p:cNvPr id="34" name="Text 31"/>
          <p:cNvSpPr/>
          <p:nvPr/>
        </p:nvSpPr>
        <p:spPr>
          <a:xfrm>
            <a:off x="10607040" y="1965960"/>
            <a:ext cx="960120" cy="329184"/>
          </a:xfrm>
          <a:prstGeom prst="rect">
            <a:avLst/>
          </a:prstGeom>
          <a:noFill/>
          <a:ln/>
        </p:spPr>
        <p:txBody>
          <a:bodyPr wrap="square" lIns="0" tIns="0" rIns="0" bIns="0" rtlCol="0" anchor="ctr"/>
          <a:lstStyle/>
          <a:p>
            <a:pPr indent="0" marL="0">
              <a:buNone/>
            </a:pPr>
            <a:r>
              <a:rPr lang="en-US" sz="1300" dirty="0">
                <a:solidFill>
                  <a:srgbClr val="1B2433"/>
                </a:solidFill>
                <a:latin typeface="Calibri" pitchFamily="34" charset="0"/>
                <a:ea typeface="Calibri" pitchFamily="34" charset="-122"/>
                <a:cs typeface="Calibri" pitchFamily="34" charset="-120"/>
              </a:rPr>
              <a:t>avoidant (2)</a:t>
            </a:r>
            <a:endParaRPr lang="en-US" sz="1300" dirty="0"/>
          </a:p>
        </p:txBody>
      </p:sp>
      <p:sp>
        <p:nvSpPr>
          <p:cNvPr id="35" name="Shape 32"/>
          <p:cNvSpPr/>
          <p:nvPr/>
        </p:nvSpPr>
        <p:spPr>
          <a:xfrm>
            <a:off x="548640" y="2788920"/>
            <a:ext cx="5394960" cy="1600200"/>
          </a:xfrm>
          <a:prstGeom prst="roundRect">
            <a:avLst>
              <a:gd name="adj" fmla="val 4571"/>
            </a:avLst>
          </a:prstGeom>
          <a:solidFill>
            <a:srgbClr val="F2F4F8"/>
          </a:solidFill>
          <a:ln w="12700">
            <a:solidFill>
              <a:srgbClr val="F2F4F8"/>
            </a:solidFill>
            <a:prstDash val="solid"/>
          </a:ln>
        </p:spPr>
      </p:sp>
      <p:sp>
        <p:nvSpPr>
          <p:cNvPr id="36" name="Text 33"/>
          <p:cNvSpPr/>
          <p:nvPr/>
        </p:nvSpPr>
        <p:spPr>
          <a:xfrm>
            <a:off x="749808" y="2935224"/>
            <a:ext cx="4992624" cy="411480"/>
          </a:xfrm>
          <a:prstGeom prst="rect">
            <a:avLst/>
          </a:prstGeom>
          <a:noFill/>
          <a:ln/>
        </p:spPr>
        <p:txBody>
          <a:bodyPr wrap="square" lIns="0" tIns="0" rIns="0" bIns="0" rtlCol="0" anchor="t"/>
          <a:lstStyle/>
          <a:p>
            <a:pPr indent="0" marL="0">
              <a:buNone/>
            </a:pPr>
            <a:r>
              <a:rPr lang="en-US" sz="2000" b="1" dirty="0">
                <a:solidFill>
                  <a:srgbClr val="1B2433"/>
                </a:solidFill>
                <a:latin typeface="Calibri" pitchFamily="34" charset="0"/>
                <a:ea typeface="Calibri" pitchFamily="34" charset="-122"/>
                <a:cs typeface="Calibri" pitchFamily="34" charset="-120"/>
              </a:rPr>
              <a:t>Commitment = 8 / 10 = 80%</a:t>
            </a:r>
            <a:endParaRPr lang="en-US" sz="2000" dirty="0"/>
          </a:p>
        </p:txBody>
      </p:sp>
      <p:sp>
        <p:nvSpPr>
          <p:cNvPr id="37" name="Text 34"/>
          <p:cNvSpPr/>
          <p:nvPr/>
        </p:nvSpPr>
        <p:spPr>
          <a:xfrm>
            <a:off x="749808" y="3346704"/>
            <a:ext cx="4992624" cy="896112"/>
          </a:xfrm>
          <a:prstGeom prst="rect">
            <a:avLst/>
          </a:prstGeom>
          <a:noFill/>
          <a:ln/>
        </p:spPr>
        <p:txBody>
          <a:bodyPr wrap="square" lIns="0" tIns="0" rIns="0" bIns="0" rtlCol="0" anchor="t"/>
          <a:lstStyle/>
          <a:p>
            <a:pPr indent="0" marL="0">
              <a:spcAft>
                <a:spcPts val="500"/>
              </a:spcAft>
              <a:buNone/>
            </a:pPr>
            <a:r>
              <a:rPr lang="en-US" sz="1600" dirty="0">
                <a:solidFill>
                  <a:srgbClr val="1B2433"/>
                </a:solidFill>
                <a:latin typeface="Calibri" pitchFamily="34" charset="0"/>
                <a:ea typeface="Calibri" pitchFamily="34" charset="-122"/>
                <a:cs typeface="Calibri" pitchFamily="34" charset="-120"/>
              </a:rPr>
              <a:t>Share of items where the system </a:t>
            </a:r>
            <a:r>
              <a:rPr lang="en-US" sz="1600" b="1" dirty="0">
                <a:solidFill>
                  <a:srgbClr val="1B2433"/>
                </a:solidFill>
                <a:latin typeface="Calibri" pitchFamily="34" charset="0"/>
                <a:ea typeface="Calibri" pitchFamily="34" charset="-122"/>
                <a:cs typeface="Calibri" pitchFamily="34" charset="-120"/>
              </a:rPr>
              <a:t>chose a value</a:t>
            </a:r>
            <a:r>
              <a:rPr lang="en-US" sz="1600" dirty="0">
                <a:solidFill>
                  <a:srgbClr val="1B2433"/>
                </a:solidFill>
                <a:latin typeface="Calibri" pitchFamily="34" charset="0"/>
                <a:ea typeface="Calibri" pitchFamily="34" charset="-122"/>
                <a:cs typeface="Calibri" pitchFamily="34" charset="-120"/>
              </a:rPr>
              <a:t> (correct + wrong). Avoidant and unparsed do not count as choices.</a:t>
            </a:r>
            <a:endParaRPr lang="en-US" sz="1600" dirty="0"/>
          </a:p>
        </p:txBody>
      </p:sp>
      <p:sp>
        <p:nvSpPr>
          <p:cNvPr id="38" name="Shape 35"/>
          <p:cNvSpPr/>
          <p:nvPr/>
        </p:nvSpPr>
        <p:spPr>
          <a:xfrm>
            <a:off x="6217920" y="2788920"/>
            <a:ext cx="5394960" cy="1600200"/>
          </a:xfrm>
          <a:prstGeom prst="roundRect">
            <a:avLst>
              <a:gd name="adj" fmla="val 4571"/>
            </a:avLst>
          </a:prstGeom>
          <a:solidFill>
            <a:srgbClr val="F2F4F8"/>
          </a:solidFill>
          <a:ln w="12700">
            <a:solidFill>
              <a:srgbClr val="F2F4F8"/>
            </a:solidFill>
            <a:prstDash val="solid"/>
          </a:ln>
        </p:spPr>
      </p:sp>
      <p:sp>
        <p:nvSpPr>
          <p:cNvPr id="39" name="Text 36"/>
          <p:cNvSpPr/>
          <p:nvPr/>
        </p:nvSpPr>
        <p:spPr>
          <a:xfrm>
            <a:off x="6419088" y="2935224"/>
            <a:ext cx="4992624" cy="411480"/>
          </a:xfrm>
          <a:prstGeom prst="rect">
            <a:avLst/>
          </a:prstGeom>
          <a:noFill/>
          <a:ln/>
        </p:spPr>
        <p:txBody>
          <a:bodyPr wrap="square" lIns="0" tIns="0" rIns="0" bIns="0" rtlCol="0" anchor="t"/>
          <a:lstStyle/>
          <a:p>
            <a:pPr indent="0" marL="0">
              <a:buNone/>
            </a:pPr>
            <a:r>
              <a:rPr lang="en-US" sz="2000" b="1" dirty="0">
                <a:solidFill>
                  <a:srgbClr val="1B2433"/>
                </a:solidFill>
                <a:latin typeface="Calibri" pitchFamily="34" charset="0"/>
                <a:ea typeface="Calibri" pitchFamily="34" charset="-122"/>
                <a:cs typeface="Calibri" pitchFamily="34" charset="-120"/>
              </a:rPr>
              <a:t>Accuracy = 6 / 8 = 75%</a:t>
            </a:r>
            <a:endParaRPr lang="en-US" sz="2000" dirty="0"/>
          </a:p>
        </p:txBody>
      </p:sp>
      <p:sp>
        <p:nvSpPr>
          <p:cNvPr id="40" name="Text 37"/>
          <p:cNvSpPr/>
          <p:nvPr/>
        </p:nvSpPr>
        <p:spPr>
          <a:xfrm>
            <a:off x="6419088" y="3346704"/>
            <a:ext cx="4992624" cy="896112"/>
          </a:xfrm>
          <a:prstGeom prst="rect">
            <a:avLst/>
          </a:prstGeom>
          <a:noFill/>
          <a:ln/>
        </p:spPr>
        <p:txBody>
          <a:bodyPr wrap="square" lIns="0" tIns="0" rIns="0" bIns="0" rtlCol="0" anchor="t"/>
          <a:lstStyle/>
          <a:p>
            <a:pPr indent="0" marL="0">
              <a:spcAft>
                <a:spcPts val="500"/>
              </a:spcAft>
              <a:buNone/>
            </a:pPr>
            <a:r>
              <a:rPr lang="en-US" sz="1600" dirty="0">
                <a:solidFill>
                  <a:srgbClr val="1B2433"/>
                </a:solidFill>
                <a:latin typeface="Calibri" pitchFamily="34" charset="0"/>
                <a:ea typeface="Calibri" pitchFamily="34" charset="-122"/>
                <a:cs typeface="Calibri" pitchFamily="34" charset="-120"/>
              </a:rPr>
              <a:t>Among the items where it </a:t>
            </a:r>
            <a:r>
              <a:rPr lang="en-US" sz="1600" b="1" dirty="0">
                <a:solidFill>
                  <a:srgbClr val="1B2433"/>
                </a:solidFill>
                <a:latin typeface="Calibri" pitchFamily="34" charset="0"/>
                <a:ea typeface="Calibri" pitchFamily="34" charset="-122"/>
                <a:cs typeface="Calibri" pitchFamily="34" charset="-120"/>
              </a:rPr>
              <a:t>did</a:t>
            </a:r>
            <a:r>
              <a:rPr lang="en-US" sz="1600" dirty="0">
                <a:solidFill>
                  <a:srgbClr val="1B2433"/>
                </a:solidFill>
                <a:latin typeface="Calibri" pitchFamily="34" charset="0"/>
                <a:ea typeface="Calibri" pitchFamily="34" charset="-122"/>
                <a:cs typeface="Calibri" pitchFamily="34" charset="-120"/>
              </a:rPr>
              <a:t> choose, the share it got </a:t>
            </a:r>
            <a:r>
              <a:rPr lang="en-US" sz="1600" b="1" dirty="0">
                <a:solidFill>
                  <a:srgbClr val="1B2433"/>
                </a:solidFill>
                <a:latin typeface="Calibri" pitchFamily="34" charset="0"/>
                <a:ea typeface="Calibri" pitchFamily="34" charset="-122"/>
                <a:cs typeface="Calibri" pitchFamily="34" charset="-120"/>
              </a:rPr>
              <a:t>right</a:t>
            </a:r>
            <a:r>
              <a:rPr lang="en-US" sz="1600" dirty="0">
                <a:solidFill>
                  <a:srgbClr val="1B2433"/>
                </a:solidFill>
                <a:latin typeface="Calibri" pitchFamily="34" charset="0"/>
                <a:ea typeface="Calibri" pitchFamily="34" charset="-122"/>
                <a:cs typeface="Calibri" pitchFamily="34" charset="-120"/>
              </a:rPr>
              <a:t>. Computed only over committed items.</a:t>
            </a:r>
            <a:endParaRPr lang="en-US" sz="1600" dirty="0"/>
          </a:p>
        </p:txBody>
      </p:sp>
      <p:sp>
        <p:nvSpPr>
          <p:cNvPr id="41" name="Shape 38"/>
          <p:cNvSpPr/>
          <p:nvPr/>
        </p:nvSpPr>
        <p:spPr>
          <a:xfrm>
            <a:off x="548640" y="4617720"/>
            <a:ext cx="11064240" cy="777240"/>
          </a:xfrm>
          <a:prstGeom prst="roundRect">
            <a:avLst>
              <a:gd name="adj" fmla="val 9412"/>
            </a:avLst>
          </a:prstGeom>
          <a:solidFill>
            <a:srgbClr val="FBEBD2"/>
          </a:solidFill>
          <a:ln w="12700">
            <a:solidFill>
              <a:srgbClr val="E39B2D"/>
            </a:solidFill>
            <a:prstDash val="solid"/>
          </a:ln>
        </p:spPr>
      </p:sp>
      <p:sp>
        <p:nvSpPr>
          <p:cNvPr id="42" name="Text 39"/>
          <p:cNvSpPr/>
          <p:nvPr/>
        </p:nvSpPr>
        <p:spPr>
          <a:xfrm>
            <a:off x="777240" y="4617720"/>
            <a:ext cx="10607040" cy="77724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Keeping them apart shows when context makes systems </a:t>
            </a:r>
            <a:r>
              <a:rPr lang="en-US" sz="1500" b="1" dirty="0">
                <a:solidFill>
                  <a:srgbClr val="1B2433"/>
                </a:solidFill>
                <a:latin typeface="Calibri" pitchFamily="34" charset="0"/>
                <a:ea typeface="Calibri" pitchFamily="34" charset="-122"/>
                <a:cs typeface="Calibri" pitchFamily="34" charset="-120"/>
              </a:rPr>
              <a:t>commit more</a:t>
            </a:r>
            <a:r>
              <a:rPr lang="en-US" sz="1500" dirty="0">
                <a:solidFill>
                  <a:srgbClr val="1B2433"/>
                </a:solidFill>
                <a:latin typeface="Calibri" pitchFamily="34" charset="0"/>
                <a:ea typeface="Calibri" pitchFamily="34" charset="-122"/>
                <a:cs typeface="Calibri" pitchFamily="34" charset="-120"/>
              </a:rPr>
              <a:t> but </a:t>
            </a:r>
            <a:r>
              <a:rPr lang="en-US" sz="1500" b="1" dirty="0">
                <a:solidFill>
                  <a:srgbClr val="1B2433"/>
                </a:solidFill>
                <a:latin typeface="Calibri" pitchFamily="34" charset="0"/>
                <a:ea typeface="Calibri" pitchFamily="34" charset="-122"/>
                <a:cs typeface="Calibri" pitchFamily="34" charset="-120"/>
              </a:rPr>
              <a:t>get it right less</a:t>
            </a:r>
            <a:r>
              <a:rPr lang="en-US" sz="1500" dirty="0">
                <a:solidFill>
                  <a:srgbClr val="1B2433"/>
                </a:solidFill>
                <a:latin typeface="Calibri" pitchFamily="34" charset="0"/>
                <a:ea typeface="Calibri" pitchFamily="34" charset="-122"/>
                <a:cs typeface="Calibri" pitchFamily="34" charset="-120"/>
              </a:rPr>
              <a:t> (section 7). A </a:t>
            </a:r>
            <a:r>
              <a:rPr lang="en-US" sz="1500" b="1" dirty="0">
                <a:solidFill>
                  <a:srgbClr val="1B2433"/>
                </a:solidFill>
                <a:latin typeface="Calibri" pitchFamily="34" charset="0"/>
                <a:ea typeface="Calibri" pitchFamily="34" charset="-122"/>
                <a:cs typeface="Calibri" pitchFamily="34" charset="-120"/>
              </a:rPr>
              <a:t>cell</a:t>
            </a:r>
            <a:r>
              <a:rPr lang="en-US" sz="1500" dirty="0">
                <a:solidFill>
                  <a:srgbClr val="1B2433"/>
                </a:solidFill>
                <a:latin typeface="Calibri" pitchFamily="34" charset="0"/>
                <a:ea typeface="Calibri" pitchFamily="34" charset="-122"/>
                <a:cs typeface="Calibri" pitchFamily="34" charset="-120"/>
              </a:rPr>
              <a:t> = one system × one slot × one condition; if under 30 items in a cell had a choice, we print </a:t>
            </a:r>
            <a:r>
              <a:rPr lang="en-US" sz="1500" b="1" dirty="0">
                <a:solidFill>
                  <a:srgbClr val="1B2433"/>
                </a:solidFill>
                <a:latin typeface="Calibri" pitchFamily="34" charset="0"/>
                <a:ea typeface="Calibri" pitchFamily="34" charset="-122"/>
                <a:cs typeface="Calibri" pitchFamily="34" charset="-120"/>
              </a:rPr>
              <a:t>n/a</a:t>
            </a:r>
            <a:r>
              <a:rPr lang="en-US" sz="1500" dirty="0">
                <a:solidFill>
                  <a:srgbClr val="1B2433"/>
                </a:solidFill>
                <a:latin typeface="Calibri" pitchFamily="34" charset="0"/>
                <a:ea typeface="Calibri" pitchFamily="34" charset="-122"/>
                <a:cs typeface="Calibri" pitchFamily="34" charset="-120"/>
              </a:rPr>
              <a:t> (too few to trust).</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286000"/>
            <a:ext cx="1371600" cy="1097280"/>
          </a:xfrm>
          <a:prstGeom prst="roundRect">
            <a:avLst>
              <a:gd name="adj" fmla="val 10000"/>
            </a:avLst>
          </a:prstGeom>
          <a:solidFill>
            <a:srgbClr val="14213D"/>
          </a:solidFill>
          <a:ln w="31750">
            <a:solidFill>
              <a:srgbClr val="E39B2D"/>
            </a:solidFill>
            <a:prstDash val="dash"/>
          </a:ln>
        </p:spPr>
      </p:sp>
      <p:sp>
        <p:nvSpPr>
          <p:cNvPr id="3" name="Text 1"/>
          <p:cNvSpPr/>
          <p:nvPr/>
        </p:nvSpPr>
        <p:spPr>
          <a:xfrm>
            <a:off x="822960" y="2286000"/>
            <a:ext cx="1371600" cy="1097280"/>
          </a:xfrm>
          <a:prstGeom prst="rect">
            <a:avLst/>
          </a:prstGeom>
          <a:noFill/>
          <a:ln/>
        </p:spPr>
        <p:txBody>
          <a:bodyPr wrap="square" lIns="0" tIns="0" rIns="0" bIns="0" rtlCol="0" anchor="ctr"/>
          <a:lstStyle/>
          <a:p>
            <a:pPr algn="ctr" indent="0" marL="0">
              <a:buNone/>
            </a:pPr>
            <a:r>
              <a:rPr lang="en-US" sz="4800" b="1" dirty="0">
                <a:solidFill>
                  <a:srgbClr val="E39B2D"/>
                </a:solidFill>
                <a:latin typeface="Calibri" pitchFamily="34" charset="0"/>
                <a:ea typeface="Calibri" pitchFamily="34" charset="-122"/>
                <a:cs typeface="Calibri" pitchFamily="34" charset="-120"/>
              </a:rPr>
              <a:t>4</a:t>
            </a:r>
            <a:endParaRPr lang="en-US" sz="4800" dirty="0"/>
          </a:p>
        </p:txBody>
      </p:sp>
      <p:sp>
        <p:nvSpPr>
          <p:cNvPr id="4" name="Text 2"/>
          <p:cNvSpPr/>
          <p:nvPr/>
        </p:nvSpPr>
        <p:spPr>
          <a:xfrm>
            <a:off x="2560320" y="1097280"/>
            <a:ext cx="9052560" cy="1965960"/>
          </a:xfrm>
          <a:prstGeom prst="rect">
            <a:avLst/>
          </a:prstGeom>
          <a:noFill/>
          <a:ln/>
        </p:spPr>
        <p:txBody>
          <a:bodyPr wrap="square" lIns="0" tIns="0" rIns="0" bIns="0" rtlCol="0" anchor="b"/>
          <a:lstStyle/>
          <a:p>
            <a:pPr indent="0" marL="0">
              <a:buNone/>
            </a:pPr>
            <a:r>
              <a:rPr lang="en-US" sz="3600" b="1" dirty="0">
                <a:solidFill>
                  <a:srgbClr val="FFFFFF"/>
                </a:solidFill>
                <a:latin typeface="Georgia" pitchFamily="34" charset="0"/>
                <a:ea typeface="Georgia" pitchFamily="34" charset="-122"/>
                <a:cs typeface="Georgia" pitchFamily="34" charset="-120"/>
              </a:rPr>
              <a:t>The experiment</a:t>
            </a:r>
            <a:endParaRPr lang="en-US" sz="3600" dirty="0"/>
          </a:p>
        </p:txBody>
      </p:sp>
      <p:sp>
        <p:nvSpPr>
          <p:cNvPr id="5" name="Text 3"/>
          <p:cNvSpPr/>
          <p:nvPr/>
        </p:nvSpPr>
        <p:spPr>
          <a:xfrm>
            <a:off x="2560320" y="3246120"/>
            <a:ext cx="9052560" cy="1280160"/>
          </a:xfrm>
          <a:prstGeom prst="rect">
            <a:avLst/>
          </a:prstGeom>
          <a:noFill/>
          <a:ln/>
        </p:spPr>
        <p:txBody>
          <a:bodyPr wrap="square" lIns="0" tIns="0" rIns="0" bIns="0" rtlCol="0" anchor="t"/>
          <a:lstStyle/>
          <a:p>
            <a:pPr indent="0" marL="0">
              <a:buNone/>
            </a:pPr>
            <a:r>
              <a:rPr lang="en-US" sz="1800" dirty="0">
                <a:solidFill>
                  <a:srgbClr val="C9D2E3"/>
                </a:solidFill>
                <a:latin typeface="Calibri" pitchFamily="34" charset="0"/>
                <a:ea typeface="Calibri" pitchFamily="34" charset="-122"/>
                <a:cs typeface="Calibri" pitchFamily="34" charset="-120"/>
              </a:rPr>
              <a:t>13 translation systems, fixed prompts, and a corpus baseline for the cue-free case.</a:t>
            </a:r>
            <a:endParaRPr lang="en-US" sz="1800" dirty="0"/>
          </a:p>
        </p:txBody>
      </p:sp>
      <p:sp>
        <p:nvSpPr>
          <p:cNvPr id="6" name="Text 4"/>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7D8AA5"/>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4</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EXPERIMENT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First: what kind of translation systems are these?</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37</a:t>
            </a:r>
            <a:endParaRPr lang="en-US" sz="900" dirty="0"/>
          </a:p>
        </p:txBody>
      </p:sp>
      <p:sp>
        <p:nvSpPr>
          <p:cNvPr id="9" name="Shape 6"/>
          <p:cNvSpPr/>
          <p:nvPr/>
        </p:nvSpPr>
        <p:spPr>
          <a:xfrm>
            <a:off x="548640" y="1737360"/>
            <a:ext cx="3566160" cy="1874520"/>
          </a:xfrm>
          <a:prstGeom prst="roundRect">
            <a:avLst>
              <a:gd name="adj" fmla="val 3902"/>
            </a:avLst>
          </a:prstGeom>
          <a:solidFill>
            <a:srgbClr val="F2F4F8"/>
          </a:solidFill>
          <a:ln w="12700">
            <a:solidFill>
              <a:srgbClr val="F2F4F8"/>
            </a:solidFill>
            <a:prstDash val="solid"/>
          </a:ln>
        </p:spPr>
      </p:sp>
      <p:sp>
        <p:nvSpPr>
          <p:cNvPr id="10" name="Text 7"/>
          <p:cNvSpPr/>
          <p:nvPr/>
        </p:nvSpPr>
        <p:spPr>
          <a:xfrm>
            <a:off x="749808" y="1883664"/>
            <a:ext cx="3163824" cy="411480"/>
          </a:xfrm>
          <a:prstGeom prst="rect">
            <a:avLst/>
          </a:prstGeom>
          <a:noFill/>
          <a:ln/>
        </p:spPr>
        <p:txBody>
          <a:bodyPr wrap="square" lIns="0" tIns="0" rIns="0" bIns="0" rtlCol="0" anchor="t"/>
          <a:lstStyle/>
          <a:p>
            <a:pPr indent="0" marL="0">
              <a:buNone/>
            </a:pPr>
            <a:r>
              <a:rPr lang="en-US" sz="1800" b="1" dirty="0">
                <a:solidFill>
                  <a:srgbClr val="1B2433"/>
                </a:solidFill>
                <a:latin typeface="Calibri" pitchFamily="34" charset="0"/>
                <a:ea typeface="Calibri" pitchFamily="34" charset="-122"/>
                <a:cs typeface="Calibri" pitchFamily="34" charset="-120"/>
              </a:rPr>
              <a:t>Language model (LLM)</a:t>
            </a:r>
            <a:endParaRPr lang="en-US" sz="1800" dirty="0"/>
          </a:p>
        </p:txBody>
      </p:sp>
      <p:sp>
        <p:nvSpPr>
          <p:cNvPr id="11" name="Text 8"/>
          <p:cNvSpPr/>
          <p:nvPr/>
        </p:nvSpPr>
        <p:spPr>
          <a:xfrm>
            <a:off x="749808" y="2295144"/>
            <a:ext cx="3163824" cy="117043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A large </a:t>
            </a:r>
            <a:r>
              <a:rPr lang="en-US" sz="1500" b="1" dirty="0">
                <a:solidFill>
                  <a:srgbClr val="1B2433"/>
                </a:solidFill>
                <a:latin typeface="Calibri" pitchFamily="34" charset="0"/>
                <a:ea typeface="Calibri" pitchFamily="34" charset="-122"/>
                <a:cs typeface="Calibri" pitchFamily="34" charset="-120"/>
              </a:rPr>
              <a:t>neural network</a:t>
            </a:r>
            <a:r>
              <a:rPr lang="en-US" sz="1500" dirty="0">
                <a:solidFill>
                  <a:srgbClr val="1B2433"/>
                </a:solidFill>
                <a:latin typeface="Calibri" pitchFamily="34" charset="0"/>
                <a:ea typeface="Calibri" pitchFamily="34" charset="-122"/>
                <a:cs typeface="Calibri" pitchFamily="34" charset="-120"/>
              </a:rPr>
              <a:t> trained on huge amounts of text. It continues text, and translates when asked.</a:t>
            </a:r>
            <a:endParaRPr lang="en-US" sz="1500" dirty="0"/>
          </a:p>
        </p:txBody>
      </p:sp>
      <p:sp>
        <p:nvSpPr>
          <p:cNvPr id="12" name="Shape 9"/>
          <p:cNvSpPr/>
          <p:nvPr/>
        </p:nvSpPr>
        <p:spPr>
          <a:xfrm>
            <a:off x="4297680" y="1737360"/>
            <a:ext cx="3566160" cy="1874520"/>
          </a:xfrm>
          <a:prstGeom prst="roundRect">
            <a:avLst>
              <a:gd name="adj" fmla="val 3902"/>
            </a:avLst>
          </a:prstGeom>
          <a:solidFill>
            <a:srgbClr val="F2F4F8"/>
          </a:solidFill>
          <a:ln w="12700">
            <a:solidFill>
              <a:srgbClr val="F2F4F8"/>
            </a:solidFill>
            <a:prstDash val="solid"/>
          </a:ln>
        </p:spPr>
      </p:sp>
      <p:sp>
        <p:nvSpPr>
          <p:cNvPr id="13" name="Text 10"/>
          <p:cNvSpPr/>
          <p:nvPr/>
        </p:nvSpPr>
        <p:spPr>
          <a:xfrm>
            <a:off x="4498848" y="1883664"/>
            <a:ext cx="3163824" cy="411480"/>
          </a:xfrm>
          <a:prstGeom prst="rect">
            <a:avLst/>
          </a:prstGeom>
          <a:noFill/>
          <a:ln/>
        </p:spPr>
        <p:txBody>
          <a:bodyPr wrap="square" lIns="0" tIns="0" rIns="0" bIns="0" rtlCol="0" anchor="t"/>
          <a:lstStyle/>
          <a:p>
            <a:pPr indent="0" marL="0">
              <a:buNone/>
            </a:pPr>
            <a:r>
              <a:rPr lang="en-US" sz="1800" b="1" dirty="0">
                <a:solidFill>
                  <a:srgbClr val="1B2433"/>
                </a:solidFill>
                <a:latin typeface="Calibri" pitchFamily="34" charset="0"/>
                <a:ea typeface="Calibri" pitchFamily="34" charset="-122"/>
                <a:cs typeface="Calibri" pitchFamily="34" charset="-120"/>
              </a:rPr>
              <a:t>Prompt</a:t>
            </a:r>
            <a:endParaRPr lang="en-US" sz="1800" dirty="0"/>
          </a:p>
        </p:txBody>
      </p:sp>
      <p:sp>
        <p:nvSpPr>
          <p:cNvPr id="14" name="Text 11"/>
          <p:cNvSpPr/>
          <p:nvPr/>
        </p:nvSpPr>
        <p:spPr>
          <a:xfrm>
            <a:off x="4498848" y="2295144"/>
            <a:ext cx="3163824" cy="117043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The instruction we give it, e.g. </a:t>
            </a:r>
            <a:r>
              <a:rPr lang="en-US" sz="1500" b="1" dirty="0">
                <a:solidFill>
                  <a:srgbClr val="1B2433"/>
                </a:solidFill>
                <a:latin typeface="Calibri" pitchFamily="34" charset="0"/>
                <a:ea typeface="Calibri" pitchFamily="34" charset="-122"/>
                <a:cs typeface="Calibri" pitchFamily="34" charset="-120"/>
              </a:rPr>
              <a:t>"Translate the following English sentence into Tamil."</a:t>
            </a:r>
            <a:endParaRPr lang="en-US" sz="1500" dirty="0"/>
          </a:p>
        </p:txBody>
      </p:sp>
      <p:sp>
        <p:nvSpPr>
          <p:cNvPr id="15" name="Shape 12"/>
          <p:cNvSpPr/>
          <p:nvPr/>
        </p:nvSpPr>
        <p:spPr>
          <a:xfrm>
            <a:off x="8046720" y="1737360"/>
            <a:ext cx="3566160" cy="1874520"/>
          </a:xfrm>
          <a:prstGeom prst="roundRect">
            <a:avLst>
              <a:gd name="adj" fmla="val 3902"/>
            </a:avLst>
          </a:prstGeom>
          <a:solidFill>
            <a:srgbClr val="F2F4F8"/>
          </a:solidFill>
          <a:ln w="12700">
            <a:solidFill>
              <a:srgbClr val="F2F4F8"/>
            </a:solidFill>
            <a:prstDash val="solid"/>
          </a:ln>
        </p:spPr>
      </p:sp>
      <p:sp>
        <p:nvSpPr>
          <p:cNvPr id="16" name="Text 13"/>
          <p:cNvSpPr/>
          <p:nvPr/>
        </p:nvSpPr>
        <p:spPr>
          <a:xfrm>
            <a:off x="8247888" y="1883664"/>
            <a:ext cx="3163824" cy="411480"/>
          </a:xfrm>
          <a:prstGeom prst="rect">
            <a:avLst/>
          </a:prstGeom>
          <a:noFill/>
          <a:ln/>
        </p:spPr>
        <p:txBody>
          <a:bodyPr wrap="square" lIns="0" tIns="0" rIns="0" bIns="0" rtlCol="0" anchor="t"/>
          <a:lstStyle/>
          <a:p>
            <a:pPr indent="0" marL="0">
              <a:buNone/>
            </a:pPr>
            <a:r>
              <a:rPr lang="en-US" sz="1800" b="1" dirty="0">
                <a:solidFill>
                  <a:srgbClr val="1B2433"/>
                </a:solidFill>
                <a:latin typeface="Calibri" pitchFamily="34" charset="0"/>
                <a:ea typeface="Calibri" pitchFamily="34" charset="-122"/>
                <a:cs typeface="Calibri" pitchFamily="34" charset="-120"/>
              </a:rPr>
              <a:t>Parameters (1B, 4B, …)</a:t>
            </a:r>
            <a:endParaRPr lang="en-US" sz="1800" dirty="0"/>
          </a:p>
        </p:txBody>
      </p:sp>
      <p:sp>
        <p:nvSpPr>
          <p:cNvPr id="17" name="Text 14"/>
          <p:cNvSpPr/>
          <p:nvPr/>
        </p:nvSpPr>
        <p:spPr>
          <a:xfrm>
            <a:off x="8247888" y="2295144"/>
            <a:ext cx="3163824" cy="117043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The numbers inside the network, learned in training. </a:t>
            </a:r>
            <a:r>
              <a:rPr lang="en-US" sz="1500" b="1" dirty="0">
                <a:solidFill>
                  <a:srgbClr val="1B2433"/>
                </a:solidFill>
                <a:latin typeface="Calibri" pitchFamily="34" charset="0"/>
                <a:ea typeface="Calibri" pitchFamily="34" charset="-122"/>
                <a:cs typeface="Calibri" pitchFamily="34" charset="-120"/>
              </a:rPr>
              <a:t>4B ≈ 4 billion</a:t>
            </a:r>
            <a:r>
              <a:rPr lang="en-US" sz="1500" dirty="0">
                <a:solidFill>
                  <a:srgbClr val="1B2433"/>
                </a:solidFill>
                <a:latin typeface="Calibri" pitchFamily="34" charset="0"/>
                <a:ea typeface="Calibri" pitchFamily="34" charset="-122"/>
                <a:cs typeface="Calibri" pitchFamily="34" charset="-120"/>
              </a:rPr>
              <a:t>: a rough measure of size.</a:t>
            </a:r>
            <a:endParaRPr lang="en-US" sz="1500" dirty="0"/>
          </a:p>
        </p:txBody>
      </p:sp>
      <p:sp>
        <p:nvSpPr>
          <p:cNvPr id="18" name="Shape 15"/>
          <p:cNvSpPr/>
          <p:nvPr/>
        </p:nvSpPr>
        <p:spPr>
          <a:xfrm>
            <a:off x="548640" y="3794760"/>
            <a:ext cx="3566160" cy="1874520"/>
          </a:xfrm>
          <a:prstGeom prst="roundRect">
            <a:avLst>
              <a:gd name="adj" fmla="val 3902"/>
            </a:avLst>
          </a:prstGeom>
          <a:solidFill>
            <a:srgbClr val="F2F4F8"/>
          </a:solidFill>
          <a:ln w="12700">
            <a:solidFill>
              <a:srgbClr val="F2F4F8"/>
            </a:solidFill>
            <a:prstDash val="solid"/>
          </a:ln>
        </p:spPr>
      </p:sp>
      <p:sp>
        <p:nvSpPr>
          <p:cNvPr id="19" name="Text 16"/>
          <p:cNvSpPr/>
          <p:nvPr/>
        </p:nvSpPr>
        <p:spPr>
          <a:xfrm>
            <a:off x="749808" y="3941064"/>
            <a:ext cx="3163824" cy="411480"/>
          </a:xfrm>
          <a:prstGeom prst="rect">
            <a:avLst/>
          </a:prstGeom>
          <a:noFill/>
          <a:ln/>
        </p:spPr>
        <p:txBody>
          <a:bodyPr wrap="square" lIns="0" tIns="0" rIns="0" bIns="0" rtlCol="0" anchor="t"/>
          <a:lstStyle/>
          <a:p>
            <a:pPr indent="0" marL="0">
              <a:buNone/>
            </a:pPr>
            <a:r>
              <a:rPr lang="en-US" sz="1800" b="1" dirty="0">
                <a:solidFill>
                  <a:srgbClr val="1B2433"/>
                </a:solidFill>
                <a:latin typeface="Calibri" pitchFamily="34" charset="0"/>
                <a:ea typeface="Calibri" pitchFamily="34" charset="-122"/>
                <a:cs typeface="Calibri" pitchFamily="34" charset="-120"/>
              </a:rPr>
              <a:t>Fine-tuning</a:t>
            </a:r>
            <a:endParaRPr lang="en-US" sz="1800" dirty="0"/>
          </a:p>
        </p:txBody>
      </p:sp>
      <p:sp>
        <p:nvSpPr>
          <p:cNvPr id="20" name="Text 17"/>
          <p:cNvSpPr/>
          <p:nvPr/>
        </p:nvSpPr>
        <p:spPr>
          <a:xfrm>
            <a:off x="749808" y="4352544"/>
            <a:ext cx="3163824" cy="117043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Extra training on </a:t>
            </a:r>
            <a:r>
              <a:rPr lang="en-US" sz="1500" b="1" dirty="0">
                <a:solidFill>
                  <a:srgbClr val="1B2433"/>
                </a:solidFill>
                <a:latin typeface="Calibri" pitchFamily="34" charset="0"/>
                <a:ea typeface="Calibri" pitchFamily="34" charset="-122"/>
                <a:cs typeface="Calibri" pitchFamily="34" charset="-120"/>
              </a:rPr>
              <a:t>one narrow task</a:t>
            </a:r>
            <a:r>
              <a:rPr lang="en-US" sz="1500" dirty="0">
                <a:solidFill>
                  <a:srgbClr val="1B2433"/>
                </a:solidFill>
                <a:latin typeface="Calibri" pitchFamily="34" charset="0"/>
                <a:ea typeface="Calibri" pitchFamily="34" charset="-122"/>
                <a:cs typeface="Calibri" pitchFamily="34" charset="-120"/>
              </a:rPr>
              <a:t>, e.g. translation, starting from an existing model.</a:t>
            </a:r>
            <a:endParaRPr lang="en-US" sz="1500" dirty="0"/>
          </a:p>
        </p:txBody>
      </p:sp>
      <p:sp>
        <p:nvSpPr>
          <p:cNvPr id="21" name="Shape 18"/>
          <p:cNvSpPr/>
          <p:nvPr/>
        </p:nvSpPr>
        <p:spPr>
          <a:xfrm>
            <a:off x="4297680" y="3794760"/>
            <a:ext cx="3566160" cy="1874520"/>
          </a:xfrm>
          <a:prstGeom prst="roundRect">
            <a:avLst>
              <a:gd name="adj" fmla="val 3902"/>
            </a:avLst>
          </a:prstGeom>
          <a:solidFill>
            <a:srgbClr val="DDF2EA"/>
          </a:solidFill>
          <a:ln w="12700">
            <a:solidFill>
              <a:srgbClr val="DDF2EA"/>
            </a:solidFill>
            <a:prstDash val="solid"/>
          </a:ln>
        </p:spPr>
      </p:sp>
      <p:sp>
        <p:nvSpPr>
          <p:cNvPr id="22" name="Text 19"/>
          <p:cNvSpPr/>
          <p:nvPr/>
        </p:nvSpPr>
        <p:spPr>
          <a:xfrm>
            <a:off x="4498848" y="3941064"/>
            <a:ext cx="3163824" cy="411480"/>
          </a:xfrm>
          <a:prstGeom prst="rect">
            <a:avLst/>
          </a:prstGeom>
          <a:noFill/>
          <a:ln/>
        </p:spPr>
        <p:txBody>
          <a:bodyPr wrap="square" lIns="0" tIns="0" rIns="0" bIns="0" rtlCol="0" anchor="t"/>
          <a:lstStyle/>
          <a:p>
            <a:pPr indent="0" marL="0">
              <a:buNone/>
            </a:pPr>
            <a:r>
              <a:rPr lang="en-US" sz="1800" b="1" dirty="0">
                <a:solidFill>
                  <a:srgbClr val="1B2433"/>
                </a:solidFill>
                <a:latin typeface="Calibri" pitchFamily="34" charset="0"/>
                <a:ea typeface="Calibri" pitchFamily="34" charset="-122"/>
                <a:cs typeface="Calibri" pitchFamily="34" charset="-120"/>
              </a:rPr>
              <a:t>Dedicated MT system</a:t>
            </a:r>
            <a:endParaRPr lang="en-US" sz="1800" dirty="0"/>
          </a:p>
        </p:txBody>
      </p:sp>
      <p:sp>
        <p:nvSpPr>
          <p:cNvPr id="23" name="Text 20"/>
          <p:cNvSpPr/>
          <p:nvPr/>
        </p:nvSpPr>
        <p:spPr>
          <a:xfrm>
            <a:off x="4498848" y="4352544"/>
            <a:ext cx="3163824" cy="117043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A network built </a:t>
            </a:r>
            <a:r>
              <a:rPr lang="en-US" sz="1500" b="1" dirty="0">
                <a:solidFill>
                  <a:srgbClr val="1B2433"/>
                </a:solidFill>
                <a:latin typeface="Calibri" pitchFamily="34" charset="0"/>
                <a:ea typeface="Calibri" pitchFamily="34" charset="-122"/>
                <a:cs typeface="Calibri" pitchFamily="34" charset="-120"/>
              </a:rPr>
              <a:t>only to translate</a:t>
            </a:r>
            <a:r>
              <a:rPr lang="en-US" sz="1500" dirty="0">
                <a:solidFill>
                  <a:srgbClr val="1B2433"/>
                </a:solidFill>
                <a:latin typeface="Calibri" pitchFamily="34" charset="0"/>
                <a:ea typeface="Calibri" pitchFamily="34" charset="-122"/>
                <a:cs typeface="Calibri" pitchFamily="34" charset="-120"/>
              </a:rPr>
              <a:t>: reads English, writes Tamil. It needs </a:t>
            </a:r>
            <a:r>
              <a:rPr lang="en-US" sz="1500" b="1" dirty="0">
                <a:solidFill>
                  <a:srgbClr val="1B2433"/>
                </a:solidFill>
                <a:latin typeface="Calibri" pitchFamily="34" charset="0"/>
                <a:ea typeface="Calibri" pitchFamily="34" charset="-122"/>
                <a:cs typeface="Calibri" pitchFamily="34" charset="-120"/>
              </a:rPr>
              <a:t>no prompt</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
        <p:nvSpPr>
          <p:cNvPr id="24" name="Shape 21"/>
          <p:cNvSpPr/>
          <p:nvPr/>
        </p:nvSpPr>
        <p:spPr>
          <a:xfrm>
            <a:off x="8046720" y="3794760"/>
            <a:ext cx="3566160" cy="1874520"/>
          </a:xfrm>
          <a:prstGeom prst="roundRect">
            <a:avLst>
              <a:gd name="adj" fmla="val 3902"/>
            </a:avLst>
          </a:prstGeom>
          <a:solidFill>
            <a:srgbClr val="F2F4F8"/>
          </a:solidFill>
          <a:ln w="12700">
            <a:solidFill>
              <a:srgbClr val="F2F4F8"/>
            </a:solidFill>
            <a:prstDash val="solid"/>
          </a:ln>
        </p:spPr>
      </p:sp>
      <p:sp>
        <p:nvSpPr>
          <p:cNvPr id="25" name="Text 22"/>
          <p:cNvSpPr/>
          <p:nvPr/>
        </p:nvSpPr>
        <p:spPr>
          <a:xfrm>
            <a:off x="8247888" y="3941064"/>
            <a:ext cx="3163824" cy="411480"/>
          </a:xfrm>
          <a:prstGeom prst="rect">
            <a:avLst/>
          </a:prstGeom>
          <a:noFill/>
          <a:ln/>
        </p:spPr>
        <p:txBody>
          <a:bodyPr wrap="square" lIns="0" tIns="0" rIns="0" bIns="0" rtlCol="0" anchor="t"/>
          <a:lstStyle/>
          <a:p>
            <a:pPr indent="0" marL="0">
              <a:buNone/>
            </a:pPr>
            <a:r>
              <a:rPr lang="en-US" sz="1800" b="1" dirty="0">
                <a:solidFill>
                  <a:srgbClr val="1B2433"/>
                </a:solidFill>
                <a:latin typeface="Calibri" pitchFamily="34" charset="0"/>
                <a:ea typeface="Calibri" pitchFamily="34" charset="-122"/>
                <a:cs typeface="Calibri" pitchFamily="34" charset="-120"/>
              </a:rPr>
              <a:t>Neural</a:t>
            </a:r>
            <a:endParaRPr lang="en-US" sz="1800" dirty="0"/>
          </a:p>
        </p:txBody>
      </p:sp>
      <p:sp>
        <p:nvSpPr>
          <p:cNvPr id="26" name="Text 23"/>
          <p:cNvSpPr/>
          <p:nvPr/>
        </p:nvSpPr>
        <p:spPr>
          <a:xfrm>
            <a:off x="8247888" y="4352544"/>
            <a:ext cx="3163824" cy="117043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Built from a </a:t>
            </a:r>
            <a:r>
              <a:rPr lang="en-US" sz="1500" b="1" dirty="0">
                <a:solidFill>
                  <a:srgbClr val="1B2433"/>
                </a:solidFill>
                <a:latin typeface="Calibri" pitchFamily="34" charset="0"/>
                <a:ea typeface="Calibri" pitchFamily="34" charset="-122"/>
                <a:cs typeface="Calibri" pitchFamily="34" charset="-120"/>
              </a:rPr>
              <a:t>trained neural network</a:t>
            </a:r>
            <a:r>
              <a:rPr lang="en-US" sz="1500" dirty="0">
                <a:solidFill>
                  <a:srgbClr val="1B2433"/>
                </a:solidFill>
                <a:latin typeface="Calibri" pitchFamily="34" charset="0"/>
                <a:ea typeface="Calibri" pitchFamily="34" charset="-122"/>
                <a:cs typeface="Calibri" pitchFamily="34" charset="-120"/>
              </a:rPr>
              <a:t>, rather than from hand-written rules.</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4</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EXPERIMENT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The 13 translation systems we tested</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38</a:t>
            </a:r>
            <a:endParaRPr lang="en-US" sz="900" dirty="0"/>
          </a:p>
        </p:txBody>
      </p:sp>
      <p:sp>
        <p:nvSpPr>
          <p:cNvPr id="9" name="Text 6"/>
          <p:cNvSpPr/>
          <p:nvPr/>
        </p:nvSpPr>
        <p:spPr>
          <a:xfrm>
            <a:off x="548640" y="1737360"/>
            <a:ext cx="3017520" cy="502920"/>
          </a:xfrm>
          <a:prstGeom prst="rect">
            <a:avLst/>
          </a:prstGeom>
          <a:noFill/>
          <a:ln/>
        </p:spPr>
        <p:txBody>
          <a:bodyPr wrap="square" lIns="0" tIns="0" rIns="0" bIns="0" rtlCol="0" anchor="ctr"/>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Gemma 3 (Google)</a:t>
            </a:r>
            <a:endParaRPr lang="en-US" sz="1600" dirty="0"/>
          </a:p>
        </p:txBody>
      </p:sp>
      <p:sp>
        <p:nvSpPr>
          <p:cNvPr id="10" name="Shape 7"/>
          <p:cNvSpPr/>
          <p:nvPr/>
        </p:nvSpPr>
        <p:spPr>
          <a:xfrm>
            <a:off x="3657600" y="1819656"/>
            <a:ext cx="502920" cy="347472"/>
          </a:xfrm>
          <a:prstGeom prst="roundRect">
            <a:avLst>
              <a:gd name="adj" fmla="val 21053"/>
            </a:avLst>
          </a:prstGeom>
          <a:solidFill>
            <a:srgbClr val="1F3057"/>
          </a:solidFill>
          <a:ln w="12700">
            <a:solidFill>
              <a:srgbClr val="1F3057"/>
            </a:solidFill>
            <a:prstDash val="solid"/>
          </a:ln>
        </p:spPr>
      </p:sp>
      <p:sp>
        <p:nvSpPr>
          <p:cNvPr id="11" name="Text 8"/>
          <p:cNvSpPr/>
          <p:nvPr/>
        </p:nvSpPr>
        <p:spPr>
          <a:xfrm>
            <a:off x="3657600" y="1819656"/>
            <a:ext cx="5029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1B</a:t>
            </a:r>
            <a:endParaRPr lang="en-US" sz="1200" dirty="0"/>
          </a:p>
        </p:txBody>
      </p:sp>
      <p:sp>
        <p:nvSpPr>
          <p:cNvPr id="12" name="Shape 9"/>
          <p:cNvSpPr/>
          <p:nvPr/>
        </p:nvSpPr>
        <p:spPr>
          <a:xfrm>
            <a:off x="4270248" y="1819656"/>
            <a:ext cx="502920" cy="347472"/>
          </a:xfrm>
          <a:prstGeom prst="roundRect">
            <a:avLst>
              <a:gd name="adj" fmla="val 21053"/>
            </a:avLst>
          </a:prstGeom>
          <a:solidFill>
            <a:srgbClr val="1F3057"/>
          </a:solidFill>
          <a:ln w="12700">
            <a:solidFill>
              <a:srgbClr val="1F3057"/>
            </a:solidFill>
            <a:prstDash val="solid"/>
          </a:ln>
        </p:spPr>
      </p:sp>
      <p:sp>
        <p:nvSpPr>
          <p:cNvPr id="13" name="Text 10"/>
          <p:cNvSpPr/>
          <p:nvPr/>
        </p:nvSpPr>
        <p:spPr>
          <a:xfrm>
            <a:off x="4270248" y="1819656"/>
            <a:ext cx="5029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4B</a:t>
            </a:r>
            <a:endParaRPr lang="en-US" sz="1200" dirty="0"/>
          </a:p>
        </p:txBody>
      </p:sp>
      <p:sp>
        <p:nvSpPr>
          <p:cNvPr id="14" name="Shape 11"/>
          <p:cNvSpPr/>
          <p:nvPr/>
        </p:nvSpPr>
        <p:spPr>
          <a:xfrm>
            <a:off x="4882896" y="1819656"/>
            <a:ext cx="594360" cy="347472"/>
          </a:xfrm>
          <a:prstGeom prst="roundRect">
            <a:avLst>
              <a:gd name="adj" fmla="val 21053"/>
            </a:avLst>
          </a:prstGeom>
          <a:solidFill>
            <a:srgbClr val="1F3057"/>
          </a:solidFill>
          <a:ln w="12700">
            <a:solidFill>
              <a:srgbClr val="1F3057"/>
            </a:solidFill>
            <a:prstDash val="solid"/>
          </a:ln>
        </p:spPr>
      </p:sp>
      <p:sp>
        <p:nvSpPr>
          <p:cNvPr id="15" name="Text 12"/>
          <p:cNvSpPr/>
          <p:nvPr/>
        </p:nvSpPr>
        <p:spPr>
          <a:xfrm>
            <a:off x="4882896" y="1819656"/>
            <a:ext cx="59436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12B</a:t>
            </a:r>
            <a:endParaRPr lang="en-US" sz="1200" dirty="0"/>
          </a:p>
        </p:txBody>
      </p:sp>
      <p:sp>
        <p:nvSpPr>
          <p:cNvPr id="16" name="Shape 13"/>
          <p:cNvSpPr/>
          <p:nvPr/>
        </p:nvSpPr>
        <p:spPr>
          <a:xfrm>
            <a:off x="5586984" y="1819656"/>
            <a:ext cx="594360" cy="347472"/>
          </a:xfrm>
          <a:prstGeom prst="roundRect">
            <a:avLst>
              <a:gd name="adj" fmla="val 21053"/>
            </a:avLst>
          </a:prstGeom>
          <a:solidFill>
            <a:srgbClr val="1F3057"/>
          </a:solidFill>
          <a:ln w="12700">
            <a:solidFill>
              <a:srgbClr val="1F3057"/>
            </a:solidFill>
            <a:prstDash val="solid"/>
          </a:ln>
        </p:spPr>
      </p:sp>
      <p:sp>
        <p:nvSpPr>
          <p:cNvPr id="17" name="Text 14"/>
          <p:cNvSpPr/>
          <p:nvPr/>
        </p:nvSpPr>
        <p:spPr>
          <a:xfrm>
            <a:off x="5586984" y="1819656"/>
            <a:ext cx="59436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27B</a:t>
            </a:r>
            <a:endParaRPr lang="en-US" sz="1200" dirty="0"/>
          </a:p>
        </p:txBody>
      </p:sp>
      <p:sp>
        <p:nvSpPr>
          <p:cNvPr id="18" name="Text 15"/>
          <p:cNvSpPr/>
          <p:nvPr/>
        </p:nvSpPr>
        <p:spPr>
          <a:xfrm>
            <a:off x="7772400" y="1737360"/>
            <a:ext cx="3840480" cy="502920"/>
          </a:xfrm>
          <a:prstGeom prst="rect">
            <a:avLst/>
          </a:prstGeom>
          <a:noFill/>
          <a:ln/>
        </p:spPr>
        <p:txBody>
          <a:bodyPr wrap="square" lIns="0" tIns="0" rIns="0" bIns="0" rtlCol="0" anchor="ctr"/>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scale series inside one family</a:t>
            </a:r>
            <a:endParaRPr lang="en-US" sz="1300" dirty="0"/>
          </a:p>
        </p:txBody>
      </p:sp>
      <p:sp>
        <p:nvSpPr>
          <p:cNvPr id="19" name="Text 16"/>
          <p:cNvSpPr/>
          <p:nvPr/>
        </p:nvSpPr>
        <p:spPr>
          <a:xfrm>
            <a:off x="548640" y="2322576"/>
            <a:ext cx="3017520" cy="502920"/>
          </a:xfrm>
          <a:prstGeom prst="rect">
            <a:avLst/>
          </a:prstGeom>
          <a:noFill/>
          <a:ln/>
        </p:spPr>
        <p:txBody>
          <a:bodyPr wrap="square" lIns="0" tIns="0" rIns="0" bIns="0" rtlCol="0" anchor="ctr"/>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Gemma 3n (Google)</a:t>
            </a:r>
            <a:endParaRPr lang="en-US" sz="1600" dirty="0"/>
          </a:p>
        </p:txBody>
      </p:sp>
      <p:sp>
        <p:nvSpPr>
          <p:cNvPr id="20" name="Shape 17"/>
          <p:cNvSpPr/>
          <p:nvPr/>
        </p:nvSpPr>
        <p:spPr>
          <a:xfrm>
            <a:off x="3657600" y="2404872"/>
            <a:ext cx="594360" cy="347472"/>
          </a:xfrm>
          <a:prstGeom prst="roundRect">
            <a:avLst>
              <a:gd name="adj" fmla="val 21053"/>
            </a:avLst>
          </a:prstGeom>
          <a:solidFill>
            <a:srgbClr val="1F3057"/>
          </a:solidFill>
          <a:ln w="12700">
            <a:solidFill>
              <a:srgbClr val="1F3057"/>
            </a:solidFill>
            <a:prstDash val="solid"/>
          </a:ln>
        </p:spPr>
      </p:sp>
      <p:sp>
        <p:nvSpPr>
          <p:cNvPr id="21" name="Text 18"/>
          <p:cNvSpPr/>
          <p:nvPr/>
        </p:nvSpPr>
        <p:spPr>
          <a:xfrm>
            <a:off x="3657600" y="2404872"/>
            <a:ext cx="59436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E2B</a:t>
            </a:r>
            <a:endParaRPr lang="en-US" sz="1200" dirty="0"/>
          </a:p>
        </p:txBody>
      </p:sp>
      <p:sp>
        <p:nvSpPr>
          <p:cNvPr id="22" name="Shape 19"/>
          <p:cNvSpPr/>
          <p:nvPr/>
        </p:nvSpPr>
        <p:spPr>
          <a:xfrm>
            <a:off x="4361688" y="2404872"/>
            <a:ext cx="594360" cy="347472"/>
          </a:xfrm>
          <a:prstGeom prst="roundRect">
            <a:avLst>
              <a:gd name="adj" fmla="val 21053"/>
            </a:avLst>
          </a:prstGeom>
          <a:solidFill>
            <a:srgbClr val="1F3057"/>
          </a:solidFill>
          <a:ln w="12700">
            <a:solidFill>
              <a:srgbClr val="1F3057"/>
            </a:solidFill>
            <a:prstDash val="solid"/>
          </a:ln>
        </p:spPr>
      </p:sp>
      <p:sp>
        <p:nvSpPr>
          <p:cNvPr id="23" name="Text 20"/>
          <p:cNvSpPr/>
          <p:nvPr/>
        </p:nvSpPr>
        <p:spPr>
          <a:xfrm>
            <a:off x="4361688" y="2404872"/>
            <a:ext cx="59436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E4B</a:t>
            </a:r>
            <a:endParaRPr lang="en-US" sz="1200" dirty="0"/>
          </a:p>
        </p:txBody>
      </p:sp>
      <p:sp>
        <p:nvSpPr>
          <p:cNvPr id="24" name="Text 21"/>
          <p:cNvSpPr/>
          <p:nvPr/>
        </p:nvSpPr>
        <p:spPr>
          <a:xfrm>
            <a:off x="7772400" y="2322576"/>
            <a:ext cx="3840480" cy="502920"/>
          </a:xfrm>
          <a:prstGeom prst="rect">
            <a:avLst/>
          </a:prstGeom>
          <a:noFill/>
          <a:ln/>
        </p:spPr>
        <p:txBody>
          <a:bodyPr wrap="square" lIns="0" tIns="0" rIns="0" bIns="0" rtlCol="0" anchor="ctr"/>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efficient variants</a:t>
            </a:r>
            <a:endParaRPr lang="en-US" sz="1300" dirty="0"/>
          </a:p>
        </p:txBody>
      </p:sp>
      <p:sp>
        <p:nvSpPr>
          <p:cNvPr id="25" name="Text 22"/>
          <p:cNvSpPr/>
          <p:nvPr/>
        </p:nvSpPr>
        <p:spPr>
          <a:xfrm>
            <a:off x="548640" y="2907792"/>
            <a:ext cx="3017520" cy="502920"/>
          </a:xfrm>
          <a:prstGeom prst="rect">
            <a:avLst/>
          </a:prstGeom>
          <a:noFill/>
          <a:ln/>
        </p:spPr>
        <p:txBody>
          <a:bodyPr wrap="square" lIns="0" tIns="0" rIns="0" bIns="0" rtlCol="0" anchor="ctr"/>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Qwen3 (Alibaba)</a:t>
            </a:r>
            <a:endParaRPr lang="en-US" sz="1600" dirty="0"/>
          </a:p>
        </p:txBody>
      </p:sp>
      <p:sp>
        <p:nvSpPr>
          <p:cNvPr id="26" name="Shape 23"/>
          <p:cNvSpPr/>
          <p:nvPr/>
        </p:nvSpPr>
        <p:spPr>
          <a:xfrm>
            <a:off x="3657600" y="2990088"/>
            <a:ext cx="502920" cy="347472"/>
          </a:xfrm>
          <a:prstGeom prst="roundRect">
            <a:avLst>
              <a:gd name="adj" fmla="val 21053"/>
            </a:avLst>
          </a:prstGeom>
          <a:solidFill>
            <a:srgbClr val="2F6FB3"/>
          </a:solidFill>
          <a:ln w="12700">
            <a:solidFill>
              <a:srgbClr val="2F6FB3"/>
            </a:solidFill>
            <a:prstDash val="solid"/>
          </a:ln>
        </p:spPr>
      </p:sp>
      <p:sp>
        <p:nvSpPr>
          <p:cNvPr id="27" name="Text 24"/>
          <p:cNvSpPr/>
          <p:nvPr/>
        </p:nvSpPr>
        <p:spPr>
          <a:xfrm>
            <a:off x="3657600" y="2990088"/>
            <a:ext cx="5029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8B</a:t>
            </a:r>
            <a:endParaRPr lang="en-US" sz="1200" dirty="0"/>
          </a:p>
        </p:txBody>
      </p:sp>
      <p:sp>
        <p:nvSpPr>
          <p:cNvPr id="28" name="Shape 25"/>
          <p:cNvSpPr/>
          <p:nvPr/>
        </p:nvSpPr>
        <p:spPr>
          <a:xfrm>
            <a:off x="4270248" y="2990088"/>
            <a:ext cx="594360" cy="347472"/>
          </a:xfrm>
          <a:prstGeom prst="roundRect">
            <a:avLst>
              <a:gd name="adj" fmla="val 21053"/>
            </a:avLst>
          </a:prstGeom>
          <a:solidFill>
            <a:srgbClr val="2F6FB3"/>
          </a:solidFill>
          <a:ln w="12700">
            <a:solidFill>
              <a:srgbClr val="2F6FB3"/>
            </a:solidFill>
            <a:prstDash val="solid"/>
          </a:ln>
        </p:spPr>
      </p:sp>
      <p:sp>
        <p:nvSpPr>
          <p:cNvPr id="29" name="Text 26"/>
          <p:cNvSpPr/>
          <p:nvPr/>
        </p:nvSpPr>
        <p:spPr>
          <a:xfrm>
            <a:off x="4270248" y="2990088"/>
            <a:ext cx="59436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14B</a:t>
            </a:r>
            <a:endParaRPr lang="en-US" sz="1200" dirty="0"/>
          </a:p>
        </p:txBody>
      </p:sp>
      <p:sp>
        <p:nvSpPr>
          <p:cNvPr id="30" name="Shape 27"/>
          <p:cNvSpPr/>
          <p:nvPr/>
        </p:nvSpPr>
        <p:spPr>
          <a:xfrm>
            <a:off x="4974336" y="2990088"/>
            <a:ext cx="594360" cy="347472"/>
          </a:xfrm>
          <a:prstGeom prst="roundRect">
            <a:avLst>
              <a:gd name="adj" fmla="val 21053"/>
            </a:avLst>
          </a:prstGeom>
          <a:solidFill>
            <a:srgbClr val="2F6FB3"/>
          </a:solidFill>
          <a:ln w="12700">
            <a:solidFill>
              <a:srgbClr val="2F6FB3"/>
            </a:solidFill>
            <a:prstDash val="solid"/>
          </a:ln>
        </p:spPr>
      </p:sp>
      <p:sp>
        <p:nvSpPr>
          <p:cNvPr id="31" name="Text 28"/>
          <p:cNvSpPr/>
          <p:nvPr/>
        </p:nvSpPr>
        <p:spPr>
          <a:xfrm>
            <a:off x="4974336" y="2990088"/>
            <a:ext cx="59436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32B</a:t>
            </a:r>
            <a:endParaRPr lang="en-US" sz="1200" dirty="0"/>
          </a:p>
        </p:txBody>
      </p:sp>
      <p:sp>
        <p:nvSpPr>
          <p:cNvPr id="32" name="Text 29"/>
          <p:cNvSpPr/>
          <p:nvPr/>
        </p:nvSpPr>
        <p:spPr>
          <a:xfrm>
            <a:off x="7772400" y="2907792"/>
            <a:ext cx="3840480" cy="502920"/>
          </a:xfrm>
          <a:prstGeom prst="rect">
            <a:avLst/>
          </a:prstGeom>
          <a:noFill/>
          <a:ln/>
        </p:spPr>
        <p:txBody>
          <a:bodyPr wrap="square" lIns="0" tIns="0" rIns="0" bIns="0" rtlCol="0" anchor="ctr"/>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a second family, several sizes</a:t>
            </a:r>
            <a:endParaRPr lang="en-US" sz="1300" dirty="0"/>
          </a:p>
        </p:txBody>
      </p:sp>
      <p:sp>
        <p:nvSpPr>
          <p:cNvPr id="33" name="Text 30"/>
          <p:cNvSpPr/>
          <p:nvPr/>
        </p:nvSpPr>
        <p:spPr>
          <a:xfrm>
            <a:off x="548640" y="3493008"/>
            <a:ext cx="3017520" cy="502920"/>
          </a:xfrm>
          <a:prstGeom prst="rect">
            <a:avLst/>
          </a:prstGeom>
          <a:noFill/>
          <a:ln/>
        </p:spPr>
        <p:txBody>
          <a:bodyPr wrap="square" lIns="0" tIns="0" rIns="0" bIns="0" rtlCol="0" anchor="ctr"/>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Llama 3.1 (Meta)</a:t>
            </a:r>
            <a:endParaRPr lang="en-US" sz="1600" dirty="0"/>
          </a:p>
        </p:txBody>
      </p:sp>
      <p:sp>
        <p:nvSpPr>
          <p:cNvPr id="34" name="Shape 31"/>
          <p:cNvSpPr/>
          <p:nvPr/>
        </p:nvSpPr>
        <p:spPr>
          <a:xfrm>
            <a:off x="3657600" y="3575304"/>
            <a:ext cx="502920" cy="347472"/>
          </a:xfrm>
          <a:prstGeom prst="roundRect">
            <a:avLst>
              <a:gd name="adj" fmla="val 21053"/>
            </a:avLst>
          </a:prstGeom>
          <a:solidFill>
            <a:srgbClr val="2F6FB3"/>
          </a:solidFill>
          <a:ln w="12700">
            <a:solidFill>
              <a:srgbClr val="2F6FB3"/>
            </a:solidFill>
            <a:prstDash val="solid"/>
          </a:ln>
        </p:spPr>
      </p:sp>
      <p:sp>
        <p:nvSpPr>
          <p:cNvPr id="35" name="Text 32"/>
          <p:cNvSpPr/>
          <p:nvPr/>
        </p:nvSpPr>
        <p:spPr>
          <a:xfrm>
            <a:off x="3657600" y="3575304"/>
            <a:ext cx="5029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8B</a:t>
            </a:r>
            <a:endParaRPr lang="en-US" sz="1200" dirty="0"/>
          </a:p>
        </p:txBody>
      </p:sp>
      <p:sp>
        <p:nvSpPr>
          <p:cNvPr id="36" name="Text 33"/>
          <p:cNvSpPr/>
          <p:nvPr/>
        </p:nvSpPr>
        <p:spPr>
          <a:xfrm>
            <a:off x="7772400" y="3493008"/>
            <a:ext cx="3840480" cy="502920"/>
          </a:xfrm>
          <a:prstGeom prst="rect">
            <a:avLst/>
          </a:prstGeom>
          <a:noFill/>
          <a:ln/>
        </p:spPr>
        <p:txBody>
          <a:bodyPr wrap="square" lIns="0" tIns="0" rIns="0" bIns="0" rtlCol="0" anchor="ctr"/>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a third family</a:t>
            </a:r>
            <a:endParaRPr lang="en-US" sz="1300" dirty="0"/>
          </a:p>
        </p:txBody>
      </p:sp>
      <p:sp>
        <p:nvSpPr>
          <p:cNvPr id="37" name="Text 34"/>
          <p:cNvSpPr/>
          <p:nvPr/>
        </p:nvSpPr>
        <p:spPr>
          <a:xfrm>
            <a:off x="548640" y="4078224"/>
            <a:ext cx="3017520" cy="502920"/>
          </a:xfrm>
          <a:prstGeom prst="rect">
            <a:avLst/>
          </a:prstGeom>
          <a:noFill/>
          <a:ln/>
        </p:spPr>
        <p:txBody>
          <a:bodyPr wrap="square" lIns="0" tIns="0" rIns="0" bIns="0" rtlCol="0" anchor="ctr"/>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Sarvam-Translate</a:t>
            </a:r>
            <a:endParaRPr lang="en-US" sz="1600" dirty="0"/>
          </a:p>
        </p:txBody>
      </p:sp>
      <p:sp>
        <p:nvSpPr>
          <p:cNvPr id="38" name="Shape 35"/>
          <p:cNvSpPr/>
          <p:nvPr/>
        </p:nvSpPr>
        <p:spPr>
          <a:xfrm>
            <a:off x="3657600" y="4160520"/>
            <a:ext cx="2331720" cy="347472"/>
          </a:xfrm>
          <a:prstGeom prst="roundRect">
            <a:avLst>
              <a:gd name="adj" fmla="val 21053"/>
            </a:avLst>
          </a:prstGeom>
          <a:solidFill>
            <a:srgbClr val="8E44AD"/>
          </a:solidFill>
          <a:ln w="12700">
            <a:solidFill>
              <a:srgbClr val="8E44AD"/>
            </a:solidFill>
            <a:prstDash val="solid"/>
          </a:ln>
        </p:spPr>
      </p:sp>
      <p:sp>
        <p:nvSpPr>
          <p:cNvPr id="39" name="Text 36"/>
          <p:cNvSpPr/>
          <p:nvPr/>
        </p:nvSpPr>
        <p:spPr>
          <a:xfrm>
            <a:off x="3657600" y="4160520"/>
            <a:ext cx="23317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Gemma 3 4B, fine-tuned</a:t>
            </a:r>
            <a:endParaRPr lang="en-US" sz="1200" dirty="0"/>
          </a:p>
        </p:txBody>
      </p:sp>
      <p:sp>
        <p:nvSpPr>
          <p:cNvPr id="40" name="Text 37"/>
          <p:cNvSpPr/>
          <p:nvPr/>
        </p:nvSpPr>
        <p:spPr>
          <a:xfrm>
            <a:off x="7772400" y="4078224"/>
            <a:ext cx="3840480" cy="502920"/>
          </a:xfrm>
          <a:prstGeom prst="rect">
            <a:avLst/>
          </a:prstGeom>
          <a:noFill/>
          <a:ln/>
        </p:spPr>
        <p:txBody>
          <a:bodyPr wrap="square" lIns="0" tIns="0" rIns="0" bIns="0" rtlCol="0" anchor="ctr"/>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translation fine-tuning vs its base model</a:t>
            </a:r>
            <a:endParaRPr lang="en-US" sz="1300" dirty="0"/>
          </a:p>
        </p:txBody>
      </p:sp>
      <p:sp>
        <p:nvSpPr>
          <p:cNvPr id="41" name="Text 38"/>
          <p:cNvSpPr/>
          <p:nvPr/>
        </p:nvSpPr>
        <p:spPr>
          <a:xfrm>
            <a:off x="548640" y="4663440"/>
            <a:ext cx="3017520" cy="502920"/>
          </a:xfrm>
          <a:prstGeom prst="rect">
            <a:avLst/>
          </a:prstGeom>
          <a:noFill/>
          <a:ln/>
        </p:spPr>
        <p:txBody>
          <a:bodyPr wrap="square" lIns="0" tIns="0" rIns="0" bIns="0" rtlCol="0" anchor="ctr"/>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NLLB-200 (Meta)</a:t>
            </a:r>
            <a:endParaRPr lang="en-US" sz="1600" dirty="0"/>
          </a:p>
        </p:txBody>
      </p:sp>
      <p:sp>
        <p:nvSpPr>
          <p:cNvPr id="42" name="Shape 39"/>
          <p:cNvSpPr/>
          <p:nvPr/>
        </p:nvSpPr>
        <p:spPr>
          <a:xfrm>
            <a:off x="3657600" y="4745736"/>
            <a:ext cx="685800" cy="347472"/>
          </a:xfrm>
          <a:prstGeom prst="roundRect">
            <a:avLst>
              <a:gd name="adj" fmla="val 21053"/>
            </a:avLst>
          </a:prstGeom>
          <a:solidFill>
            <a:srgbClr val="009E73"/>
          </a:solidFill>
          <a:ln w="12700">
            <a:solidFill>
              <a:srgbClr val="009E73"/>
            </a:solidFill>
            <a:prstDash val="solid"/>
          </a:ln>
        </p:spPr>
      </p:sp>
      <p:sp>
        <p:nvSpPr>
          <p:cNvPr id="43" name="Text 40"/>
          <p:cNvSpPr/>
          <p:nvPr/>
        </p:nvSpPr>
        <p:spPr>
          <a:xfrm>
            <a:off x="3657600" y="4745736"/>
            <a:ext cx="6858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3.3B</a:t>
            </a:r>
            <a:endParaRPr lang="en-US" sz="1200" dirty="0"/>
          </a:p>
        </p:txBody>
      </p:sp>
      <p:sp>
        <p:nvSpPr>
          <p:cNvPr id="44" name="Text 41"/>
          <p:cNvSpPr/>
          <p:nvPr/>
        </p:nvSpPr>
        <p:spPr>
          <a:xfrm>
            <a:off x="7772400" y="4663440"/>
            <a:ext cx="3840480" cy="502920"/>
          </a:xfrm>
          <a:prstGeom prst="rect">
            <a:avLst/>
          </a:prstGeom>
          <a:noFill/>
          <a:ln/>
        </p:spPr>
        <p:txBody>
          <a:bodyPr wrap="square" lIns="0" tIns="0" rIns="0" bIns="0" rtlCol="0" anchor="ctr"/>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dedicated MT, no prompt</a:t>
            </a:r>
            <a:endParaRPr lang="en-US" sz="1300" dirty="0"/>
          </a:p>
        </p:txBody>
      </p:sp>
      <p:sp>
        <p:nvSpPr>
          <p:cNvPr id="45" name="Text 42"/>
          <p:cNvSpPr/>
          <p:nvPr/>
        </p:nvSpPr>
        <p:spPr>
          <a:xfrm>
            <a:off x="548640" y="5248656"/>
            <a:ext cx="3017520" cy="502920"/>
          </a:xfrm>
          <a:prstGeom prst="rect">
            <a:avLst/>
          </a:prstGeom>
          <a:noFill/>
          <a:ln/>
        </p:spPr>
        <p:txBody>
          <a:bodyPr wrap="square" lIns="0" tIns="0" rIns="0" bIns="0" rtlCol="0" anchor="ctr"/>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IndicTrans2 (AI4Bharat)</a:t>
            </a:r>
            <a:endParaRPr lang="en-US" sz="1600" dirty="0"/>
          </a:p>
        </p:txBody>
      </p:sp>
      <p:sp>
        <p:nvSpPr>
          <p:cNvPr id="46" name="Shape 43"/>
          <p:cNvSpPr/>
          <p:nvPr/>
        </p:nvSpPr>
        <p:spPr>
          <a:xfrm>
            <a:off x="3657600" y="5330952"/>
            <a:ext cx="502920" cy="347472"/>
          </a:xfrm>
          <a:prstGeom prst="roundRect">
            <a:avLst>
              <a:gd name="adj" fmla="val 21053"/>
            </a:avLst>
          </a:prstGeom>
          <a:solidFill>
            <a:srgbClr val="009E73"/>
          </a:solidFill>
          <a:ln w="12700">
            <a:solidFill>
              <a:srgbClr val="009E73"/>
            </a:solidFill>
            <a:prstDash val="solid"/>
          </a:ln>
        </p:spPr>
      </p:sp>
      <p:sp>
        <p:nvSpPr>
          <p:cNvPr id="47" name="Text 44"/>
          <p:cNvSpPr/>
          <p:nvPr/>
        </p:nvSpPr>
        <p:spPr>
          <a:xfrm>
            <a:off x="3657600" y="5330952"/>
            <a:ext cx="5029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1B</a:t>
            </a:r>
            <a:endParaRPr lang="en-US" sz="1200" dirty="0"/>
          </a:p>
        </p:txBody>
      </p:sp>
      <p:sp>
        <p:nvSpPr>
          <p:cNvPr id="48" name="Text 45"/>
          <p:cNvSpPr/>
          <p:nvPr/>
        </p:nvSpPr>
        <p:spPr>
          <a:xfrm>
            <a:off x="7772400" y="5248656"/>
            <a:ext cx="3840480" cy="502920"/>
          </a:xfrm>
          <a:prstGeom prst="rect">
            <a:avLst/>
          </a:prstGeom>
          <a:noFill/>
          <a:ln/>
        </p:spPr>
        <p:txBody>
          <a:bodyPr wrap="square" lIns="0" tIns="0" rIns="0" bIns="0" rtlCol="0" anchor="ctr"/>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dedicated MT, no prompt</a:t>
            </a:r>
            <a:endParaRPr lang="en-US" sz="1300" dirty="0"/>
          </a:p>
        </p:txBody>
      </p:sp>
      <p:sp>
        <p:nvSpPr>
          <p:cNvPr id="49" name="Shape 46"/>
          <p:cNvSpPr/>
          <p:nvPr/>
        </p:nvSpPr>
        <p:spPr>
          <a:xfrm>
            <a:off x="548640" y="5961888"/>
            <a:ext cx="201168" cy="201168"/>
          </a:xfrm>
          <a:prstGeom prst="rect">
            <a:avLst/>
          </a:prstGeom>
          <a:solidFill>
            <a:srgbClr val="1F3057"/>
          </a:solidFill>
          <a:ln w="12700">
            <a:solidFill>
              <a:srgbClr val="1F3057"/>
            </a:solidFill>
            <a:prstDash val="solid"/>
          </a:ln>
        </p:spPr>
      </p:sp>
      <p:sp>
        <p:nvSpPr>
          <p:cNvPr id="50" name="Text 47"/>
          <p:cNvSpPr/>
          <p:nvPr/>
        </p:nvSpPr>
        <p:spPr>
          <a:xfrm>
            <a:off x="822960" y="5897880"/>
            <a:ext cx="2418588" cy="329184"/>
          </a:xfrm>
          <a:prstGeom prst="rect">
            <a:avLst/>
          </a:prstGeom>
          <a:noFill/>
          <a:ln/>
        </p:spPr>
        <p:txBody>
          <a:bodyPr wrap="square" lIns="0" tIns="0" rIns="0" bIns="0" rtlCol="0" anchor="ctr"/>
          <a:lstStyle/>
          <a:p>
            <a:pPr indent="0" marL="0">
              <a:buNone/>
            </a:pPr>
            <a:r>
              <a:rPr lang="en-US" sz="1200" dirty="0">
                <a:solidFill>
                  <a:srgbClr val="1B2433"/>
                </a:solidFill>
                <a:latin typeface="Calibri" pitchFamily="34" charset="0"/>
                <a:ea typeface="Calibri" pitchFamily="34" charset="-122"/>
                <a:cs typeface="Calibri" pitchFamily="34" charset="-120"/>
              </a:rPr>
              <a:t>11 prompted language models</a:t>
            </a:r>
            <a:endParaRPr lang="en-US" sz="1200" dirty="0"/>
          </a:p>
        </p:txBody>
      </p:sp>
      <p:sp>
        <p:nvSpPr>
          <p:cNvPr id="51" name="Shape 48"/>
          <p:cNvSpPr/>
          <p:nvPr/>
        </p:nvSpPr>
        <p:spPr>
          <a:xfrm>
            <a:off x="3470148" y="5961888"/>
            <a:ext cx="201168" cy="201168"/>
          </a:xfrm>
          <a:prstGeom prst="rect">
            <a:avLst/>
          </a:prstGeom>
          <a:solidFill>
            <a:srgbClr val="8E44AD"/>
          </a:solidFill>
          <a:ln w="12700">
            <a:solidFill>
              <a:srgbClr val="8E44AD"/>
            </a:solidFill>
            <a:prstDash val="solid"/>
          </a:ln>
        </p:spPr>
      </p:sp>
      <p:sp>
        <p:nvSpPr>
          <p:cNvPr id="52" name="Text 49"/>
          <p:cNvSpPr/>
          <p:nvPr/>
        </p:nvSpPr>
        <p:spPr>
          <a:xfrm>
            <a:off x="3744468" y="5897880"/>
            <a:ext cx="3662172" cy="329184"/>
          </a:xfrm>
          <a:prstGeom prst="rect">
            <a:avLst/>
          </a:prstGeom>
          <a:noFill/>
          <a:ln/>
        </p:spPr>
        <p:txBody>
          <a:bodyPr wrap="square" lIns="0" tIns="0" rIns="0" bIns="0" rtlCol="0" anchor="ctr"/>
          <a:lstStyle/>
          <a:p>
            <a:pPr indent="0" marL="0">
              <a:buNone/>
            </a:pPr>
            <a:r>
              <a:rPr lang="en-US" sz="1200" dirty="0">
                <a:solidFill>
                  <a:srgbClr val="1B2433"/>
                </a:solidFill>
                <a:latin typeface="Calibri" pitchFamily="34" charset="0"/>
                <a:ea typeface="Calibri" pitchFamily="34" charset="-122"/>
                <a:cs typeface="Calibri" pitchFamily="34" charset="-120"/>
              </a:rPr>
              <a:t>translation-tuned LLM (counted with the 11)</a:t>
            </a:r>
            <a:endParaRPr lang="en-US" sz="1200" dirty="0"/>
          </a:p>
        </p:txBody>
      </p:sp>
      <p:sp>
        <p:nvSpPr>
          <p:cNvPr id="53" name="Shape 50"/>
          <p:cNvSpPr/>
          <p:nvPr/>
        </p:nvSpPr>
        <p:spPr>
          <a:xfrm>
            <a:off x="7635240" y="5961888"/>
            <a:ext cx="201168" cy="201168"/>
          </a:xfrm>
          <a:prstGeom prst="rect">
            <a:avLst/>
          </a:prstGeom>
          <a:solidFill>
            <a:srgbClr val="009E73"/>
          </a:solidFill>
          <a:ln w="12700">
            <a:solidFill>
              <a:srgbClr val="009E73"/>
            </a:solidFill>
            <a:prstDash val="solid"/>
          </a:ln>
        </p:spPr>
      </p:sp>
      <p:sp>
        <p:nvSpPr>
          <p:cNvPr id="54" name="Text 51"/>
          <p:cNvSpPr/>
          <p:nvPr/>
        </p:nvSpPr>
        <p:spPr>
          <a:xfrm>
            <a:off x="7909560" y="5897880"/>
            <a:ext cx="2029968" cy="329184"/>
          </a:xfrm>
          <a:prstGeom prst="rect">
            <a:avLst/>
          </a:prstGeom>
          <a:noFill/>
          <a:ln/>
        </p:spPr>
        <p:txBody>
          <a:bodyPr wrap="square" lIns="0" tIns="0" rIns="0" bIns="0" rtlCol="0" anchor="ctr"/>
          <a:lstStyle/>
          <a:p>
            <a:pPr indent="0" marL="0">
              <a:buNone/>
            </a:pPr>
            <a:r>
              <a:rPr lang="en-US" sz="1200" dirty="0">
                <a:solidFill>
                  <a:srgbClr val="1B2433"/>
                </a:solidFill>
                <a:latin typeface="Calibri" pitchFamily="34" charset="0"/>
                <a:ea typeface="Calibri" pitchFamily="34" charset="-122"/>
                <a:cs typeface="Calibri" pitchFamily="34" charset="-120"/>
              </a:rPr>
              <a:t>2 dedicated MT systems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4</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EXPERIMENT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Why these systems: three comparisons built in</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39</a:t>
            </a:r>
            <a:endParaRPr lang="en-US" sz="900" dirty="0"/>
          </a:p>
        </p:txBody>
      </p:sp>
      <p:sp>
        <p:nvSpPr>
          <p:cNvPr id="9" name="Shape 6"/>
          <p:cNvSpPr/>
          <p:nvPr/>
        </p:nvSpPr>
        <p:spPr>
          <a:xfrm>
            <a:off x="548640" y="1737360"/>
            <a:ext cx="3566160" cy="1828800"/>
          </a:xfrm>
          <a:prstGeom prst="roundRect">
            <a:avLst>
              <a:gd name="adj" fmla="val 4000"/>
            </a:avLst>
          </a:prstGeom>
          <a:solidFill>
            <a:srgbClr val="F2F4F8"/>
          </a:solidFill>
          <a:ln w="12700">
            <a:solidFill>
              <a:srgbClr val="F2F4F8"/>
            </a:solidFill>
            <a:prstDash val="solid"/>
          </a:ln>
        </p:spPr>
      </p:sp>
      <p:sp>
        <p:nvSpPr>
          <p:cNvPr id="10" name="Text 7"/>
          <p:cNvSpPr/>
          <p:nvPr/>
        </p:nvSpPr>
        <p:spPr>
          <a:xfrm>
            <a:off x="749808" y="1883664"/>
            <a:ext cx="3163824" cy="411480"/>
          </a:xfrm>
          <a:prstGeom prst="rect">
            <a:avLst/>
          </a:prstGeom>
          <a:noFill/>
          <a:ln/>
        </p:spPr>
        <p:txBody>
          <a:bodyPr wrap="square" lIns="0" tIns="0" rIns="0" bIns="0" rtlCol="0" anchor="t"/>
          <a:lstStyle/>
          <a:p>
            <a:pPr indent="0" marL="0">
              <a:buNone/>
            </a:pPr>
            <a:r>
              <a:rPr lang="en-US" sz="2000" b="1" dirty="0">
                <a:solidFill>
                  <a:srgbClr val="1B2433"/>
                </a:solidFill>
                <a:latin typeface="Calibri" pitchFamily="34" charset="0"/>
                <a:ea typeface="Calibri" pitchFamily="34" charset="-122"/>
                <a:cs typeface="Calibri" pitchFamily="34" charset="-120"/>
              </a:rPr>
              <a:t>Size</a:t>
            </a:r>
            <a:endParaRPr lang="en-US" sz="2000" dirty="0"/>
          </a:p>
        </p:txBody>
      </p:sp>
      <p:sp>
        <p:nvSpPr>
          <p:cNvPr id="11" name="Text 8"/>
          <p:cNvSpPr/>
          <p:nvPr/>
        </p:nvSpPr>
        <p:spPr>
          <a:xfrm>
            <a:off x="749808" y="2295144"/>
            <a:ext cx="3163824" cy="1124712"/>
          </a:xfrm>
          <a:prstGeom prst="rect">
            <a:avLst/>
          </a:prstGeom>
          <a:noFill/>
          <a:ln/>
        </p:spPr>
        <p:txBody>
          <a:bodyPr wrap="square" lIns="0" tIns="0" rIns="0" bIns="0" rtlCol="0" anchor="t"/>
          <a:lstStyle/>
          <a:p>
            <a:pPr indent="0" marL="0">
              <a:spcAft>
                <a:spcPts val="500"/>
              </a:spcAft>
              <a:buNone/>
            </a:pPr>
            <a:r>
              <a:rPr lang="en-US" sz="1600" dirty="0">
                <a:solidFill>
                  <a:srgbClr val="1B2433"/>
                </a:solidFill>
                <a:latin typeface="Calibri" pitchFamily="34" charset="0"/>
                <a:ea typeface="Calibri" pitchFamily="34" charset="-122"/>
                <a:cs typeface="Calibri" pitchFamily="34" charset="-120"/>
              </a:rPr>
              <a:t>Gemma 3 at </a:t>
            </a:r>
            <a:r>
              <a:rPr lang="en-US" sz="1600" b="1" dirty="0">
                <a:solidFill>
                  <a:srgbClr val="1B2433"/>
                </a:solidFill>
                <a:latin typeface="Calibri" pitchFamily="34" charset="0"/>
                <a:ea typeface="Calibri" pitchFamily="34" charset="-122"/>
                <a:cs typeface="Calibri" pitchFamily="34" charset="-120"/>
              </a:rPr>
              <a:t>1B, 4B, 12B, 27B</a:t>
            </a:r>
            <a:r>
              <a:rPr lang="en-US" sz="1600" dirty="0">
                <a:solidFill>
                  <a:srgbClr val="1B2433"/>
                </a:solidFill>
                <a:latin typeface="Calibri" pitchFamily="34" charset="0"/>
                <a:ea typeface="Calibri" pitchFamily="34" charset="-122"/>
                <a:cs typeface="Calibri" pitchFamily="34" charset="-120"/>
              </a:rPr>
              <a:t>: does a bigger model behave differently?</a:t>
            </a:r>
            <a:endParaRPr lang="en-US" sz="1600" dirty="0"/>
          </a:p>
        </p:txBody>
      </p:sp>
      <p:sp>
        <p:nvSpPr>
          <p:cNvPr id="12" name="Shape 9"/>
          <p:cNvSpPr/>
          <p:nvPr/>
        </p:nvSpPr>
        <p:spPr>
          <a:xfrm>
            <a:off x="4297680" y="1737360"/>
            <a:ext cx="3566160" cy="1828800"/>
          </a:xfrm>
          <a:prstGeom prst="roundRect">
            <a:avLst>
              <a:gd name="adj" fmla="val 4000"/>
            </a:avLst>
          </a:prstGeom>
          <a:solidFill>
            <a:srgbClr val="F2F4F8"/>
          </a:solidFill>
          <a:ln w="12700">
            <a:solidFill>
              <a:srgbClr val="F2F4F8"/>
            </a:solidFill>
            <a:prstDash val="solid"/>
          </a:ln>
        </p:spPr>
      </p:sp>
      <p:sp>
        <p:nvSpPr>
          <p:cNvPr id="13" name="Text 10"/>
          <p:cNvSpPr/>
          <p:nvPr/>
        </p:nvSpPr>
        <p:spPr>
          <a:xfrm>
            <a:off x="4498848" y="1883664"/>
            <a:ext cx="3163824" cy="411480"/>
          </a:xfrm>
          <a:prstGeom prst="rect">
            <a:avLst/>
          </a:prstGeom>
          <a:noFill/>
          <a:ln/>
        </p:spPr>
        <p:txBody>
          <a:bodyPr wrap="square" lIns="0" tIns="0" rIns="0" bIns="0" rtlCol="0" anchor="t"/>
          <a:lstStyle/>
          <a:p>
            <a:pPr indent="0" marL="0">
              <a:buNone/>
            </a:pPr>
            <a:r>
              <a:rPr lang="en-US" sz="2000" b="1" dirty="0">
                <a:solidFill>
                  <a:srgbClr val="1B2433"/>
                </a:solidFill>
                <a:latin typeface="Calibri" pitchFamily="34" charset="0"/>
                <a:ea typeface="Calibri" pitchFamily="34" charset="-122"/>
                <a:cs typeface="Calibri" pitchFamily="34" charset="-120"/>
              </a:rPr>
              <a:t>Family</a:t>
            </a:r>
            <a:endParaRPr lang="en-US" sz="2000" dirty="0"/>
          </a:p>
        </p:txBody>
      </p:sp>
      <p:sp>
        <p:nvSpPr>
          <p:cNvPr id="14" name="Text 11"/>
          <p:cNvSpPr/>
          <p:nvPr/>
        </p:nvSpPr>
        <p:spPr>
          <a:xfrm>
            <a:off x="4498848" y="2295144"/>
            <a:ext cx="3163824" cy="1124712"/>
          </a:xfrm>
          <a:prstGeom prst="rect">
            <a:avLst/>
          </a:prstGeom>
          <a:noFill/>
          <a:ln/>
        </p:spPr>
        <p:txBody>
          <a:bodyPr wrap="square" lIns="0" tIns="0" rIns="0" bIns="0" rtlCol="0" anchor="t"/>
          <a:lstStyle/>
          <a:p>
            <a:pPr indent="0" marL="0">
              <a:spcAft>
                <a:spcPts val="500"/>
              </a:spcAft>
              <a:buNone/>
            </a:pPr>
            <a:r>
              <a:rPr lang="en-US" sz="1600" b="1" dirty="0">
                <a:solidFill>
                  <a:srgbClr val="1B2433"/>
                </a:solidFill>
                <a:latin typeface="Calibri" pitchFamily="34" charset="0"/>
                <a:ea typeface="Calibri" pitchFamily="34" charset="-122"/>
                <a:cs typeface="Calibri" pitchFamily="34" charset="-120"/>
              </a:rPr>
              <a:t>Qwen3</a:t>
            </a:r>
            <a:r>
              <a:rPr lang="en-US" sz="1600" dirty="0">
                <a:solidFill>
                  <a:srgbClr val="1B2433"/>
                </a:solidFill>
                <a:latin typeface="Calibri" pitchFamily="34" charset="0"/>
                <a:ea typeface="Calibri" pitchFamily="34" charset="-122"/>
                <a:cs typeface="Calibri" pitchFamily="34" charset="-120"/>
              </a:rPr>
              <a:t> (three sizes) and </a:t>
            </a:r>
            <a:r>
              <a:rPr lang="en-US" sz="1600" b="1" dirty="0">
                <a:solidFill>
                  <a:srgbClr val="1B2433"/>
                </a:solidFill>
                <a:latin typeface="Calibri" pitchFamily="34" charset="0"/>
                <a:ea typeface="Calibri" pitchFamily="34" charset="-122"/>
                <a:cs typeface="Calibri" pitchFamily="34" charset="-120"/>
              </a:rPr>
              <a:t>Llama 3.1</a:t>
            </a:r>
            <a:r>
              <a:rPr lang="en-US" sz="1600" dirty="0">
                <a:solidFill>
                  <a:srgbClr val="1B2433"/>
                </a:solidFill>
                <a:latin typeface="Calibri" pitchFamily="34" charset="0"/>
                <a:ea typeface="Calibri" pitchFamily="34" charset="-122"/>
                <a:cs typeface="Calibri" pitchFamily="34" charset="-120"/>
              </a:rPr>
              <a:t>: do different model families behave differently at similar size?</a:t>
            </a:r>
            <a:endParaRPr lang="en-US" sz="1600" dirty="0"/>
          </a:p>
        </p:txBody>
      </p:sp>
      <p:sp>
        <p:nvSpPr>
          <p:cNvPr id="15" name="Shape 12"/>
          <p:cNvSpPr/>
          <p:nvPr/>
        </p:nvSpPr>
        <p:spPr>
          <a:xfrm>
            <a:off x="8046720" y="1737360"/>
            <a:ext cx="3566160" cy="1828800"/>
          </a:xfrm>
          <a:prstGeom prst="roundRect">
            <a:avLst>
              <a:gd name="adj" fmla="val 4000"/>
            </a:avLst>
          </a:prstGeom>
          <a:solidFill>
            <a:srgbClr val="F2F4F8"/>
          </a:solidFill>
          <a:ln w="12700">
            <a:solidFill>
              <a:srgbClr val="F2F4F8"/>
            </a:solidFill>
            <a:prstDash val="solid"/>
          </a:ln>
        </p:spPr>
      </p:sp>
      <p:sp>
        <p:nvSpPr>
          <p:cNvPr id="16" name="Text 13"/>
          <p:cNvSpPr/>
          <p:nvPr/>
        </p:nvSpPr>
        <p:spPr>
          <a:xfrm>
            <a:off x="8247888" y="1883664"/>
            <a:ext cx="3163824" cy="411480"/>
          </a:xfrm>
          <a:prstGeom prst="rect">
            <a:avLst/>
          </a:prstGeom>
          <a:noFill/>
          <a:ln/>
        </p:spPr>
        <p:txBody>
          <a:bodyPr wrap="square" lIns="0" tIns="0" rIns="0" bIns="0" rtlCol="0" anchor="t"/>
          <a:lstStyle/>
          <a:p>
            <a:pPr indent="0" marL="0">
              <a:buNone/>
            </a:pPr>
            <a:r>
              <a:rPr lang="en-US" sz="2000" b="1" dirty="0">
                <a:solidFill>
                  <a:srgbClr val="1B2433"/>
                </a:solidFill>
                <a:latin typeface="Calibri" pitchFamily="34" charset="0"/>
                <a:ea typeface="Calibri" pitchFamily="34" charset="-122"/>
                <a:cs typeface="Calibri" pitchFamily="34" charset="-120"/>
              </a:rPr>
              <a:t>Architecture</a:t>
            </a:r>
            <a:endParaRPr lang="en-US" sz="2000" dirty="0"/>
          </a:p>
        </p:txBody>
      </p:sp>
      <p:sp>
        <p:nvSpPr>
          <p:cNvPr id="17" name="Text 14"/>
          <p:cNvSpPr/>
          <p:nvPr/>
        </p:nvSpPr>
        <p:spPr>
          <a:xfrm>
            <a:off x="8247888" y="2295144"/>
            <a:ext cx="3163824" cy="1124712"/>
          </a:xfrm>
          <a:prstGeom prst="rect">
            <a:avLst/>
          </a:prstGeom>
          <a:noFill/>
          <a:ln/>
        </p:spPr>
        <p:txBody>
          <a:bodyPr wrap="square" lIns="0" tIns="0" rIns="0" bIns="0" rtlCol="0" anchor="t"/>
          <a:lstStyle/>
          <a:p>
            <a:pPr indent="0" marL="0">
              <a:spcAft>
                <a:spcPts val="500"/>
              </a:spcAft>
              <a:buNone/>
            </a:pPr>
            <a:r>
              <a:rPr lang="en-US" sz="1600" dirty="0">
                <a:solidFill>
                  <a:srgbClr val="1B2433"/>
                </a:solidFill>
                <a:latin typeface="Calibri" pitchFamily="34" charset="0"/>
                <a:ea typeface="Calibri" pitchFamily="34" charset="-122"/>
                <a:cs typeface="Calibri" pitchFamily="34" charset="-120"/>
              </a:rPr>
              <a:t>Dedicated MT (</a:t>
            </a:r>
            <a:r>
              <a:rPr lang="en-US" sz="1600" b="1" dirty="0">
                <a:solidFill>
                  <a:srgbClr val="1B2433"/>
                </a:solidFill>
                <a:latin typeface="Calibri" pitchFamily="34" charset="0"/>
                <a:ea typeface="Calibri" pitchFamily="34" charset="-122"/>
                <a:cs typeface="Calibri" pitchFamily="34" charset="-120"/>
              </a:rPr>
              <a:t>NLLB-200, IndicTrans2</a:t>
            </a:r>
            <a:r>
              <a:rPr lang="en-US" sz="1600" dirty="0">
                <a:solidFill>
                  <a:srgbClr val="1B2433"/>
                </a:solidFill>
                <a:latin typeface="Calibri" pitchFamily="34" charset="0"/>
                <a:ea typeface="Calibri" pitchFamily="34" charset="-122"/>
                <a:cs typeface="Calibri" pitchFamily="34" charset="-120"/>
              </a:rPr>
              <a:t>) vs prompted language models.</a:t>
            </a:r>
            <a:endParaRPr lang="en-US" sz="1600" dirty="0"/>
          </a:p>
        </p:txBody>
      </p:sp>
      <p:sp>
        <p:nvSpPr>
          <p:cNvPr id="18" name="Shape 15"/>
          <p:cNvSpPr/>
          <p:nvPr/>
        </p:nvSpPr>
        <p:spPr>
          <a:xfrm>
            <a:off x="548640" y="3749040"/>
            <a:ext cx="11064240" cy="1371600"/>
          </a:xfrm>
          <a:prstGeom prst="roundRect">
            <a:avLst>
              <a:gd name="adj" fmla="val 5333"/>
            </a:avLst>
          </a:prstGeom>
          <a:solidFill>
            <a:srgbClr val="EFE3F5"/>
          </a:solidFill>
          <a:ln w="12700">
            <a:solidFill>
              <a:srgbClr val="EFE3F5"/>
            </a:solidFill>
            <a:prstDash val="solid"/>
          </a:ln>
        </p:spPr>
      </p:sp>
      <p:sp>
        <p:nvSpPr>
          <p:cNvPr id="19" name="Text 16"/>
          <p:cNvSpPr/>
          <p:nvPr/>
        </p:nvSpPr>
        <p:spPr>
          <a:xfrm>
            <a:off x="749808" y="3895344"/>
            <a:ext cx="1066190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Bonus comparison: Sarvam-Translate vs Gemma 3 4B</a:t>
            </a:r>
            <a:endParaRPr lang="en-US" sz="1700" dirty="0"/>
          </a:p>
        </p:txBody>
      </p:sp>
      <p:sp>
        <p:nvSpPr>
          <p:cNvPr id="20" name="Text 17"/>
          <p:cNvSpPr/>
          <p:nvPr/>
        </p:nvSpPr>
        <p:spPr>
          <a:xfrm>
            <a:off x="749808" y="4306824"/>
            <a:ext cx="10661904" cy="66751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Sarvam-Translate is Gemma 3 4B with extra translation training for Indian languages. Comparing the two shows what that </a:t>
            </a:r>
            <a:r>
              <a:rPr lang="en-US" sz="1500" b="1" dirty="0">
                <a:solidFill>
                  <a:srgbClr val="1B2433"/>
                </a:solidFill>
                <a:latin typeface="Calibri" pitchFamily="34" charset="0"/>
                <a:ea typeface="Calibri" pitchFamily="34" charset="-122"/>
                <a:cs typeface="Calibri" pitchFamily="34" charset="-120"/>
              </a:rPr>
              <a:t>extra translation training alone</a:t>
            </a:r>
            <a:r>
              <a:rPr lang="en-US" sz="1500" dirty="0">
                <a:solidFill>
                  <a:srgbClr val="1B2433"/>
                </a:solidFill>
                <a:latin typeface="Calibri" pitchFamily="34" charset="0"/>
                <a:ea typeface="Calibri" pitchFamily="34" charset="-122"/>
                <a:cs typeface="Calibri" pitchFamily="34" charset="-120"/>
              </a:rPr>
              <a:t> changes.</a:t>
            </a:r>
            <a:endParaRPr lang="en-US" sz="1500" dirty="0"/>
          </a:p>
        </p:txBody>
      </p:sp>
      <p:sp>
        <p:nvSpPr>
          <p:cNvPr id="21" name="Shape 18"/>
          <p:cNvSpPr/>
          <p:nvPr/>
        </p:nvSpPr>
        <p:spPr>
          <a:xfrm>
            <a:off x="548640" y="5349240"/>
            <a:ext cx="11064240" cy="502920"/>
          </a:xfrm>
          <a:prstGeom prst="roundRect">
            <a:avLst>
              <a:gd name="adj" fmla="val 14545"/>
            </a:avLst>
          </a:prstGeom>
          <a:solidFill>
            <a:srgbClr val="FBEBD2"/>
          </a:solidFill>
          <a:ln w="12700">
            <a:solidFill>
              <a:srgbClr val="E39B2D"/>
            </a:solidFill>
            <a:prstDash val="solid"/>
          </a:ln>
        </p:spPr>
      </p:sp>
      <p:sp>
        <p:nvSpPr>
          <p:cNvPr id="22" name="Text 19"/>
          <p:cNvSpPr/>
          <p:nvPr/>
        </p:nvSpPr>
        <p:spPr>
          <a:xfrm>
            <a:off x="777240" y="5349240"/>
            <a:ext cx="10607040" cy="50292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The goal is </a:t>
            </a:r>
            <a:r>
              <a:rPr lang="en-US" sz="1500" b="1" dirty="0">
                <a:solidFill>
                  <a:srgbClr val="1B2433"/>
                </a:solidFill>
                <a:latin typeface="Calibri" pitchFamily="34" charset="0"/>
                <a:ea typeface="Calibri" pitchFamily="34" charset="-122"/>
                <a:cs typeface="Calibri" pitchFamily="34" charset="-120"/>
              </a:rPr>
              <a:t>comparisons</a:t>
            </a:r>
            <a:r>
              <a:rPr lang="en-US" sz="1500" dirty="0">
                <a:solidFill>
                  <a:srgbClr val="1B2433"/>
                </a:solidFill>
                <a:latin typeface="Calibri" pitchFamily="34" charset="0"/>
                <a:ea typeface="Calibri" pitchFamily="34" charset="-122"/>
                <a:cs typeface="Calibri" pitchFamily="34" charset="-120"/>
              </a:rPr>
              <a:t>, not a leaderboard. No commercial frontier system was included, by decision.</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4</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EXPERIMENT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How the systems were run</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40</a:t>
            </a:r>
            <a:endParaRPr lang="en-US" sz="900" dirty="0"/>
          </a:p>
        </p:txBody>
      </p:sp>
      <p:sp>
        <p:nvSpPr>
          <p:cNvPr id="9" name="Text 6"/>
          <p:cNvSpPr/>
          <p:nvPr/>
        </p:nvSpPr>
        <p:spPr>
          <a:xfrm>
            <a:off x="548640" y="1691640"/>
            <a:ext cx="11064240" cy="4389120"/>
          </a:xfrm>
          <a:prstGeom prst="rect">
            <a:avLst/>
          </a:prstGeom>
          <a:noFill/>
          <a:ln/>
        </p:spPr>
        <p:txBody>
          <a:bodyPr wrap="square" lIns="0" tIns="0" rIns="0" bIns="0" rtlCol="0" anchor="t"/>
          <a:lstStyle/>
          <a:p>
            <a:pPr marL="228600" indent="-228600">
              <a:lnSpc>
                <a:spcPct val="105000"/>
              </a:lnSpc>
              <a:spcAft>
                <a:spcPts val="1600"/>
              </a:spcAft>
              <a:buSzPct val="100000"/>
              <a:buChar char="•"/>
            </a:pPr>
            <a:r>
              <a:rPr lang="en-US" sz="2000" b="1" dirty="0">
                <a:solidFill>
                  <a:srgbClr val="1B2433"/>
                </a:solidFill>
                <a:latin typeface="Calibri" pitchFamily="34" charset="0"/>
                <a:ea typeface="Calibri" pitchFamily="34" charset="-122"/>
                <a:cs typeface="Calibri" pitchFamily="34" charset="-120"/>
              </a:rPr>
              <a:t>Greedy decoding</a:t>
            </a:r>
            <a:r>
              <a:rPr lang="en-US" sz="2000" dirty="0">
                <a:solidFill>
                  <a:srgbClr val="1B2433"/>
                </a:solidFill>
                <a:latin typeface="Calibri" pitchFamily="34" charset="0"/>
                <a:ea typeface="Calibri" pitchFamily="34" charset="-122"/>
                <a:cs typeface="Calibri" pitchFamily="34" charset="-120"/>
              </a:rPr>
              <a:t> for the language models: always take the single most likely next word, so results are repeatable.</a:t>
            </a:r>
            <a:endParaRPr lang="en-US" sz="2000" dirty="0"/>
          </a:p>
          <a:p>
            <a:pPr marL="228600" indent="-228600">
              <a:lnSpc>
                <a:spcPct val="105000"/>
              </a:lnSpc>
              <a:spcAft>
                <a:spcPts val="1600"/>
              </a:spcAft>
              <a:buSzPct val="100000"/>
              <a:buChar char="•"/>
            </a:pPr>
            <a:r>
              <a:rPr lang="en-US" sz="2000" b="1" dirty="0">
                <a:solidFill>
                  <a:srgbClr val="1B2433"/>
                </a:solidFill>
                <a:latin typeface="Calibri" pitchFamily="34" charset="0"/>
                <a:ea typeface="Calibri" pitchFamily="34" charset="-122"/>
                <a:cs typeface="Calibri" pitchFamily="34" charset="-120"/>
              </a:rPr>
              <a:t>Beam search</a:t>
            </a:r>
            <a:r>
              <a:rPr lang="en-US" sz="2000" dirty="0">
                <a:solidFill>
                  <a:srgbClr val="1B2433"/>
                </a:solidFill>
                <a:latin typeface="Calibri" pitchFamily="34" charset="0"/>
                <a:ea typeface="Calibri" pitchFamily="34" charset="-122"/>
                <a:cs typeface="Calibri" pitchFamily="34" charset="-120"/>
              </a:rPr>
              <a:t> for the two dedicated MT systems (it keeps several candidate translations at once and picks the best), at their standard settings.</a:t>
            </a:r>
            <a:endParaRPr lang="en-US" sz="2000" dirty="0"/>
          </a:p>
          <a:p>
            <a:pPr marL="228600" indent="-228600">
              <a:lnSpc>
                <a:spcPct val="105000"/>
              </a:lnSpc>
              <a:spcAft>
                <a:spcPts val="1600"/>
              </a:spcAft>
              <a:buSzPct val="100000"/>
              <a:buChar char="•"/>
            </a:pPr>
            <a:r>
              <a:rPr lang="en-US" sz="2000" b="1" dirty="0">
                <a:solidFill>
                  <a:srgbClr val="1B2433"/>
                </a:solidFill>
                <a:latin typeface="Calibri" pitchFamily="34" charset="0"/>
                <a:ea typeface="Calibri" pitchFamily="34" charset="-122"/>
                <a:cs typeface="Calibri" pitchFamily="34" charset="-120"/>
              </a:rPr>
              <a:t>37 runs</a:t>
            </a:r>
            <a:r>
              <a:rPr lang="en-US" sz="2000" dirty="0">
                <a:solidFill>
                  <a:srgbClr val="1B2433"/>
                </a:solidFill>
                <a:latin typeface="Calibri" pitchFamily="34" charset="0"/>
                <a:ea typeface="Calibri" pitchFamily="34" charset="-122"/>
                <a:cs typeface="Calibri" pitchFamily="34" charset="-120"/>
              </a:rPr>
              <a:t>, fixed seed 20260807; each run records the exact model version, configuration and decoding settings.</a:t>
            </a:r>
            <a:endParaRPr lang="en-US" sz="2000" dirty="0"/>
          </a:p>
          <a:p>
            <a:pPr marL="228600" indent="-228600">
              <a:lnSpc>
                <a:spcPct val="105000"/>
              </a:lnSpc>
              <a:spcAft>
                <a:spcPts val="1600"/>
              </a:spcAft>
              <a:buSzPct val="100000"/>
              <a:buChar char="•"/>
            </a:pPr>
            <a:r>
              <a:rPr lang="en-US" sz="2000" b="1" dirty="0">
                <a:solidFill>
                  <a:srgbClr val="1B2433"/>
                </a:solidFill>
                <a:latin typeface="Calibri" pitchFamily="34" charset="0"/>
                <a:ea typeface="Calibri" pitchFamily="34" charset="-122"/>
                <a:cs typeface="Calibri" pitchFamily="34" charset="-120"/>
              </a:rPr>
              <a:t>We score the text each system actually writes.</a:t>
            </a:r>
            <a:r>
              <a:rPr lang="en-US" sz="2000" dirty="0">
                <a:solidFill>
                  <a:srgbClr val="1B2433"/>
                </a:solidFill>
                <a:latin typeface="Calibri" pitchFamily="34" charset="0"/>
                <a:ea typeface="Calibri" pitchFamily="34" charset="-122"/>
                <a:cs typeface="Calibri" pitchFamily="34" charset="-120"/>
              </a:rPr>
              <a:t> Asking which of two answers it prefers would need hidden internal numbers that many systems do not share.</a:t>
            </a:r>
            <a:endParaRPr lang="en-US" sz="2000" dirty="0"/>
          </a:p>
          <a:p>
            <a:pPr marL="228600" indent="-228600">
              <a:lnSpc>
                <a:spcPct val="105000"/>
              </a:lnSpc>
              <a:spcAft>
                <a:spcPts val="1600"/>
              </a:spcAft>
              <a:buSzPct val="100000"/>
              <a:buChar char="•"/>
            </a:pPr>
            <a:r>
              <a:rPr lang="en-US" sz="2000" dirty="0">
                <a:solidFill>
                  <a:srgbClr val="1B2433"/>
                </a:solidFill>
                <a:latin typeface="Calibri" pitchFamily="34" charset="0"/>
                <a:ea typeface="Calibri" pitchFamily="34" charset="-122"/>
                <a:cs typeface="Calibri" pitchFamily="34" charset="-120"/>
              </a:rPr>
              <a:t>An automatic check makes the build </a:t>
            </a:r>
            <a:r>
              <a:rPr lang="en-US" sz="2000" b="1" dirty="0">
                <a:solidFill>
                  <a:srgbClr val="1B2433"/>
                </a:solidFill>
                <a:latin typeface="Calibri" pitchFamily="34" charset="0"/>
                <a:ea typeface="Calibri" pitchFamily="34" charset="-122"/>
                <a:cs typeface="Calibri" pitchFamily="34" charset="-120"/>
              </a:rPr>
              <a:t>fail</a:t>
            </a:r>
            <a:r>
              <a:rPr lang="en-US" sz="2000" dirty="0">
                <a:solidFill>
                  <a:srgbClr val="1B2433"/>
                </a:solidFill>
                <a:latin typeface="Calibri" pitchFamily="34" charset="0"/>
                <a:ea typeface="Calibri" pitchFamily="34" charset="-122"/>
                <a:cs typeface="Calibri" pitchFamily="34" charset="-120"/>
              </a:rPr>
              <a:t> if any of the 13 systems is missing from any headline table.</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4</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EXPERIMENT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Prompt wording changes the numbers a lot</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41</a:t>
            </a:r>
            <a:endParaRPr lang="en-US" sz="900" dirty="0"/>
          </a:p>
        </p:txBody>
      </p:sp>
      <p:sp>
        <p:nvSpPr>
          <p:cNvPr id="9" name="Shape 6"/>
          <p:cNvSpPr/>
          <p:nvPr/>
        </p:nvSpPr>
        <p:spPr>
          <a:xfrm>
            <a:off x="548640" y="1737360"/>
            <a:ext cx="5120640" cy="2834640"/>
          </a:xfrm>
          <a:prstGeom prst="roundRect">
            <a:avLst>
              <a:gd name="adj" fmla="val 2581"/>
            </a:avLst>
          </a:prstGeom>
          <a:solidFill>
            <a:srgbClr val="F2F4F8"/>
          </a:solidFill>
          <a:ln w="12700">
            <a:solidFill>
              <a:srgbClr val="F2F4F8"/>
            </a:solidFill>
            <a:prstDash val="solid"/>
          </a:ln>
        </p:spPr>
      </p:sp>
      <p:sp>
        <p:nvSpPr>
          <p:cNvPr id="10" name="Text 7"/>
          <p:cNvSpPr/>
          <p:nvPr/>
        </p:nvSpPr>
        <p:spPr>
          <a:xfrm>
            <a:off x="777240" y="1828800"/>
            <a:ext cx="4754880" cy="365760"/>
          </a:xfrm>
          <a:prstGeom prst="rect">
            <a:avLst/>
          </a:prstGeom>
          <a:noFill/>
          <a:ln/>
        </p:spPr>
        <p:txBody>
          <a:bodyPr wrap="square" lIns="0" tIns="0" rIns="0" bIns="0" rtlCol="0" anchor="t"/>
          <a:lstStyle/>
          <a:p>
            <a:pPr algn="l" indent="0" marL="0">
              <a:lnSpc>
                <a:spcPct val="100000"/>
              </a:lnSpc>
              <a:buNone/>
            </a:pPr>
            <a:r>
              <a:rPr lang="en-US" sz="1500" b="1" dirty="0">
                <a:solidFill>
                  <a:srgbClr val="5B6577"/>
                </a:solidFill>
                <a:latin typeface="Calibri" pitchFamily="34" charset="0"/>
                <a:ea typeface="Calibri" pitchFamily="34" charset="-122"/>
                <a:cs typeface="Calibri" pitchFamily="34" charset="-120"/>
              </a:rPr>
              <a:t>Spread between prompts, over 73 cells</a:t>
            </a:r>
            <a:endParaRPr lang="en-US" sz="1500" dirty="0"/>
          </a:p>
        </p:txBody>
      </p:sp>
      <p:sp>
        <p:nvSpPr>
          <p:cNvPr id="11" name="Text 8"/>
          <p:cNvSpPr/>
          <p:nvPr/>
        </p:nvSpPr>
        <p:spPr>
          <a:xfrm>
            <a:off x="777240" y="2286000"/>
            <a:ext cx="2194560" cy="1097280"/>
          </a:xfrm>
          <a:prstGeom prst="rect">
            <a:avLst/>
          </a:prstGeom>
          <a:noFill/>
          <a:ln/>
        </p:spPr>
        <p:txBody>
          <a:bodyPr wrap="square" lIns="0" tIns="0" rIns="0" bIns="0" rtlCol="0" anchor="t"/>
          <a:lstStyle/>
          <a:p>
            <a:pPr algn="l" indent="0" marL="0">
              <a:lnSpc>
                <a:spcPct val="100000"/>
              </a:lnSpc>
              <a:buNone/>
            </a:pPr>
            <a:r>
              <a:rPr lang="en-US" sz="6000" b="1" dirty="0">
                <a:solidFill>
                  <a:srgbClr val="0072B2"/>
                </a:solidFill>
                <a:latin typeface="Calibri" pitchFamily="34" charset="0"/>
                <a:ea typeface="Calibri" pitchFamily="34" charset="-122"/>
                <a:cs typeface="Calibri" pitchFamily="34" charset="-120"/>
              </a:rPr>
              <a:t>7.5</a:t>
            </a:r>
            <a:endParaRPr lang="en-US" sz="6000" dirty="0"/>
          </a:p>
        </p:txBody>
      </p:sp>
      <p:sp>
        <p:nvSpPr>
          <p:cNvPr id="12" name="Text 9"/>
          <p:cNvSpPr/>
          <p:nvPr/>
        </p:nvSpPr>
        <p:spPr>
          <a:xfrm>
            <a:off x="777240" y="3383280"/>
            <a:ext cx="2286000" cy="73152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percentage points: the typical (median) spread</a:t>
            </a:r>
            <a:endParaRPr lang="en-US" sz="1400" dirty="0"/>
          </a:p>
        </p:txBody>
      </p:sp>
      <p:sp>
        <p:nvSpPr>
          <p:cNvPr id="13" name="Text 10"/>
          <p:cNvSpPr/>
          <p:nvPr/>
        </p:nvSpPr>
        <p:spPr>
          <a:xfrm>
            <a:off x="3063240" y="2286000"/>
            <a:ext cx="2468880" cy="1097280"/>
          </a:xfrm>
          <a:prstGeom prst="rect">
            <a:avLst/>
          </a:prstGeom>
          <a:noFill/>
          <a:ln/>
        </p:spPr>
        <p:txBody>
          <a:bodyPr wrap="square" lIns="0" tIns="0" rIns="0" bIns="0" rtlCol="0" anchor="t"/>
          <a:lstStyle/>
          <a:p>
            <a:pPr algn="l" indent="0" marL="0">
              <a:lnSpc>
                <a:spcPct val="100000"/>
              </a:lnSpc>
              <a:buNone/>
            </a:pPr>
            <a:r>
              <a:rPr lang="en-US" sz="6000" b="1" dirty="0">
                <a:solidFill>
                  <a:srgbClr val="D55E00"/>
                </a:solidFill>
                <a:latin typeface="Calibri" pitchFamily="34" charset="0"/>
                <a:ea typeface="Calibri" pitchFamily="34" charset="-122"/>
                <a:cs typeface="Calibri" pitchFamily="34" charset="-120"/>
              </a:rPr>
              <a:t>82.5</a:t>
            </a:r>
            <a:endParaRPr lang="en-US" sz="6000" dirty="0"/>
          </a:p>
        </p:txBody>
      </p:sp>
      <p:sp>
        <p:nvSpPr>
          <p:cNvPr id="14" name="Text 11"/>
          <p:cNvSpPr/>
          <p:nvPr/>
        </p:nvSpPr>
        <p:spPr>
          <a:xfrm>
            <a:off x="3063240" y="3383280"/>
            <a:ext cx="2377440" cy="73152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percentage points: the worst case</a:t>
            </a:r>
            <a:endParaRPr lang="en-US" sz="1400" dirty="0"/>
          </a:p>
        </p:txBody>
      </p:sp>
      <p:sp>
        <p:nvSpPr>
          <p:cNvPr id="15" name="Shape 12"/>
          <p:cNvSpPr/>
          <p:nvPr/>
        </p:nvSpPr>
        <p:spPr>
          <a:xfrm>
            <a:off x="5943600" y="1737360"/>
            <a:ext cx="5669280" cy="2834640"/>
          </a:xfrm>
          <a:prstGeom prst="roundRect">
            <a:avLst>
              <a:gd name="adj" fmla="val 2581"/>
            </a:avLst>
          </a:prstGeom>
          <a:solidFill>
            <a:srgbClr val="FFFFFF"/>
          </a:solidFill>
          <a:ln w="15875">
            <a:solidFill>
              <a:srgbClr val="D5DAE3"/>
            </a:solidFill>
            <a:prstDash val="solid"/>
          </a:ln>
        </p:spPr>
      </p:sp>
      <p:sp>
        <p:nvSpPr>
          <p:cNvPr id="16" name="Text 13"/>
          <p:cNvSpPr/>
          <p:nvPr/>
        </p:nvSpPr>
        <p:spPr>
          <a:xfrm>
            <a:off x="6172200" y="1828800"/>
            <a:ext cx="5303520" cy="365760"/>
          </a:xfrm>
          <a:prstGeom prst="rect">
            <a:avLst/>
          </a:prstGeom>
          <a:noFill/>
          <a:ln/>
        </p:spPr>
        <p:txBody>
          <a:bodyPr wrap="square" lIns="0" tIns="0" rIns="0" bIns="0" rtlCol="0" anchor="t"/>
          <a:lstStyle/>
          <a:p>
            <a:pPr algn="l" indent="0" marL="0">
              <a:lnSpc>
                <a:spcPct val="100000"/>
              </a:lnSpc>
              <a:buNone/>
            </a:pPr>
            <a:r>
              <a:rPr lang="en-US" sz="1400" b="1" dirty="0">
                <a:solidFill>
                  <a:srgbClr val="5B6577"/>
                </a:solidFill>
                <a:latin typeface="Calibri" pitchFamily="34" charset="0"/>
                <a:ea typeface="Calibri" pitchFamily="34" charset="-122"/>
                <a:cs typeface="Calibri" pitchFamily="34" charset="-120"/>
              </a:rPr>
              <a:t>Prior-sentence prompt (used for every language model)</a:t>
            </a:r>
            <a:endParaRPr lang="en-US" sz="1400" dirty="0"/>
          </a:p>
        </p:txBody>
      </p:sp>
      <p:sp>
        <p:nvSpPr>
          <p:cNvPr id="17" name="Text 14"/>
          <p:cNvSpPr/>
          <p:nvPr/>
        </p:nvSpPr>
        <p:spPr>
          <a:xfrm>
            <a:off x="6172200" y="2240280"/>
            <a:ext cx="5303520" cy="2194560"/>
          </a:xfrm>
          <a:prstGeom prst="rect">
            <a:avLst/>
          </a:prstGeom>
          <a:noFill/>
          <a:ln/>
        </p:spPr>
        <p:txBody>
          <a:bodyPr wrap="square" lIns="0" tIns="0" rIns="0" bIns="0" rtlCol="0" anchor="t"/>
          <a:lstStyle/>
          <a:p>
            <a:pPr algn="l" indent="0" marL="0">
              <a:lnSpc>
                <a:spcPct val="100000"/>
              </a:lnSpc>
              <a:buNone/>
            </a:pPr>
            <a:r>
              <a:rPr lang="en-US" sz="1500" i="1" dirty="0">
                <a:solidFill>
                  <a:srgbClr val="1B2433"/>
                </a:solidFill>
                <a:latin typeface="Calibri" pitchFamily="34" charset="0"/>
                <a:ea typeface="Calibri" pitchFamily="34" charset="-122"/>
                <a:cs typeface="Calibri" pitchFamily="34" charset="-120"/>
              </a:rPr>
              <a:t>"Translate the sentence marked TRANSLATE into Tamil. The preceding sentence is given only as context; do not translate it. Output only the Tamil translation of the marked sentence."</a:t>
            </a:r>
            <a:endParaRPr lang="en-US" sz="1500" dirty="0"/>
          </a:p>
        </p:txBody>
      </p:sp>
      <p:sp>
        <p:nvSpPr>
          <p:cNvPr id="18" name="Shape 15"/>
          <p:cNvSpPr/>
          <p:nvPr/>
        </p:nvSpPr>
        <p:spPr>
          <a:xfrm>
            <a:off x="548640" y="4892040"/>
            <a:ext cx="11064240" cy="731520"/>
          </a:xfrm>
          <a:prstGeom prst="roundRect">
            <a:avLst>
              <a:gd name="adj" fmla="val 10000"/>
            </a:avLst>
          </a:prstGeom>
          <a:solidFill>
            <a:srgbClr val="FBEBD2"/>
          </a:solidFill>
          <a:ln w="12700">
            <a:solidFill>
              <a:srgbClr val="E39B2D"/>
            </a:solidFill>
            <a:prstDash val="solid"/>
          </a:ln>
        </p:spPr>
      </p:sp>
      <p:sp>
        <p:nvSpPr>
          <p:cNvPr id="19" name="Text 16"/>
          <p:cNvSpPr/>
          <p:nvPr/>
        </p:nvSpPr>
        <p:spPr>
          <a:xfrm>
            <a:off x="777240" y="4892040"/>
            <a:ext cx="10607040" cy="73152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So each headline number uses </a:t>
            </a:r>
            <a:r>
              <a:rPr lang="en-US" sz="1500" b="1" dirty="0">
                <a:solidFill>
                  <a:srgbClr val="1B2433"/>
                </a:solidFill>
                <a:latin typeface="Calibri" pitchFamily="34" charset="0"/>
                <a:ea typeface="Calibri" pitchFamily="34" charset="-122"/>
                <a:cs typeface="Calibri" pitchFamily="34" charset="-120"/>
              </a:rPr>
              <a:t>one fixed prompt for all systems</a:t>
            </a:r>
            <a:r>
              <a:rPr lang="en-US" sz="1500" dirty="0">
                <a:solidFill>
                  <a:srgbClr val="1B2433"/>
                </a:solidFill>
                <a:latin typeface="Calibri" pitchFamily="34" charset="0"/>
                <a:ea typeface="Calibri" pitchFamily="34" charset="-122"/>
                <a:cs typeface="Calibri" pitchFamily="34" charset="-120"/>
              </a:rPr>
              <a:t>. That makes systems comparable, but each number describes a system </a:t>
            </a:r>
            <a:r>
              <a:rPr lang="en-US" sz="1500" b="1" dirty="0">
                <a:solidFill>
                  <a:srgbClr val="1B2433"/>
                </a:solidFill>
                <a:latin typeface="Calibri" pitchFamily="34" charset="0"/>
                <a:ea typeface="Calibri" pitchFamily="34" charset="-122"/>
                <a:cs typeface="Calibri" pitchFamily="34" charset="-120"/>
              </a:rPr>
              <a:t>with this prompt</a:t>
            </a:r>
            <a:r>
              <a:rPr lang="en-US" sz="1500" dirty="0">
                <a:solidFill>
                  <a:srgbClr val="1B2433"/>
                </a:solidFill>
                <a:latin typeface="Calibri" pitchFamily="34" charset="0"/>
                <a:ea typeface="Calibri" pitchFamily="34" charset="-122"/>
                <a:cs typeface="Calibri" pitchFamily="34" charset="-120"/>
              </a:rPr>
              <a:t>, not the system in general.</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4</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EXPERIMENT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The cue-free case: comparing with ordinary Tamil text</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42</a:t>
            </a:r>
            <a:endParaRPr lang="en-US" sz="900" dirty="0"/>
          </a:p>
        </p:txBody>
      </p:sp>
      <p:sp>
        <p:nvSpPr>
          <p:cNvPr id="9" name="Shape 6"/>
          <p:cNvSpPr/>
          <p:nvPr/>
        </p:nvSpPr>
        <p:spPr>
          <a:xfrm>
            <a:off x="548640" y="1737360"/>
            <a:ext cx="5394960" cy="1417320"/>
          </a:xfrm>
          <a:prstGeom prst="roundRect">
            <a:avLst>
              <a:gd name="adj" fmla="val 5161"/>
            </a:avLst>
          </a:prstGeom>
          <a:solidFill>
            <a:srgbClr val="F2F4F8"/>
          </a:solidFill>
          <a:ln w="12700">
            <a:solidFill>
              <a:srgbClr val="F2F4F8"/>
            </a:solidFill>
            <a:prstDash val="solid"/>
          </a:ln>
        </p:spPr>
      </p:sp>
      <p:sp>
        <p:nvSpPr>
          <p:cNvPr id="10" name="Text 7"/>
          <p:cNvSpPr/>
          <p:nvPr/>
        </p:nvSpPr>
        <p:spPr>
          <a:xfrm>
            <a:off x="749808" y="1883664"/>
            <a:ext cx="4992624" cy="411480"/>
          </a:xfrm>
          <a:prstGeom prst="rect">
            <a:avLst/>
          </a:prstGeom>
          <a:noFill/>
          <a:ln/>
        </p:spPr>
        <p:txBody>
          <a:bodyPr wrap="square" lIns="0" tIns="0" rIns="0" bIns="0" rtlCol="0" anchor="t"/>
          <a:lstStyle/>
          <a:p>
            <a:pPr indent="0" marL="0">
              <a:buNone/>
            </a:pPr>
            <a:r>
              <a:rPr lang="en-US" sz="1900" b="1" dirty="0">
                <a:solidFill>
                  <a:srgbClr val="1B2433"/>
                </a:solidFill>
                <a:latin typeface="Calibri" pitchFamily="34" charset="0"/>
                <a:ea typeface="Calibri" pitchFamily="34" charset="-122"/>
                <a:cs typeface="Calibri" pitchFamily="34" charset="-120"/>
              </a:rPr>
              <a:t>No gold, so no accuracy</a:t>
            </a:r>
            <a:endParaRPr lang="en-US" sz="1900" dirty="0"/>
          </a:p>
        </p:txBody>
      </p:sp>
      <p:sp>
        <p:nvSpPr>
          <p:cNvPr id="11" name="Text 8"/>
          <p:cNvSpPr/>
          <p:nvPr/>
        </p:nvSpPr>
        <p:spPr>
          <a:xfrm>
            <a:off x="749808" y="2295144"/>
            <a:ext cx="4992624" cy="713232"/>
          </a:xfrm>
          <a:prstGeom prst="rect">
            <a:avLst/>
          </a:prstGeom>
          <a:noFill/>
          <a:ln/>
        </p:spPr>
        <p:txBody>
          <a:bodyPr wrap="square" lIns="0" tIns="0" rIns="0" bIns="0" rtlCol="0" anchor="t"/>
          <a:lstStyle/>
          <a:p>
            <a:pPr indent="0" marL="0">
              <a:spcAft>
                <a:spcPts val="500"/>
              </a:spcAft>
              <a:buNone/>
            </a:pPr>
            <a:r>
              <a:rPr lang="en-US" sz="1600" dirty="0">
                <a:solidFill>
                  <a:srgbClr val="1B2433"/>
                </a:solidFill>
                <a:latin typeface="Calibri" pitchFamily="34" charset="0"/>
                <a:ea typeface="Calibri" pitchFamily="34" charset="-122"/>
                <a:cs typeface="Calibri" pitchFamily="34" charset="-120"/>
              </a:rPr>
              <a:t>Instead: </a:t>
            </a:r>
            <a:r>
              <a:rPr lang="en-US" sz="1600" b="1" dirty="0">
                <a:solidFill>
                  <a:srgbClr val="1B2433"/>
                </a:solidFill>
                <a:latin typeface="Calibri" pitchFamily="34" charset="0"/>
                <a:ea typeface="Calibri" pitchFamily="34" charset="-122"/>
                <a:cs typeface="Calibri" pitchFamily="34" charset="-120"/>
              </a:rPr>
              <a:t>which value does the system pick</a:t>
            </a:r>
            <a:r>
              <a:rPr lang="en-US" sz="1600" dirty="0">
                <a:solidFill>
                  <a:srgbClr val="1B2433"/>
                </a:solidFill>
                <a:latin typeface="Calibri" pitchFamily="34" charset="0"/>
                <a:ea typeface="Calibri" pitchFamily="34" charset="-122"/>
                <a:cs typeface="Calibri" pitchFamily="34" charset="-120"/>
              </a:rPr>
              <a:t>, and how often?</a:t>
            </a:r>
            <a:endParaRPr lang="en-US" sz="1600" dirty="0"/>
          </a:p>
        </p:txBody>
      </p:sp>
      <p:sp>
        <p:nvSpPr>
          <p:cNvPr id="12" name="Shape 9"/>
          <p:cNvSpPr/>
          <p:nvPr/>
        </p:nvSpPr>
        <p:spPr>
          <a:xfrm>
            <a:off x="6217920" y="1737360"/>
            <a:ext cx="5394960" cy="1417320"/>
          </a:xfrm>
          <a:prstGeom prst="roundRect">
            <a:avLst>
              <a:gd name="adj" fmla="val 5161"/>
            </a:avLst>
          </a:prstGeom>
          <a:solidFill>
            <a:srgbClr val="F2F4F8"/>
          </a:solidFill>
          <a:ln w="12700">
            <a:solidFill>
              <a:srgbClr val="F2F4F8"/>
            </a:solidFill>
            <a:prstDash val="solid"/>
          </a:ln>
        </p:spPr>
      </p:sp>
      <p:sp>
        <p:nvSpPr>
          <p:cNvPr id="13" name="Text 10"/>
          <p:cNvSpPr/>
          <p:nvPr/>
        </p:nvSpPr>
        <p:spPr>
          <a:xfrm>
            <a:off x="6419088" y="1883664"/>
            <a:ext cx="4992624" cy="411480"/>
          </a:xfrm>
          <a:prstGeom prst="rect">
            <a:avLst/>
          </a:prstGeom>
          <a:noFill/>
          <a:ln/>
        </p:spPr>
        <p:txBody>
          <a:bodyPr wrap="square" lIns="0" tIns="0" rIns="0" bIns="0" rtlCol="0" anchor="t"/>
          <a:lstStyle/>
          <a:p>
            <a:pPr indent="0" marL="0">
              <a:buNone/>
            </a:pPr>
            <a:r>
              <a:rPr lang="en-US" sz="1900" b="1" dirty="0">
                <a:solidFill>
                  <a:srgbClr val="1B2433"/>
                </a:solidFill>
                <a:latin typeface="Calibri" pitchFamily="34" charset="0"/>
                <a:ea typeface="Calibri" pitchFamily="34" charset="-122"/>
                <a:cs typeface="Calibri" pitchFamily="34" charset="-120"/>
              </a:rPr>
              <a:t>Compare with a "corpus prior"</a:t>
            </a:r>
            <a:endParaRPr lang="en-US" sz="1900" dirty="0"/>
          </a:p>
        </p:txBody>
      </p:sp>
      <p:sp>
        <p:nvSpPr>
          <p:cNvPr id="14" name="Text 11"/>
          <p:cNvSpPr/>
          <p:nvPr/>
        </p:nvSpPr>
        <p:spPr>
          <a:xfrm>
            <a:off x="6419088" y="2295144"/>
            <a:ext cx="4992624" cy="713232"/>
          </a:xfrm>
          <a:prstGeom prst="rect">
            <a:avLst/>
          </a:prstGeom>
          <a:noFill/>
          <a:ln/>
        </p:spPr>
        <p:txBody>
          <a:bodyPr wrap="square" lIns="0" tIns="0" rIns="0" bIns="0" rtlCol="0" anchor="t"/>
          <a:lstStyle/>
          <a:p>
            <a:pPr indent="0" marL="0">
              <a:spcAft>
                <a:spcPts val="500"/>
              </a:spcAft>
              <a:buNone/>
            </a:pPr>
            <a:r>
              <a:rPr lang="en-US" sz="1600" dirty="0">
                <a:solidFill>
                  <a:srgbClr val="1B2433"/>
                </a:solidFill>
                <a:latin typeface="Calibri" pitchFamily="34" charset="0"/>
                <a:ea typeface="Calibri" pitchFamily="34" charset="-122"/>
                <a:cs typeface="Calibri" pitchFamily="34" charset="-120"/>
              </a:rPr>
              <a:t>How often each value appears in </a:t>
            </a:r>
            <a:r>
              <a:rPr lang="en-US" sz="1600" b="1" dirty="0">
                <a:solidFill>
                  <a:srgbClr val="1B2433"/>
                </a:solidFill>
                <a:latin typeface="Calibri" pitchFamily="34" charset="0"/>
                <a:ea typeface="Calibri" pitchFamily="34" charset="-122"/>
                <a:cs typeface="Calibri" pitchFamily="34" charset="-120"/>
              </a:rPr>
              <a:t>three large collections of ordinary Tamil text</a:t>
            </a:r>
            <a:r>
              <a:rPr lang="en-US" sz="1600" dirty="0">
                <a:solidFill>
                  <a:srgbClr val="1B2433"/>
                </a:solidFill>
                <a:latin typeface="Calibri" pitchFamily="34" charset="0"/>
                <a:ea typeface="Calibri" pitchFamily="34" charset="-122"/>
                <a:cs typeface="Calibri" pitchFamily="34" charset="-120"/>
              </a:rPr>
              <a:t> (corpora).</a:t>
            </a:r>
            <a:endParaRPr lang="en-US" sz="1600" dirty="0"/>
          </a:p>
        </p:txBody>
      </p:sp>
      <p:sp>
        <p:nvSpPr>
          <p:cNvPr id="15" name="Shape 12"/>
          <p:cNvSpPr/>
          <p:nvPr/>
        </p:nvSpPr>
        <p:spPr>
          <a:xfrm>
            <a:off x="548640" y="3337560"/>
            <a:ext cx="5394960" cy="1600200"/>
          </a:xfrm>
          <a:prstGeom prst="roundRect">
            <a:avLst>
              <a:gd name="adj" fmla="val 4571"/>
            </a:avLst>
          </a:prstGeom>
          <a:solidFill>
            <a:srgbClr val="FBEBD2"/>
          </a:solidFill>
          <a:ln w="12700">
            <a:solidFill>
              <a:srgbClr val="FBEBD2"/>
            </a:solidFill>
            <a:prstDash val="solid"/>
          </a:ln>
        </p:spPr>
      </p:sp>
      <p:sp>
        <p:nvSpPr>
          <p:cNvPr id="16" name="Text 13"/>
          <p:cNvSpPr/>
          <p:nvPr/>
        </p:nvSpPr>
        <p:spPr>
          <a:xfrm>
            <a:off x="749808" y="3483864"/>
            <a:ext cx="4992624" cy="411480"/>
          </a:xfrm>
          <a:prstGeom prst="rect">
            <a:avLst/>
          </a:prstGeom>
          <a:noFill/>
          <a:ln/>
        </p:spPr>
        <p:txBody>
          <a:bodyPr wrap="square" lIns="0" tIns="0" rIns="0" bIns="0" rtlCol="0" anchor="t"/>
          <a:lstStyle/>
          <a:p>
            <a:pPr indent="0" marL="0">
              <a:buNone/>
            </a:pPr>
            <a:r>
              <a:rPr lang="en-US" sz="1900" b="1" dirty="0">
                <a:solidFill>
                  <a:srgbClr val="1B2433"/>
                </a:solidFill>
                <a:latin typeface="Calibri" pitchFamily="34" charset="0"/>
                <a:ea typeface="Calibri" pitchFamily="34" charset="-122"/>
                <a:cs typeface="Calibri" pitchFamily="34" charset="-120"/>
              </a:rPr>
              <a:t>Always a range</a:t>
            </a:r>
            <a:endParaRPr lang="en-US" sz="1900" dirty="0"/>
          </a:p>
        </p:txBody>
      </p:sp>
      <p:sp>
        <p:nvSpPr>
          <p:cNvPr id="17" name="Text 14"/>
          <p:cNvSpPr/>
          <p:nvPr/>
        </p:nvSpPr>
        <p:spPr>
          <a:xfrm>
            <a:off x="749808" y="3895344"/>
            <a:ext cx="4992624" cy="896112"/>
          </a:xfrm>
          <a:prstGeom prst="rect">
            <a:avLst/>
          </a:prstGeom>
          <a:noFill/>
          <a:ln/>
        </p:spPr>
        <p:txBody>
          <a:bodyPr wrap="square" lIns="0" tIns="0" rIns="0" bIns="0" rtlCol="0" anchor="t"/>
          <a:lstStyle/>
          <a:p>
            <a:pPr indent="0" marL="0">
              <a:spcAft>
                <a:spcPts val="500"/>
              </a:spcAft>
              <a:buNone/>
            </a:pPr>
            <a:r>
              <a:rPr lang="en-US" sz="1600" dirty="0">
                <a:solidFill>
                  <a:srgbClr val="1B2433"/>
                </a:solidFill>
                <a:latin typeface="Calibri" pitchFamily="34" charset="0"/>
                <a:ea typeface="Calibri" pitchFamily="34" charset="-122"/>
                <a:cs typeface="Calibri" pitchFamily="34" charset="-120"/>
              </a:rPr>
              <a:t>The three collections disagree a lot, so we give a </a:t>
            </a:r>
            <a:r>
              <a:rPr lang="en-US" sz="1600" b="1" dirty="0">
                <a:solidFill>
                  <a:srgbClr val="1B2433"/>
                </a:solidFill>
                <a:latin typeface="Calibri" pitchFamily="34" charset="0"/>
                <a:ea typeface="Calibri" pitchFamily="34" charset="-122"/>
                <a:cs typeface="Calibri" pitchFamily="34" charset="-120"/>
              </a:rPr>
              <a:t>range</a:t>
            </a:r>
            <a:r>
              <a:rPr lang="en-US" sz="1600" dirty="0">
                <a:solidFill>
                  <a:srgbClr val="1B2433"/>
                </a:solidFill>
                <a:latin typeface="Calibri" pitchFamily="34" charset="0"/>
                <a:ea typeface="Calibri" pitchFamily="34" charset="-122"/>
                <a:cs typeface="Calibri" pitchFamily="34" charset="-120"/>
              </a:rPr>
              <a:t>, not one number: e.g. 34.5 to 69.6%.</a:t>
            </a:r>
            <a:endParaRPr lang="en-US" sz="1600" dirty="0"/>
          </a:p>
        </p:txBody>
      </p:sp>
      <p:sp>
        <p:nvSpPr>
          <p:cNvPr id="18" name="Shape 15"/>
          <p:cNvSpPr/>
          <p:nvPr/>
        </p:nvSpPr>
        <p:spPr>
          <a:xfrm>
            <a:off x="6217920" y="3337560"/>
            <a:ext cx="5394960" cy="1600200"/>
          </a:xfrm>
          <a:prstGeom prst="roundRect">
            <a:avLst>
              <a:gd name="adj" fmla="val 4571"/>
            </a:avLst>
          </a:prstGeom>
          <a:solidFill>
            <a:srgbClr val="F2F4F8"/>
          </a:solidFill>
          <a:ln w="12700">
            <a:solidFill>
              <a:srgbClr val="F2F4F8"/>
            </a:solidFill>
            <a:prstDash val="solid"/>
          </a:ln>
        </p:spPr>
      </p:sp>
      <p:sp>
        <p:nvSpPr>
          <p:cNvPr id="19" name="Text 16"/>
          <p:cNvSpPr/>
          <p:nvPr/>
        </p:nvSpPr>
        <p:spPr>
          <a:xfrm>
            <a:off x="6419088" y="3483864"/>
            <a:ext cx="4992624" cy="411480"/>
          </a:xfrm>
          <a:prstGeom prst="rect">
            <a:avLst/>
          </a:prstGeom>
          <a:noFill/>
          <a:ln/>
        </p:spPr>
        <p:txBody>
          <a:bodyPr wrap="square" lIns="0" tIns="0" rIns="0" bIns="0" rtlCol="0" anchor="t"/>
          <a:lstStyle/>
          <a:p>
            <a:pPr indent="0" marL="0">
              <a:buNone/>
            </a:pPr>
            <a:r>
              <a:rPr lang="en-US" sz="1900" b="1" dirty="0">
                <a:solidFill>
                  <a:srgbClr val="1B2433"/>
                </a:solidFill>
                <a:latin typeface="Calibri" pitchFamily="34" charset="0"/>
                <a:ea typeface="Calibri" pitchFamily="34" charset="-122"/>
                <a:cs typeface="Calibri" pitchFamily="34" charset="-120"/>
              </a:rPr>
              <a:t>What we can and cannot say</a:t>
            </a:r>
            <a:endParaRPr lang="en-US" sz="1900" dirty="0"/>
          </a:p>
        </p:txBody>
      </p:sp>
      <p:sp>
        <p:nvSpPr>
          <p:cNvPr id="20" name="Text 17"/>
          <p:cNvSpPr/>
          <p:nvPr/>
        </p:nvSpPr>
        <p:spPr>
          <a:xfrm>
            <a:off x="6419088" y="3895344"/>
            <a:ext cx="4992624" cy="896112"/>
          </a:xfrm>
          <a:prstGeom prst="rect">
            <a:avLst/>
          </a:prstGeom>
          <a:noFill/>
          <a:ln/>
        </p:spPr>
        <p:txBody>
          <a:bodyPr wrap="square" lIns="0" tIns="0" rIns="0" bIns="0" rtlCol="0" anchor="t"/>
          <a:lstStyle/>
          <a:p>
            <a:pPr indent="0" marL="0">
              <a:spcAft>
                <a:spcPts val="500"/>
              </a:spcAft>
              <a:buNone/>
            </a:pPr>
            <a:r>
              <a:rPr lang="en-US" sz="1600" dirty="0">
                <a:solidFill>
                  <a:srgbClr val="1B2433"/>
                </a:solidFill>
                <a:latin typeface="Calibri" pitchFamily="34" charset="0"/>
                <a:ea typeface="Calibri" pitchFamily="34" charset="-122"/>
                <a:cs typeface="Calibri" pitchFamily="34" charset="-120"/>
              </a:rPr>
              <a:t>✓ "deviates from general Tamil text"</a:t>
            </a:r>
            <a:endParaRPr lang="en-US" sz="1600" dirty="0"/>
          </a:p>
          <a:p>
            <a:pPr indent="0" marL="0">
              <a:spcAft>
                <a:spcPts val="500"/>
              </a:spcAft>
              <a:buNone/>
            </a:pPr>
            <a:r>
              <a:rPr lang="en-US" sz="1600" dirty="0">
                <a:solidFill>
                  <a:srgbClr val="1B2433"/>
                </a:solidFill>
                <a:latin typeface="Calibri" pitchFamily="34" charset="0"/>
                <a:ea typeface="Calibri" pitchFamily="34" charset="-122"/>
                <a:cs typeface="Calibri" pitchFamily="34" charset="-120"/>
              </a:rPr>
              <a:t>✗ "copies its own training data" (no system's training data was measured)</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286000"/>
            <a:ext cx="1371600" cy="1097280"/>
          </a:xfrm>
          <a:prstGeom prst="roundRect">
            <a:avLst>
              <a:gd name="adj" fmla="val 10000"/>
            </a:avLst>
          </a:prstGeom>
          <a:solidFill>
            <a:srgbClr val="14213D"/>
          </a:solidFill>
          <a:ln w="31750">
            <a:solidFill>
              <a:srgbClr val="E39B2D"/>
            </a:solidFill>
            <a:prstDash val="dash"/>
          </a:ln>
        </p:spPr>
      </p:sp>
      <p:sp>
        <p:nvSpPr>
          <p:cNvPr id="3" name="Text 1"/>
          <p:cNvSpPr/>
          <p:nvPr/>
        </p:nvSpPr>
        <p:spPr>
          <a:xfrm>
            <a:off x="822960" y="2286000"/>
            <a:ext cx="1371600" cy="1097280"/>
          </a:xfrm>
          <a:prstGeom prst="rect">
            <a:avLst/>
          </a:prstGeom>
          <a:noFill/>
          <a:ln/>
        </p:spPr>
        <p:txBody>
          <a:bodyPr wrap="square" lIns="0" tIns="0" rIns="0" bIns="0" rtlCol="0" anchor="ctr"/>
          <a:lstStyle/>
          <a:p>
            <a:pPr algn="ctr" indent="0" marL="0">
              <a:buNone/>
            </a:pPr>
            <a:r>
              <a:rPr lang="en-US" sz="4800" b="1" dirty="0">
                <a:solidFill>
                  <a:srgbClr val="E39B2D"/>
                </a:solidFill>
                <a:latin typeface="Calibri" pitchFamily="34" charset="0"/>
                <a:ea typeface="Calibri" pitchFamily="34" charset="-122"/>
                <a:cs typeface="Calibri" pitchFamily="34" charset="-120"/>
              </a:rPr>
              <a:t>5</a:t>
            </a:r>
            <a:endParaRPr lang="en-US" sz="4800" dirty="0"/>
          </a:p>
        </p:txBody>
      </p:sp>
      <p:sp>
        <p:nvSpPr>
          <p:cNvPr id="4" name="Text 2"/>
          <p:cNvSpPr/>
          <p:nvPr/>
        </p:nvSpPr>
        <p:spPr>
          <a:xfrm>
            <a:off x="2560320" y="1097280"/>
            <a:ext cx="9052560" cy="1965960"/>
          </a:xfrm>
          <a:prstGeom prst="rect">
            <a:avLst/>
          </a:prstGeom>
          <a:noFill/>
          <a:ln/>
        </p:spPr>
        <p:txBody>
          <a:bodyPr wrap="square" lIns="0" tIns="0" rIns="0" bIns="0" rtlCol="0" anchor="b"/>
          <a:lstStyle/>
          <a:p>
            <a:pPr indent="0" marL="0">
              <a:buNone/>
            </a:pPr>
            <a:r>
              <a:rPr lang="en-US" sz="3600" b="1" dirty="0">
                <a:solidFill>
                  <a:srgbClr val="FFFFFF"/>
                </a:solidFill>
                <a:latin typeface="Georgia" pitchFamily="34" charset="0"/>
                <a:ea typeface="Georgia" pitchFamily="34" charset="-122"/>
                <a:cs typeface="Georgia" pitchFamily="34" charset="-120"/>
              </a:rPr>
              <a:t>The metrics, and how we test them</a:t>
            </a:r>
            <a:endParaRPr lang="en-US" sz="3600" dirty="0"/>
          </a:p>
        </p:txBody>
      </p:sp>
      <p:sp>
        <p:nvSpPr>
          <p:cNvPr id="5" name="Text 3"/>
          <p:cNvSpPr/>
          <p:nvPr/>
        </p:nvSpPr>
        <p:spPr>
          <a:xfrm>
            <a:off x="2560320" y="3246120"/>
            <a:ext cx="9052560" cy="1280160"/>
          </a:xfrm>
          <a:prstGeom prst="rect">
            <a:avLst/>
          </a:prstGeom>
          <a:noFill/>
          <a:ln/>
        </p:spPr>
        <p:txBody>
          <a:bodyPr wrap="square" lIns="0" tIns="0" rIns="0" bIns="0" rtlCol="0" anchor="t"/>
          <a:lstStyle/>
          <a:p>
            <a:pPr indent="0" marL="0">
              <a:buNone/>
            </a:pPr>
            <a:r>
              <a:rPr lang="en-US" sz="1800" dirty="0">
                <a:solidFill>
                  <a:srgbClr val="C9D2E3"/>
                </a:solidFill>
                <a:latin typeface="Calibri" pitchFamily="34" charset="0"/>
                <a:ea typeface="Calibri" pitchFamily="34" charset="-122"/>
                <a:cs typeface="Calibri" pitchFamily="34" charset="-120"/>
              </a:rPr>
              <a:t>Eight metrics, three kinds of evidence, three measurements, and a prediction written down in advance.</a:t>
            </a:r>
            <a:endParaRPr lang="en-US" sz="1800" dirty="0"/>
          </a:p>
        </p:txBody>
      </p:sp>
      <p:sp>
        <p:nvSpPr>
          <p:cNvPr id="6" name="Text 4"/>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7D8AA5"/>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5</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How everything fits together, from test sentence to metric score</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44</a:t>
            </a:r>
            <a:endParaRPr lang="en-US" sz="900" dirty="0"/>
          </a:p>
        </p:txBody>
      </p:sp>
      <p:sp>
        <p:nvSpPr>
          <p:cNvPr id="9" name="Shape 6"/>
          <p:cNvSpPr/>
          <p:nvPr/>
        </p:nvSpPr>
        <p:spPr>
          <a:xfrm>
            <a:off x="548640" y="2103120"/>
            <a:ext cx="1691640" cy="2194560"/>
          </a:xfrm>
          <a:prstGeom prst="roundRect">
            <a:avLst>
              <a:gd name="adj" fmla="val 4324"/>
            </a:avLst>
          </a:prstGeom>
          <a:solidFill>
            <a:srgbClr val="F2F4F8"/>
          </a:solidFill>
          <a:ln w="12700">
            <a:solidFill>
              <a:srgbClr val="F2F4F8"/>
            </a:solidFill>
            <a:prstDash val="solid"/>
          </a:ln>
        </p:spPr>
      </p:sp>
      <p:sp>
        <p:nvSpPr>
          <p:cNvPr id="10" name="Text 7"/>
          <p:cNvSpPr/>
          <p:nvPr/>
        </p:nvSpPr>
        <p:spPr>
          <a:xfrm>
            <a:off x="640080" y="2212848"/>
            <a:ext cx="1508760" cy="685800"/>
          </a:xfrm>
          <a:prstGeom prst="rect">
            <a:avLst/>
          </a:prstGeom>
          <a:noFill/>
          <a:ln/>
        </p:spPr>
        <p:txBody>
          <a:bodyPr wrap="square" lIns="0" tIns="0" rIns="0" bIns="0" rtlCol="0" anchor="t"/>
          <a:lstStyle/>
          <a:p>
            <a:pPr algn="ctr" indent="0" marL="0">
              <a:lnSpc>
                <a:spcPct val="100000"/>
              </a:lnSpc>
              <a:buNone/>
            </a:pPr>
            <a:r>
              <a:rPr lang="en-US" sz="1500" b="1" dirty="0">
                <a:solidFill>
                  <a:srgbClr val="1B2433"/>
                </a:solidFill>
                <a:latin typeface="Calibri" pitchFamily="34" charset="0"/>
                <a:ea typeface="Calibri" pitchFamily="34" charset="-122"/>
                <a:cs typeface="Calibri" pitchFamily="34" charset="-120"/>
              </a:rPr>
              <a:t>English test sentence</a:t>
            </a:r>
            <a:endParaRPr lang="en-US" sz="1500" dirty="0"/>
          </a:p>
        </p:txBody>
      </p:sp>
      <p:sp>
        <p:nvSpPr>
          <p:cNvPr id="11" name="Text 8"/>
          <p:cNvSpPr/>
          <p:nvPr/>
        </p:nvSpPr>
        <p:spPr>
          <a:xfrm>
            <a:off x="640080" y="2926080"/>
            <a:ext cx="1508760" cy="1280160"/>
          </a:xfrm>
          <a:prstGeom prst="rect">
            <a:avLst/>
          </a:prstGeom>
          <a:noFill/>
          <a:ln/>
        </p:spPr>
        <p:txBody>
          <a:bodyPr wrap="square" lIns="0" tIns="0" rIns="0" bIns="0" rtlCol="0" anchor="t"/>
          <a:lstStyle/>
          <a:p>
            <a:pPr algn="ctr" indent="0" marL="0">
              <a:lnSpc>
                <a:spcPct val="100000"/>
              </a:lnSpc>
              <a:buNone/>
            </a:pPr>
            <a:r>
              <a:rPr lang="en-US" sz="1300" dirty="0">
                <a:solidFill>
                  <a:srgbClr val="5B6577"/>
                </a:solidFill>
                <a:latin typeface="Calibri" pitchFamily="34" charset="0"/>
                <a:ea typeface="Calibri" pitchFamily="34" charset="-122"/>
                <a:cs typeface="Calibri" pitchFamily="34" charset="-120"/>
              </a:rPr>
              <a:t>"The dogs came at dawn."</a:t>
            </a:r>
            <a:endParaRPr lang="en-US" sz="1300" dirty="0"/>
          </a:p>
        </p:txBody>
      </p:sp>
      <p:sp>
        <p:nvSpPr>
          <p:cNvPr id="12" name="Shape 9"/>
          <p:cNvSpPr/>
          <p:nvPr/>
        </p:nvSpPr>
        <p:spPr>
          <a:xfrm>
            <a:off x="2258568" y="3200400"/>
            <a:ext cx="164592" cy="0"/>
          </a:xfrm>
          <a:prstGeom prst="line">
            <a:avLst/>
          </a:prstGeom>
          <a:noFill/>
          <a:ln w="25400">
            <a:solidFill>
              <a:srgbClr val="1B2433"/>
            </a:solidFill>
            <a:prstDash val="solid"/>
            <a:tailEnd type="triangle"/>
          </a:ln>
        </p:spPr>
      </p:sp>
      <p:sp>
        <p:nvSpPr>
          <p:cNvPr id="13" name="Shape 10"/>
          <p:cNvSpPr/>
          <p:nvPr/>
        </p:nvSpPr>
        <p:spPr>
          <a:xfrm>
            <a:off x="2441448" y="2103120"/>
            <a:ext cx="1691640" cy="2194560"/>
          </a:xfrm>
          <a:prstGeom prst="roundRect">
            <a:avLst>
              <a:gd name="adj" fmla="val 4324"/>
            </a:avLst>
          </a:prstGeom>
          <a:solidFill>
            <a:srgbClr val="F2F4F8"/>
          </a:solidFill>
          <a:ln w="12700">
            <a:solidFill>
              <a:srgbClr val="F2F4F8"/>
            </a:solidFill>
            <a:prstDash val="solid"/>
          </a:ln>
        </p:spPr>
      </p:sp>
      <p:sp>
        <p:nvSpPr>
          <p:cNvPr id="14" name="Text 11"/>
          <p:cNvSpPr/>
          <p:nvPr/>
        </p:nvSpPr>
        <p:spPr>
          <a:xfrm>
            <a:off x="2532888" y="2212848"/>
            <a:ext cx="1508760" cy="685800"/>
          </a:xfrm>
          <a:prstGeom prst="rect">
            <a:avLst/>
          </a:prstGeom>
          <a:noFill/>
          <a:ln/>
        </p:spPr>
        <p:txBody>
          <a:bodyPr wrap="square" lIns="0" tIns="0" rIns="0" bIns="0" rtlCol="0" anchor="t"/>
          <a:lstStyle/>
          <a:p>
            <a:pPr algn="ctr" indent="0" marL="0">
              <a:lnSpc>
                <a:spcPct val="100000"/>
              </a:lnSpc>
              <a:buNone/>
            </a:pPr>
            <a:r>
              <a:rPr lang="en-US" sz="1500" b="1" dirty="0">
                <a:solidFill>
                  <a:srgbClr val="1B2433"/>
                </a:solidFill>
                <a:latin typeface="Calibri" pitchFamily="34" charset="0"/>
                <a:ea typeface="Calibri" pitchFamily="34" charset="-122"/>
                <a:cs typeface="Calibri" pitchFamily="34" charset="-120"/>
              </a:rPr>
              <a:t>13 systems translate</a:t>
            </a:r>
            <a:endParaRPr lang="en-US" sz="1500" dirty="0"/>
          </a:p>
        </p:txBody>
      </p:sp>
      <p:sp>
        <p:nvSpPr>
          <p:cNvPr id="15" name="Text 12"/>
          <p:cNvSpPr/>
          <p:nvPr/>
        </p:nvSpPr>
        <p:spPr>
          <a:xfrm>
            <a:off x="2532888" y="2926080"/>
            <a:ext cx="1508760" cy="1280160"/>
          </a:xfrm>
          <a:prstGeom prst="rect">
            <a:avLst/>
          </a:prstGeom>
          <a:noFill/>
          <a:ln/>
        </p:spPr>
        <p:txBody>
          <a:bodyPr wrap="square" lIns="0" tIns="0" rIns="0" bIns="0" rtlCol="0" anchor="t"/>
          <a:lstStyle/>
          <a:p>
            <a:pPr algn="ctr" indent="0" marL="0">
              <a:lnSpc>
                <a:spcPct val="100000"/>
              </a:lnSpc>
              <a:buNone/>
            </a:pPr>
            <a:r>
              <a:rPr lang="en-US" sz="1300" dirty="0">
                <a:solidFill>
                  <a:srgbClr val="5B6577"/>
                </a:solidFill>
                <a:latin typeface="Calibri" pitchFamily="34" charset="0"/>
                <a:ea typeface="Calibri" pitchFamily="34" charset="-122"/>
                <a:cs typeface="Calibri" pitchFamily="34" charset="-120"/>
              </a:rPr>
              <a:t>into Tamil</a:t>
            </a:r>
            <a:endParaRPr lang="en-US" sz="1300" dirty="0"/>
          </a:p>
        </p:txBody>
      </p:sp>
      <p:sp>
        <p:nvSpPr>
          <p:cNvPr id="16" name="Shape 13"/>
          <p:cNvSpPr/>
          <p:nvPr/>
        </p:nvSpPr>
        <p:spPr>
          <a:xfrm>
            <a:off x="4151376" y="3200400"/>
            <a:ext cx="164592" cy="0"/>
          </a:xfrm>
          <a:prstGeom prst="line">
            <a:avLst/>
          </a:prstGeom>
          <a:noFill/>
          <a:ln w="25400">
            <a:solidFill>
              <a:srgbClr val="1B2433"/>
            </a:solidFill>
            <a:prstDash val="solid"/>
            <a:tailEnd type="triangle"/>
          </a:ln>
        </p:spPr>
      </p:sp>
      <p:sp>
        <p:nvSpPr>
          <p:cNvPr id="17" name="Shape 14"/>
          <p:cNvSpPr/>
          <p:nvPr/>
        </p:nvSpPr>
        <p:spPr>
          <a:xfrm>
            <a:off x="4334256" y="2103120"/>
            <a:ext cx="1691640" cy="2194560"/>
          </a:xfrm>
          <a:prstGeom prst="roundRect">
            <a:avLst>
              <a:gd name="adj" fmla="val 4324"/>
            </a:avLst>
          </a:prstGeom>
          <a:solidFill>
            <a:srgbClr val="F2F4F8"/>
          </a:solidFill>
          <a:ln w="12700">
            <a:solidFill>
              <a:srgbClr val="F2F4F8"/>
            </a:solidFill>
            <a:prstDash val="solid"/>
          </a:ln>
        </p:spPr>
      </p:sp>
      <p:sp>
        <p:nvSpPr>
          <p:cNvPr id="18" name="Text 15"/>
          <p:cNvSpPr/>
          <p:nvPr/>
        </p:nvSpPr>
        <p:spPr>
          <a:xfrm>
            <a:off x="4425696" y="2212848"/>
            <a:ext cx="1508760" cy="685800"/>
          </a:xfrm>
          <a:prstGeom prst="rect">
            <a:avLst/>
          </a:prstGeom>
          <a:noFill/>
          <a:ln/>
        </p:spPr>
        <p:txBody>
          <a:bodyPr wrap="square" lIns="0" tIns="0" rIns="0" bIns="0" rtlCol="0" anchor="t"/>
          <a:lstStyle/>
          <a:p>
            <a:pPr algn="ctr" indent="0" marL="0">
              <a:lnSpc>
                <a:spcPct val="100000"/>
              </a:lnSpc>
              <a:buNone/>
            </a:pPr>
            <a:r>
              <a:rPr lang="en-US" sz="1500" b="1" dirty="0">
                <a:solidFill>
                  <a:srgbClr val="1B2433"/>
                </a:solidFill>
                <a:latin typeface="Calibri" pitchFamily="34" charset="0"/>
                <a:ea typeface="Calibri" pitchFamily="34" charset="-122"/>
                <a:cs typeface="Calibri" pitchFamily="34" charset="-120"/>
              </a:rPr>
              <a:t>Analyser labels it</a:t>
            </a:r>
            <a:endParaRPr lang="en-US" sz="1500" dirty="0"/>
          </a:p>
        </p:txBody>
      </p:sp>
      <p:sp>
        <p:nvSpPr>
          <p:cNvPr id="19" name="Text 16"/>
          <p:cNvSpPr/>
          <p:nvPr/>
        </p:nvSpPr>
        <p:spPr>
          <a:xfrm>
            <a:off x="4425696" y="2926080"/>
            <a:ext cx="1508760" cy="1280160"/>
          </a:xfrm>
          <a:prstGeom prst="rect">
            <a:avLst/>
          </a:prstGeom>
          <a:noFill/>
          <a:ln/>
        </p:spPr>
        <p:txBody>
          <a:bodyPr wrap="square" lIns="0" tIns="0" rIns="0" bIns="0" rtlCol="0" anchor="t"/>
          <a:lstStyle/>
          <a:p>
            <a:pPr algn="ctr" indent="0" marL="0">
              <a:lnSpc>
                <a:spcPct val="100000"/>
              </a:lnSpc>
              <a:buNone/>
            </a:pPr>
            <a:r>
              <a:rPr lang="en-US" sz="1300" dirty="0">
                <a:solidFill>
                  <a:srgbClr val="5B6577"/>
                </a:solidFill>
                <a:latin typeface="Calibri" pitchFamily="34" charset="0"/>
                <a:ea typeface="Calibri" pitchFamily="34" charset="-122"/>
                <a:cs typeface="Calibri" pitchFamily="34" charset="-120"/>
              </a:rPr>
              <a:t>CORRECT · WRONG · AVOIDANT</a:t>
            </a:r>
            <a:endParaRPr lang="en-US" sz="1300" dirty="0"/>
          </a:p>
        </p:txBody>
      </p:sp>
      <p:sp>
        <p:nvSpPr>
          <p:cNvPr id="20" name="Shape 17"/>
          <p:cNvSpPr/>
          <p:nvPr/>
        </p:nvSpPr>
        <p:spPr>
          <a:xfrm>
            <a:off x="6044184" y="3200400"/>
            <a:ext cx="164592" cy="0"/>
          </a:xfrm>
          <a:prstGeom prst="line">
            <a:avLst/>
          </a:prstGeom>
          <a:noFill/>
          <a:ln w="25400">
            <a:solidFill>
              <a:srgbClr val="1B2433"/>
            </a:solidFill>
            <a:prstDash val="solid"/>
            <a:tailEnd type="triangle"/>
          </a:ln>
        </p:spPr>
      </p:sp>
      <p:sp>
        <p:nvSpPr>
          <p:cNvPr id="21" name="Shape 18"/>
          <p:cNvSpPr/>
          <p:nvPr/>
        </p:nvSpPr>
        <p:spPr>
          <a:xfrm>
            <a:off x="6227064" y="2103120"/>
            <a:ext cx="1691640" cy="2194560"/>
          </a:xfrm>
          <a:prstGeom prst="roundRect">
            <a:avLst>
              <a:gd name="adj" fmla="val 4324"/>
            </a:avLst>
          </a:prstGeom>
          <a:solidFill>
            <a:srgbClr val="FBEBD2"/>
          </a:solidFill>
          <a:ln w="12700">
            <a:solidFill>
              <a:srgbClr val="FBEBD2"/>
            </a:solidFill>
            <a:prstDash val="solid"/>
          </a:ln>
        </p:spPr>
      </p:sp>
      <p:sp>
        <p:nvSpPr>
          <p:cNvPr id="22" name="Text 19"/>
          <p:cNvSpPr/>
          <p:nvPr/>
        </p:nvSpPr>
        <p:spPr>
          <a:xfrm>
            <a:off x="6318504" y="2212848"/>
            <a:ext cx="1508760" cy="685800"/>
          </a:xfrm>
          <a:prstGeom prst="rect">
            <a:avLst/>
          </a:prstGeom>
          <a:noFill/>
          <a:ln/>
        </p:spPr>
        <p:txBody>
          <a:bodyPr wrap="square" lIns="0" tIns="0" rIns="0" bIns="0" rtlCol="0" anchor="t"/>
          <a:lstStyle/>
          <a:p>
            <a:pPr algn="ctr" indent="0" marL="0">
              <a:lnSpc>
                <a:spcPct val="100000"/>
              </a:lnSpc>
              <a:buNone/>
            </a:pPr>
            <a:r>
              <a:rPr lang="en-US" sz="1500" b="1" dirty="0">
                <a:solidFill>
                  <a:srgbClr val="1B2433"/>
                </a:solidFill>
                <a:latin typeface="Calibri" pitchFamily="34" charset="0"/>
                <a:ea typeface="Calibri" pitchFamily="34" charset="-122"/>
                <a:cs typeface="Calibri" pitchFamily="34" charset="-120"/>
              </a:rPr>
              <a:t>Build a pair</a:t>
            </a:r>
            <a:endParaRPr lang="en-US" sz="1500" dirty="0"/>
          </a:p>
        </p:txBody>
      </p:sp>
      <p:sp>
        <p:nvSpPr>
          <p:cNvPr id="23" name="Text 20"/>
          <p:cNvSpPr/>
          <p:nvPr/>
        </p:nvSpPr>
        <p:spPr>
          <a:xfrm>
            <a:off x="6318504" y="2926080"/>
            <a:ext cx="1508760" cy="1280160"/>
          </a:xfrm>
          <a:prstGeom prst="rect">
            <a:avLst/>
          </a:prstGeom>
          <a:noFill/>
          <a:ln/>
        </p:spPr>
        <p:txBody>
          <a:bodyPr wrap="square" lIns="0" tIns="0" rIns="0" bIns="0" rtlCol="0" anchor="t"/>
          <a:lstStyle/>
          <a:p>
            <a:pPr algn="ctr" indent="0" marL="0">
              <a:lnSpc>
                <a:spcPct val="100000"/>
              </a:lnSpc>
              <a:buNone/>
            </a:pPr>
            <a:r>
              <a:rPr lang="en-US" sz="1300" dirty="0">
                <a:solidFill>
                  <a:srgbClr val="5B6577"/>
                </a:solidFill>
                <a:latin typeface="Calibri" pitchFamily="34" charset="0"/>
                <a:ea typeface="Calibri" pitchFamily="34" charset="-122"/>
                <a:cs typeface="Calibri" pitchFamily="34" charset="-120"/>
              </a:rPr>
              <a:t>right ending ↔ wrong or neutral ending</a:t>
            </a:r>
            <a:endParaRPr lang="en-US" sz="1300" dirty="0"/>
          </a:p>
        </p:txBody>
      </p:sp>
      <p:sp>
        <p:nvSpPr>
          <p:cNvPr id="24" name="Shape 21"/>
          <p:cNvSpPr/>
          <p:nvPr/>
        </p:nvSpPr>
        <p:spPr>
          <a:xfrm>
            <a:off x="7936992" y="3200400"/>
            <a:ext cx="164592" cy="0"/>
          </a:xfrm>
          <a:prstGeom prst="line">
            <a:avLst/>
          </a:prstGeom>
          <a:noFill/>
          <a:ln w="25400">
            <a:solidFill>
              <a:srgbClr val="1B2433"/>
            </a:solidFill>
            <a:prstDash val="solid"/>
            <a:tailEnd type="triangle"/>
          </a:ln>
        </p:spPr>
      </p:sp>
      <p:sp>
        <p:nvSpPr>
          <p:cNvPr id="25" name="Shape 22"/>
          <p:cNvSpPr/>
          <p:nvPr/>
        </p:nvSpPr>
        <p:spPr>
          <a:xfrm>
            <a:off x="8119872" y="2103120"/>
            <a:ext cx="1691640" cy="2194560"/>
          </a:xfrm>
          <a:prstGeom prst="roundRect">
            <a:avLst>
              <a:gd name="adj" fmla="val 4324"/>
            </a:avLst>
          </a:prstGeom>
          <a:solidFill>
            <a:srgbClr val="FBEBD2"/>
          </a:solidFill>
          <a:ln w="12700">
            <a:solidFill>
              <a:srgbClr val="FBEBD2"/>
            </a:solidFill>
            <a:prstDash val="solid"/>
          </a:ln>
        </p:spPr>
      </p:sp>
      <p:sp>
        <p:nvSpPr>
          <p:cNvPr id="26" name="Text 23"/>
          <p:cNvSpPr/>
          <p:nvPr/>
        </p:nvSpPr>
        <p:spPr>
          <a:xfrm>
            <a:off x="8211312" y="2212848"/>
            <a:ext cx="1508760" cy="685800"/>
          </a:xfrm>
          <a:prstGeom prst="rect">
            <a:avLst/>
          </a:prstGeom>
          <a:noFill/>
          <a:ln/>
        </p:spPr>
        <p:txBody>
          <a:bodyPr wrap="square" lIns="0" tIns="0" rIns="0" bIns="0" rtlCol="0" anchor="t"/>
          <a:lstStyle/>
          <a:p>
            <a:pPr algn="ctr" indent="0" marL="0">
              <a:lnSpc>
                <a:spcPct val="100000"/>
              </a:lnSpc>
              <a:buNone/>
            </a:pPr>
            <a:r>
              <a:rPr lang="en-US" sz="1500" b="1" dirty="0">
                <a:solidFill>
                  <a:srgbClr val="1B2433"/>
                </a:solidFill>
                <a:latin typeface="Calibri" pitchFamily="34" charset="0"/>
                <a:ea typeface="Calibri" pitchFamily="34" charset="-122"/>
                <a:cs typeface="Calibri" pitchFamily="34" charset="-120"/>
              </a:rPr>
              <a:t>8 metrics score both</a:t>
            </a:r>
            <a:endParaRPr lang="en-US" sz="1500" dirty="0"/>
          </a:p>
        </p:txBody>
      </p:sp>
      <p:sp>
        <p:nvSpPr>
          <p:cNvPr id="27" name="Text 24"/>
          <p:cNvSpPr/>
          <p:nvPr/>
        </p:nvSpPr>
        <p:spPr>
          <a:xfrm>
            <a:off x="8211312" y="2926080"/>
            <a:ext cx="1508760" cy="1280160"/>
          </a:xfrm>
          <a:prstGeom prst="rect">
            <a:avLst/>
          </a:prstGeom>
          <a:noFill/>
          <a:ln/>
        </p:spPr>
        <p:txBody>
          <a:bodyPr wrap="square" lIns="0" tIns="0" rIns="0" bIns="0" rtlCol="0" anchor="t"/>
          <a:lstStyle/>
          <a:p>
            <a:pPr algn="ctr" indent="0" marL="0">
              <a:lnSpc>
                <a:spcPct val="100000"/>
              </a:lnSpc>
              <a:buNone/>
            </a:pPr>
            <a:r>
              <a:rPr lang="en-US" sz="1300" dirty="0">
                <a:solidFill>
                  <a:srgbClr val="5B6577"/>
                </a:solidFill>
                <a:latin typeface="Calibri" pitchFamily="34" charset="0"/>
                <a:ea typeface="Calibri" pitchFamily="34" charset="-122"/>
                <a:cs typeface="Calibri" pitchFamily="34" charset="-120"/>
              </a:rPr>
              <a:t>each member gets a score</a:t>
            </a:r>
            <a:endParaRPr lang="en-US" sz="1300" dirty="0"/>
          </a:p>
        </p:txBody>
      </p:sp>
      <p:sp>
        <p:nvSpPr>
          <p:cNvPr id="28" name="Shape 25"/>
          <p:cNvSpPr/>
          <p:nvPr/>
        </p:nvSpPr>
        <p:spPr>
          <a:xfrm>
            <a:off x="9829800" y="3200400"/>
            <a:ext cx="164592" cy="0"/>
          </a:xfrm>
          <a:prstGeom prst="line">
            <a:avLst/>
          </a:prstGeom>
          <a:noFill/>
          <a:ln w="25400">
            <a:solidFill>
              <a:srgbClr val="1B2433"/>
            </a:solidFill>
            <a:prstDash val="solid"/>
            <a:tailEnd type="triangle"/>
          </a:ln>
        </p:spPr>
      </p:sp>
      <p:sp>
        <p:nvSpPr>
          <p:cNvPr id="29" name="Shape 26"/>
          <p:cNvSpPr/>
          <p:nvPr/>
        </p:nvSpPr>
        <p:spPr>
          <a:xfrm>
            <a:off x="10012680" y="2103120"/>
            <a:ext cx="1691640" cy="2194560"/>
          </a:xfrm>
          <a:prstGeom prst="roundRect">
            <a:avLst>
              <a:gd name="adj" fmla="val 4324"/>
            </a:avLst>
          </a:prstGeom>
          <a:solidFill>
            <a:srgbClr val="FBEBD2"/>
          </a:solidFill>
          <a:ln w="12700">
            <a:solidFill>
              <a:srgbClr val="FBEBD2"/>
            </a:solidFill>
            <a:prstDash val="solid"/>
          </a:ln>
        </p:spPr>
      </p:sp>
      <p:sp>
        <p:nvSpPr>
          <p:cNvPr id="30" name="Text 27"/>
          <p:cNvSpPr/>
          <p:nvPr/>
        </p:nvSpPr>
        <p:spPr>
          <a:xfrm>
            <a:off x="10104120" y="2212848"/>
            <a:ext cx="1508760" cy="685800"/>
          </a:xfrm>
          <a:prstGeom prst="rect">
            <a:avLst/>
          </a:prstGeom>
          <a:noFill/>
          <a:ln/>
        </p:spPr>
        <p:txBody>
          <a:bodyPr wrap="square" lIns="0" tIns="0" rIns="0" bIns="0" rtlCol="0" anchor="t"/>
          <a:lstStyle/>
          <a:p>
            <a:pPr algn="ctr" indent="0" marL="0">
              <a:lnSpc>
                <a:spcPct val="100000"/>
              </a:lnSpc>
              <a:buNone/>
            </a:pPr>
            <a:r>
              <a:rPr lang="en-US" sz="1500" b="1" dirty="0">
                <a:solidFill>
                  <a:srgbClr val="1B2433"/>
                </a:solidFill>
                <a:latin typeface="Calibri" pitchFamily="34" charset="0"/>
                <a:ea typeface="Calibri" pitchFamily="34" charset="-122"/>
                <a:cs typeface="Calibri" pitchFamily="34" charset="-120"/>
              </a:rPr>
              <a:t>Compare</a:t>
            </a:r>
            <a:endParaRPr lang="en-US" sz="1500" dirty="0"/>
          </a:p>
        </p:txBody>
      </p:sp>
      <p:sp>
        <p:nvSpPr>
          <p:cNvPr id="31" name="Text 28"/>
          <p:cNvSpPr/>
          <p:nvPr/>
        </p:nvSpPr>
        <p:spPr>
          <a:xfrm>
            <a:off x="10104120" y="2926080"/>
            <a:ext cx="1508760" cy="1280160"/>
          </a:xfrm>
          <a:prstGeom prst="rect">
            <a:avLst/>
          </a:prstGeom>
          <a:noFill/>
          <a:ln/>
        </p:spPr>
        <p:txBody>
          <a:bodyPr wrap="square" lIns="0" tIns="0" rIns="0" bIns="0" rtlCol="0" anchor="t"/>
          <a:lstStyle/>
          <a:p>
            <a:pPr algn="ctr" indent="0" marL="0">
              <a:lnSpc>
                <a:spcPct val="100000"/>
              </a:lnSpc>
              <a:buNone/>
            </a:pPr>
            <a:r>
              <a:rPr lang="en-US" sz="1300" dirty="0">
                <a:solidFill>
                  <a:srgbClr val="5B6577"/>
                </a:solidFill>
                <a:latin typeface="Calibri" pitchFamily="34" charset="0"/>
                <a:ea typeface="Calibri" pitchFamily="34" charset="-122"/>
                <a:cs typeface="Calibri" pitchFamily="34" charset="-120"/>
              </a:rPr>
              <a:t>does the metric prefer the correct one, and by how much?</a:t>
            </a:r>
            <a:endParaRPr lang="en-US" sz="1300" dirty="0"/>
          </a:p>
        </p:txBody>
      </p:sp>
      <p:sp>
        <p:nvSpPr>
          <p:cNvPr id="32" name="Text 29"/>
          <p:cNvSpPr/>
          <p:nvPr/>
        </p:nvSpPr>
        <p:spPr>
          <a:xfrm>
            <a:off x="548640" y="4434840"/>
            <a:ext cx="5532120" cy="320040"/>
          </a:xfrm>
          <a:prstGeom prst="rect">
            <a:avLst/>
          </a:prstGeom>
          <a:noFill/>
          <a:ln/>
        </p:spPr>
        <p:txBody>
          <a:bodyPr wrap="square" lIns="0" tIns="0" rIns="0" bIns="0" rtlCol="0" anchor="t"/>
          <a:lstStyle/>
          <a:p>
            <a:pPr algn="ctr" indent="0" marL="0">
              <a:lnSpc>
                <a:spcPct val="100000"/>
              </a:lnSpc>
              <a:buNone/>
            </a:pPr>
            <a:r>
              <a:rPr lang="en-US" sz="1300" dirty="0">
                <a:solidFill>
                  <a:srgbClr val="5B6577"/>
                </a:solidFill>
                <a:latin typeface="Calibri" pitchFamily="34" charset="0"/>
                <a:ea typeface="Calibri" pitchFamily="34" charset="-122"/>
                <a:cs typeface="Calibri" pitchFamily="34" charset="-120"/>
              </a:rPr>
              <a:t>covered in sections 3–4</a:t>
            </a:r>
            <a:endParaRPr lang="en-US" sz="1300" dirty="0"/>
          </a:p>
        </p:txBody>
      </p:sp>
      <p:sp>
        <p:nvSpPr>
          <p:cNvPr id="33" name="Text 30"/>
          <p:cNvSpPr/>
          <p:nvPr/>
        </p:nvSpPr>
        <p:spPr>
          <a:xfrm>
            <a:off x="6227064" y="4434840"/>
            <a:ext cx="5394960" cy="320040"/>
          </a:xfrm>
          <a:prstGeom prst="rect">
            <a:avLst/>
          </a:prstGeom>
          <a:noFill/>
          <a:ln/>
        </p:spPr>
        <p:txBody>
          <a:bodyPr wrap="square" lIns="0" tIns="0" rIns="0" bIns="0" rtlCol="0" anchor="t"/>
          <a:lstStyle/>
          <a:p>
            <a:pPr algn="ctr" indent="0" marL="0">
              <a:lnSpc>
                <a:spcPct val="100000"/>
              </a:lnSpc>
              <a:buNone/>
            </a:pPr>
            <a:r>
              <a:rPr lang="en-US" sz="1300" b="1" dirty="0">
                <a:solidFill>
                  <a:srgbClr val="E39B2D"/>
                </a:solidFill>
                <a:latin typeface="Calibri" pitchFamily="34" charset="0"/>
                <a:ea typeface="Calibri" pitchFamily="34" charset="-122"/>
                <a:cs typeface="Calibri" pitchFamily="34" charset="-120"/>
              </a:rPr>
              <a:t>this section</a:t>
            </a:r>
            <a:endParaRPr lang="en-US" sz="1300" dirty="0"/>
          </a:p>
        </p:txBody>
      </p:sp>
      <p:sp>
        <p:nvSpPr>
          <p:cNvPr id="34" name="Shape 31"/>
          <p:cNvSpPr/>
          <p:nvPr/>
        </p:nvSpPr>
        <p:spPr>
          <a:xfrm>
            <a:off x="548640" y="5074920"/>
            <a:ext cx="11064240" cy="640080"/>
          </a:xfrm>
          <a:prstGeom prst="roundRect">
            <a:avLst>
              <a:gd name="adj" fmla="val 11429"/>
            </a:avLst>
          </a:prstGeom>
          <a:solidFill>
            <a:srgbClr val="FBEBD2"/>
          </a:solidFill>
          <a:ln w="12700">
            <a:solidFill>
              <a:srgbClr val="E39B2D"/>
            </a:solidFill>
            <a:prstDash val="solid"/>
          </a:ln>
        </p:spPr>
      </p:sp>
      <p:sp>
        <p:nvSpPr>
          <p:cNvPr id="35" name="Text 32"/>
          <p:cNvSpPr/>
          <p:nvPr/>
        </p:nvSpPr>
        <p:spPr>
          <a:xfrm>
            <a:off x="777240" y="5074920"/>
            <a:ext cx="10607040" cy="64008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The metrics are never shown the analyser's labels. They only see the sentences, and we check whether their </a:t>
            </a:r>
            <a:r>
              <a:rPr lang="en-US" sz="1500" b="1" dirty="0">
                <a:solidFill>
                  <a:srgbClr val="1B2433"/>
                </a:solidFill>
                <a:latin typeface="Calibri" pitchFamily="34" charset="0"/>
                <a:ea typeface="Calibri" pitchFamily="34" charset="-122"/>
                <a:cs typeface="Calibri" pitchFamily="34" charset="-120"/>
              </a:rPr>
              <a:t>scores agree</a:t>
            </a:r>
            <a:r>
              <a:rPr lang="en-US" sz="1500" dirty="0">
                <a:solidFill>
                  <a:srgbClr val="1B2433"/>
                </a:solidFill>
                <a:latin typeface="Calibri" pitchFamily="34" charset="0"/>
                <a:ea typeface="Calibri" pitchFamily="34" charset="-122"/>
                <a:cs typeface="Calibri" pitchFamily="34" charset="-120"/>
              </a:rPr>
              <a:t> with the labels.</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5</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The eight metrics we tested</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45</a:t>
            </a:r>
            <a:endParaRPr lang="en-US" sz="9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1737360"/>
                <a:gridCol w="2011680"/>
                <a:gridCol w="914400"/>
                <a:gridCol w="1280160"/>
                <a:gridCol w="5120640"/>
              </a:tblGrid>
              <a:tr h="43891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Uses a reference?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Neural?</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Score range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What it does, in one line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r>
              <a:tr h="438912">
                <a:tc>
                  <a:txBody>
                    <a:bodyPr/>
                    <a:lstStyle/>
                    <a:p>
                      <a:pPr algn="l" indent="0" marL="0">
                        <a:buNone/>
                      </a:pPr>
                      <a:r>
                        <a:rPr lang="en-US" sz="1400" b="1" dirty="0">
                          <a:solidFill>
                            <a:srgbClr val="1B2433"/>
                          </a:solidFill>
                          <a:latin typeface="Calibri" pitchFamily="34" charset="0"/>
                          <a:ea typeface="Calibri" pitchFamily="34" charset="-122"/>
                          <a:cs typeface="Calibri" pitchFamily="34" charset="-120"/>
                        </a:rPr>
                        <a:t>COMET-22</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F6FB3"/>
                          </a:solidFill>
                          <a:latin typeface="Calibri" pitchFamily="34" charset="0"/>
                          <a:ea typeface="Calibri" pitchFamily="34" charset="-122"/>
                          <a:cs typeface="Calibri" pitchFamily="34" charset="-120"/>
                        </a:rPr>
                        <a:t>with reference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0 – 1</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neural model trained on scores humans gave to translations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400" b="1" dirty="0">
                          <a:solidFill>
                            <a:srgbClr val="1B2433"/>
                          </a:solidFill>
                          <a:latin typeface="Calibri" pitchFamily="34" charset="0"/>
                          <a:ea typeface="Calibri" pitchFamily="34" charset="-122"/>
                          <a:cs typeface="Calibri" pitchFamily="34" charset="-120"/>
                        </a:rPr>
                        <a:t>xCOMET-XL</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b="1" dirty="0">
                          <a:solidFill>
                            <a:srgbClr val="2F6FB3"/>
                          </a:solidFill>
                          <a:latin typeface="Calibri" pitchFamily="34" charset="0"/>
                          <a:ea typeface="Calibri" pitchFamily="34" charset="-122"/>
                          <a:cs typeface="Calibri" pitchFamily="34" charset="-120"/>
                        </a:rPr>
                        <a:t>with reference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0 – 1</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like COMET, and also marks error spans with a severity</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438912">
                <a:tc>
                  <a:txBody>
                    <a:bodyPr/>
                    <a:lstStyle/>
                    <a:p>
                      <a:pPr algn="l" indent="0" marL="0">
                        <a:buNone/>
                      </a:pPr>
                      <a:r>
                        <a:rPr lang="en-US" sz="1400" b="1" dirty="0">
                          <a:solidFill>
                            <a:srgbClr val="1B2433"/>
                          </a:solidFill>
                          <a:latin typeface="Calibri" pitchFamily="34" charset="0"/>
                          <a:ea typeface="Calibri" pitchFamily="34" charset="-122"/>
                          <a:cs typeface="Calibri" pitchFamily="34" charset="-120"/>
                        </a:rPr>
                        <a:t>MetricX-24</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F6FB3"/>
                          </a:solidFill>
                          <a:latin typeface="Calibri" pitchFamily="34" charset="0"/>
                          <a:ea typeface="Calibri" pitchFamily="34" charset="-122"/>
                          <a:cs typeface="Calibri" pitchFamily="34" charset="-120"/>
                        </a:rPr>
                        <a:t>with reference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0 – 25</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Google's neural metric (raw: lower is better)</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400" b="1" dirty="0">
                          <a:solidFill>
                            <a:srgbClr val="1B2433"/>
                          </a:solidFill>
                          <a:latin typeface="Calibri" pitchFamily="34" charset="0"/>
                          <a:ea typeface="Calibri" pitchFamily="34" charset="-122"/>
                          <a:cs typeface="Calibri" pitchFamily="34" charset="-120"/>
                        </a:rPr>
                        <a:t>MetricX-23</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b="1" dirty="0">
                          <a:solidFill>
                            <a:srgbClr val="2F6FB3"/>
                          </a:solidFill>
                          <a:latin typeface="Calibri" pitchFamily="34" charset="0"/>
                          <a:ea typeface="Calibri" pitchFamily="34" charset="-122"/>
                          <a:cs typeface="Calibri" pitchFamily="34" charset="-120"/>
                        </a:rPr>
                        <a:t>with reference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0 – 25</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the previous MetricX version</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438912">
                <a:tc>
                  <a:txBody>
                    <a:bodyPr/>
                    <a:lstStyle/>
                    <a:p>
                      <a:pPr algn="l" indent="0" marL="0">
                        <a:buNone/>
                      </a:pPr>
                      <a:r>
                        <a:rPr lang="en-US" sz="1400" b="1" dirty="0">
                          <a:solidFill>
                            <a:srgbClr val="1B2433"/>
                          </a:solidFill>
                          <a:latin typeface="Calibri" pitchFamily="34" charset="0"/>
                          <a:ea typeface="Calibri" pitchFamily="34" charset="-122"/>
                          <a:cs typeface="Calibri" pitchFamily="34" charset="-120"/>
                        </a:rPr>
                        <a:t>chrF2</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F6FB3"/>
                          </a:solidFill>
                          <a:latin typeface="Calibri" pitchFamily="34" charset="0"/>
                          <a:ea typeface="Calibri" pitchFamily="34" charset="-122"/>
                          <a:cs typeface="Calibri" pitchFamily="34" charset="-120"/>
                        </a:rPr>
                        <a:t>with reference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B243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0 – 100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counts shared character sequences with the reference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400" b="1" dirty="0">
                          <a:solidFill>
                            <a:srgbClr val="1B2433"/>
                          </a:solidFill>
                          <a:latin typeface="Calibri" pitchFamily="34" charset="0"/>
                          <a:ea typeface="Calibri" pitchFamily="34" charset="-122"/>
                          <a:cs typeface="Calibri" pitchFamily="34" charset="-120"/>
                        </a:rPr>
                        <a:t>chrF++</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b="1" dirty="0">
                          <a:solidFill>
                            <a:srgbClr val="2F6FB3"/>
                          </a:solidFill>
                          <a:latin typeface="Calibri" pitchFamily="34" charset="0"/>
                          <a:ea typeface="Calibri" pitchFamily="34" charset="-122"/>
                          <a:cs typeface="Calibri" pitchFamily="34" charset="-120"/>
                        </a:rPr>
                        <a:t>with reference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b="1" dirty="0">
                          <a:solidFill>
                            <a:srgbClr val="1B243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0 – 100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chrF plus shared words and word pairs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438912">
                <a:tc>
                  <a:txBody>
                    <a:bodyPr/>
                    <a:lstStyle/>
                    <a:p>
                      <a:pPr algn="l" indent="0" marL="0">
                        <a:buNone/>
                      </a:pPr>
                      <a:r>
                        <a:rPr lang="en-US" sz="1400" b="1" dirty="0">
                          <a:solidFill>
                            <a:srgbClr val="1B2433"/>
                          </a:solidFill>
                          <a:latin typeface="Calibri" pitchFamily="34" charset="0"/>
                          <a:ea typeface="Calibri" pitchFamily="34" charset="-122"/>
                          <a:cs typeface="Calibri" pitchFamily="34" charset="-120"/>
                        </a:rPr>
                        <a:t>CometKiwi-22</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8E44AD"/>
                          </a:solidFill>
                          <a:latin typeface="Calibri" pitchFamily="34" charset="0"/>
                          <a:ea typeface="Calibri" pitchFamily="34" charset="-122"/>
                          <a:cs typeface="Calibri" pitchFamily="34" charset="-120"/>
                        </a:rPr>
                        <a:t>no reference (QE)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0 – 1</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COMET-style model that sees only source + output</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400" b="1" dirty="0">
                          <a:solidFill>
                            <a:srgbClr val="1B2433"/>
                          </a:solidFill>
                          <a:latin typeface="Calibri" pitchFamily="34" charset="0"/>
                          <a:ea typeface="Calibri" pitchFamily="34" charset="-122"/>
                          <a:cs typeface="Calibri" pitchFamily="34" charset="-120"/>
                        </a:rPr>
                        <a:t>MetricX-24-QE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b="1" dirty="0">
                          <a:solidFill>
                            <a:srgbClr val="8E44AD"/>
                          </a:solidFill>
                          <a:latin typeface="Calibri" pitchFamily="34" charset="0"/>
                          <a:ea typeface="Calibri" pitchFamily="34" charset="-122"/>
                          <a:cs typeface="Calibri" pitchFamily="34" charset="-120"/>
                        </a:rPr>
                        <a:t>no reference (QE)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0 – 25</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MetricX variant that sees only source + output</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bl>
          </a:graphicData>
        </a:graphic>
      </p:graphicFrame>
      <p:sp>
        <p:nvSpPr>
          <p:cNvPr id="10" name="Shape 6"/>
          <p:cNvSpPr/>
          <p:nvPr/>
        </p:nvSpPr>
        <p:spPr>
          <a:xfrm>
            <a:off x="548640" y="5760720"/>
            <a:ext cx="11064240" cy="548640"/>
          </a:xfrm>
          <a:prstGeom prst="roundRect">
            <a:avLst>
              <a:gd name="adj" fmla="val 13333"/>
            </a:avLst>
          </a:prstGeom>
          <a:solidFill>
            <a:srgbClr val="FBEBD2"/>
          </a:solidFill>
          <a:ln w="12700">
            <a:solidFill>
              <a:srgbClr val="E39B2D"/>
            </a:solidFill>
            <a:prstDash val="solid"/>
          </a:ln>
        </p:spPr>
      </p:sp>
      <p:sp>
        <p:nvSpPr>
          <p:cNvPr id="11" name="Text 7"/>
          <p:cNvSpPr/>
          <p:nvPr/>
        </p:nvSpPr>
        <p:spPr>
          <a:xfrm>
            <a:off x="777240" y="5760720"/>
            <a:ext cx="10607040" cy="54864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6 reference-based, 2 reference-free.</a:t>
            </a:r>
            <a:r>
              <a:rPr lang="en-US" sz="1500" dirty="0">
                <a:solidFill>
                  <a:srgbClr val="1B2433"/>
                </a:solidFill>
                <a:latin typeface="Calibri" pitchFamily="34" charset="0"/>
                <a:ea typeface="Calibri" pitchFamily="34" charset="-122"/>
                <a:cs typeface="Calibri" pitchFamily="34" charset="-120"/>
              </a:rPr>
              <a:t> </a:t>
            </a:r>
            <a:r>
              <a:rPr lang="en-US" sz="1500" b="1" dirty="0">
                <a:solidFill>
                  <a:srgbClr val="1B2433"/>
                </a:solidFill>
                <a:latin typeface="Calibri" pitchFamily="34" charset="0"/>
                <a:ea typeface="Calibri" pitchFamily="34" charset="-122"/>
                <a:cs typeface="Calibri" pitchFamily="34" charset="-120"/>
              </a:rPr>
              <a:t>6 neural, 2 not neural</a:t>
            </a:r>
            <a:r>
              <a:rPr lang="en-US" sz="1500" dirty="0">
                <a:solidFill>
                  <a:srgbClr val="1B2433"/>
                </a:solidFill>
                <a:latin typeface="Calibri" pitchFamily="34" charset="0"/>
                <a:ea typeface="Calibri" pitchFamily="34" charset="-122"/>
                <a:cs typeface="Calibri" pitchFamily="34" charset="-120"/>
              </a:rPr>
              <a:t> (chrF2, chrF++). Score ranges differ, which matters when comparing numbers.</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5</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How each kind of metric can see the error</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46</a:t>
            </a:r>
            <a:endParaRPr lang="en-US" sz="900" dirty="0"/>
          </a:p>
        </p:txBody>
      </p:sp>
      <p:sp>
        <p:nvSpPr>
          <p:cNvPr id="9" name="Text 6"/>
          <p:cNvSpPr/>
          <p:nvPr/>
        </p:nvSpPr>
        <p:spPr>
          <a:xfrm>
            <a:off x="548640" y="1691640"/>
            <a:ext cx="11064240" cy="411480"/>
          </a:xfrm>
          <a:prstGeom prst="rect">
            <a:avLst/>
          </a:prstGeom>
          <a:noFill/>
          <a:ln/>
        </p:spPr>
        <p:txBody>
          <a:bodyPr wrap="square" lIns="0" tIns="0" rIns="0" bIns="0" rtlCol="0" anchor="t"/>
          <a:lstStyle/>
          <a:p>
            <a:pPr algn="l" indent="0" marL="0">
              <a:lnSpc>
                <a:spcPct val="100000"/>
              </a:lnSpc>
              <a:buNone/>
            </a:pPr>
            <a:r>
              <a:rPr lang="en-US" sz="1600" dirty="0">
                <a:solidFill>
                  <a:srgbClr val="1B2433"/>
                </a:solidFill>
                <a:latin typeface="Calibri" pitchFamily="34" charset="0"/>
                <a:ea typeface="Calibri" pitchFamily="34" charset="-122"/>
                <a:cs typeface="Calibri" pitchFamily="34" charset="-120"/>
              </a:rPr>
              <a:t>English: "The dogs came at dawn."   System output: நாய்கள் வந்தார்கள்.  (people ending: wrong)</a:t>
            </a:r>
            <a:endParaRPr lang="en-US" sz="1600" dirty="0"/>
          </a:p>
        </p:txBody>
      </p:sp>
      <p:sp>
        <p:nvSpPr>
          <p:cNvPr id="10" name="Shape 7"/>
          <p:cNvSpPr/>
          <p:nvPr/>
        </p:nvSpPr>
        <p:spPr>
          <a:xfrm>
            <a:off x="548640" y="2286000"/>
            <a:ext cx="5394960" cy="3200400"/>
          </a:xfrm>
          <a:prstGeom prst="roundRect">
            <a:avLst>
              <a:gd name="adj" fmla="val 2286"/>
            </a:avLst>
          </a:prstGeom>
          <a:solidFill>
            <a:srgbClr val="DFE9F5"/>
          </a:solidFill>
          <a:ln w="12700">
            <a:solidFill>
              <a:srgbClr val="DFE9F5"/>
            </a:solidFill>
            <a:prstDash val="solid"/>
          </a:ln>
        </p:spPr>
      </p:sp>
      <p:sp>
        <p:nvSpPr>
          <p:cNvPr id="11" name="Text 8"/>
          <p:cNvSpPr/>
          <p:nvPr/>
        </p:nvSpPr>
        <p:spPr>
          <a:xfrm>
            <a:off x="777240" y="2377440"/>
            <a:ext cx="4937760" cy="365760"/>
          </a:xfrm>
          <a:prstGeom prst="rect">
            <a:avLst/>
          </a:prstGeom>
          <a:noFill/>
          <a:ln/>
        </p:spPr>
        <p:txBody>
          <a:bodyPr wrap="square" lIns="0" tIns="0" rIns="0" bIns="0" rtlCol="0" anchor="t"/>
          <a:lstStyle/>
          <a:p>
            <a:pPr algn="l" indent="0" marL="0">
              <a:lnSpc>
                <a:spcPct val="100000"/>
              </a:lnSpc>
              <a:buNone/>
            </a:pPr>
            <a:r>
              <a:rPr lang="en-US" sz="1800" b="1" dirty="0">
                <a:solidFill>
                  <a:srgbClr val="2F6FB3"/>
                </a:solidFill>
                <a:latin typeface="Calibri" pitchFamily="34" charset="0"/>
                <a:ea typeface="Calibri" pitchFamily="34" charset="-122"/>
                <a:cs typeface="Calibri" pitchFamily="34" charset="-120"/>
              </a:rPr>
              <a:t>Reference-based metric</a:t>
            </a:r>
            <a:endParaRPr lang="en-US" sz="1800" dirty="0"/>
          </a:p>
        </p:txBody>
      </p:sp>
      <p:sp>
        <p:nvSpPr>
          <p:cNvPr id="12" name="Shape 9"/>
          <p:cNvSpPr/>
          <p:nvPr/>
        </p:nvSpPr>
        <p:spPr>
          <a:xfrm>
            <a:off x="777240" y="2834640"/>
            <a:ext cx="4937760" cy="822960"/>
          </a:xfrm>
          <a:prstGeom prst="roundRect">
            <a:avLst>
              <a:gd name="adj" fmla="val 8889"/>
            </a:avLst>
          </a:prstGeom>
          <a:solidFill>
            <a:srgbClr val="FFFFFF"/>
          </a:solidFill>
          <a:ln w="19050">
            <a:solidFill>
              <a:srgbClr val="009E73"/>
            </a:solidFill>
            <a:prstDash val="solid"/>
          </a:ln>
        </p:spPr>
      </p:sp>
      <p:sp>
        <p:nvSpPr>
          <p:cNvPr id="13" name="Text 10"/>
          <p:cNvSpPr/>
          <p:nvPr/>
        </p:nvSpPr>
        <p:spPr>
          <a:xfrm>
            <a:off x="868680" y="2944368"/>
            <a:ext cx="4754880" cy="370332"/>
          </a:xfrm>
          <a:prstGeom prst="rect">
            <a:avLst/>
          </a:prstGeom>
          <a:noFill/>
          <a:ln/>
        </p:spPr>
        <p:txBody>
          <a:bodyPr wrap="square" lIns="0" tIns="0" rIns="0" bIns="0" rtlCol="0" anchor="ctr"/>
          <a:lstStyle/>
          <a:p>
            <a:pPr algn="ctr" indent="0" marL="0">
              <a:buNone/>
            </a:pPr>
            <a:r>
              <a:rPr lang="en-US" sz="2200" dirty="0">
                <a:solidFill>
                  <a:srgbClr val="1B2433"/>
                </a:solidFill>
                <a:latin typeface="Calibri" pitchFamily="34" charset="0"/>
                <a:ea typeface="Calibri" pitchFamily="34" charset="-122"/>
                <a:cs typeface="Calibri" pitchFamily="34" charset="-120"/>
              </a:rPr>
              <a:t>நாய்கள் வந்தன.</a:t>
            </a:r>
            <a:endParaRPr lang="en-US" sz="2200" dirty="0"/>
          </a:p>
        </p:txBody>
      </p:sp>
      <p:sp>
        <p:nvSpPr>
          <p:cNvPr id="14" name="Text 11"/>
          <p:cNvSpPr/>
          <p:nvPr/>
        </p:nvSpPr>
        <p:spPr>
          <a:xfrm>
            <a:off x="777240" y="3657600"/>
            <a:ext cx="4937760" cy="274320"/>
          </a:xfrm>
          <a:prstGeom prst="rect">
            <a:avLst/>
          </a:prstGeom>
          <a:noFill/>
          <a:ln/>
        </p:spPr>
        <p:txBody>
          <a:bodyPr wrap="square" lIns="0" tIns="0" rIns="0" bIns="0" rtlCol="0" anchor="t"/>
          <a:lstStyle/>
          <a:p>
            <a:pPr algn="ctr" indent="0" marL="0">
              <a:lnSpc>
                <a:spcPct val="100000"/>
              </a:lnSpc>
              <a:buNone/>
            </a:pPr>
            <a:r>
              <a:rPr lang="en-US" sz="1200" dirty="0">
                <a:solidFill>
                  <a:srgbClr val="5B6577"/>
                </a:solidFill>
                <a:latin typeface="Calibri" pitchFamily="34" charset="0"/>
                <a:ea typeface="Calibri" pitchFamily="34" charset="-122"/>
                <a:cs typeface="Calibri" pitchFamily="34" charset="-120"/>
              </a:rPr>
              <a:t>reference</a:t>
            </a:r>
            <a:endParaRPr lang="en-US" sz="1200" dirty="0"/>
          </a:p>
        </p:txBody>
      </p:sp>
      <p:sp>
        <p:nvSpPr>
          <p:cNvPr id="15" name="Shape 12"/>
          <p:cNvSpPr/>
          <p:nvPr/>
        </p:nvSpPr>
        <p:spPr>
          <a:xfrm>
            <a:off x="777240" y="3977640"/>
            <a:ext cx="4937760" cy="822960"/>
          </a:xfrm>
          <a:prstGeom prst="roundRect">
            <a:avLst>
              <a:gd name="adj" fmla="val 8889"/>
            </a:avLst>
          </a:prstGeom>
          <a:solidFill>
            <a:srgbClr val="FFFFFF"/>
          </a:solidFill>
          <a:ln w="19050">
            <a:solidFill>
              <a:srgbClr val="D55E00"/>
            </a:solidFill>
            <a:prstDash val="solid"/>
          </a:ln>
        </p:spPr>
      </p:sp>
      <p:sp>
        <p:nvSpPr>
          <p:cNvPr id="16" name="Text 13"/>
          <p:cNvSpPr/>
          <p:nvPr/>
        </p:nvSpPr>
        <p:spPr>
          <a:xfrm>
            <a:off x="868680" y="4087368"/>
            <a:ext cx="4754880" cy="370332"/>
          </a:xfrm>
          <a:prstGeom prst="rect">
            <a:avLst/>
          </a:prstGeom>
          <a:noFill/>
          <a:ln/>
        </p:spPr>
        <p:txBody>
          <a:bodyPr wrap="square" lIns="0" tIns="0" rIns="0" bIns="0" rtlCol="0" anchor="ctr"/>
          <a:lstStyle/>
          <a:p>
            <a:pPr algn="ctr" indent="0" marL="0">
              <a:buNone/>
            </a:pPr>
            <a:r>
              <a:rPr lang="en-US" sz="2200" dirty="0">
                <a:solidFill>
                  <a:srgbClr val="1B2433"/>
                </a:solidFill>
                <a:latin typeface="Calibri" pitchFamily="34" charset="0"/>
                <a:ea typeface="Calibri" pitchFamily="34" charset="-122"/>
                <a:cs typeface="Calibri" pitchFamily="34" charset="-120"/>
              </a:rPr>
              <a:t>நாய்கள் வந்தார்கள்.</a:t>
            </a:r>
            <a:endParaRPr lang="en-US" sz="2200" dirty="0"/>
          </a:p>
        </p:txBody>
      </p:sp>
      <p:sp>
        <p:nvSpPr>
          <p:cNvPr id="17" name="Text 14"/>
          <p:cNvSpPr/>
          <p:nvPr/>
        </p:nvSpPr>
        <p:spPr>
          <a:xfrm>
            <a:off x="777240" y="4846320"/>
            <a:ext cx="4937760" cy="548640"/>
          </a:xfrm>
          <a:prstGeom prst="rect">
            <a:avLst/>
          </a:prstGeom>
          <a:noFill/>
          <a:ln/>
        </p:spPr>
        <p:txBody>
          <a:bodyPr wrap="square" lIns="0" tIns="0" rIns="0" bIns="0" rtlCol="0" anchor="t"/>
          <a:lstStyle/>
          <a:p>
            <a:pPr algn="ctr" indent="0" marL="0">
              <a:lnSpc>
                <a:spcPct val="100000"/>
              </a:lnSpc>
              <a:buNone/>
            </a:pPr>
            <a:r>
              <a:rPr lang="en-US" sz="1400" dirty="0">
                <a:solidFill>
                  <a:srgbClr val="1B2433"/>
                </a:solidFill>
                <a:latin typeface="Calibri" pitchFamily="34" charset="0"/>
                <a:ea typeface="Calibri" pitchFamily="34" charset="-122"/>
                <a:cs typeface="Calibri" pitchFamily="34" charset="-120"/>
              </a:rPr>
              <a:t>output: differs from the reference in the verb → </a:t>
            </a:r>
            <a:r>
              <a:rPr lang="en-US" sz="1400" b="1" dirty="0">
                <a:solidFill>
                  <a:srgbClr val="1B2433"/>
                </a:solidFill>
                <a:latin typeface="Calibri" pitchFamily="34" charset="0"/>
                <a:ea typeface="Calibri" pitchFamily="34" charset="-122"/>
                <a:cs typeface="Calibri" pitchFamily="34" charset="-120"/>
              </a:rPr>
              <a:t>visible</a:t>
            </a:r>
            <a:endParaRPr lang="en-US" sz="1400" dirty="0"/>
          </a:p>
        </p:txBody>
      </p:sp>
      <p:sp>
        <p:nvSpPr>
          <p:cNvPr id="18" name="Shape 15"/>
          <p:cNvSpPr/>
          <p:nvPr/>
        </p:nvSpPr>
        <p:spPr>
          <a:xfrm>
            <a:off x="6217920" y="2286000"/>
            <a:ext cx="5394960" cy="3200400"/>
          </a:xfrm>
          <a:prstGeom prst="roundRect">
            <a:avLst>
              <a:gd name="adj" fmla="val 2286"/>
            </a:avLst>
          </a:prstGeom>
          <a:solidFill>
            <a:srgbClr val="EFE3F5"/>
          </a:solidFill>
          <a:ln w="12700">
            <a:solidFill>
              <a:srgbClr val="EFE3F5"/>
            </a:solidFill>
            <a:prstDash val="solid"/>
          </a:ln>
        </p:spPr>
      </p:sp>
      <p:sp>
        <p:nvSpPr>
          <p:cNvPr id="19" name="Text 16"/>
          <p:cNvSpPr/>
          <p:nvPr/>
        </p:nvSpPr>
        <p:spPr>
          <a:xfrm>
            <a:off x="6446520" y="2377440"/>
            <a:ext cx="4937760" cy="365760"/>
          </a:xfrm>
          <a:prstGeom prst="rect">
            <a:avLst/>
          </a:prstGeom>
          <a:noFill/>
          <a:ln/>
        </p:spPr>
        <p:txBody>
          <a:bodyPr wrap="square" lIns="0" tIns="0" rIns="0" bIns="0" rtlCol="0" anchor="t"/>
          <a:lstStyle/>
          <a:p>
            <a:pPr algn="l" indent="0" marL="0">
              <a:lnSpc>
                <a:spcPct val="100000"/>
              </a:lnSpc>
              <a:buNone/>
            </a:pPr>
            <a:r>
              <a:rPr lang="en-US" sz="1800" b="1" dirty="0">
                <a:solidFill>
                  <a:srgbClr val="8E44AD"/>
                </a:solidFill>
                <a:latin typeface="Calibri" pitchFamily="34" charset="0"/>
                <a:ea typeface="Calibri" pitchFamily="34" charset="-122"/>
                <a:cs typeface="Calibri" pitchFamily="34" charset="-120"/>
              </a:rPr>
              <a:t>Reference-free metric</a:t>
            </a:r>
            <a:endParaRPr lang="en-US" sz="1800" dirty="0"/>
          </a:p>
        </p:txBody>
      </p:sp>
      <p:sp>
        <p:nvSpPr>
          <p:cNvPr id="20" name="Shape 17"/>
          <p:cNvSpPr/>
          <p:nvPr/>
        </p:nvSpPr>
        <p:spPr>
          <a:xfrm>
            <a:off x="6446520" y="2834640"/>
            <a:ext cx="4937760" cy="822960"/>
          </a:xfrm>
          <a:prstGeom prst="roundRect">
            <a:avLst>
              <a:gd name="adj" fmla="val 8889"/>
            </a:avLst>
          </a:prstGeom>
          <a:solidFill>
            <a:srgbClr val="FFFFFF"/>
          </a:solidFill>
          <a:ln w="15875">
            <a:solidFill>
              <a:srgbClr val="D5DAE3"/>
            </a:solidFill>
            <a:prstDash val="solid"/>
          </a:ln>
        </p:spPr>
      </p:sp>
      <p:sp>
        <p:nvSpPr>
          <p:cNvPr id="21" name="Text 18"/>
          <p:cNvSpPr/>
          <p:nvPr/>
        </p:nvSpPr>
        <p:spPr>
          <a:xfrm>
            <a:off x="6446520" y="2834640"/>
            <a:ext cx="4937760" cy="822960"/>
          </a:xfrm>
          <a:prstGeom prst="rect">
            <a:avLst/>
          </a:prstGeom>
          <a:noFill/>
          <a:ln/>
        </p:spPr>
        <p:txBody>
          <a:bodyPr wrap="square" lIns="0" tIns="0" rIns="0" bIns="0" rtlCol="0" anchor="ctr"/>
          <a:lstStyle/>
          <a:p>
            <a:pPr algn="ctr" indent="0" marL="0">
              <a:lnSpc>
                <a:spcPct val="100000"/>
              </a:lnSpc>
              <a:buNone/>
            </a:pPr>
            <a:r>
              <a:rPr lang="en-US" sz="1800" i="1" dirty="0">
                <a:solidFill>
                  <a:srgbClr val="1B2433"/>
                </a:solidFill>
                <a:latin typeface="Calibri" pitchFamily="34" charset="0"/>
                <a:ea typeface="Calibri" pitchFamily="34" charset="-122"/>
                <a:cs typeface="Calibri" pitchFamily="34" charset="-120"/>
              </a:rPr>
              <a:t>The dogs came at dawn.</a:t>
            </a:r>
            <a:endParaRPr lang="en-US" sz="1800" dirty="0"/>
          </a:p>
        </p:txBody>
      </p:sp>
      <p:sp>
        <p:nvSpPr>
          <p:cNvPr id="22" name="Text 19"/>
          <p:cNvSpPr/>
          <p:nvPr/>
        </p:nvSpPr>
        <p:spPr>
          <a:xfrm>
            <a:off x="6446520" y="3657600"/>
            <a:ext cx="4937760" cy="274320"/>
          </a:xfrm>
          <a:prstGeom prst="rect">
            <a:avLst/>
          </a:prstGeom>
          <a:noFill/>
          <a:ln/>
        </p:spPr>
        <p:txBody>
          <a:bodyPr wrap="square" lIns="0" tIns="0" rIns="0" bIns="0" rtlCol="0" anchor="t"/>
          <a:lstStyle/>
          <a:p>
            <a:pPr algn="ctr" indent="0" marL="0">
              <a:lnSpc>
                <a:spcPct val="100000"/>
              </a:lnSpc>
              <a:buNone/>
            </a:pPr>
            <a:r>
              <a:rPr lang="en-US" sz="1200" dirty="0">
                <a:solidFill>
                  <a:srgbClr val="5B6577"/>
                </a:solidFill>
                <a:latin typeface="Calibri" pitchFamily="34" charset="0"/>
                <a:ea typeface="Calibri" pitchFamily="34" charset="-122"/>
                <a:cs typeface="Calibri" pitchFamily="34" charset="-120"/>
              </a:rPr>
              <a:t>source</a:t>
            </a:r>
            <a:endParaRPr lang="en-US" sz="1200" dirty="0"/>
          </a:p>
        </p:txBody>
      </p:sp>
      <p:sp>
        <p:nvSpPr>
          <p:cNvPr id="23" name="Shape 20"/>
          <p:cNvSpPr/>
          <p:nvPr/>
        </p:nvSpPr>
        <p:spPr>
          <a:xfrm>
            <a:off x="6446520" y="3977640"/>
            <a:ext cx="4937760" cy="822960"/>
          </a:xfrm>
          <a:prstGeom prst="roundRect">
            <a:avLst>
              <a:gd name="adj" fmla="val 8889"/>
            </a:avLst>
          </a:prstGeom>
          <a:solidFill>
            <a:srgbClr val="FFFFFF"/>
          </a:solidFill>
          <a:ln w="19050">
            <a:solidFill>
              <a:srgbClr val="D55E00"/>
            </a:solidFill>
            <a:prstDash val="solid"/>
          </a:ln>
        </p:spPr>
      </p:sp>
      <p:sp>
        <p:nvSpPr>
          <p:cNvPr id="24" name="Text 21"/>
          <p:cNvSpPr/>
          <p:nvPr/>
        </p:nvSpPr>
        <p:spPr>
          <a:xfrm>
            <a:off x="6537960" y="4087368"/>
            <a:ext cx="4754880" cy="370332"/>
          </a:xfrm>
          <a:prstGeom prst="rect">
            <a:avLst/>
          </a:prstGeom>
          <a:noFill/>
          <a:ln/>
        </p:spPr>
        <p:txBody>
          <a:bodyPr wrap="square" lIns="0" tIns="0" rIns="0" bIns="0" rtlCol="0" anchor="ctr"/>
          <a:lstStyle/>
          <a:p>
            <a:pPr algn="ctr" indent="0" marL="0">
              <a:buNone/>
            </a:pPr>
            <a:r>
              <a:rPr lang="en-US" sz="2200" dirty="0">
                <a:solidFill>
                  <a:srgbClr val="1B2433"/>
                </a:solidFill>
                <a:latin typeface="Calibri" pitchFamily="34" charset="0"/>
                <a:ea typeface="Calibri" pitchFamily="34" charset="-122"/>
                <a:cs typeface="Calibri" pitchFamily="34" charset="-120"/>
              </a:rPr>
              <a:t>நாய்கள் வந்தார்கள்.</a:t>
            </a:r>
            <a:endParaRPr lang="en-US" sz="2200" dirty="0"/>
          </a:p>
        </p:txBody>
      </p:sp>
      <p:sp>
        <p:nvSpPr>
          <p:cNvPr id="25" name="Text 22"/>
          <p:cNvSpPr/>
          <p:nvPr/>
        </p:nvSpPr>
        <p:spPr>
          <a:xfrm>
            <a:off x="6446520" y="4846320"/>
            <a:ext cx="4937760" cy="548640"/>
          </a:xfrm>
          <a:prstGeom prst="rect">
            <a:avLst/>
          </a:prstGeom>
          <a:noFill/>
          <a:ln/>
        </p:spPr>
        <p:txBody>
          <a:bodyPr wrap="square" lIns="0" tIns="0" rIns="0" bIns="0" rtlCol="0" anchor="t"/>
          <a:lstStyle/>
          <a:p>
            <a:pPr algn="ctr" indent="0" marL="0">
              <a:lnSpc>
                <a:spcPct val="100000"/>
              </a:lnSpc>
              <a:buNone/>
            </a:pPr>
            <a:r>
              <a:rPr lang="en-US" sz="1400" dirty="0">
                <a:solidFill>
                  <a:srgbClr val="1B2433"/>
                </a:solidFill>
                <a:latin typeface="Calibri" pitchFamily="34" charset="0"/>
                <a:ea typeface="Calibri" pitchFamily="34" charset="-122"/>
                <a:cs typeface="Calibri" pitchFamily="34" charset="-120"/>
              </a:rPr>
              <a:t>must </a:t>
            </a:r>
            <a:r>
              <a:rPr lang="en-US" sz="1400" b="1" dirty="0">
                <a:solidFill>
                  <a:srgbClr val="1B2433"/>
                </a:solidFill>
                <a:latin typeface="Calibri" pitchFamily="34" charset="0"/>
                <a:ea typeface="Calibri" pitchFamily="34" charset="-122"/>
                <a:cs typeface="Calibri" pitchFamily="34" charset="-120"/>
              </a:rPr>
              <a:t>know by itself</a:t>
            </a:r>
            <a:r>
              <a:rPr lang="en-US" sz="1400" dirty="0">
                <a:solidFill>
                  <a:srgbClr val="1B2433"/>
                </a:solidFill>
                <a:latin typeface="Calibri" pitchFamily="34" charset="0"/>
                <a:ea typeface="Calibri" pitchFamily="34" charset="-122"/>
                <a:cs typeface="Calibri" pitchFamily="34" charset="-120"/>
              </a:rPr>
              <a:t> that dogs take the non-people ending</a:t>
            </a:r>
            <a:endParaRPr lang="en-US" sz="1400" dirty="0"/>
          </a:p>
        </p:txBody>
      </p:sp>
      <p:sp>
        <p:nvSpPr>
          <p:cNvPr id="26" name="Shape 23"/>
          <p:cNvSpPr/>
          <p:nvPr/>
        </p:nvSpPr>
        <p:spPr>
          <a:xfrm>
            <a:off x="548640" y="5760720"/>
            <a:ext cx="11064240" cy="502920"/>
          </a:xfrm>
          <a:prstGeom prst="roundRect">
            <a:avLst>
              <a:gd name="adj" fmla="val 14545"/>
            </a:avLst>
          </a:prstGeom>
          <a:solidFill>
            <a:srgbClr val="FBEBD2"/>
          </a:solidFill>
          <a:ln w="12700">
            <a:solidFill>
              <a:srgbClr val="E39B2D"/>
            </a:solidFill>
            <a:prstDash val="solid"/>
          </a:ln>
        </p:spPr>
      </p:sp>
      <p:sp>
        <p:nvSpPr>
          <p:cNvPr id="27" name="Text 24"/>
          <p:cNvSpPr/>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A reference-free metric needs </a:t>
            </a:r>
            <a:r>
              <a:rPr lang="en-US" sz="1500" b="1" dirty="0">
                <a:solidFill>
                  <a:srgbClr val="1B2433"/>
                </a:solidFill>
                <a:latin typeface="Calibri" pitchFamily="34" charset="0"/>
                <a:ea typeface="Calibri" pitchFamily="34" charset="-122"/>
                <a:cs typeface="Calibri" pitchFamily="34" charset="-120"/>
              </a:rPr>
              <a:t>real knowledge of Tamil grammar</a:t>
            </a:r>
            <a:r>
              <a:rPr lang="en-US" sz="1500" dirty="0">
                <a:solidFill>
                  <a:srgbClr val="1B2433"/>
                </a:solidFill>
                <a:latin typeface="Calibri" pitchFamily="34" charset="0"/>
                <a:ea typeface="Calibri" pitchFamily="34" charset="-122"/>
                <a:cs typeface="Calibri" pitchFamily="34" charset="-120"/>
              </a:rPr>
              <a:t> to catch this error.</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5</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A real pair from our data, with real scores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47</a:t>
            </a:r>
            <a:endParaRPr lang="en-US" sz="900" dirty="0"/>
          </a:p>
        </p:txBody>
      </p:sp>
      <p:sp>
        <p:nvSpPr>
          <p:cNvPr id="9" name="Text 6"/>
          <p:cNvSpPr/>
          <p:nvPr/>
        </p:nvSpPr>
        <p:spPr>
          <a:xfrm>
            <a:off x="548640" y="1691640"/>
            <a:ext cx="11064240" cy="411480"/>
          </a:xfrm>
          <a:prstGeom prst="rect">
            <a:avLst/>
          </a:prstGeom>
          <a:noFill/>
          <a:ln/>
        </p:spPr>
        <p:txBody>
          <a:bodyPr wrap="square" lIns="0" tIns="0" rIns="0" bIns="0" rtlCol="0" anchor="t"/>
          <a:lstStyle/>
          <a:p>
            <a:pPr algn="l" indent="0" marL="0">
              <a:lnSpc>
                <a:spcPct val="100000"/>
              </a:lnSpc>
              <a:buNone/>
            </a:pPr>
            <a:r>
              <a:rPr lang="en-US" sz="1800" i="1" dirty="0">
                <a:solidFill>
                  <a:srgbClr val="1B2433"/>
                </a:solidFill>
                <a:latin typeface="Calibri" pitchFamily="34" charset="0"/>
                <a:ea typeface="Calibri" pitchFamily="34" charset="-122"/>
                <a:cs typeface="Calibri" pitchFamily="34" charset="-120"/>
              </a:rPr>
              <a:t>English: "The dogs came at dawn."</a:t>
            </a:r>
            <a:endParaRPr lang="en-US" sz="1800" dirty="0"/>
          </a:p>
        </p:txBody>
      </p:sp>
      <p:sp>
        <p:nvSpPr>
          <p:cNvPr id="10" name="Shape 7"/>
          <p:cNvSpPr/>
          <p:nvPr/>
        </p:nvSpPr>
        <p:spPr>
          <a:xfrm>
            <a:off x="548640" y="2240280"/>
            <a:ext cx="5394960" cy="1280160"/>
          </a:xfrm>
          <a:prstGeom prst="roundRect">
            <a:avLst>
              <a:gd name="adj" fmla="val 5714"/>
            </a:avLst>
          </a:prstGeom>
          <a:solidFill>
            <a:srgbClr val="FFFFFF"/>
          </a:solidFill>
          <a:ln w="31750">
            <a:solidFill>
              <a:srgbClr val="009E73"/>
            </a:solidFill>
            <a:prstDash val="solid"/>
          </a:ln>
        </p:spPr>
      </p:sp>
      <p:sp>
        <p:nvSpPr>
          <p:cNvPr id="11" name="Text 8"/>
          <p:cNvSpPr/>
          <p:nvPr/>
        </p:nvSpPr>
        <p:spPr>
          <a:xfrm>
            <a:off x="640080" y="2350008"/>
            <a:ext cx="5212080" cy="576072"/>
          </a:xfrm>
          <a:prstGeom prst="rect">
            <a:avLst/>
          </a:prstGeom>
          <a:noFill/>
          <a:ln/>
        </p:spPr>
        <p:txBody>
          <a:bodyPr wrap="square" lIns="0" tIns="0" rIns="0" bIns="0" rtlCol="0" anchor="ctr"/>
          <a:lstStyle/>
          <a:p>
            <a:pPr algn="ctr" indent="0" marL="0">
              <a:buNone/>
            </a:pPr>
            <a:r>
              <a:rPr lang="en-US" sz="2200" dirty="0">
                <a:solidFill>
                  <a:srgbClr val="1B2433"/>
                </a:solidFill>
                <a:latin typeface="Calibri" pitchFamily="34" charset="0"/>
                <a:ea typeface="Calibri" pitchFamily="34" charset="-122"/>
                <a:cs typeface="Calibri" pitchFamily="34" charset="-120"/>
              </a:rPr>
              <a:t>அதிகாலையில் நாய்கள் வந்தன.</a:t>
            </a:r>
            <a:endParaRPr lang="en-US" sz="2200" dirty="0"/>
          </a:p>
        </p:txBody>
      </p:sp>
      <p:sp>
        <p:nvSpPr>
          <p:cNvPr id="12" name="Text 9"/>
          <p:cNvSpPr/>
          <p:nvPr/>
        </p:nvSpPr>
        <p:spPr>
          <a:xfrm>
            <a:off x="640080" y="2926080"/>
            <a:ext cx="5212080" cy="256032"/>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atikālaiyil nāykaḷ vantaṉa.</a:t>
            </a:r>
            <a:endParaRPr lang="en-US" sz="1400" dirty="0"/>
          </a:p>
        </p:txBody>
      </p:sp>
      <p:sp>
        <p:nvSpPr>
          <p:cNvPr id="13" name="Text 10"/>
          <p:cNvSpPr/>
          <p:nvPr/>
        </p:nvSpPr>
        <p:spPr>
          <a:xfrm>
            <a:off x="640080" y="3182112"/>
            <a:ext cx="5212080" cy="384048"/>
          </a:xfrm>
          <a:prstGeom prst="rect">
            <a:avLst/>
          </a:prstGeom>
          <a:noFill/>
          <a:ln/>
        </p:spPr>
        <p:txBody>
          <a:bodyPr wrap="square" lIns="0" tIns="0" rIns="0" bIns="0" rtlCol="0" anchor="t"/>
          <a:lstStyle/>
          <a:p>
            <a:pPr algn="ctr" indent="0" marL="0">
              <a:buNone/>
            </a:pPr>
            <a:r>
              <a:rPr lang="en-US" sz="1300" b="1" dirty="0">
                <a:solidFill>
                  <a:srgbClr val="009E73"/>
                </a:solidFill>
                <a:latin typeface="Calibri" pitchFamily="34" charset="0"/>
                <a:ea typeface="Calibri" pitchFamily="34" charset="-122"/>
                <a:cs typeface="Calibri" pitchFamily="34" charset="-120"/>
              </a:rPr>
              <a:t>correct</a:t>
            </a:r>
            <a:r>
              <a:rPr lang="en-US" sz="1300" dirty="0">
                <a:solidFill>
                  <a:srgbClr val="009E73"/>
                </a:solidFill>
                <a:latin typeface="Calibri" pitchFamily="34" charset="0"/>
                <a:ea typeface="Calibri" pitchFamily="34" charset="-122"/>
                <a:cs typeface="Calibri" pitchFamily="34" charset="-120"/>
              </a:rPr>
              <a:t>: non-people ending</a:t>
            </a:r>
            <a:endParaRPr lang="en-US" sz="1300" dirty="0"/>
          </a:p>
        </p:txBody>
      </p:sp>
      <p:sp>
        <p:nvSpPr>
          <p:cNvPr id="14" name="Shape 11"/>
          <p:cNvSpPr/>
          <p:nvPr/>
        </p:nvSpPr>
        <p:spPr>
          <a:xfrm>
            <a:off x="6217920" y="2240280"/>
            <a:ext cx="5394960" cy="1280160"/>
          </a:xfrm>
          <a:prstGeom prst="roundRect">
            <a:avLst>
              <a:gd name="adj" fmla="val 5714"/>
            </a:avLst>
          </a:prstGeom>
          <a:solidFill>
            <a:srgbClr val="FFFFFF"/>
          </a:solidFill>
          <a:ln w="31750">
            <a:solidFill>
              <a:srgbClr val="D55E00"/>
            </a:solidFill>
            <a:prstDash val="solid"/>
          </a:ln>
        </p:spPr>
      </p:sp>
      <p:sp>
        <p:nvSpPr>
          <p:cNvPr id="15" name="Text 12"/>
          <p:cNvSpPr/>
          <p:nvPr/>
        </p:nvSpPr>
        <p:spPr>
          <a:xfrm>
            <a:off x="6309360" y="2350008"/>
            <a:ext cx="5212080" cy="576072"/>
          </a:xfrm>
          <a:prstGeom prst="rect">
            <a:avLst/>
          </a:prstGeom>
          <a:noFill/>
          <a:ln/>
        </p:spPr>
        <p:txBody>
          <a:bodyPr wrap="square" lIns="0" tIns="0" rIns="0" bIns="0" rtlCol="0" anchor="ctr"/>
          <a:lstStyle/>
          <a:p>
            <a:pPr algn="ctr" indent="0" marL="0">
              <a:buNone/>
            </a:pPr>
            <a:r>
              <a:rPr lang="en-US" sz="2200" dirty="0">
                <a:solidFill>
                  <a:srgbClr val="1B2433"/>
                </a:solidFill>
                <a:latin typeface="Calibri" pitchFamily="34" charset="0"/>
                <a:ea typeface="Calibri" pitchFamily="34" charset="-122"/>
                <a:cs typeface="Calibri" pitchFamily="34" charset="-120"/>
              </a:rPr>
              <a:t>அதிகாலையில் நாய்கள் வந்தார்கள்.</a:t>
            </a:r>
            <a:endParaRPr lang="en-US" sz="2200" dirty="0"/>
          </a:p>
        </p:txBody>
      </p:sp>
      <p:sp>
        <p:nvSpPr>
          <p:cNvPr id="16" name="Text 13"/>
          <p:cNvSpPr/>
          <p:nvPr/>
        </p:nvSpPr>
        <p:spPr>
          <a:xfrm>
            <a:off x="6309360" y="2926080"/>
            <a:ext cx="5212080" cy="256032"/>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atikālaiyil nāykaḷ vantārkaḷ.</a:t>
            </a:r>
            <a:endParaRPr lang="en-US" sz="1400" dirty="0"/>
          </a:p>
        </p:txBody>
      </p:sp>
      <p:sp>
        <p:nvSpPr>
          <p:cNvPr id="17" name="Text 14"/>
          <p:cNvSpPr/>
          <p:nvPr/>
        </p:nvSpPr>
        <p:spPr>
          <a:xfrm>
            <a:off x="6309360" y="3182112"/>
            <a:ext cx="5212080" cy="384048"/>
          </a:xfrm>
          <a:prstGeom prst="rect">
            <a:avLst/>
          </a:prstGeom>
          <a:noFill/>
          <a:ln/>
        </p:spPr>
        <p:txBody>
          <a:bodyPr wrap="square" lIns="0" tIns="0" rIns="0" bIns="0" rtlCol="0" anchor="t"/>
          <a:lstStyle/>
          <a:p>
            <a:pPr algn="ctr" indent="0" marL="0">
              <a:buNone/>
            </a:pPr>
            <a:r>
              <a:rPr lang="en-US" sz="1300" b="1" dirty="0">
                <a:solidFill>
                  <a:srgbClr val="D55E00"/>
                </a:solidFill>
                <a:latin typeface="Calibri" pitchFamily="34" charset="0"/>
                <a:ea typeface="Calibri" pitchFamily="34" charset="-122"/>
                <a:cs typeface="Calibri" pitchFamily="34" charset="-120"/>
              </a:rPr>
              <a:t>wrong</a:t>
            </a:r>
            <a:r>
              <a:rPr lang="en-US" sz="1300" dirty="0">
                <a:solidFill>
                  <a:srgbClr val="D55E00"/>
                </a:solidFill>
                <a:latin typeface="Calibri" pitchFamily="34" charset="0"/>
                <a:ea typeface="Calibri" pitchFamily="34" charset="-122"/>
                <a:cs typeface="Calibri" pitchFamily="34" charset="-120"/>
              </a:rPr>
              <a:t>: people ending</a:t>
            </a:r>
            <a:endParaRPr lang="en-US" sz="13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11064240" cy="914400"/>
        </p:xfrm>
        <a:graphic>
          <a:graphicData uri="http://schemas.openxmlformats.org/drawingml/2006/table">
            <a:tbl>
              <a:tblPr/>
              <a:tblGrid>
                <a:gridCol w="3657600"/>
                <a:gridCol w="2194560"/>
                <a:gridCol w="2194560"/>
                <a:gridCol w="3017520"/>
              </a:tblGrid>
              <a:tr h="475488">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Metric</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Score: correct</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Score: wrong</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Which does it prefer?</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r>
              <a:tr h="475488">
                <a:tc>
                  <a:txBody>
                    <a:bodyPr/>
                    <a:lstStyle/>
                    <a:p>
                      <a:pPr algn="l" indent="0" marL="0">
                        <a:buNone/>
                      </a:pPr>
                      <a:r>
                        <a:rPr lang="en-US" sz="1600" b="1" dirty="0">
                          <a:solidFill>
                            <a:srgbClr val="8E44AD"/>
                          </a:solidFill>
                          <a:latin typeface="Calibri" pitchFamily="34" charset="0"/>
                          <a:ea typeface="Calibri" pitchFamily="34" charset="-122"/>
                          <a:cs typeface="Calibri" pitchFamily="34" charset="-120"/>
                        </a:rPr>
                        <a:t>CometKiwi-22 (no reference)</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433"/>
                          </a:solidFill>
                          <a:latin typeface="Calibri" pitchFamily="34" charset="0"/>
                          <a:ea typeface="Calibri" pitchFamily="34" charset="-122"/>
                          <a:cs typeface="Calibri" pitchFamily="34" charset="-120"/>
                        </a:rPr>
                        <a:t>0.882</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433"/>
                          </a:solidFill>
                          <a:latin typeface="Calibri" pitchFamily="34" charset="0"/>
                          <a:ea typeface="Calibri" pitchFamily="34" charset="-122"/>
                          <a:cs typeface="Calibri" pitchFamily="34" charset="-120"/>
                        </a:rPr>
                        <a:t>0.885</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55E00"/>
                          </a:solidFill>
                          <a:latin typeface="Calibri" pitchFamily="34" charset="0"/>
                          <a:ea typeface="Calibri" pitchFamily="34" charset="-122"/>
                          <a:cs typeface="Calibri" pitchFamily="34" charset="-120"/>
                        </a:rPr>
                        <a:t>the WRONG one</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600" b="1" dirty="0">
                          <a:solidFill>
                            <a:srgbClr val="2F6FB3"/>
                          </a:solidFill>
                          <a:latin typeface="Calibri" pitchFamily="34" charset="0"/>
                          <a:ea typeface="Calibri" pitchFamily="34" charset="-122"/>
                          <a:cs typeface="Calibri" pitchFamily="34" charset="-120"/>
                        </a:rPr>
                        <a:t>COMET-22 (with reference)</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600" dirty="0">
                          <a:solidFill>
                            <a:srgbClr val="1B2433"/>
                          </a:solidFill>
                          <a:latin typeface="Calibri" pitchFamily="34" charset="0"/>
                          <a:ea typeface="Calibri" pitchFamily="34" charset="-122"/>
                          <a:cs typeface="Calibri" pitchFamily="34" charset="-120"/>
                        </a:rPr>
                        <a:t>0.983</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600" dirty="0">
                          <a:solidFill>
                            <a:srgbClr val="1B2433"/>
                          </a:solidFill>
                          <a:latin typeface="Calibri" pitchFamily="34" charset="0"/>
                          <a:ea typeface="Calibri" pitchFamily="34" charset="-122"/>
                          <a:cs typeface="Calibri" pitchFamily="34" charset="-120"/>
                        </a:rPr>
                        <a:t>0.958</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600" b="1" dirty="0">
                          <a:solidFill>
                            <a:srgbClr val="009E73"/>
                          </a:solidFill>
                          <a:latin typeface="Calibri" pitchFamily="34" charset="0"/>
                          <a:ea typeface="Calibri" pitchFamily="34" charset="-122"/>
                          <a:cs typeface="Calibri" pitchFamily="34" charset="-120"/>
                        </a:rPr>
                        <a:t>the correct one</a:t>
                      </a:r>
                      <a:endParaRPr lang="en-US" sz="16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bl>
          </a:graphicData>
        </a:graphic>
      </p:graphicFrame>
      <p:sp>
        <p:nvSpPr>
          <p:cNvPr id="19" name="Shape 15"/>
          <p:cNvSpPr/>
          <p:nvPr/>
        </p:nvSpPr>
        <p:spPr>
          <a:xfrm>
            <a:off x="548640" y="5486400"/>
            <a:ext cx="11064240" cy="685800"/>
          </a:xfrm>
          <a:prstGeom prst="roundRect">
            <a:avLst>
              <a:gd name="adj" fmla="val 10667"/>
            </a:avLst>
          </a:prstGeom>
          <a:solidFill>
            <a:srgbClr val="FBEBD2"/>
          </a:solidFill>
          <a:ln w="12700">
            <a:solidFill>
              <a:srgbClr val="E39B2D"/>
            </a:solidFill>
            <a:prstDash val="solid"/>
          </a:ln>
        </p:spPr>
      </p:sp>
      <p:sp>
        <p:nvSpPr>
          <p:cNvPr id="20" name="Text 16"/>
          <p:cNvSpPr/>
          <p:nvPr/>
        </p:nvSpPr>
        <p:spPr>
          <a:xfrm>
            <a:off x="777240" y="5486400"/>
            <a:ext cx="10607040" cy="68580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One example to show the idea. In this constructed pair the reference </a:t>
            </a:r>
            <a:r>
              <a:rPr lang="en-US" sz="1500" b="1" dirty="0">
                <a:solidFill>
                  <a:srgbClr val="1B2433"/>
                </a:solidFill>
                <a:latin typeface="Calibri" pitchFamily="34" charset="0"/>
                <a:ea typeface="Calibri" pitchFamily="34" charset="-122"/>
                <a:cs typeface="Calibri" pitchFamily="34" charset="-120"/>
              </a:rPr>
              <a:t>is</a:t>
            </a:r>
            <a:r>
              <a:rPr lang="en-US" sz="1500" dirty="0">
                <a:solidFill>
                  <a:srgbClr val="1B2433"/>
                </a:solidFill>
                <a:latin typeface="Calibri" pitchFamily="34" charset="0"/>
                <a:ea typeface="Calibri" pitchFamily="34" charset="-122"/>
                <a:cs typeface="Calibri" pitchFamily="34" charset="-120"/>
              </a:rPr>
              <a:t> the correct sentence, which helps COMET-22. Real results use </a:t>
            </a:r>
            <a:r>
              <a:rPr lang="en-US" sz="1500" b="1" dirty="0">
                <a:solidFill>
                  <a:srgbClr val="1B2433"/>
                </a:solidFill>
                <a:latin typeface="Calibri" pitchFamily="34" charset="0"/>
                <a:ea typeface="Calibri" pitchFamily="34" charset="-122"/>
                <a:cs typeface="Calibri" pitchFamily="34" charset="-120"/>
              </a:rPr>
              <a:t>thousands</a:t>
            </a:r>
            <a:r>
              <a:rPr lang="en-US" sz="1500" dirty="0">
                <a:solidFill>
                  <a:srgbClr val="1B2433"/>
                </a:solidFill>
                <a:latin typeface="Calibri" pitchFamily="34" charset="0"/>
                <a:ea typeface="Calibri" pitchFamily="34" charset="-122"/>
                <a:cs typeface="Calibri" pitchFamily="34" charset="-120"/>
              </a:rPr>
              <a:t> of pairs.</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5</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Three kinds of evidence, which we call "arms"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48</a:t>
            </a:r>
            <a:endParaRPr lang="en-US" sz="900" dirty="0"/>
          </a:p>
        </p:txBody>
      </p:sp>
      <p:sp>
        <p:nvSpPr>
          <p:cNvPr id="9" name="Shape 6"/>
          <p:cNvSpPr/>
          <p:nvPr/>
        </p:nvSpPr>
        <p:spPr>
          <a:xfrm>
            <a:off x="548640" y="1737360"/>
            <a:ext cx="3566160" cy="3291840"/>
          </a:xfrm>
          <a:prstGeom prst="roundRect">
            <a:avLst>
              <a:gd name="adj" fmla="val 2222"/>
            </a:avLst>
          </a:prstGeom>
          <a:solidFill>
            <a:srgbClr val="F2F4F8"/>
          </a:solidFill>
          <a:ln w="12700">
            <a:solidFill>
              <a:srgbClr val="F2F4F8"/>
            </a:solidFill>
            <a:prstDash val="solid"/>
          </a:ln>
        </p:spPr>
      </p:sp>
      <p:sp>
        <p:nvSpPr>
          <p:cNvPr id="10" name="Shape 7"/>
          <p:cNvSpPr/>
          <p:nvPr/>
        </p:nvSpPr>
        <p:spPr>
          <a:xfrm>
            <a:off x="731520" y="1874520"/>
            <a:ext cx="1737360" cy="457200"/>
          </a:xfrm>
          <a:prstGeom prst="roundRect">
            <a:avLst>
              <a:gd name="adj" fmla="val 16000"/>
            </a:avLst>
          </a:prstGeom>
          <a:solidFill>
            <a:srgbClr val="2F6FB3"/>
          </a:solidFill>
          <a:ln w="12700">
            <a:solidFill>
              <a:srgbClr val="2F6FB3"/>
            </a:solidFill>
            <a:prstDash val="solid"/>
          </a:ln>
        </p:spPr>
      </p:sp>
      <p:sp>
        <p:nvSpPr>
          <p:cNvPr id="11" name="Text 8"/>
          <p:cNvSpPr/>
          <p:nvPr/>
        </p:nvSpPr>
        <p:spPr>
          <a:xfrm>
            <a:off x="731520" y="1874520"/>
            <a:ext cx="1737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Controlled</a:t>
            </a:r>
            <a:endParaRPr lang="en-US" sz="1600" dirty="0"/>
          </a:p>
        </p:txBody>
      </p:sp>
      <p:sp>
        <p:nvSpPr>
          <p:cNvPr id="12" name="Text 9"/>
          <p:cNvSpPr/>
          <p:nvPr/>
        </p:nvSpPr>
        <p:spPr>
          <a:xfrm>
            <a:off x="2560320" y="1874520"/>
            <a:ext cx="1463040" cy="457200"/>
          </a:xfrm>
          <a:prstGeom prst="rect">
            <a:avLst/>
          </a:prstGeom>
          <a:noFill/>
          <a:ln/>
        </p:spPr>
        <p:txBody>
          <a:bodyPr wrap="square" lIns="0" tIns="0" rIns="0" bIns="0" rtlCol="0" anchor="ctr"/>
          <a:lstStyle/>
          <a:p>
            <a:pPr algn="l" indent="0" marL="0">
              <a:lnSpc>
                <a:spcPct val="100000"/>
              </a:lnSpc>
              <a:buNone/>
            </a:pPr>
            <a:r>
              <a:rPr lang="en-US" sz="1300" b="1" dirty="0">
                <a:solidFill>
                  <a:srgbClr val="5B6577"/>
                </a:solidFill>
                <a:latin typeface="Calibri" pitchFamily="34" charset="0"/>
                <a:ea typeface="Calibri" pitchFamily="34" charset="-122"/>
                <a:cs typeface="Calibri" pitchFamily="34" charset="-120"/>
              </a:rPr>
              <a:t>3,500 records</a:t>
            </a:r>
            <a:endParaRPr lang="en-US" sz="1300" dirty="0"/>
          </a:p>
        </p:txBody>
      </p:sp>
      <p:sp>
        <p:nvSpPr>
          <p:cNvPr id="13" name="Text 10"/>
          <p:cNvSpPr/>
          <p:nvPr/>
        </p:nvSpPr>
        <p:spPr>
          <a:xfrm>
            <a:off x="731520" y="2487168"/>
            <a:ext cx="3200400" cy="1298448"/>
          </a:xfrm>
          <a:prstGeom prst="rect">
            <a:avLst/>
          </a:prstGeom>
          <a:noFill/>
          <a:ln/>
        </p:spPr>
        <p:txBody>
          <a:bodyPr wrap="square" lIns="0" tIns="0" rIns="0" bIns="0" rtlCol="0" anchor="t"/>
          <a:lstStyle/>
          <a:p>
            <a:pPr algn="l" indent="0" marL="0">
              <a:lnSpc>
                <a:spcPct val="100000"/>
              </a:lnSpc>
              <a:buNone/>
            </a:pPr>
            <a:r>
              <a:rPr lang="en-US" sz="1500" dirty="0">
                <a:solidFill>
                  <a:srgbClr val="1B2433"/>
                </a:solidFill>
                <a:latin typeface="Calibri" pitchFamily="34" charset="0"/>
                <a:ea typeface="Calibri" pitchFamily="34" charset="-122"/>
                <a:cs typeface="Calibri" pitchFamily="34" charset="-120"/>
              </a:rPr>
              <a:t>We </a:t>
            </a:r>
            <a:r>
              <a:rPr lang="en-US" sz="1500" b="1" dirty="0">
                <a:solidFill>
                  <a:srgbClr val="1B2433"/>
                </a:solidFill>
                <a:latin typeface="Calibri" pitchFamily="34" charset="0"/>
                <a:ea typeface="Calibri" pitchFamily="34" charset="-122"/>
                <a:cs typeface="Calibri" pitchFamily="34" charset="-120"/>
              </a:rPr>
              <a:t>build</a:t>
            </a:r>
            <a:r>
              <a:rPr lang="en-US" sz="1500" dirty="0">
                <a:solidFill>
                  <a:srgbClr val="1B2433"/>
                </a:solidFill>
                <a:latin typeface="Calibri" pitchFamily="34" charset="0"/>
                <a:ea typeface="Calibri" pitchFamily="34" charset="-122"/>
                <a:cs typeface="Calibri" pitchFamily="34" charset="-120"/>
              </a:rPr>
              <a:t> a minimal pair: same sentence, only the verb ending changed. The analyser confirms the changed one carries the wrong value.</a:t>
            </a:r>
            <a:endParaRPr lang="en-US" sz="1500" dirty="0"/>
          </a:p>
        </p:txBody>
      </p:sp>
      <p:sp>
        <p:nvSpPr>
          <p:cNvPr id="14" name="Shape 11"/>
          <p:cNvSpPr/>
          <p:nvPr/>
        </p:nvSpPr>
        <p:spPr>
          <a:xfrm>
            <a:off x="731520" y="3840480"/>
            <a:ext cx="3200400" cy="1005840"/>
          </a:xfrm>
          <a:prstGeom prst="roundRect">
            <a:avLst>
              <a:gd name="adj" fmla="val 7273"/>
            </a:avLst>
          </a:prstGeom>
          <a:solidFill>
            <a:srgbClr val="FFFFFF"/>
          </a:solidFill>
          <a:ln w="15875">
            <a:solidFill>
              <a:srgbClr val="2F6FB3"/>
            </a:solidFill>
            <a:prstDash val="solid"/>
          </a:ln>
        </p:spPr>
      </p:sp>
      <p:sp>
        <p:nvSpPr>
          <p:cNvPr id="15" name="Text 12"/>
          <p:cNvSpPr/>
          <p:nvPr/>
        </p:nvSpPr>
        <p:spPr>
          <a:xfrm>
            <a:off x="777240" y="3840480"/>
            <a:ext cx="3108960" cy="1005840"/>
          </a:xfrm>
          <a:prstGeom prst="rect">
            <a:avLst/>
          </a:prstGeom>
          <a:noFill/>
          <a:ln/>
        </p:spPr>
        <p:txBody>
          <a:bodyPr wrap="square" lIns="0" tIns="0" rIns="0" bIns="0" rtlCol="0" anchor="ctr"/>
          <a:lstStyle/>
          <a:p>
            <a:pPr algn="ctr" indent="0" marL="0">
              <a:lnSpc>
                <a:spcPct val="100000"/>
              </a:lnSpc>
              <a:buNone/>
            </a:pPr>
            <a:r>
              <a:rPr lang="en-US" sz="1500" dirty="0">
                <a:solidFill>
                  <a:srgbClr val="1B2433"/>
                </a:solidFill>
                <a:latin typeface="Calibri" pitchFamily="34" charset="0"/>
                <a:ea typeface="Calibri" pitchFamily="34" charset="-122"/>
                <a:cs typeface="Calibri" pitchFamily="34" charset="-120"/>
              </a:rPr>
              <a:t>நாய்கள் வந்தன.</a:t>
            </a:r>
            <a:endParaRPr lang="en-US" sz="1500" dirty="0"/>
          </a:p>
          <a:p>
            <a:pPr algn="ctr" indent="0" marL="0">
              <a:lnSpc>
                <a:spcPct val="100000"/>
              </a:lnSpc>
              <a:buNone/>
            </a:pPr>
            <a:r>
              <a:rPr lang="en-US" sz="1500" dirty="0">
                <a:solidFill>
                  <a:srgbClr val="1B2433"/>
                </a:solidFill>
                <a:latin typeface="Calibri" pitchFamily="34" charset="0"/>
                <a:ea typeface="Calibri" pitchFamily="34" charset="-122"/>
                <a:cs typeface="Calibri" pitchFamily="34" charset="-120"/>
              </a:rPr>
              <a:t>↔ நாய்கள் வந்தார்கள்.</a:t>
            </a:r>
            <a:endParaRPr lang="en-US" sz="1500" dirty="0"/>
          </a:p>
        </p:txBody>
      </p:sp>
      <p:sp>
        <p:nvSpPr>
          <p:cNvPr id="16" name="Shape 13"/>
          <p:cNvSpPr/>
          <p:nvPr/>
        </p:nvSpPr>
        <p:spPr>
          <a:xfrm>
            <a:off x="4297680" y="1737360"/>
            <a:ext cx="3566160" cy="3291840"/>
          </a:xfrm>
          <a:prstGeom prst="roundRect">
            <a:avLst>
              <a:gd name="adj" fmla="val 2222"/>
            </a:avLst>
          </a:prstGeom>
          <a:solidFill>
            <a:srgbClr val="F2F4F8"/>
          </a:solidFill>
          <a:ln w="12700">
            <a:solidFill>
              <a:srgbClr val="F2F4F8"/>
            </a:solidFill>
            <a:prstDash val="solid"/>
          </a:ln>
        </p:spPr>
      </p:sp>
      <p:sp>
        <p:nvSpPr>
          <p:cNvPr id="17" name="Shape 14"/>
          <p:cNvSpPr/>
          <p:nvPr/>
        </p:nvSpPr>
        <p:spPr>
          <a:xfrm>
            <a:off x="4480560" y="1874520"/>
            <a:ext cx="1737360" cy="457200"/>
          </a:xfrm>
          <a:prstGeom prst="roundRect">
            <a:avLst>
              <a:gd name="adj" fmla="val 16000"/>
            </a:avLst>
          </a:prstGeom>
          <a:solidFill>
            <a:srgbClr val="D55E00"/>
          </a:solidFill>
          <a:ln w="12700">
            <a:solidFill>
              <a:srgbClr val="D55E00"/>
            </a:solidFill>
            <a:prstDash val="solid"/>
          </a:ln>
        </p:spPr>
      </p:sp>
      <p:sp>
        <p:nvSpPr>
          <p:cNvPr id="18" name="Text 15"/>
          <p:cNvSpPr/>
          <p:nvPr/>
        </p:nvSpPr>
        <p:spPr>
          <a:xfrm>
            <a:off x="4480560" y="1874520"/>
            <a:ext cx="1737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Natural</a:t>
            </a:r>
            <a:endParaRPr lang="en-US" sz="1600" dirty="0"/>
          </a:p>
        </p:txBody>
      </p:sp>
      <p:sp>
        <p:nvSpPr>
          <p:cNvPr id="19" name="Text 16"/>
          <p:cNvSpPr/>
          <p:nvPr/>
        </p:nvSpPr>
        <p:spPr>
          <a:xfrm>
            <a:off x="6309360" y="1874520"/>
            <a:ext cx="1463040" cy="457200"/>
          </a:xfrm>
          <a:prstGeom prst="rect">
            <a:avLst/>
          </a:prstGeom>
          <a:noFill/>
          <a:ln/>
        </p:spPr>
        <p:txBody>
          <a:bodyPr wrap="square" lIns="0" tIns="0" rIns="0" bIns="0" rtlCol="0" anchor="ctr"/>
          <a:lstStyle/>
          <a:p>
            <a:pPr algn="l" indent="0" marL="0">
              <a:lnSpc>
                <a:spcPct val="100000"/>
              </a:lnSpc>
              <a:buNone/>
            </a:pPr>
            <a:r>
              <a:rPr lang="en-US" sz="1300" b="1" dirty="0">
                <a:solidFill>
                  <a:srgbClr val="5B6577"/>
                </a:solidFill>
                <a:latin typeface="Calibri" pitchFamily="34" charset="0"/>
                <a:ea typeface="Calibri" pitchFamily="34" charset="-122"/>
                <a:cs typeface="Calibri" pitchFamily="34" charset="-120"/>
              </a:rPr>
              <a:t>1,479 records</a:t>
            </a:r>
            <a:endParaRPr lang="en-US" sz="1300" dirty="0"/>
          </a:p>
        </p:txBody>
      </p:sp>
      <p:sp>
        <p:nvSpPr>
          <p:cNvPr id="20" name="Text 17"/>
          <p:cNvSpPr/>
          <p:nvPr/>
        </p:nvSpPr>
        <p:spPr>
          <a:xfrm>
            <a:off x="4480560" y="2487168"/>
            <a:ext cx="3200400" cy="1298448"/>
          </a:xfrm>
          <a:prstGeom prst="rect">
            <a:avLst/>
          </a:prstGeom>
          <a:noFill/>
          <a:ln/>
        </p:spPr>
        <p:txBody>
          <a:bodyPr wrap="square" lIns="0" tIns="0" rIns="0" bIns="0" rtlCol="0" anchor="t"/>
          <a:lstStyle/>
          <a:p>
            <a:pPr algn="l" indent="0" marL="0">
              <a:lnSpc>
                <a:spcPct val="100000"/>
              </a:lnSpc>
              <a:buNone/>
            </a:pPr>
            <a:r>
              <a:rPr lang="en-US" sz="1500" dirty="0">
                <a:solidFill>
                  <a:srgbClr val="1B2433"/>
                </a:solidFill>
                <a:latin typeface="Calibri" pitchFamily="34" charset="0"/>
                <a:ea typeface="Calibri" pitchFamily="34" charset="-122"/>
                <a:cs typeface="Calibri" pitchFamily="34" charset="-120"/>
              </a:rPr>
              <a:t>A mistake a system </a:t>
            </a:r>
            <a:r>
              <a:rPr lang="en-US" sz="1500" b="1" dirty="0">
                <a:solidFill>
                  <a:srgbClr val="1B2433"/>
                </a:solidFill>
                <a:latin typeface="Calibri" pitchFamily="34" charset="0"/>
                <a:ea typeface="Calibri" pitchFamily="34" charset="-122"/>
                <a:cs typeface="Calibri" pitchFamily="34" charset="-120"/>
              </a:rPr>
              <a:t>really made</a:t>
            </a:r>
            <a:r>
              <a:rPr lang="en-US" sz="1500" dirty="0">
                <a:solidFill>
                  <a:srgbClr val="1B2433"/>
                </a:solidFill>
                <a:latin typeface="Calibri" pitchFamily="34" charset="0"/>
                <a:ea typeface="Calibri" pitchFamily="34" charset="-122"/>
                <a:cs typeface="Calibri" pitchFamily="34" charset="-120"/>
              </a:rPr>
              <a:t>, paired with the same sentence with </a:t>
            </a:r>
            <a:r>
              <a:rPr lang="en-US" sz="1500" b="1" dirty="0">
                <a:solidFill>
                  <a:srgbClr val="1B2433"/>
                </a:solidFill>
                <a:latin typeface="Calibri" pitchFamily="34" charset="0"/>
                <a:ea typeface="Calibri" pitchFamily="34" charset="-122"/>
                <a:cs typeface="Calibri" pitchFamily="34" charset="-120"/>
              </a:rPr>
              <a:t>only the ending corrected</a:t>
            </a:r>
            <a:r>
              <a:rPr lang="en-US" sz="1500" dirty="0">
                <a:solidFill>
                  <a:srgbClr val="1B2433"/>
                </a:solidFill>
                <a:latin typeface="Calibri" pitchFamily="34" charset="0"/>
                <a:ea typeface="Calibri" pitchFamily="34" charset="-122"/>
                <a:cs typeface="Calibri" pitchFamily="34" charset="-120"/>
              </a:rPr>
              <a:t> (done automatically, checked by the analyser).</a:t>
            </a:r>
            <a:endParaRPr lang="en-US" sz="1500" dirty="0"/>
          </a:p>
        </p:txBody>
      </p:sp>
      <p:sp>
        <p:nvSpPr>
          <p:cNvPr id="21" name="Shape 18"/>
          <p:cNvSpPr/>
          <p:nvPr/>
        </p:nvSpPr>
        <p:spPr>
          <a:xfrm>
            <a:off x="4480560" y="3840480"/>
            <a:ext cx="3200400" cy="1005840"/>
          </a:xfrm>
          <a:prstGeom prst="roundRect">
            <a:avLst>
              <a:gd name="adj" fmla="val 7273"/>
            </a:avLst>
          </a:prstGeom>
          <a:solidFill>
            <a:srgbClr val="FFFFFF"/>
          </a:solidFill>
          <a:ln w="15875">
            <a:solidFill>
              <a:srgbClr val="D55E00"/>
            </a:solidFill>
            <a:prstDash val="solid"/>
          </a:ln>
        </p:spPr>
      </p:sp>
      <p:sp>
        <p:nvSpPr>
          <p:cNvPr id="22" name="Text 19"/>
          <p:cNvSpPr/>
          <p:nvPr/>
        </p:nvSpPr>
        <p:spPr>
          <a:xfrm>
            <a:off x="4526280" y="3840480"/>
            <a:ext cx="3108960" cy="1005840"/>
          </a:xfrm>
          <a:prstGeom prst="rect">
            <a:avLst/>
          </a:prstGeom>
          <a:noFill/>
          <a:ln/>
        </p:spPr>
        <p:txBody>
          <a:bodyPr wrap="square" lIns="0" tIns="0" rIns="0" bIns="0" rtlCol="0" anchor="ctr"/>
          <a:lstStyle/>
          <a:p>
            <a:pPr algn="ctr" indent="0" marL="0">
              <a:lnSpc>
                <a:spcPct val="100000"/>
              </a:lnSpc>
              <a:buNone/>
            </a:pPr>
            <a:r>
              <a:rPr lang="en-US" sz="1500" dirty="0">
                <a:solidFill>
                  <a:srgbClr val="1B2433"/>
                </a:solidFill>
                <a:latin typeface="Calibri" pitchFamily="34" charset="0"/>
                <a:ea typeface="Calibri" pitchFamily="34" charset="-122"/>
                <a:cs typeface="Calibri" pitchFamily="34" charset="-120"/>
              </a:rPr>
              <a:t>மருத்துவர்கள் … வந்தது.</a:t>
            </a:r>
            <a:endParaRPr lang="en-US" sz="1500" dirty="0"/>
          </a:p>
          <a:p>
            <a:pPr algn="ctr" indent="0" marL="0">
              <a:lnSpc>
                <a:spcPct val="100000"/>
              </a:lnSpc>
              <a:buNone/>
            </a:pPr>
            <a:r>
              <a:rPr lang="en-US" sz="1500" dirty="0">
                <a:solidFill>
                  <a:srgbClr val="1B2433"/>
                </a:solidFill>
                <a:latin typeface="Calibri" pitchFamily="34" charset="0"/>
                <a:ea typeface="Calibri" pitchFamily="34" charset="-122"/>
                <a:cs typeface="Calibri" pitchFamily="34" charset="-120"/>
              </a:rPr>
              <a:t>↔ மருத்துவர்கள் … வந்தார்கள்.</a:t>
            </a:r>
            <a:endParaRPr lang="en-US" sz="1500" dirty="0"/>
          </a:p>
        </p:txBody>
      </p:sp>
      <p:sp>
        <p:nvSpPr>
          <p:cNvPr id="23" name="Shape 20"/>
          <p:cNvSpPr/>
          <p:nvPr/>
        </p:nvSpPr>
        <p:spPr>
          <a:xfrm>
            <a:off x="8046720" y="1737360"/>
            <a:ext cx="3566160" cy="3291840"/>
          </a:xfrm>
          <a:prstGeom prst="roundRect">
            <a:avLst>
              <a:gd name="adj" fmla="val 2222"/>
            </a:avLst>
          </a:prstGeom>
          <a:solidFill>
            <a:srgbClr val="F2F4F8"/>
          </a:solidFill>
          <a:ln w="12700">
            <a:solidFill>
              <a:srgbClr val="F2F4F8"/>
            </a:solidFill>
            <a:prstDash val="solid"/>
          </a:ln>
        </p:spPr>
      </p:sp>
      <p:sp>
        <p:nvSpPr>
          <p:cNvPr id="24" name="Shape 21"/>
          <p:cNvSpPr/>
          <p:nvPr/>
        </p:nvSpPr>
        <p:spPr>
          <a:xfrm>
            <a:off x="8229600" y="1874520"/>
            <a:ext cx="1737360" cy="457200"/>
          </a:xfrm>
          <a:prstGeom prst="roundRect">
            <a:avLst>
              <a:gd name="adj" fmla="val 16000"/>
            </a:avLst>
          </a:prstGeom>
          <a:solidFill>
            <a:srgbClr val="0072B2"/>
          </a:solidFill>
          <a:ln w="12700">
            <a:solidFill>
              <a:srgbClr val="0072B2"/>
            </a:solidFill>
            <a:prstDash val="solid"/>
          </a:ln>
        </p:spPr>
      </p:sp>
      <p:sp>
        <p:nvSpPr>
          <p:cNvPr id="25" name="Text 22"/>
          <p:cNvSpPr/>
          <p:nvPr/>
        </p:nvSpPr>
        <p:spPr>
          <a:xfrm>
            <a:off x="8229600" y="1874520"/>
            <a:ext cx="1737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Avoidance</a:t>
            </a:r>
            <a:endParaRPr lang="en-US" sz="1600" dirty="0"/>
          </a:p>
        </p:txBody>
      </p:sp>
      <p:sp>
        <p:nvSpPr>
          <p:cNvPr id="26" name="Text 23"/>
          <p:cNvSpPr/>
          <p:nvPr/>
        </p:nvSpPr>
        <p:spPr>
          <a:xfrm>
            <a:off x="10058400" y="1874520"/>
            <a:ext cx="1463040" cy="457200"/>
          </a:xfrm>
          <a:prstGeom prst="rect">
            <a:avLst/>
          </a:prstGeom>
          <a:noFill/>
          <a:ln/>
        </p:spPr>
        <p:txBody>
          <a:bodyPr wrap="square" lIns="0" tIns="0" rIns="0" bIns="0" rtlCol="0" anchor="ctr"/>
          <a:lstStyle/>
          <a:p>
            <a:pPr algn="l" indent="0" marL="0">
              <a:lnSpc>
                <a:spcPct val="100000"/>
              </a:lnSpc>
              <a:buNone/>
            </a:pPr>
            <a:r>
              <a:rPr lang="en-US" sz="1300" b="1" dirty="0">
                <a:solidFill>
                  <a:srgbClr val="5B6577"/>
                </a:solidFill>
                <a:latin typeface="Calibri" pitchFamily="34" charset="0"/>
                <a:ea typeface="Calibri" pitchFamily="34" charset="-122"/>
                <a:cs typeface="Calibri" pitchFamily="34" charset="-120"/>
              </a:rPr>
              <a:t>1,252 records</a:t>
            </a:r>
            <a:endParaRPr lang="en-US" sz="1300" dirty="0"/>
          </a:p>
        </p:txBody>
      </p:sp>
      <p:sp>
        <p:nvSpPr>
          <p:cNvPr id="27" name="Text 24"/>
          <p:cNvSpPr/>
          <p:nvPr/>
        </p:nvSpPr>
        <p:spPr>
          <a:xfrm>
            <a:off x="8229600" y="2487168"/>
            <a:ext cx="3200400" cy="1298448"/>
          </a:xfrm>
          <a:prstGeom prst="rect">
            <a:avLst/>
          </a:prstGeom>
          <a:noFill/>
          <a:ln/>
        </p:spPr>
        <p:txBody>
          <a:bodyPr wrap="square" lIns="0" tIns="0" rIns="0" bIns="0" rtlCol="0" anchor="t"/>
          <a:lstStyle/>
          <a:p>
            <a:pPr algn="l" indent="0" marL="0">
              <a:lnSpc>
                <a:spcPct val="100000"/>
              </a:lnSpc>
              <a:buNone/>
            </a:pPr>
            <a:r>
              <a:rPr lang="en-US" sz="1500" dirty="0">
                <a:solidFill>
                  <a:srgbClr val="1B2433"/>
                </a:solidFill>
                <a:latin typeface="Calibri" pitchFamily="34" charset="0"/>
                <a:ea typeface="Calibri" pitchFamily="34" charset="-122"/>
                <a:cs typeface="Calibri" pitchFamily="34" charset="-120"/>
              </a:rPr>
              <a:t>The system used the </a:t>
            </a:r>
            <a:r>
              <a:rPr lang="en-US" sz="1500" b="1" dirty="0">
                <a:solidFill>
                  <a:srgbClr val="1B2433"/>
                </a:solidFill>
                <a:latin typeface="Calibri" pitchFamily="34" charset="0"/>
                <a:ea typeface="Calibri" pitchFamily="34" charset="-122"/>
                <a:cs typeface="Calibri" pitchFamily="34" charset="-120"/>
              </a:rPr>
              <a:t>neutral form</a:t>
            </a:r>
            <a:r>
              <a:rPr lang="en-US" sz="1500" dirty="0">
                <a:solidFill>
                  <a:srgbClr val="1B2433"/>
                </a:solidFill>
                <a:latin typeface="Calibri" pitchFamily="34" charset="0"/>
                <a:ea typeface="Calibri" pitchFamily="34" charset="-122"/>
                <a:cs typeface="Calibri" pitchFamily="34" charset="-120"/>
              </a:rPr>
              <a:t> instead of choosing a gender. Paired with the gendered version.</a:t>
            </a:r>
            <a:endParaRPr lang="en-US" sz="1500" dirty="0"/>
          </a:p>
        </p:txBody>
      </p:sp>
      <p:sp>
        <p:nvSpPr>
          <p:cNvPr id="28" name="Shape 25"/>
          <p:cNvSpPr/>
          <p:nvPr/>
        </p:nvSpPr>
        <p:spPr>
          <a:xfrm>
            <a:off x="8229600" y="3840480"/>
            <a:ext cx="3200400" cy="1005840"/>
          </a:xfrm>
          <a:prstGeom prst="roundRect">
            <a:avLst>
              <a:gd name="adj" fmla="val 7273"/>
            </a:avLst>
          </a:prstGeom>
          <a:solidFill>
            <a:srgbClr val="FFFFFF"/>
          </a:solidFill>
          <a:ln w="15875">
            <a:solidFill>
              <a:srgbClr val="0072B2"/>
            </a:solidFill>
            <a:prstDash val="solid"/>
          </a:ln>
        </p:spPr>
      </p:sp>
      <p:sp>
        <p:nvSpPr>
          <p:cNvPr id="29" name="Text 26"/>
          <p:cNvSpPr/>
          <p:nvPr/>
        </p:nvSpPr>
        <p:spPr>
          <a:xfrm>
            <a:off x="8275320" y="3840480"/>
            <a:ext cx="3108960" cy="1005840"/>
          </a:xfrm>
          <a:prstGeom prst="rect">
            <a:avLst/>
          </a:prstGeom>
          <a:noFill/>
          <a:ln/>
        </p:spPr>
        <p:txBody>
          <a:bodyPr wrap="square" lIns="0" tIns="0" rIns="0" bIns="0" rtlCol="0" anchor="ctr"/>
          <a:lstStyle/>
          <a:p>
            <a:pPr algn="ctr" indent="0" marL="0">
              <a:lnSpc>
                <a:spcPct val="100000"/>
              </a:lnSpc>
              <a:buNone/>
            </a:pPr>
            <a:r>
              <a:rPr lang="en-US" sz="1500" dirty="0">
                <a:solidFill>
                  <a:srgbClr val="1B2433"/>
                </a:solidFill>
                <a:latin typeface="Calibri" pitchFamily="34" charset="0"/>
                <a:ea typeface="Calibri" pitchFamily="34" charset="-122"/>
                <a:cs typeface="Calibri" pitchFamily="34" charset="-120"/>
              </a:rPr>
              <a:t>அறம் வந்தார்.</a:t>
            </a:r>
            <a:endParaRPr lang="en-US" sz="1500" dirty="0"/>
          </a:p>
          <a:p>
            <a:pPr algn="ctr" indent="0" marL="0">
              <a:lnSpc>
                <a:spcPct val="100000"/>
              </a:lnSpc>
              <a:buNone/>
            </a:pPr>
            <a:r>
              <a:rPr lang="en-US" sz="1500" dirty="0">
                <a:solidFill>
                  <a:srgbClr val="1B2433"/>
                </a:solidFill>
                <a:latin typeface="Calibri" pitchFamily="34" charset="0"/>
                <a:ea typeface="Calibri" pitchFamily="34" charset="-122"/>
                <a:cs typeface="Calibri" pitchFamily="34" charset="-120"/>
              </a:rPr>
              <a:t>↔ அறம் வந்தாள்.</a:t>
            </a:r>
            <a:endParaRPr lang="en-US" sz="1500" dirty="0"/>
          </a:p>
        </p:txBody>
      </p:sp>
      <p:sp>
        <p:nvSpPr>
          <p:cNvPr id="30" name="Shape 27"/>
          <p:cNvSpPr/>
          <p:nvPr/>
        </p:nvSpPr>
        <p:spPr>
          <a:xfrm>
            <a:off x="548640" y="5303520"/>
            <a:ext cx="11064240" cy="502920"/>
          </a:xfrm>
          <a:prstGeom prst="roundRect">
            <a:avLst>
              <a:gd name="adj" fmla="val 14545"/>
            </a:avLst>
          </a:prstGeom>
          <a:solidFill>
            <a:srgbClr val="FBEBD2"/>
          </a:solidFill>
          <a:ln w="12700">
            <a:solidFill>
              <a:srgbClr val="E39B2D"/>
            </a:solidFill>
            <a:prstDash val="solid"/>
          </a:ln>
        </p:spPr>
      </p:sp>
      <p:sp>
        <p:nvSpPr>
          <p:cNvPr id="31" name="Text 28"/>
          <p:cNvSpPr/>
          <p:nvPr/>
        </p:nvSpPr>
        <p:spPr>
          <a:xfrm>
            <a:off x="777240" y="5303520"/>
            <a:ext cx="10607040" cy="50292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6,231 records</a:t>
            </a:r>
            <a:r>
              <a:rPr lang="en-US" sz="1500" dirty="0">
                <a:solidFill>
                  <a:srgbClr val="1B2433"/>
                </a:solidFill>
                <a:latin typeface="Calibri" pitchFamily="34" charset="0"/>
                <a:ea typeface="Calibri" pitchFamily="34" charset="-122"/>
                <a:cs typeface="Calibri" pitchFamily="34" charset="-120"/>
              </a:rPr>
              <a:t> in total. The arms can disagree, so every result names the arm it comes from.</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5</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A real mistake from the natural arm</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49</a:t>
            </a:r>
            <a:endParaRPr lang="en-US" sz="900" dirty="0"/>
          </a:p>
        </p:txBody>
      </p:sp>
      <p:sp>
        <p:nvSpPr>
          <p:cNvPr id="9" name="Text 6"/>
          <p:cNvSpPr/>
          <p:nvPr/>
        </p:nvSpPr>
        <p:spPr>
          <a:xfrm>
            <a:off x="548640" y="1691640"/>
            <a:ext cx="11064240" cy="411480"/>
          </a:xfrm>
          <a:prstGeom prst="rect">
            <a:avLst/>
          </a:prstGeom>
          <a:noFill/>
          <a:ln/>
        </p:spPr>
        <p:txBody>
          <a:bodyPr wrap="square" lIns="0" tIns="0" rIns="0" bIns="0" rtlCol="0" anchor="t"/>
          <a:lstStyle/>
          <a:p>
            <a:pPr algn="l" indent="0" marL="0">
              <a:lnSpc>
                <a:spcPct val="100000"/>
              </a:lnSpc>
              <a:buNone/>
            </a:pPr>
            <a:r>
              <a:rPr lang="en-US" sz="1700" i="1" dirty="0">
                <a:solidFill>
                  <a:srgbClr val="1B2433"/>
                </a:solidFill>
                <a:latin typeface="Calibri" pitchFamily="34" charset="0"/>
                <a:ea typeface="Calibri" pitchFamily="34" charset="-122"/>
                <a:cs typeface="Calibri" pitchFamily="34" charset="-120"/>
              </a:rPr>
              <a:t>English: "The doctors came by the old wall."   System: NLLB-200 3.3B</a:t>
            </a:r>
            <a:endParaRPr lang="en-US" sz="1700" dirty="0"/>
          </a:p>
        </p:txBody>
      </p:sp>
      <p:sp>
        <p:nvSpPr>
          <p:cNvPr id="10" name="Shape 7"/>
          <p:cNvSpPr/>
          <p:nvPr/>
        </p:nvSpPr>
        <p:spPr>
          <a:xfrm>
            <a:off x="548640" y="2240280"/>
            <a:ext cx="5394960" cy="1325880"/>
          </a:xfrm>
          <a:prstGeom prst="roundRect">
            <a:avLst>
              <a:gd name="adj" fmla="val 5517"/>
            </a:avLst>
          </a:prstGeom>
          <a:solidFill>
            <a:srgbClr val="FFFFFF"/>
          </a:solidFill>
          <a:ln w="31750">
            <a:solidFill>
              <a:srgbClr val="D55E00"/>
            </a:solidFill>
            <a:prstDash val="solid"/>
          </a:ln>
        </p:spPr>
      </p:sp>
      <p:sp>
        <p:nvSpPr>
          <p:cNvPr id="11" name="Text 8"/>
          <p:cNvSpPr/>
          <p:nvPr/>
        </p:nvSpPr>
        <p:spPr>
          <a:xfrm>
            <a:off x="640080" y="2350008"/>
            <a:ext cx="5212080" cy="596646"/>
          </a:xfrm>
          <a:prstGeom prst="rect">
            <a:avLst/>
          </a:prstGeom>
          <a:noFill/>
          <a:ln/>
        </p:spPr>
        <p:txBody>
          <a:bodyPr wrap="square" lIns="0" tIns="0" rIns="0" bIns="0" rtlCol="0" anchor="ctr"/>
          <a:lstStyle/>
          <a:p>
            <a:pPr algn="ctr" indent="0" marL="0">
              <a:buNone/>
            </a:pPr>
            <a:r>
              <a:rPr lang="en-US" sz="2000" dirty="0">
                <a:solidFill>
                  <a:srgbClr val="1B2433"/>
                </a:solidFill>
                <a:latin typeface="Calibri" pitchFamily="34" charset="0"/>
                <a:ea typeface="Calibri" pitchFamily="34" charset="-122"/>
                <a:cs typeface="Calibri" pitchFamily="34" charset="-120"/>
              </a:rPr>
              <a:t>மருத்துவர்கள் பழைய சுவர் மூலம் வந்தது.</a:t>
            </a:r>
            <a:endParaRPr lang="en-US" sz="2000" dirty="0"/>
          </a:p>
        </p:txBody>
      </p:sp>
      <p:sp>
        <p:nvSpPr>
          <p:cNvPr id="12" name="Text 9"/>
          <p:cNvSpPr/>
          <p:nvPr/>
        </p:nvSpPr>
        <p:spPr>
          <a:xfrm>
            <a:off x="640080" y="2946654"/>
            <a:ext cx="5212080" cy="265176"/>
          </a:xfrm>
          <a:prstGeom prst="rect">
            <a:avLst/>
          </a:prstGeom>
          <a:noFill/>
          <a:ln/>
        </p:spPr>
        <p:txBody>
          <a:bodyPr wrap="square" lIns="0" tIns="0" rIns="0" bIns="0" rtlCol="0" anchor="ctr"/>
          <a:lstStyle/>
          <a:p>
            <a:pPr algn="ctr" indent="0" marL="0">
              <a:buNone/>
            </a:pPr>
            <a:r>
              <a:rPr lang="en-US" sz="1300" i="1" dirty="0">
                <a:solidFill>
                  <a:srgbClr val="5B6577"/>
                </a:solidFill>
                <a:latin typeface="Calibri" pitchFamily="34" charset="0"/>
                <a:ea typeface="Calibri" pitchFamily="34" charset="-122"/>
                <a:cs typeface="Calibri" pitchFamily="34" charset="-120"/>
              </a:rPr>
              <a:t>maruttuvarkaḷ paḻaiya cuvar mūlam vantatu.</a:t>
            </a:r>
            <a:endParaRPr lang="en-US" sz="1300" dirty="0"/>
          </a:p>
        </p:txBody>
      </p:sp>
      <p:sp>
        <p:nvSpPr>
          <p:cNvPr id="13" name="Text 10"/>
          <p:cNvSpPr/>
          <p:nvPr/>
        </p:nvSpPr>
        <p:spPr>
          <a:xfrm>
            <a:off x="640080" y="3211830"/>
            <a:ext cx="5212080" cy="397764"/>
          </a:xfrm>
          <a:prstGeom prst="rect">
            <a:avLst/>
          </a:prstGeom>
          <a:noFill/>
          <a:ln/>
        </p:spPr>
        <p:txBody>
          <a:bodyPr wrap="square" lIns="0" tIns="0" rIns="0" bIns="0" rtlCol="0" anchor="t"/>
          <a:lstStyle/>
          <a:p>
            <a:pPr algn="ctr" indent="0" marL="0">
              <a:buNone/>
            </a:pPr>
            <a:r>
              <a:rPr lang="en-US" sz="1300" b="1" dirty="0">
                <a:solidFill>
                  <a:srgbClr val="D55E00"/>
                </a:solidFill>
                <a:latin typeface="Calibri" pitchFamily="34" charset="0"/>
                <a:ea typeface="Calibri" pitchFamily="34" charset="-122"/>
                <a:cs typeface="Calibri" pitchFamily="34" charset="-120"/>
              </a:rPr>
              <a:t>what the system wrote</a:t>
            </a:r>
            <a:r>
              <a:rPr lang="en-US" sz="1300" dirty="0">
                <a:solidFill>
                  <a:srgbClr val="D55E00"/>
                </a:solidFill>
                <a:latin typeface="Calibri" pitchFamily="34" charset="0"/>
                <a:ea typeface="Calibri" pitchFamily="34" charset="-122"/>
                <a:cs typeface="Calibri" pitchFamily="34" charset="-120"/>
              </a:rPr>
              <a:t>: non-people ending (wrong)</a:t>
            </a:r>
            <a:endParaRPr lang="en-US" sz="1300" dirty="0"/>
          </a:p>
        </p:txBody>
      </p:sp>
      <p:sp>
        <p:nvSpPr>
          <p:cNvPr id="14" name="Shape 11"/>
          <p:cNvSpPr/>
          <p:nvPr/>
        </p:nvSpPr>
        <p:spPr>
          <a:xfrm>
            <a:off x="6217920" y="2240280"/>
            <a:ext cx="5394960" cy="1325880"/>
          </a:xfrm>
          <a:prstGeom prst="roundRect">
            <a:avLst>
              <a:gd name="adj" fmla="val 5517"/>
            </a:avLst>
          </a:prstGeom>
          <a:solidFill>
            <a:srgbClr val="FFFFFF"/>
          </a:solidFill>
          <a:ln w="31750">
            <a:solidFill>
              <a:srgbClr val="009E73"/>
            </a:solidFill>
            <a:prstDash val="solid"/>
          </a:ln>
        </p:spPr>
      </p:sp>
      <p:sp>
        <p:nvSpPr>
          <p:cNvPr id="15" name="Text 12"/>
          <p:cNvSpPr/>
          <p:nvPr/>
        </p:nvSpPr>
        <p:spPr>
          <a:xfrm>
            <a:off x="6309360" y="2350008"/>
            <a:ext cx="5212080" cy="596646"/>
          </a:xfrm>
          <a:prstGeom prst="rect">
            <a:avLst/>
          </a:prstGeom>
          <a:noFill/>
          <a:ln/>
        </p:spPr>
        <p:txBody>
          <a:bodyPr wrap="square" lIns="0" tIns="0" rIns="0" bIns="0" rtlCol="0" anchor="ctr"/>
          <a:lstStyle/>
          <a:p>
            <a:pPr algn="ctr" indent="0" marL="0">
              <a:buNone/>
            </a:pPr>
            <a:r>
              <a:rPr lang="en-US" sz="2000" dirty="0">
                <a:solidFill>
                  <a:srgbClr val="1B2433"/>
                </a:solidFill>
                <a:latin typeface="Calibri" pitchFamily="34" charset="0"/>
                <a:ea typeface="Calibri" pitchFamily="34" charset="-122"/>
                <a:cs typeface="Calibri" pitchFamily="34" charset="-120"/>
              </a:rPr>
              <a:t>மருத்துவர்கள் பழைய சுவர் மூலம் வந்தார்கள்.</a:t>
            </a:r>
            <a:endParaRPr lang="en-US" sz="2000" dirty="0"/>
          </a:p>
        </p:txBody>
      </p:sp>
      <p:sp>
        <p:nvSpPr>
          <p:cNvPr id="16" name="Text 13"/>
          <p:cNvSpPr/>
          <p:nvPr/>
        </p:nvSpPr>
        <p:spPr>
          <a:xfrm>
            <a:off x="6309360" y="2946654"/>
            <a:ext cx="5212080" cy="265176"/>
          </a:xfrm>
          <a:prstGeom prst="rect">
            <a:avLst/>
          </a:prstGeom>
          <a:noFill/>
          <a:ln/>
        </p:spPr>
        <p:txBody>
          <a:bodyPr wrap="square" lIns="0" tIns="0" rIns="0" bIns="0" rtlCol="0" anchor="ctr"/>
          <a:lstStyle/>
          <a:p>
            <a:pPr algn="ctr" indent="0" marL="0">
              <a:buNone/>
            </a:pPr>
            <a:r>
              <a:rPr lang="en-US" sz="1300" i="1" dirty="0">
                <a:solidFill>
                  <a:srgbClr val="5B6577"/>
                </a:solidFill>
                <a:latin typeface="Calibri" pitchFamily="34" charset="0"/>
                <a:ea typeface="Calibri" pitchFamily="34" charset="-122"/>
                <a:cs typeface="Calibri" pitchFamily="34" charset="-120"/>
              </a:rPr>
              <a:t>maruttuvarkaḷ paḻaiya cuvar mūlam vantārkaḷ.</a:t>
            </a:r>
            <a:endParaRPr lang="en-US" sz="1300" dirty="0"/>
          </a:p>
        </p:txBody>
      </p:sp>
      <p:sp>
        <p:nvSpPr>
          <p:cNvPr id="17" name="Text 14"/>
          <p:cNvSpPr/>
          <p:nvPr/>
        </p:nvSpPr>
        <p:spPr>
          <a:xfrm>
            <a:off x="6309360" y="3211830"/>
            <a:ext cx="5212080" cy="397764"/>
          </a:xfrm>
          <a:prstGeom prst="rect">
            <a:avLst/>
          </a:prstGeom>
          <a:noFill/>
          <a:ln/>
        </p:spPr>
        <p:txBody>
          <a:bodyPr wrap="square" lIns="0" tIns="0" rIns="0" bIns="0" rtlCol="0" anchor="t"/>
          <a:lstStyle/>
          <a:p>
            <a:pPr algn="ctr" indent="0" marL="0">
              <a:buNone/>
            </a:pPr>
            <a:r>
              <a:rPr lang="en-US" sz="1300" b="1" dirty="0">
                <a:solidFill>
                  <a:srgbClr val="009E73"/>
                </a:solidFill>
                <a:latin typeface="Calibri" pitchFamily="34" charset="0"/>
                <a:ea typeface="Calibri" pitchFamily="34" charset="-122"/>
                <a:cs typeface="Calibri" pitchFamily="34" charset="-120"/>
              </a:rPr>
              <a:t>the repair</a:t>
            </a:r>
            <a:r>
              <a:rPr lang="en-US" sz="1300" dirty="0">
                <a:solidFill>
                  <a:srgbClr val="009E73"/>
                </a:solidFill>
                <a:latin typeface="Calibri" pitchFamily="34" charset="0"/>
                <a:ea typeface="Calibri" pitchFamily="34" charset="-122"/>
                <a:cs typeface="Calibri" pitchFamily="34" charset="-120"/>
              </a:rPr>
              <a:t>: only the ending corrected</a:t>
            </a:r>
            <a:endParaRPr lang="en-US" sz="13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11064240" cy="914400"/>
        </p:xfrm>
        <a:graphic>
          <a:graphicData uri="http://schemas.openxmlformats.org/drawingml/2006/table">
            <a:tbl>
              <a:tblPr/>
              <a:tblGrid>
                <a:gridCol w="3657600"/>
                <a:gridCol w="2468880"/>
                <a:gridCol w="2194560"/>
                <a:gridCol w="2743200"/>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Metric</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Score: system output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Score: repair</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Prefers</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r>
              <a:tr h="457200">
                <a:tc>
                  <a:txBody>
                    <a:bodyPr/>
                    <a:lstStyle/>
                    <a:p>
                      <a:pPr algn="l" indent="0" marL="0">
                        <a:buNone/>
                      </a:pPr>
                      <a:r>
                        <a:rPr lang="en-US" sz="1500" b="1" dirty="0">
                          <a:solidFill>
                            <a:srgbClr val="8E44AD"/>
                          </a:solidFill>
                          <a:latin typeface="Calibri" pitchFamily="34" charset="0"/>
                          <a:ea typeface="Calibri" pitchFamily="34" charset="-122"/>
                          <a:cs typeface="Calibri" pitchFamily="34" charset="-120"/>
                        </a:rPr>
                        <a:t>CometKiwi-22 (no reference)</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0.813</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0.872</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09E73"/>
                          </a:solidFill>
                          <a:latin typeface="Calibri" pitchFamily="34" charset="0"/>
                          <a:ea typeface="Calibri" pitchFamily="34" charset="-122"/>
                          <a:cs typeface="Calibri" pitchFamily="34" charset="-120"/>
                        </a:rPr>
                        <a:t>the repair</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500" b="1" dirty="0">
                          <a:solidFill>
                            <a:srgbClr val="2F6FB3"/>
                          </a:solidFill>
                          <a:latin typeface="Calibri" pitchFamily="34" charset="0"/>
                          <a:ea typeface="Calibri" pitchFamily="34" charset="-122"/>
                          <a:cs typeface="Calibri" pitchFamily="34" charset="-120"/>
                        </a:rPr>
                        <a:t>COMET-22 (with reference)</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0.916</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0.985</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b="1" dirty="0">
                          <a:solidFill>
                            <a:srgbClr val="009E73"/>
                          </a:solidFill>
                          <a:latin typeface="Calibri" pitchFamily="34" charset="0"/>
                          <a:ea typeface="Calibri" pitchFamily="34" charset="-122"/>
                          <a:cs typeface="Calibri" pitchFamily="34" charset="-120"/>
                        </a:rPr>
                        <a:t>the repair</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bl>
          </a:graphicData>
        </a:graphic>
      </p:graphicFrame>
      <p:sp>
        <p:nvSpPr>
          <p:cNvPr id="19" name="Shape 15"/>
          <p:cNvSpPr/>
          <p:nvPr/>
        </p:nvSpPr>
        <p:spPr>
          <a:xfrm>
            <a:off x="548640" y="5532120"/>
            <a:ext cx="11064240" cy="640080"/>
          </a:xfrm>
          <a:prstGeom prst="roundRect">
            <a:avLst>
              <a:gd name="adj" fmla="val 11429"/>
            </a:avLst>
          </a:prstGeom>
          <a:solidFill>
            <a:srgbClr val="FBEBD2"/>
          </a:solidFill>
          <a:ln w="12700">
            <a:solidFill>
              <a:srgbClr val="E39B2D"/>
            </a:solidFill>
            <a:prstDash val="solid"/>
          </a:ln>
        </p:spPr>
      </p:sp>
      <p:sp>
        <p:nvSpPr>
          <p:cNvPr id="20" name="Text 16"/>
          <p:cNvSpPr/>
          <p:nvPr/>
        </p:nvSpPr>
        <p:spPr>
          <a:xfrm>
            <a:off x="777240" y="5532120"/>
            <a:ext cx="10607040" cy="64008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On </a:t>
            </a:r>
            <a:r>
              <a:rPr lang="en-US" sz="1500" b="1" dirty="0">
                <a:solidFill>
                  <a:srgbClr val="1B2433"/>
                </a:solidFill>
                <a:latin typeface="Calibri" pitchFamily="34" charset="0"/>
                <a:ea typeface="Calibri" pitchFamily="34" charset="-122"/>
                <a:cs typeface="Calibri" pitchFamily="34" charset="-120"/>
              </a:rPr>
              <a:t>this</a:t>
            </a:r>
            <a:r>
              <a:rPr lang="en-US" sz="1500" dirty="0">
                <a:solidFill>
                  <a:srgbClr val="1B2433"/>
                </a:solidFill>
                <a:latin typeface="Calibri" pitchFamily="34" charset="0"/>
                <a:ea typeface="Calibri" pitchFamily="34" charset="-122"/>
                <a:cs typeface="Calibri" pitchFamily="34" charset="-120"/>
              </a:rPr>
              <a:t> pair both metrics get it right. Across </a:t>
            </a:r>
            <a:r>
              <a:rPr lang="en-US" sz="1500" b="1" dirty="0">
                <a:solidFill>
                  <a:srgbClr val="1B2433"/>
                </a:solidFill>
                <a:latin typeface="Calibri" pitchFamily="34" charset="0"/>
                <a:ea typeface="Calibri" pitchFamily="34" charset="-122"/>
                <a:cs typeface="Calibri" pitchFamily="34" charset="-120"/>
              </a:rPr>
              <a:t>all 1,479</a:t>
            </a:r>
            <a:r>
              <a:rPr lang="en-US" sz="1500" dirty="0">
                <a:solidFill>
                  <a:srgbClr val="1B2433"/>
                </a:solidFill>
                <a:latin typeface="Calibri" pitchFamily="34" charset="0"/>
                <a:ea typeface="Calibri" pitchFamily="34" charset="-122"/>
                <a:cs typeface="Calibri" pitchFamily="34" charset="-120"/>
              </a:rPr>
              <a:t> real errors, CometKiwi-22 ranks the correct version first only </a:t>
            </a:r>
            <a:r>
              <a:rPr lang="en-US" sz="1500" b="1" dirty="0">
                <a:solidFill>
                  <a:srgbClr val="1B2433"/>
                </a:solidFill>
                <a:latin typeface="Calibri" pitchFamily="34" charset="0"/>
                <a:ea typeface="Calibri" pitchFamily="34" charset="-122"/>
                <a:cs typeface="Calibri" pitchFamily="34" charset="-120"/>
              </a:rPr>
              <a:t>42.3%</a:t>
            </a:r>
            <a:r>
              <a:rPr lang="en-US" sz="1500" dirty="0">
                <a:solidFill>
                  <a:srgbClr val="1B2433"/>
                </a:solidFill>
                <a:latin typeface="Calibri" pitchFamily="34" charset="0"/>
                <a:ea typeface="Calibri" pitchFamily="34" charset="-122"/>
                <a:cs typeface="Calibri" pitchFamily="34" charset="-120"/>
              </a:rPr>
              <a:t> of the time (Result 2).</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5</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Measurement 1: direction, the "win rate"</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50</a:t>
            </a:r>
            <a:endParaRPr lang="en-US" sz="900" dirty="0"/>
          </a:p>
        </p:txBody>
      </p:sp>
      <p:sp>
        <p:nvSpPr>
          <p:cNvPr id="9" name="Shape 6"/>
          <p:cNvSpPr/>
          <p:nvPr/>
        </p:nvSpPr>
        <p:spPr>
          <a:xfrm>
            <a:off x="731520" y="1783080"/>
            <a:ext cx="292608" cy="292608"/>
          </a:xfrm>
          <a:prstGeom prst="ellipse">
            <a:avLst/>
          </a:prstGeom>
          <a:solidFill>
            <a:srgbClr val="009E73"/>
          </a:solidFill>
          <a:ln w="12700">
            <a:solidFill>
              <a:srgbClr val="009E73"/>
            </a:solidFill>
            <a:prstDash val="solid"/>
          </a:ln>
        </p:spPr>
      </p:sp>
      <p:sp>
        <p:nvSpPr>
          <p:cNvPr id="10" name="Shape 7"/>
          <p:cNvSpPr/>
          <p:nvPr/>
        </p:nvSpPr>
        <p:spPr>
          <a:xfrm>
            <a:off x="1133856" y="1783080"/>
            <a:ext cx="292608" cy="292608"/>
          </a:xfrm>
          <a:prstGeom prst="ellipse">
            <a:avLst/>
          </a:prstGeom>
          <a:solidFill>
            <a:srgbClr val="009E73"/>
          </a:solidFill>
          <a:ln w="12700">
            <a:solidFill>
              <a:srgbClr val="009E73"/>
            </a:solidFill>
            <a:prstDash val="solid"/>
          </a:ln>
        </p:spPr>
      </p:sp>
      <p:sp>
        <p:nvSpPr>
          <p:cNvPr id="11" name="Shape 8"/>
          <p:cNvSpPr/>
          <p:nvPr/>
        </p:nvSpPr>
        <p:spPr>
          <a:xfrm>
            <a:off x="1536192" y="1783080"/>
            <a:ext cx="292608" cy="292608"/>
          </a:xfrm>
          <a:prstGeom prst="ellipse">
            <a:avLst/>
          </a:prstGeom>
          <a:solidFill>
            <a:srgbClr val="009E73"/>
          </a:solidFill>
          <a:ln w="12700">
            <a:solidFill>
              <a:srgbClr val="009E73"/>
            </a:solidFill>
            <a:prstDash val="solid"/>
          </a:ln>
        </p:spPr>
      </p:sp>
      <p:sp>
        <p:nvSpPr>
          <p:cNvPr id="12" name="Shape 9"/>
          <p:cNvSpPr/>
          <p:nvPr/>
        </p:nvSpPr>
        <p:spPr>
          <a:xfrm>
            <a:off x="1938528" y="1783080"/>
            <a:ext cx="292608" cy="292608"/>
          </a:xfrm>
          <a:prstGeom prst="ellipse">
            <a:avLst/>
          </a:prstGeom>
          <a:solidFill>
            <a:srgbClr val="009E73"/>
          </a:solidFill>
          <a:ln w="12700">
            <a:solidFill>
              <a:srgbClr val="009E73"/>
            </a:solidFill>
            <a:prstDash val="solid"/>
          </a:ln>
        </p:spPr>
      </p:sp>
      <p:sp>
        <p:nvSpPr>
          <p:cNvPr id="13" name="Shape 10"/>
          <p:cNvSpPr/>
          <p:nvPr/>
        </p:nvSpPr>
        <p:spPr>
          <a:xfrm>
            <a:off x="2340864" y="1783080"/>
            <a:ext cx="292608" cy="292608"/>
          </a:xfrm>
          <a:prstGeom prst="ellipse">
            <a:avLst/>
          </a:prstGeom>
          <a:solidFill>
            <a:srgbClr val="009E73"/>
          </a:solidFill>
          <a:ln w="12700">
            <a:solidFill>
              <a:srgbClr val="009E73"/>
            </a:solidFill>
            <a:prstDash val="solid"/>
          </a:ln>
        </p:spPr>
      </p:sp>
      <p:sp>
        <p:nvSpPr>
          <p:cNvPr id="14" name="Shape 11"/>
          <p:cNvSpPr/>
          <p:nvPr/>
        </p:nvSpPr>
        <p:spPr>
          <a:xfrm>
            <a:off x="2743200" y="1783080"/>
            <a:ext cx="292608" cy="292608"/>
          </a:xfrm>
          <a:prstGeom prst="ellipse">
            <a:avLst/>
          </a:prstGeom>
          <a:solidFill>
            <a:srgbClr val="009E73"/>
          </a:solidFill>
          <a:ln w="12700">
            <a:solidFill>
              <a:srgbClr val="009E73"/>
            </a:solidFill>
            <a:prstDash val="solid"/>
          </a:ln>
        </p:spPr>
      </p:sp>
      <p:sp>
        <p:nvSpPr>
          <p:cNvPr id="15" name="Shape 12"/>
          <p:cNvSpPr/>
          <p:nvPr/>
        </p:nvSpPr>
        <p:spPr>
          <a:xfrm>
            <a:off x="3145536" y="1783080"/>
            <a:ext cx="292608" cy="292608"/>
          </a:xfrm>
          <a:prstGeom prst="ellipse">
            <a:avLst/>
          </a:prstGeom>
          <a:solidFill>
            <a:srgbClr val="009E73"/>
          </a:solidFill>
          <a:ln w="12700">
            <a:solidFill>
              <a:srgbClr val="009E73"/>
            </a:solidFill>
            <a:prstDash val="solid"/>
          </a:ln>
        </p:spPr>
      </p:sp>
      <p:sp>
        <p:nvSpPr>
          <p:cNvPr id="16" name="Shape 13"/>
          <p:cNvSpPr/>
          <p:nvPr/>
        </p:nvSpPr>
        <p:spPr>
          <a:xfrm>
            <a:off x="3547872" y="1783080"/>
            <a:ext cx="292608" cy="292608"/>
          </a:xfrm>
          <a:prstGeom prst="ellipse">
            <a:avLst/>
          </a:prstGeom>
          <a:solidFill>
            <a:srgbClr val="009E73"/>
          </a:solidFill>
          <a:ln w="12700">
            <a:solidFill>
              <a:srgbClr val="009E73"/>
            </a:solidFill>
            <a:prstDash val="solid"/>
          </a:ln>
        </p:spPr>
      </p:sp>
      <p:sp>
        <p:nvSpPr>
          <p:cNvPr id="17" name="Shape 14"/>
          <p:cNvSpPr/>
          <p:nvPr/>
        </p:nvSpPr>
        <p:spPr>
          <a:xfrm>
            <a:off x="3950208" y="1783080"/>
            <a:ext cx="292608" cy="292608"/>
          </a:xfrm>
          <a:prstGeom prst="ellipse">
            <a:avLst/>
          </a:prstGeom>
          <a:solidFill>
            <a:srgbClr val="009E73"/>
          </a:solidFill>
          <a:ln w="12700">
            <a:solidFill>
              <a:srgbClr val="009E73"/>
            </a:solidFill>
            <a:prstDash val="solid"/>
          </a:ln>
        </p:spPr>
      </p:sp>
      <p:sp>
        <p:nvSpPr>
          <p:cNvPr id="18" name="Shape 15"/>
          <p:cNvSpPr/>
          <p:nvPr/>
        </p:nvSpPr>
        <p:spPr>
          <a:xfrm>
            <a:off x="4352544" y="1783080"/>
            <a:ext cx="292608" cy="292608"/>
          </a:xfrm>
          <a:prstGeom prst="ellipse">
            <a:avLst/>
          </a:prstGeom>
          <a:solidFill>
            <a:srgbClr val="009E73"/>
          </a:solidFill>
          <a:ln w="12700">
            <a:solidFill>
              <a:srgbClr val="009E73"/>
            </a:solidFill>
            <a:prstDash val="solid"/>
          </a:ln>
        </p:spPr>
      </p:sp>
      <p:sp>
        <p:nvSpPr>
          <p:cNvPr id="19" name="Shape 16"/>
          <p:cNvSpPr/>
          <p:nvPr/>
        </p:nvSpPr>
        <p:spPr>
          <a:xfrm>
            <a:off x="731520" y="2185416"/>
            <a:ext cx="292608" cy="292608"/>
          </a:xfrm>
          <a:prstGeom prst="ellipse">
            <a:avLst/>
          </a:prstGeom>
          <a:solidFill>
            <a:srgbClr val="009E73"/>
          </a:solidFill>
          <a:ln w="12700">
            <a:solidFill>
              <a:srgbClr val="009E73"/>
            </a:solidFill>
            <a:prstDash val="solid"/>
          </a:ln>
        </p:spPr>
      </p:sp>
      <p:sp>
        <p:nvSpPr>
          <p:cNvPr id="20" name="Shape 17"/>
          <p:cNvSpPr/>
          <p:nvPr/>
        </p:nvSpPr>
        <p:spPr>
          <a:xfrm>
            <a:off x="1133856" y="2185416"/>
            <a:ext cx="292608" cy="292608"/>
          </a:xfrm>
          <a:prstGeom prst="ellipse">
            <a:avLst/>
          </a:prstGeom>
          <a:solidFill>
            <a:srgbClr val="009E73"/>
          </a:solidFill>
          <a:ln w="12700">
            <a:solidFill>
              <a:srgbClr val="009E73"/>
            </a:solidFill>
            <a:prstDash val="solid"/>
          </a:ln>
        </p:spPr>
      </p:sp>
      <p:sp>
        <p:nvSpPr>
          <p:cNvPr id="21" name="Shape 18"/>
          <p:cNvSpPr/>
          <p:nvPr/>
        </p:nvSpPr>
        <p:spPr>
          <a:xfrm>
            <a:off x="1536192" y="2185416"/>
            <a:ext cx="292608" cy="292608"/>
          </a:xfrm>
          <a:prstGeom prst="ellipse">
            <a:avLst/>
          </a:prstGeom>
          <a:solidFill>
            <a:srgbClr val="009E73"/>
          </a:solidFill>
          <a:ln w="12700">
            <a:solidFill>
              <a:srgbClr val="009E73"/>
            </a:solidFill>
            <a:prstDash val="solid"/>
          </a:ln>
        </p:spPr>
      </p:sp>
      <p:sp>
        <p:nvSpPr>
          <p:cNvPr id="22" name="Shape 19"/>
          <p:cNvSpPr/>
          <p:nvPr/>
        </p:nvSpPr>
        <p:spPr>
          <a:xfrm>
            <a:off x="1938528" y="2185416"/>
            <a:ext cx="292608" cy="292608"/>
          </a:xfrm>
          <a:prstGeom prst="ellipse">
            <a:avLst/>
          </a:prstGeom>
          <a:solidFill>
            <a:srgbClr val="009E73"/>
          </a:solidFill>
          <a:ln w="12700">
            <a:solidFill>
              <a:srgbClr val="009E73"/>
            </a:solidFill>
            <a:prstDash val="solid"/>
          </a:ln>
        </p:spPr>
      </p:sp>
      <p:sp>
        <p:nvSpPr>
          <p:cNvPr id="23" name="Shape 20"/>
          <p:cNvSpPr/>
          <p:nvPr/>
        </p:nvSpPr>
        <p:spPr>
          <a:xfrm>
            <a:off x="2340864" y="2185416"/>
            <a:ext cx="292608" cy="292608"/>
          </a:xfrm>
          <a:prstGeom prst="ellipse">
            <a:avLst/>
          </a:prstGeom>
          <a:solidFill>
            <a:srgbClr val="009E73"/>
          </a:solidFill>
          <a:ln w="12700">
            <a:solidFill>
              <a:srgbClr val="009E73"/>
            </a:solidFill>
            <a:prstDash val="solid"/>
          </a:ln>
        </p:spPr>
      </p:sp>
      <p:sp>
        <p:nvSpPr>
          <p:cNvPr id="24" name="Shape 21"/>
          <p:cNvSpPr/>
          <p:nvPr/>
        </p:nvSpPr>
        <p:spPr>
          <a:xfrm>
            <a:off x="2743200" y="2185416"/>
            <a:ext cx="292608" cy="292608"/>
          </a:xfrm>
          <a:prstGeom prst="ellipse">
            <a:avLst/>
          </a:prstGeom>
          <a:solidFill>
            <a:srgbClr val="009E73"/>
          </a:solidFill>
          <a:ln w="12700">
            <a:solidFill>
              <a:srgbClr val="009E73"/>
            </a:solidFill>
            <a:prstDash val="solid"/>
          </a:ln>
        </p:spPr>
      </p:sp>
      <p:sp>
        <p:nvSpPr>
          <p:cNvPr id="25" name="Shape 22"/>
          <p:cNvSpPr/>
          <p:nvPr/>
        </p:nvSpPr>
        <p:spPr>
          <a:xfrm>
            <a:off x="3145536" y="2185416"/>
            <a:ext cx="292608" cy="292608"/>
          </a:xfrm>
          <a:prstGeom prst="ellipse">
            <a:avLst/>
          </a:prstGeom>
          <a:solidFill>
            <a:srgbClr val="009E73"/>
          </a:solidFill>
          <a:ln w="12700">
            <a:solidFill>
              <a:srgbClr val="009E73"/>
            </a:solidFill>
            <a:prstDash val="solid"/>
          </a:ln>
        </p:spPr>
      </p:sp>
      <p:sp>
        <p:nvSpPr>
          <p:cNvPr id="26" name="Shape 23"/>
          <p:cNvSpPr/>
          <p:nvPr/>
        </p:nvSpPr>
        <p:spPr>
          <a:xfrm>
            <a:off x="3547872" y="2185416"/>
            <a:ext cx="292608" cy="292608"/>
          </a:xfrm>
          <a:prstGeom prst="ellipse">
            <a:avLst/>
          </a:prstGeom>
          <a:solidFill>
            <a:srgbClr val="009E73"/>
          </a:solidFill>
          <a:ln w="12700">
            <a:solidFill>
              <a:srgbClr val="009E73"/>
            </a:solidFill>
            <a:prstDash val="solid"/>
          </a:ln>
        </p:spPr>
      </p:sp>
      <p:sp>
        <p:nvSpPr>
          <p:cNvPr id="27" name="Shape 24"/>
          <p:cNvSpPr/>
          <p:nvPr/>
        </p:nvSpPr>
        <p:spPr>
          <a:xfrm>
            <a:off x="3950208" y="2185416"/>
            <a:ext cx="292608" cy="292608"/>
          </a:xfrm>
          <a:prstGeom prst="ellipse">
            <a:avLst/>
          </a:prstGeom>
          <a:solidFill>
            <a:srgbClr val="009E73"/>
          </a:solidFill>
          <a:ln w="12700">
            <a:solidFill>
              <a:srgbClr val="009E73"/>
            </a:solidFill>
            <a:prstDash val="solid"/>
          </a:ln>
        </p:spPr>
      </p:sp>
      <p:sp>
        <p:nvSpPr>
          <p:cNvPr id="28" name="Shape 25"/>
          <p:cNvSpPr/>
          <p:nvPr/>
        </p:nvSpPr>
        <p:spPr>
          <a:xfrm>
            <a:off x="4352544" y="2185416"/>
            <a:ext cx="292608" cy="292608"/>
          </a:xfrm>
          <a:prstGeom prst="ellipse">
            <a:avLst/>
          </a:prstGeom>
          <a:solidFill>
            <a:srgbClr val="009E73"/>
          </a:solidFill>
          <a:ln w="12700">
            <a:solidFill>
              <a:srgbClr val="009E73"/>
            </a:solidFill>
            <a:prstDash val="solid"/>
          </a:ln>
        </p:spPr>
      </p:sp>
      <p:sp>
        <p:nvSpPr>
          <p:cNvPr id="29" name="Shape 26"/>
          <p:cNvSpPr/>
          <p:nvPr/>
        </p:nvSpPr>
        <p:spPr>
          <a:xfrm>
            <a:off x="731520" y="2587752"/>
            <a:ext cx="292608" cy="292608"/>
          </a:xfrm>
          <a:prstGeom prst="ellipse">
            <a:avLst/>
          </a:prstGeom>
          <a:solidFill>
            <a:srgbClr val="009E73"/>
          </a:solidFill>
          <a:ln w="12700">
            <a:solidFill>
              <a:srgbClr val="009E73"/>
            </a:solidFill>
            <a:prstDash val="solid"/>
          </a:ln>
        </p:spPr>
      </p:sp>
      <p:sp>
        <p:nvSpPr>
          <p:cNvPr id="30" name="Shape 27"/>
          <p:cNvSpPr/>
          <p:nvPr/>
        </p:nvSpPr>
        <p:spPr>
          <a:xfrm>
            <a:off x="1133856" y="2587752"/>
            <a:ext cx="292608" cy="292608"/>
          </a:xfrm>
          <a:prstGeom prst="ellipse">
            <a:avLst/>
          </a:prstGeom>
          <a:solidFill>
            <a:srgbClr val="009E73"/>
          </a:solidFill>
          <a:ln w="12700">
            <a:solidFill>
              <a:srgbClr val="009E73"/>
            </a:solidFill>
            <a:prstDash val="solid"/>
          </a:ln>
        </p:spPr>
      </p:sp>
      <p:sp>
        <p:nvSpPr>
          <p:cNvPr id="31" name="Shape 28"/>
          <p:cNvSpPr/>
          <p:nvPr/>
        </p:nvSpPr>
        <p:spPr>
          <a:xfrm>
            <a:off x="1536192" y="2587752"/>
            <a:ext cx="292608" cy="292608"/>
          </a:xfrm>
          <a:prstGeom prst="ellipse">
            <a:avLst/>
          </a:prstGeom>
          <a:solidFill>
            <a:srgbClr val="009E73"/>
          </a:solidFill>
          <a:ln w="12700">
            <a:solidFill>
              <a:srgbClr val="009E73"/>
            </a:solidFill>
            <a:prstDash val="solid"/>
          </a:ln>
        </p:spPr>
      </p:sp>
      <p:sp>
        <p:nvSpPr>
          <p:cNvPr id="32" name="Shape 29"/>
          <p:cNvSpPr/>
          <p:nvPr/>
        </p:nvSpPr>
        <p:spPr>
          <a:xfrm>
            <a:off x="1938528" y="2587752"/>
            <a:ext cx="292608" cy="292608"/>
          </a:xfrm>
          <a:prstGeom prst="ellipse">
            <a:avLst/>
          </a:prstGeom>
          <a:solidFill>
            <a:srgbClr val="009E73"/>
          </a:solidFill>
          <a:ln w="12700">
            <a:solidFill>
              <a:srgbClr val="009E73"/>
            </a:solidFill>
            <a:prstDash val="solid"/>
          </a:ln>
        </p:spPr>
      </p:sp>
      <p:sp>
        <p:nvSpPr>
          <p:cNvPr id="33" name="Shape 30"/>
          <p:cNvSpPr/>
          <p:nvPr/>
        </p:nvSpPr>
        <p:spPr>
          <a:xfrm>
            <a:off x="2340864" y="2587752"/>
            <a:ext cx="292608" cy="292608"/>
          </a:xfrm>
          <a:prstGeom prst="ellipse">
            <a:avLst/>
          </a:prstGeom>
          <a:solidFill>
            <a:srgbClr val="009E73"/>
          </a:solidFill>
          <a:ln w="12700">
            <a:solidFill>
              <a:srgbClr val="009E73"/>
            </a:solidFill>
            <a:prstDash val="solid"/>
          </a:ln>
        </p:spPr>
      </p:sp>
      <p:sp>
        <p:nvSpPr>
          <p:cNvPr id="34" name="Shape 31"/>
          <p:cNvSpPr/>
          <p:nvPr/>
        </p:nvSpPr>
        <p:spPr>
          <a:xfrm>
            <a:off x="2743200" y="2587752"/>
            <a:ext cx="292608" cy="292608"/>
          </a:xfrm>
          <a:prstGeom prst="ellipse">
            <a:avLst/>
          </a:prstGeom>
          <a:solidFill>
            <a:srgbClr val="009E73"/>
          </a:solidFill>
          <a:ln w="12700">
            <a:solidFill>
              <a:srgbClr val="009E73"/>
            </a:solidFill>
            <a:prstDash val="solid"/>
          </a:ln>
        </p:spPr>
      </p:sp>
      <p:sp>
        <p:nvSpPr>
          <p:cNvPr id="35" name="Shape 32"/>
          <p:cNvSpPr/>
          <p:nvPr/>
        </p:nvSpPr>
        <p:spPr>
          <a:xfrm>
            <a:off x="3145536" y="2587752"/>
            <a:ext cx="292608" cy="292608"/>
          </a:xfrm>
          <a:prstGeom prst="ellipse">
            <a:avLst/>
          </a:prstGeom>
          <a:solidFill>
            <a:srgbClr val="009E73"/>
          </a:solidFill>
          <a:ln w="12700">
            <a:solidFill>
              <a:srgbClr val="009E73"/>
            </a:solidFill>
            <a:prstDash val="solid"/>
          </a:ln>
        </p:spPr>
      </p:sp>
      <p:sp>
        <p:nvSpPr>
          <p:cNvPr id="36" name="Shape 33"/>
          <p:cNvSpPr/>
          <p:nvPr/>
        </p:nvSpPr>
        <p:spPr>
          <a:xfrm>
            <a:off x="3547872" y="2587752"/>
            <a:ext cx="292608" cy="292608"/>
          </a:xfrm>
          <a:prstGeom prst="ellipse">
            <a:avLst/>
          </a:prstGeom>
          <a:solidFill>
            <a:srgbClr val="009E73"/>
          </a:solidFill>
          <a:ln w="12700">
            <a:solidFill>
              <a:srgbClr val="009E73"/>
            </a:solidFill>
            <a:prstDash val="solid"/>
          </a:ln>
        </p:spPr>
      </p:sp>
      <p:sp>
        <p:nvSpPr>
          <p:cNvPr id="37" name="Shape 34"/>
          <p:cNvSpPr/>
          <p:nvPr/>
        </p:nvSpPr>
        <p:spPr>
          <a:xfrm>
            <a:off x="3950208" y="2587752"/>
            <a:ext cx="292608" cy="292608"/>
          </a:xfrm>
          <a:prstGeom prst="ellipse">
            <a:avLst/>
          </a:prstGeom>
          <a:solidFill>
            <a:srgbClr val="009E73"/>
          </a:solidFill>
          <a:ln w="12700">
            <a:solidFill>
              <a:srgbClr val="009E73"/>
            </a:solidFill>
            <a:prstDash val="solid"/>
          </a:ln>
        </p:spPr>
      </p:sp>
      <p:sp>
        <p:nvSpPr>
          <p:cNvPr id="38" name="Shape 35"/>
          <p:cNvSpPr/>
          <p:nvPr/>
        </p:nvSpPr>
        <p:spPr>
          <a:xfrm>
            <a:off x="4352544" y="2587752"/>
            <a:ext cx="292608" cy="292608"/>
          </a:xfrm>
          <a:prstGeom prst="ellipse">
            <a:avLst/>
          </a:prstGeom>
          <a:solidFill>
            <a:srgbClr val="009E73"/>
          </a:solidFill>
          <a:ln w="12700">
            <a:solidFill>
              <a:srgbClr val="009E73"/>
            </a:solidFill>
            <a:prstDash val="solid"/>
          </a:ln>
        </p:spPr>
      </p:sp>
      <p:sp>
        <p:nvSpPr>
          <p:cNvPr id="39" name="Shape 36"/>
          <p:cNvSpPr/>
          <p:nvPr/>
        </p:nvSpPr>
        <p:spPr>
          <a:xfrm>
            <a:off x="731520" y="2990088"/>
            <a:ext cx="292608" cy="292608"/>
          </a:xfrm>
          <a:prstGeom prst="ellipse">
            <a:avLst/>
          </a:prstGeom>
          <a:solidFill>
            <a:srgbClr val="009E73"/>
          </a:solidFill>
          <a:ln w="12700">
            <a:solidFill>
              <a:srgbClr val="009E73"/>
            </a:solidFill>
            <a:prstDash val="solid"/>
          </a:ln>
        </p:spPr>
      </p:sp>
      <p:sp>
        <p:nvSpPr>
          <p:cNvPr id="40" name="Shape 37"/>
          <p:cNvSpPr/>
          <p:nvPr/>
        </p:nvSpPr>
        <p:spPr>
          <a:xfrm>
            <a:off x="1133856" y="2990088"/>
            <a:ext cx="292608" cy="292608"/>
          </a:xfrm>
          <a:prstGeom prst="ellipse">
            <a:avLst/>
          </a:prstGeom>
          <a:solidFill>
            <a:srgbClr val="009E73"/>
          </a:solidFill>
          <a:ln w="12700">
            <a:solidFill>
              <a:srgbClr val="009E73"/>
            </a:solidFill>
            <a:prstDash val="solid"/>
          </a:ln>
        </p:spPr>
      </p:sp>
      <p:sp>
        <p:nvSpPr>
          <p:cNvPr id="41" name="Shape 38"/>
          <p:cNvSpPr/>
          <p:nvPr/>
        </p:nvSpPr>
        <p:spPr>
          <a:xfrm>
            <a:off x="1536192" y="2990088"/>
            <a:ext cx="292608" cy="292608"/>
          </a:xfrm>
          <a:prstGeom prst="ellipse">
            <a:avLst/>
          </a:prstGeom>
          <a:solidFill>
            <a:srgbClr val="009E73"/>
          </a:solidFill>
          <a:ln w="12700">
            <a:solidFill>
              <a:srgbClr val="009E73"/>
            </a:solidFill>
            <a:prstDash val="solid"/>
          </a:ln>
        </p:spPr>
      </p:sp>
      <p:sp>
        <p:nvSpPr>
          <p:cNvPr id="42" name="Shape 39"/>
          <p:cNvSpPr/>
          <p:nvPr/>
        </p:nvSpPr>
        <p:spPr>
          <a:xfrm>
            <a:off x="1938528" y="2990088"/>
            <a:ext cx="292608" cy="292608"/>
          </a:xfrm>
          <a:prstGeom prst="ellipse">
            <a:avLst/>
          </a:prstGeom>
          <a:solidFill>
            <a:srgbClr val="009E73"/>
          </a:solidFill>
          <a:ln w="12700">
            <a:solidFill>
              <a:srgbClr val="009E73"/>
            </a:solidFill>
            <a:prstDash val="solid"/>
          </a:ln>
        </p:spPr>
      </p:sp>
      <p:sp>
        <p:nvSpPr>
          <p:cNvPr id="43" name="Shape 40"/>
          <p:cNvSpPr/>
          <p:nvPr/>
        </p:nvSpPr>
        <p:spPr>
          <a:xfrm>
            <a:off x="2340864" y="2990088"/>
            <a:ext cx="292608" cy="292608"/>
          </a:xfrm>
          <a:prstGeom prst="ellipse">
            <a:avLst/>
          </a:prstGeom>
          <a:solidFill>
            <a:srgbClr val="009E73"/>
          </a:solidFill>
          <a:ln w="12700">
            <a:solidFill>
              <a:srgbClr val="009E73"/>
            </a:solidFill>
            <a:prstDash val="solid"/>
          </a:ln>
        </p:spPr>
      </p:sp>
      <p:sp>
        <p:nvSpPr>
          <p:cNvPr id="44" name="Shape 41"/>
          <p:cNvSpPr/>
          <p:nvPr/>
        </p:nvSpPr>
        <p:spPr>
          <a:xfrm>
            <a:off x="2743200" y="2990088"/>
            <a:ext cx="292608" cy="292608"/>
          </a:xfrm>
          <a:prstGeom prst="ellipse">
            <a:avLst/>
          </a:prstGeom>
          <a:solidFill>
            <a:srgbClr val="009E73"/>
          </a:solidFill>
          <a:ln w="12700">
            <a:solidFill>
              <a:srgbClr val="009E73"/>
            </a:solidFill>
            <a:prstDash val="solid"/>
          </a:ln>
        </p:spPr>
      </p:sp>
      <p:sp>
        <p:nvSpPr>
          <p:cNvPr id="45" name="Shape 42"/>
          <p:cNvSpPr/>
          <p:nvPr/>
        </p:nvSpPr>
        <p:spPr>
          <a:xfrm>
            <a:off x="3145536" y="2990088"/>
            <a:ext cx="292608" cy="292608"/>
          </a:xfrm>
          <a:prstGeom prst="ellipse">
            <a:avLst/>
          </a:prstGeom>
          <a:solidFill>
            <a:srgbClr val="009E73"/>
          </a:solidFill>
          <a:ln w="12700">
            <a:solidFill>
              <a:srgbClr val="009E73"/>
            </a:solidFill>
            <a:prstDash val="solid"/>
          </a:ln>
        </p:spPr>
      </p:sp>
      <p:sp>
        <p:nvSpPr>
          <p:cNvPr id="46" name="Shape 43"/>
          <p:cNvSpPr/>
          <p:nvPr/>
        </p:nvSpPr>
        <p:spPr>
          <a:xfrm>
            <a:off x="3547872" y="2990088"/>
            <a:ext cx="292608" cy="292608"/>
          </a:xfrm>
          <a:prstGeom prst="ellipse">
            <a:avLst/>
          </a:prstGeom>
          <a:solidFill>
            <a:srgbClr val="009E73"/>
          </a:solidFill>
          <a:ln w="12700">
            <a:solidFill>
              <a:srgbClr val="009E73"/>
            </a:solidFill>
            <a:prstDash val="solid"/>
          </a:ln>
        </p:spPr>
      </p:sp>
      <p:sp>
        <p:nvSpPr>
          <p:cNvPr id="47" name="Shape 44"/>
          <p:cNvSpPr/>
          <p:nvPr/>
        </p:nvSpPr>
        <p:spPr>
          <a:xfrm>
            <a:off x="3950208" y="2990088"/>
            <a:ext cx="292608" cy="292608"/>
          </a:xfrm>
          <a:prstGeom prst="ellipse">
            <a:avLst/>
          </a:prstGeom>
          <a:solidFill>
            <a:srgbClr val="009E73"/>
          </a:solidFill>
          <a:ln w="12700">
            <a:solidFill>
              <a:srgbClr val="009E73"/>
            </a:solidFill>
            <a:prstDash val="solid"/>
          </a:ln>
        </p:spPr>
      </p:sp>
      <p:sp>
        <p:nvSpPr>
          <p:cNvPr id="48" name="Shape 45"/>
          <p:cNvSpPr/>
          <p:nvPr/>
        </p:nvSpPr>
        <p:spPr>
          <a:xfrm>
            <a:off x="4352544" y="2990088"/>
            <a:ext cx="292608" cy="292608"/>
          </a:xfrm>
          <a:prstGeom prst="ellipse">
            <a:avLst/>
          </a:prstGeom>
          <a:solidFill>
            <a:srgbClr val="009E73"/>
          </a:solidFill>
          <a:ln w="12700">
            <a:solidFill>
              <a:srgbClr val="009E73"/>
            </a:solidFill>
            <a:prstDash val="solid"/>
          </a:ln>
        </p:spPr>
      </p:sp>
      <p:sp>
        <p:nvSpPr>
          <p:cNvPr id="49" name="Shape 46"/>
          <p:cNvSpPr/>
          <p:nvPr/>
        </p:nvSpPr>
        <p:spPr>
          <a:xfrm>
            <a:off x="731520" y="3392424"/>
            <a:ext cx="292608" cy="292608"/>
          </a:xfrm>
          <a:prstGeom prst="ellipse">
            <a:avLst/>
          </a:prstGeom>
          <a:solidFill>
            <a:srgbClr val="009E73"/>
          </a:solidFill>
          <a:ln w="12700">
            <a:solidFill>
              <a:srgbClr val="009E73"/>
            </a:solidFill>
            <a:prstDash val="solid"/>
          </a:ln>
        </p:spPr>
      </p:sp>
      <p:sp>
        <p:nvSpPr>
          <p:cNvPr id="50" name="Shape 47"/>
          <p:cNvSpPr/>
          <p:nvPr/>
        </p:nvSpPr>
        <p:spPr>
          <a:xfrm>
            <a:off x="1133856" y="3392424"/>
            <a:ext cx="292608" cy="292608"/>
          </a:xfrm>
          <a:prstGeom prst="ellipse">
            <a:avLst/>
          </a:prstGeom>
          <a:solidFill>
            <a:srgbClr val="009E73"/>
          </a:solidFill>
          <a:ln w="12700">
            <a:solidFill>
              <a:srgbClr val="009E73"/>
            </a:solidFill>
            <a:prstDash val="solid"/>
          </a:ln>
        </p:spPr>
      </p:sp>
      <p:sp>
        <p:nvSpPr>
          <p:cNvPr id="51" name="Shape 48"/>
          <p:cNvSpPr/>
          <p:nvPr/>
        </p:nvSpPr>
        <p:spPr>
          <a:xfrm>
            <a:off x="1536192" y="3392424"/>
            <a:ext cx="292608" cy="292608"/>
          </a:xfrm>
          <a:prstGeom prst="ellipse">
            <a:avLst/>
          </a:prstGeom>
          <a:solidFill>
            <a:srgbClr val="D55E00"/>
          </a:solidFill>
          <a:ln w="12700">
            <a:solidFill>
              <a:srgbClr val="D55E00"/>
            </a:solidFill>
            <a:prstDash val="solid"/>
          </a:ln>
        </p:spPr>
      </p:sp>
      <p:sp>
        <p:nvSpPr>
          <p:cNvPr id="52" name="Shape 49"/>
          <p:cNvSpPr/>
          <p:nvPr/>
        </p:nvSpPr>
        <p:spPr>
          <a:xfrm>
            <a:off x="1938528" y="3392424"/>
            <a:ext cx="292608" cy="292608"/>
          </a:xfrm>
          <a:prstGeom prst="ellipse">
            <a:avLst/>
          </a:prstGeom>
          <a:solidFill>
            <a:srgbClr val="D55E00"/>
          </a:solidFill>
          <a:ln w="12700">
            <a:solidFill>
              <a:srgbClr val="D55E00"/>
            </a:solidFill>
            <a:prstDash val="solid"/>
          </a:ln>
        </p:spPr>
      </p:sp>
      <p:sp>
        <p:nvSpPr>
          <p:cNvPr id="53" name="Shape 50"/>
          <p:cNvSpPr/>
          <p:nvPr/>
        </p:nvSpPr>
        <p:spPr>
          <a:xfrm>
            <a:off x="2340864" y="3392424"/>
            <a:ext cx="292608" cy="292608"/>
          </a:xfrm>
          <a:prstGeom prst="ellipse">
            <a:avLst/>
          </a:prstGeom>
          <a:solidFill>
            <a:srgbClr val="D55E00"/>
          </a:solidFill>
          <a:ln w="12700">
            <a:solidFill>
              <a:srgbClr val="D55E00"/>
            </a:solidFill>
            <a:prstDash val="solid"/>
          </a:ln>
        </p:spPr>
      </p:sp>
      <p:sp>
        <p:nvSpPr>
          <p:cNvPr id="54" name="Shape 51"/>
          <p:cNvSpPr/>
          <p:nvPr/>
        </p:nvSpPr>
        <p:spPr>
          <a:xfrm>
            <a:off x="2743200" y="3392424"/>
            <a:ext cx="292608" cy="292608"/>
          </a:xfrm>
          <a:prstGeom prst="ellipse">
            <a:avLst/>
          </a:prstGeom>
          <a:solidFill>
            <a:srgbClr val="D55E00"/>
          </a:solidFill>
          <a:ln w="12700">
            <a:solidFill>
              <a:srgbClr val="D55E00"/>
            </a:solidFill>
            <a:prstDash val="solid"/>
          </a:ln>
        </p:spPr>
      </p:sp>
      <p:sp>
        <p:nvSpPr>
          <p:cNvPr id="55" name="Shape 52"/>
          <p:cNvSpPr/>
          <p:nvPr/>
        </p:nvSpPr>
        <p:spPr>
          <a:xfrm>
            <a:off x="3145536" y="3392424"/>
            <a:ext cx="292608" cy="292608"/>
          </a:xfrm>
          <a:prstGeom prst="ellipse">
            <a:avLst/>
          </a:prstGeom>
          <a:solidFill>
            <a:srgbClr val="D55E00"/>
          </a:solidFill>
          <a:ln w="12700">
            <a:solidFill>
              <a:srgbClr val="D55E00"/>
            </a:solidFill>
            <a:prstDash val="solid"/>
          </a:ln>
        </p:spPr>
      </p:sp>
      <p:sp>
        <p:nvSpPr>
          <p:cNvPr id="56" name="Shape 53"/>
          <p:cNvSpPr/>
          <p:nvPr/>
        </p:nvSpPr>
        <p:spPr>
          <a:xfrm>
            <a:off x="3547872" y="3392424"/>
            <a:ext cx="292608" cy="292608"/>
          </a:xfrm>
          <a:prstGeom prst="ellipse">
            <a:avLst/>
          </a:prstGeom>
          <a:solidFill>
            <a:srgbClr val="D55E00"/>
          </a:solidFill>
          <a:ln w="12700">
            <a:solidFill>
              <a:srgbClr val="D55E00"/>
            </a:solidFill>
            <a:prstDash val="solid"/>
          </a:ln>
        </p:spPr>
      </p:sp>
      <p:sp>
        <p:nvSpPr>
          <p:cNvPr id="57" name="Shape 54"/>
          <p:cNvSpPr/>
          <p:nvPr/>
        </p:nvSpPr>
        <p:spPr>
          <a:xfrm>
            <a:off x="3950208" y="3392424"/>
            <a:ext cx="292608" cy="292608"/>
          </a:xfrm>
          <a:prstGeom prst="ellipse">
            <a:avLst/>
          </a:prstGeom>
          <a:solidFill>
            <a:srgbClr val="D55E00"/>
          </a:solidFill>
          <a:ln w="12700">
            <a:solidFill>
              <a:srgbClr val="D55E00"/>
            </a:solidFill>
            <a:prstDash val="solid"/>
          </a:ln>
        </p:spPr>
      </p:sp>
      <p:sp>
        <p:nvSpPr>
          <p:cNvPr id="58" name="Shape 55"/>
          <p:cNvSpPr/>
          <p:nvPr/>
        </p:nvSpPr>
        <p:spPr>
          <a:xfrm>
            <a:off x="4352544" y="3392424"/>
            <a:ext cx="292608" cy="292608"/>
          </a:xfrm>
          <a:prstGeom prst="ellipse">
            <a:avLst/>
          </a:prstGeom>
          <a:solidFill>
            <a:srgbClr val="D55E00"/>
          </a:solidFill>
          <a:ln w="12700">
            <a:solidFill>
              <a:srgbClr val="D55E00"/>
            </a:solidFill>
            <a:prstDash val="solid"/>
          </a:ln>
        </p:spPr>
      </p:sp>
      <p:sp>
        <p:nvSpPr>
          <p:cNvPr id="59" name="Shape 56"/>
          <p:cNvSpPr/>
          <p:nvPr/>
        </p:nvSpPr>
        <p:spPr>
          <a:xfrm>
            <a:off x="731520" y="3794760"/>
            <a:ext cx="292608" cy="292608"/>
          </a:xfrm>
          <a:prstGeom prst="ellipse">
            <a:avLst/>
          </a:prstGeom>
          <a:solidFill>
            <a:srgbClr val="D55E00"/>
          </a:solidFill>
          <a:ln w="12700">
            <a:solidFill>
              <a:srgbClr val="D55E00"/>
            </a:solidFill>
            <a:prstDash val="solid"/>
          </a:ln>
        </p:spPr>
      </p:sp>
      <p:sp>
        <p:nvSpPr>
          <p:cNvPr id="60" name="Shape 57"/>
          <p:cNvSpPr/>
          <p:nvPr/>
        </p:nvSpPr>
        <p:spPr>
          <a:xfrm>
            <a:off x="1133856" y="3794760"/>
            <a:ext cx="292608" cy="292608"/>
          </a:xfrm>
          <a:prstGeom prst="ellipse">
            <a:avLst/>
          </a:prstGeom>
          <a:solidFill>
            <a:srgbClr val="D55E00"/>
          </a:solidFill>
          <a:ln w="12700">
            <a:solidFill>
              <a:srgbClr val="D55E00"/>
            </a:solidFill>
            <a:prstDash val="solid"/>
          </a:ln>
        </p:spPr>
      </p:sp>
      <p:sp>
        <p:nvSpPr>
          <p:cNvPr id="61" name="Shape 58"/>
          <p:cNvSpPr/>
          <p:nvPr/>
        </p:nvSpPr>
        <p:spPr>
          <a:xfrm>
            <a:off x="1536192" y="3794760"/>
            <a:ext cx="292608" cy="292608"/>
          </a:xfrm>
          <a:prstGeom prst="ellipse">
            <a:avLst/>
          </a:prstGeom>
          <a:solidFill>
            <a:srgbClr val="D55E00"/>
          </a:solidFill>
          <a:ln w="12700">
            <a:solidFill>
              <a:srgbClr val="D55E00"/>
            </a:solidFill>
            <a:prstDash val="solid"/>
          </a:ln>
        </p:spPr>
      </p:sp>
      <p:sp>
        <p:nvSpPr>
          <p:cNvPr id="62" name="Shape 59"/>
          <p:cNvSpPr/>
          <p:nvPr/>
        </p:nvSpPr>
        <p:spPr>
          <a:xfrm>
            <a:off x="1938528" y="3794760"/>
            <a:ext cx="292608" cy="292608"/>
          </a:xfrm>
          <a:prstGeom prst="ellipse">
            <a:avLst/>
          </a:prstGeom>
          <a:solidFill>
            <a:srgbClr val="D55E00"/>
          </a:solidFill>
          <a:ln w="12700">
            <a:solidFill>
              <a:srgbClr val="D55E00"/>
            </a:solidFill>
            <a:prstDash val="solid"/>
          </a:ln>
        </p:spPr>
      </p:sp>
      <p:sp>
        <p:nvSpPr>
          <p:cNvPr id="63" name="Shape 60"/>
          <p:cNvSpPr/>
          <p:nvPr/>
        </p:nvSpPr>
        <p:spPr>
          <a:xfrm>
            <a:off x="2340864" y="3794760"/>
            <a:ext cx="292608" cy="292608"/>
          </a:xfrm>
          <a:prstGeom prst="ellipse">
            <a:avLst/>
          </a:prstGeom>
          <a:solidFill>
            <a:srgbClr val="D55E00"/>
          </a:solidFill>
          <a:ln w="12700">
            <a:solidFill>
              <a:srgbClr val="D55E00"/>
            </a:solidFill>
            <a:prstDash val="solid"/>
          </a:ln>
        </p:spPr>
      </p:sp>
      <p:sp>
        <p:nvSpPr>
          <p:cNvPr id="64" name="Shape 61"/>
          <p:cNvSpPr/>
          <p:nvPr/>
        </p:nvSpPr>
        <p:spPr>
          <a:xfrm>
            <a:off x="2743200" y="3794760"/>
            <a:ext cx="292608" cy="292608"/>
          </a:xfrm>
          <a:prstGeom prst="ellipse">
            <a:avLst/>
          </a:prstGeom>
          <a:solidFill>
            <a:srgbClr val="D55E00"/>
          </a:solidFill>
          <a:ln w="12700">
            <a:solidFill>
              <a:srgbClr val="D55E00"/>
            </a:solidFill>
            <a:prstDash val="solid"/>
          </a:ln>
        </p:spPr>
      </p:sp>
      <p:sp>
        <p:nvSpPr>
          <p:cNvPr id="65" name="Shape 62"/>
          <p:cNvSpPr/>
          <p:nvPr/>
        </p:nvSpPr>
        <p:spPr>
          <a:xfrm>
            <a:off x="3145536" y="3794760"/>
            <a:ext cx="292608" cy="292608"/>
          </a:xfrm>
          <a:prstGeom prst="ellipse">
            <a:avLst/>
          </a:prstGeom>
          <a:solidFill>
            <a:srgbClr val="D55E00"/>
          </a:solidFill>
          <a:ln w="12700">
            <a:solidFill>
              <a:srgbClr val="D55E00"/>
            </a:solidFill>
            <a:prstDash val="solid"/>
          </a:ln>
        </p:spPr>
      </p:sp>
      <p:sp>
        <p:nvSpPr>
          <p:cNvPr id="66" name="Shape 63"/>
          <p:cNvSpPr/>
          <p:nvPr/>
        </p:nvSpPr>
        <p:spPr>
          <a:xfrm>
            <a:off x="3547872" y="3794760"/>
            <a:ext cx="292608" cy="292608"/>
          </a:xfrm>
          <a:prstGeom prst="ellipse">
            <a:avLst/>
          </a:prstGeom>
          <a:solidFill>
            <a:srgbClr val="D55E00"/>
          </a:solidFill>
          <a:ln w="12700">
            <a:solidFill>
              <a:srgbClr val="D55E00"/>
            </a:solidFill>
            <a:prstDash val="solid"/>
          </a:ln>
        </p:spPr>
      </p:sp>
      <p:sp>
        <p:nvSpPr>
          <p:cNvPr id="67" name="Shape 64"/>
          <p:cNvSpPr/>
          <p:nvPr/>
        </p:nvSpPr>
        <p:spPr>
          <a:xfrm>
            <a:off x="3950208" y="3794760"/>
            <a:ext cx="292608" cy="292608"/>
          </a:xfrm>
          <a:prstGeom prst="ellipse">
            <a:avLst/>
          </a:prstGeom>
          <a:solidFill>
            <a:srgbClr val="D55E00"/>
          </a:solidFill>
          <a:ln w="12700">
            <a:solidFill>
              <a:srgbClr val="D55E00"/>
            </a:solidFill>
            <a:prstDash val="solid"/>
          </a:ln>
        </p:spPr>
      </p:sp>
      <p:sp>
        <p:nvSpPr>
          <p:cNvPr id="68" name="Shape 65"/>
          <p:cNvSpPr/>
          <p:nvPr/>
        </p:nvSpPr>
        <p:spPr>
          <a:xfrm>
            <a:off x="4352544" y="3794760"/>
            <a:ext cx="292608" cy="292608"/>
          </a:xfrm>
          <a:prstGeom prst="ellipse">
            <a:avLst/>
          </a:prstGeom>
          <a:solidFill>
            <a:srgbClr val="D55E00"/>
          </a:solidFill>
          <a:ln w="12700">
            <a:solidFill>
              <a:srgbClr val="D55E00"/>
            </a:solidFill>
            <a:prstDash val="solid"/>
          </a:ln>
        </p:spPr>
      </p:sp>
      <p:sp>
        <p:nvSpPr>
          <p:cNvPr id="69" name="Shape 66"/>
          <p:cNvSpPr/>
          <p:nvPr/>
        </p:nvSpPr>
        <p:spPr>
          <a:xfrm>
            <a:off x="731520" y="4197096"/>
            <a:ext cx="292608" cy="292608"/>
          </a:xfrm>
          <a:prstGeom prst="ellipse">
            <a:avLst/>
          </a:prstGeom>
          <a:solidFill>
            <a:srgbClr val="D55E00"/>
          </a:solidFill>
          <a:ln w="12700">
            <a:solidFill>
              <a:srgbClr val="D55E00"/>
            </a:solidFill>
            <a:prstDash val="solid"/>
          </a:ln>
        </p:spPr>
      </p:sp>
      <p:sp>
        <p:nvSpPr>
          <p:cNvPr id="70" name="Shape 67"/>
          <p:cNvSpPr/>
          <p:nvPr/>
        </p:nvSpPr>
        <p:spPr>
          <a:xfrm>
            <a:off x="1133856" y="4197096"/>
            <a:ext cx="292608" cy="292608"/>
          </a:xfrm>
          <a:prstGeom prst="ellipse">
            <a:avLst/>
          </a:prstGeom>
          <a:solidFill>
            <a:srgbClr val="D55E00"/>
          </a:solidFill>
          <a:ln w="12700">
            <a:solidFill>
              <a:srgbClr val="D55E00"/>
            </a:solidFill>
            <a:prstDash val="solid"/>
          </a:ln>
        </p:spPr>
      </p:sp>
      <p:sp>
        <p:nvSpPr>
          <p:cNvPr id="71" name="Shape 68"/>
          <p:cNvSpPr/>
          <p:nvPr/>
        </p:nvSpPr>
        <p:spPr>
          <a:xfrm>
            <a:off x="1536192" y="4197096"/>
            <a:ext cx="292608" cy="292608"/>
          </a:xfrm>
          <a:prstGeom prst="ellipse">
            <a:avLst/>
          </a:prstGeom>
          <a:solidFill>
            <a:srgbClr val="D55E00"/>
          </a:solidFill>
          <a:ln w="12700">
            <a:solidFill>
              <a:srgbClr val="D55E00"/>
            </a:solidFill>
            <a:prstDash val="solid"/>
          </a:ln>
        </p:spPr>
      </p:sp>
      <p:sp>
        <p:nvSpPr>
          <p:cNvPr id="72" name="Shape 69"/>
          <p:cNvSpPr/>
          <p:nvPr/>
        </p:nvSpPr>
        <p:spPr>
          <a:xfrm>
            <a:off x="1938528" y="4197096"/>
            <a:ext cx="292608" cy="292608"/>
          </a:xfrm>
          <a:prstGeom prst="ellipse">
            <a:avLst/>
          </a:prstGeom>
          <a:solidFill>
            <a:srgbClr val="D55E00"/>
          </a:solidFill>
          <a:ln w="12700">
            <a:solidFill>
              <a:srgbClr val="D55E00"/>
            </a:solidFill>
            <a:prstDash val="solid"/>
          </a:ln>
        </p:spPr>
      </p:sp>
      <p:sp>
        <p:nvSpPr>
          <p:cNvPr id="73" name="Shape 70"/>
          <p:cNvSpPr/>
          <p:nvPr/>
        </p:nvSpPr>
        <p:spPr>
          <a:xfrm>
            <a:off x="2340864" y="4197096"/>
            <a:ext cx="292608" cy="292608"/>
          </a:xfrm>
          <a:prstGeom prst="ellipse">
            <a:avLst/>
          </a:prstGeom>
          <a:solidFill>
            <a:srgbClr val="D55E00"/>
          </a:solidFill>
          <a:ln w="12700">
            <a:solidFill>
              <a:srgbClr val="D55E00"/>
            </a:solidFill>
            <a:prstDash val="solid"/>
          </a:ln>
        </p:spPr>
      </p:sp>
      <p:sp>
        <p:nvSpPr>
          <p:cNvPr id="74" name="Shape 71"/>
          <p:cNvSpPr/>
          <p:nvPr/>
        </p:nvSpPr>
        <p:spPr>
          <a:xfrm>
            <a:off x="2743200" y="4197096"/>
            <a:ext cx="292608" cy="292608"/>
          </a:xfrm>
          <a:prstGeom prst="ellipse">
            <a:avLst/>
          </a:prstGeom>
          <a:solidFill>
            <a:srgbClr val="D55E00"/>
          </a:solidFill>
          <a:ln w="12700">
            <a:solidFill>
              <a:srgbClr val="D55E00"/>
            </a:solidFill>
            <a:prstDash val="solid"/>
          </a:ln>
        </p:spPr>
      </p:sp>
      <p:sp>
        <p:nvSpPr>
          <p:cNvPr id="75" name="Shape 72"/>
          <p:cNvSpPr/>
          <p:nvPr/>
        </p:nvSpPr>
        <p:spPr>
          <a:xfrm>
            <a:off x="3145536" y="4197096"/>
            <a:ext cx="292608" cy="292608"/>
          </a:xfrm>
          <a:prstGeom prst="ellipse">
            <a:avLst/>
          </a:prstGeom>
          <a:solidFill>
            <a:srgbClr val="D55E00"/>
          </a:solidFill>
          <a:ln w="12700">
            <a:solidFill>
              <a:srgbClr val="D55E00"/>
            </a:solidFill>
            <a:prstDash val="solid"/>
          </a:ln>
        </p:spPr>
      </p:sp>
      <p:sp>
        <p:nvSpPr>
          <p:cNvPr id="76" name="Shape 73"/>
          <p:cNvSpPr/>
          <p:nvPr/>
        </p:nvSpPr>
        <p:spPr>
          <a:xfrm>
            <a:off x="3547872" y="4197096"/>
            <a:ext cx="292608" cy="292608"/>
          </a:xfrm>
          <a:prstGeom prst="ellipse">
            <a:avLst/>
          </a:prstGeom>
          <a:solidFill>
            <a:srgbClr val="D55E00"/>
          </a:solidFill>
          <a:ln w="12700">
            <a:solidFill>
              <a:srgbClr val="D55E00"/>
            </a:solidFill>
            <a:prstDash val="solid"/>
          </a:ln>
        </p:spPr>
      </p:sp>
      <p:sp>
        <p:nvSpPr>
          <p:cNvPr id="77" name="Shape 74"/>
          <p:cNvSpPr/>
          <p:nvPr/>
        </p:nvSpPr>
        <p:spPr>
          <a:xfrm>
            <a:off x="3950208" y="4197096"/>
            <a:ext cx="292608" cy="292608"/>
          </a:xfrm>
          <a:prstGeom prst="ellipse">
            <a:avLst/>
          </a:prstGeom>
          <a:solidFill>
            <a:srgbClr val="D55E00"/>
          </a:solidFill>
          <a:ln w="12700">
            <a:solidFill>
              <a:srgbClr val="D55E00"/>
            </a:solidFill>
            <a:prstDash val="solid"/>
          </a:ln>
        </p:spPr>
      </p:sp>
      <p:sp>
        <p:nvSpPr>
          <p:cNvPr id="78" name="Shape 75"/>
          <p:cNvSpPr/>
          <p:nvPr/>
        </p:nvSpPr>
        <p:spPr>
          <a:xfrm>
            <a:off x="4352544" y="4197096"/>
            <a:ext cx="292608" cy="292608"/>
          </a:xfrm>
          <a:prstGeom prst="ellipse">
            <a:avLst/>
          </a:prstGeom>
          <a:solidFill>
            <a:srgbClr val="D55E00"/>
          </a:solidFill>
          <a:ln w="12700">
            <a:solidFill>
              <a:srgbClr val="D55E00"/>
            </a:solidFill>
            <a:prstDash val="solid"/>
          </a:ln>
        </p:spPr>
      </p:sp>
      <p:sp>
        <p:nvSpPr>
          <p:cNvPr id="79" name="Shape 76"/>
          <p:cNvSpPr/>
          <p:nvPr/>
        </p:nvSpPr>
        <p:spPr>
          <a:xfrm>
            <a:off x="731520" y="4599432"/>
            <a:ext cx="292608" cy="292608"/>
          </a:xfrm>
          <a:prstGeom prst="ellipse">
            <a:avLst/>
          </a:prstGeom>
          <a:solidFill>
            <a:srgbClr val="D55E00"/>
          </a:solidFill>
          <a:ln w="12700">
            <a:solidFill>
              <a:srgbClr val="D55E00"/>
            </a:solidFill>
            <a:prstDash val="solid"/>
          </a:ln>
        </p:spPr>
      </p:sp>
      <p:sp>
        <p:nvSpPr>
          <p:cNvPr id="80" name="Shape 77"/>
          <p:cNvSpPr/>
          <p:nvPr/>
        </p:nvSpPr>
        <p:spPr>
          <a:xfrm>
            <a:off x="1133856" y="4599432"/>
            <a:ext cx="292608" cy="292608"/>
          </a:xfrm>
          <a:prstGeom prst="ellipse">
            <a:avLst/>
          </a:prstGeom>
          <a:solidFill>
            <a:srgbClr val="D55E00"/>
          </a:solidFill>
          <a:ln w="12700">
            <a:solidFill>
              <a:srgbClr val="D55E00"/>
            </a:solidFill>
            <a:prstDash val="solid"/>
          </a:ln>
        </p:spPr>
      </p:sp>
      <p:sp>
        <p:nvSpPr>
          <p:cNvPr id="81" name="Shape 78"/>
          <p:cNvSpPr/>
          <p:nvPr/>
        </p:nvSpPr>
        <p:spPr>
          <a:xfrm>
            <a:off x="1536192" y="4599432"/>
            <a:ext cx="292608" cy="292608"/>
          </a:xfrm>
          <a:prstGeom prst="ellipse">
            <a:avLst/>
          </a:prstGeom>
          <a:solidFill>
            <a:srgbClr val="D55E00"/>
          </a:solidFill>
          <a:ln w="12700">
            <a:solidFill>
              <a:srgbClr val="D55E00"/>
            </a:solidFill>
            <a:prstDash val="solid"/>
          </a:ln>
        </p:spPr>
      </p:sp>
      <p:sp>
        <p:nvSpPr>
          <p:cNvPr id="82" name="Shape 79"/>
          <p:cNvSpPr/>
          <p:nvPr/>
        </p:nvSpPr>
        <p:spPr>
          <a:xfrm>
            <a:off x="1938528" y="4599432"/>
            <a:ext cx="292608" cy="292608"/>
          </a:xfrm>
          <a:prstGeom prst="ellipse">
            <a:avLst/>
          </a:prstGeom>
          <a:solidFill>
            <a:srgbClr val="D55E00"/>
          </a:solidFill>
          <a:ln w="12700">
            <a:solidFill>
              <a:srgbClr val="D55E00"/>
            </a:solidFill>
            <a:prstDash val="solid"/>
          </a:ln>
        </p:spPr>
      </p:sp>
      <p:sp>
        <p:nvSpPr>
          <p:cNvPr id="83" name="Shape 80"/>
          <p:cNvSpPr/>
          <p:nvPr/>
        </p:nvSpPr>
        <p:spPr>
          <a:xfrm>
            <a:off x="2340864" y="4599432"/>
            <a:ext cx="292608" cy="292608"/>
          </a:xfrm>
          <a:prstGeom prst="ellipse">
            <a:avLst/>
          </a:prstGeom>
          <a:solidFill>
            <a:srgbClr val="D55E00"/>
          </a:solidFill>
          <a:ln w="12700">
            <a:solidFill>
              <a:srgbClr val="D55E00"/>
            </a:solidFill>
            <a:prstDash val="solid"/>
          </a:ln>
        </p:spPr>
      </p:sp>
      <p:sp>
        <p:nvSpPr>
          <p:cNvPr id="84" name="Shape 81"/>
          <p:cNvSpPr/>
          <p:nvPr/>
        </p:nvSpPr>
        <p:spPr>
          <a:xfrm>
            <a:off x="2743200" y="4599432"/>
            <a:ext cx="292608" cy="292608"/>
          </a:xfrm>
          <a:prstGeom prst="ellipse">
            <a:avLst/>
          </a:prstGeom>
          <a:solidFill>
            <a:srgbClr val="D55E00"/>
          </a:solidFill>
          <a:ln w="12700">
            <a:solidFill>
              <a:srgbClr val="D55E00"/>
            </a:solidFill>
            <a:prstDash val="solid"/>
          </a:ln>
        </p:spPr>
      </p:sp>
      <p:sp>
        <p:nvSpPr>
          <p:cNvPr id="85" name="Shape 82"/>
          <p:cNvSpPr/>
          <p:nvPr/>
        </p:nvSpPr>
        <p:spPr>
          <a:xfrm>
            <a:off x="3145536" y="4599432"/>
            <a:ext cx="292608" cy="292608"/>
          </a:xfrm>
          <a:prstGeom prst="ellipse">
            <a:avLst/>
          </a:prstGeom>
          <a:solidFill>
            <a:srgbClr val="D55E00"/>
          </a:solidFill>
          <a:ln w="12700">
            <a:solidFill>
              <a:srgbClr val="D55E00"/>
            </a:solidFill>
            <a:prstDash val="solid"/>
          </a:ln>
        </p:spPr>
      </p:sp>
      <p:sp>
        <p:nvSpPr>
          <p:cNvPr id="86" name="Shape 83"/>
          <p:cNvSpPr/>
          <p:nvPr/>
        </p:nvSpPr>
        <p:spPr>
          <a:xfrm>
            <a:off x="3547872" y="4599432"/>
            <a:ext cx="292608" cy="292608"/>
          </a:xfrm>
          <a:prstGeom prst="ellipse">
            <a:avLst/>
          </a:prstGeom>
          <a:solidFill>
            <a:srgbClr val="D55E00"/>
          </a:solidFill>
          <a:ln w="12700">
            <a:solidFill>
              <a:srgbClr val="D55E00"/>
            </a:solidFill>
            <a:prstDash val="solid"/>
          </a:ln>
        </p:spPr>
      </p:sp>
      <p:sp>
        <p:nvSpPr>
          <p:cNvPr id="87" name="Shape 84"/>
          <p:cNvSpPr/>
          <p:nvPr/>
        </p:nvSpPr>
        <p:spPr>
          <a:xfrm>
            <a:off x="3950208" y="4599432"/>
            <a:ext cx="292608" cy="292608"/>
          </a:xfrm>
          <a:prstGeom prst="ellipse">
            <a:avLst/>
          </a:prstGeom>
          <a:solidFill>
            <a:srgbClr val="D55E00"/>
          </a:solidFill>
          <a:ln w="12700">
            <a:solidFill>
              <a:srgbClr val="D55E00"/>
            </a:solidFill>
            <a:prstDash val="solid"/>
          </a:ln>
        </p:spPr>
      </p:sp>
      <p:sp>
        <p:nvSpPr>
          <p:cNvPr id="88" name="Shape 85"/>
          <p:cNvSpPr/>
          <p:nvPr/>
        </p:nvSpPr>
        <p:spPr>
          <a:xfrm>
            <a:off x="4352544" y="4599432"/>
            <a:ext cx="292608" cy="292608"/>
          </a:xfrm>
          <a:prstGeom prst="ellipse">
            <a:avLst/>
          </a:prstGeom>
          <a:solidFill>
            <a:srgbClr val="D55E00"/>
          </a:solidFill>
          <a:ln w="12700">
            <a:solidFill>
              <a:srgbClr val="D55E00"/>
            </a:solidFill>
            <a:prstDash val="solid"/>
          </a:ln>
        </p:spPr>
      </p:sp>
      <p:sp>
        <p:nvSpPr>
          <p:cNvPr id="89" name="Shape 86"/>
          <p:cNvSpPr/>
          <p:nvPr/>
        </p:nvSpPr>
        <p:spPr>
          <a:xfrm>
            <a:off x="731520" y="5001768"/>
            <a:ext cx="292608" cy="292608"/>
          </a:xfrm>
          <a:prstGeom prst="ellipse">
            <a:avLst/>
          </a:prstGeom>
          <a:solidFill>
            <a:srgbClr val="D55E00"/>
          </a:solidFill>
          <a:ln w="12700">
            <a:solidFill>
              <a:srgbClr val="D55E00"/>
            </a:solidFill>
            <a:prstDash val="solid"/>
          </a:ln>
        </p:spPr>
      </p:sp>
      <p:sp>
        <p:nvSpPr>
          <p:cNvPr id="90" name="Shape 87"/>
          <p:cNvSpPr/>
          <p:nvPr/>
        </p:nvSpPr>
        <p:spPr>
          <a:xfrm>
            <a:off x="1133856" y="5001768"/>
            <a:ext cx="292608" cy="292608"/>
          </a:xfrm>
          <a:prstGeom prst="ellipse">
            <a:avLst/>
          </a:prstGeom>
          <a:solidFill>
            <a:srgbClr val="D55E00"/>
          </a:solidFill>
          <a:ln w="12700">
            <a:solidFill>
              <a:srgbClr val="D55E00"/>
            </a:solidFill>
            <a:prstDash val="solid"/>
          </a:ln>
        </p:spPr>
      </p:sp>
      <p:sp>
        <p:nvSpPr>
          <p:cNvPr id="91" name="Shape 88"/>
          <p:cNvSpPr/>
          <p:nvPr/>
        </p:nvSpPr>
        <p:spPr>
          <a:xfrm>
            <a:off x="1536192" y="5001768"/>
            <a:ext cx="292608" cy="292608"/>
          </a:xfrm>
          <a:prstGeom prst="ellipse">
            <a:avLst/>
          </a:prstGeom>
          <a:solidFill>
            <a:srgbClr val="D55E00"/>
          </a:solidFill>
          <a:ln w="12700">
            <a:solidFill>
              <a:srgbClr val="D55E00"/>
            </a:solidFill>
            <a:prstDash val="solid"/>
          </a:ln>
        </p:spPr>
      </p:sp>
      <p:sp>
        <p:nvSpPr>
          <p:cNvPr id="92" name="Shape 89"/>
          <p:cNvSpPr/>
          <p:nvPr/>
        </p:nvSpPr>
        <p:spPr>
          <a:xfrm>
            <a:off x="1938528" y="5001768"/>
            <a:ext cx="292608" cy="292608"/>
          </a:xfrm>
          <a:prstGeom prst="ellipse">
            <a:avLst/>
          </a:prstGeom>
          <a:solidFill>
            <a:srgbClr val="D55E00"/>
          </a:solidFill>
          <a:ln w="12700">
            <a:solidFill>
              <a:srgbClr val="D55E00"/>
            </a:solidFill>
            <a:prstDash val="solid"/>
          </a:ln>
        </p:spPr>
      </p:sp>
      <p:sp>
        <p:nvSpPr>
          <p:cNvPr id="93" name="Shape 90"/>
          <p:cNvSpPr/>
          <p:nvPr/>
        </p:nvSpPr>
        <p:spPr>
          <a:xfrm>
            <a:off x="2340864" y="5001768"/>
            <a:ext cx="292608" cy="292608"/>
          </a:xfrm>
          <a:prstGeom prst="ellipse">
            <a:avLst/>
          </a:prstGeom>
          <a:solidFill>
            <a:srgbClr val="D55E00"/>
          </a:solidFill>
          <a:ln w="12700">
            <a:solidFill>
              <a:srgbClr val="D55E00"/>
            </a:solidFill>
            <a:prstDash val="solid"/>
          </a:ln>
        </p:spPr>
      </p:sp>
      <p:sp>
        <p:nvSpPr>
          <p:cNvPr id="94" name="Shape 91"/>
          <p:cNvSpPr/>
          <p:nvPr/>
        </p:nvSpPr>
        <p:spPr>
          <a:xfrm>
            <a:off x="2743200" y="5001768"/>
            <a:ext cx="292608" cy="292608"/>
          </a:xfrm>
          <a:prstGeom prst="ellipse">
            <a:avLst/>
          </a:prstGeom>
          <a:solidFill>
            <a:srgbClr val="D55E00"/>
          </a:solidFill>
          <a:ln w="12700">
            <a:solidFill>
              <a:srgbClr val="D55E00"/>
            </a:solidFill>
            <a:prstDash val="solid"/>
          </a:ln>
        </p:spPr>
      </p:sp>
      <p:sp>
        <p:nvSpPr>
          <p:cNvPr id="95" name="Shape 92"/>
          <p:cNvSpPr/>
          <p:nvPr/>
        </p:nvSpPr>
        <p:spPr>
          <a:xfrm>
            <a:off x="3145536" y="5001768"/>
            <a:ext cx="292608" cy="292608"/>
          </a:xfrm>
          <a:prstGeom prst="ellipse">
            <a:avLst/>
          </a:prstGeom>
          <a:solidFill>
            <a:srgbClr val="D55E00"/>
          </a:solidFill>
          <a:ln w="12700">
            <a:solidFill>
              <a:srgbClr val="D55E00"/>
            </a:solidFill>
            <a:prstDash val="solid"/>
          </a:ln>
        </p:spPr>
      </p:sp>
      <p:sp>
        <p:nvSpPr>
          <p:cNvPr id="96" name="Shape 93"/>
          <p:cNvSpPr/>
          <p:nvPr/>
        </p:nvSpPr>
        <p:spPr>
          <a:xfrm>
            <a:off x="3547872" y="5001768"/>
            <a:ext cx="292608" cy="292608"/>
          </a:xfrm>
          <a:prstGeom prst="ellipse">
            <a:avLst/>
          </a:prstGeom>
          <a:solidFill>
            <a:srgbClr val="D55E00"/>
          </a:solidFill>
          <a:ln w="12700">
            <a:solidFill>
              <a:srgbClr val="D55E00"/>
            </a:solidFill>
            <a:prstDash val="solid"/>
          </a:ln>
        </p:spPr>
      </p:sp>
      <p:sp>
        <p:nvSpPr>
          <p:cNvPr id="97" name="Shape 94"/>
          <p:cNvSpPr/>
          <p:nvPr/>
        </p:nvSpPr>
        <p:spPr>
          <a:xfrm>
            <a:off x="3950208" y="5001768"/>
            <a:ext cx="292608" cy="292608"/>
          </a:xfrm>
          <a:prstGeom prst="ellipse">
            <a:avLst/>
          </a:prstGeom>
          <a:solidFill>
            <a:srgbClr val="D55E00"/>
          </a:solidFill>
          <a:ln w="12700">
            <a:solidFill>
              <a:srgbClr val="D55E00"/>
            </a:solidFill>
            <a:prstDash val="solid"/>
          </a:ln>
        </p:spPr>
      </p:sp>
      <p:sp>
        <p:nvSpPr>
          <p:cNvPr id="98" name="Shape 95"/>
          <p:cNvSpPr/>
          <p:nvPr/>
        </p:nvSpPr>
        <p:spPr>
          <a:xfrm>
            <a:off x="4352544" y="5001768"/>
            <a:ext cx="292608" cy="292608"/>
          </a:xfrm>
          <a:prstGeom prst="ellipse">
            <a:avLst/>
          </a:prstGeom>
          <a:solidFill>
            <a:srgbClr val="D55E00"/>
          </a:solidFill>
          <a:ln w="12700">
            <a:solidFill>
              <a:srgbClr val="D55E00"/>
            </a:solidFill>
            <a:prstDash val="solid"/>
          </a:ln>
        </p:spPr>
      </p:sp>
      <p:sp>
        <p:nvSpPr>
          <p:cNvPr id="99" name="Shape 96"/>
          <p:cNvSpPr/>
          <p:nvPr/>
        </p:nvSpPr>
        <p:spPr>
          <a:xfrm>
            <a:off x="731520" y="5404104"/>
            <a:ext cx="292608" cy="292608"/>
          </a:xfrm>
          <a:prstGeom prst="ellipse">
            <a:avLst/>
          </a:prstGeom>
          <a:solidFill>
            <a:srgbClr val="D55E00"/>
          </a:solidFill>
          <a:ln w="12700">
            <a:solidFill>
              <a:srgbClr val="D55E00"/>
            </a:solidFill>
            <a:prstDash val="solid"/>
          </a:ln>
        </p:spPr>
      </p:sp>
      <p:sp>
        <p:nvSpPr>
          <p:cNvPr id="100" name="Shape 97"/>
          <p:cNvSpPr/>
          <p:nvPr/>
        </p:nvSpPr>
        <p:spPr>
          <a:xfrm>
            <a:off x="1133856" y="5404104"/>
            <a:ext cx="292608" cy="292608"/>
          </a:xfrm>
          <a:prstGeom prst="ellipse">
            <a:avLst/>
          </a:prstGeom>
          <a:solidFill>
            <a:srgbClr val="D55E00"/>
          </a:solidFill>
          <a:ln w="12700">
            <a:solidFill>
              <a:srgbClr val="D55E00"/>
            </a:solidFill>
            <a:prstDash val="solid"/>
          </a:ln>
        </p:spPr>
      </p:sp>
      <p:sp>
        <p:nvSpPr>
          <p:cNvPr id="101" name="Shape 98"/>
          <p:cNvSpPr/>
          <p:nvPr/>
        </p:nvSpPr>
        <p:spPr>
          <a:xfrm>
            <a:off x="1536192" y="5404104"/>
            <a:ext cx="292608" cy="292608"/>
          </a:xfrm>
          <a:prstGeom prst="ellipse">
            <a:avLst/>
          </a:prstGeom>
          <a:solidFill>
            <a:srgbClr val="D55E00"/>
          </a:solidFill>
          <a:ln w="12700">
            <a:solidFill>
              <a:srgbClr val="D55E00"/>
            </a:solidFill>
            <a:prstDash val="solid"/>
          </a:ln>
        </p:spPr>
      </p:sp>
      <p:sp>
        <p:nvSpPr>
          <p:cNvPr id="102" name="Shape 99"/>
          <p:cNvSpPr/>
          <p:nvPr/>
        </p:nvSpPr>
        <p:spPr>
          <a:xfrm>
            <a:off x="1938528" y="5404104"/>
            <a:ext cx="292608" cy="292608"/>
          </a:xfrm>
          <a:prstGeom prst="ellipse">
            <a:avLst/>
          </a:prstGeom>
          <a:solidFill>
            <a:srgbClr val="D55E00"/>
          </a:solidFill>
          <a:ln w="12700">
            <a:solidFill>
              <a:srgbClr val="D55E00"/>
            </a:solidFill>
            <a:prstDash val="solid"/>
          </a:ln>
        </p:spPr>
      </p:sp>
      <p:sp>
        <p:nvSpPr>
          <p:cNvPr id="103" name="Shape 100"/>
          <p:cNvSpPr/>
          <p:nvPr/>
        </p:nvSpPr>
        <p:spPr>
          <a:xfrm>
            <a:off x="2340864" y="5404104"/>
            <a:ext cx="292608" cy="292608"/>
          </a:xfrm>
          <a:prstGeom prst="ellipse">
            <a:avLst/>
          </a:prstGeom>
          <a:solidFill>
            <a:srgbClr val="D55E00"/>
          </a:solidFill>
          <a:ln w="12700">
            <a:solidFill>
              <a:srgbClr val="D55E00"/>
            </a:solidFill>
            <a:prstDash val="solid"/>
          </a:ln>
        </p:spPr>
      </p:sp>
      <p:sp>
        <p:nvSpPr>
          <p:cNvPr id="104" name="Shape 101"/>
          <p:cNvSpPr/>
          <p:nvPr/>
        </p:nvSpPr>
        <p:spPr>
          <a:xfrm>
            <a:off x="2743200" y="5404104"/>
            <a:ext cx="292608" cy="292608"/>
          </a:xfrm>
          <a:prstGeom prst="ellipse">
            <a:avLst/>
          </a:prstGeom>
          <a:solidFill>
            <a:srgbClr val="D55E00"/>
          </a:solidFill>
          <a:ln w="12700">
            <a:solidFill>
              <a:srgbClr val="D55E00"/>
            </a:solidFill>
            <a:prstDash val="solid"/>
          </a:ln>
        </p:spPr>
      </p:sp>
      <p:sp>
        <p:nvSpPr>
          <p:cNvPr id="105" name="Shape 102"/>
          <p:cNvSpPr/>
          <p:nvPr/>
        </p:nvSpPr>
        <p:spPr>
          <a:xfrm>
            <a:off x="3145536" y="5404104"/>
            <a:ext cx="292608" cy="292608"/>
          </a:xfrm>
          <a:prstGeom prst="ellipse">
            <a:avLst/>
          </a:prstGeom>
          <a:solidFill>
            <a:srgbClr val="D55E00"/>
          </a:solidFill>
          <a:ln w="12700">
            <a:solidFill>
              <a:srgbClr val="D55E00"/>
            </a:solidFill>
            <a:prstDash val="solid"/>
          </a:ln>
        </p:spPr>
      </p:sp>
      <p:sp>
        <p:nvSpPr>
          <p:cNvPr id="106" name="Shape 103"/>
          <p:cNvSpPr/>
          <p:nvPr/>
        </p:nvSpPr>
        <p:spPr>
          <a:xfrm>
            <a:off x="3547872" y="5404104"/>
            <a:ext cx="292608" cy="292608"/>
          </a:xfrm>
          <a:prstGeom prst="ellipse">
            <a:avLst/>
          </a:prstGeom>
          <a:solidFill>
            <a:srgbClr val="D55E00"/>
          </a:solidFill>
          <a:ln w="12700">
            <a:solidFill>
              <a:srgbClr val="D55E00"/>
            </a:solidFill>
            <a:prstDash val="solid"/>
          </a:ln>
        </p:spPr>
      </p:sp>
      <p:sp>
        <p:nvSpPr>
          <p:cNvPr id="107" name="Shape 104"/>
          <p:cNvSpPr/>
          <p:nvPr/>
        </p:nvSpPr>
        <p:spPr>
          <a:xfrm>
            <a:off x="3950208" y="5404104"/>
            <a:ext cx="292608" cy="292608"/>
          </a:xfrm>
          <a:prstGeom prst="ellipse">
            <a:avLst/>
          </a:prstGeom>
          <a:solidFill>
            <a:srgbClr val="D55E00"/>
          </a:solidFill>
          <a:ln w="12700">
            <a:solidFill>
              <a:srgbClr val="D55E00"/>
            </a:solidFill>
            <a:prstDash val="solid"/>
          </a:ln>
        </p:spPr>
      </p:sp>
      <p:sp>
        <p:nvSpPr>
          <p:cNvPr id="108" name="Shape 105"/>
          <p:cNvSpPr/>
          <p:nvPr/>
        </p:nvSpPr>
        <p:spPr>
          <a:xfrm>
            <a:off x="4352544" y="5404104"/>
            <a:ext cx="292608" cy="292608"/>
          </a:xfrm>
          <a:prstGeom prst="ellipse">
            <a:avLst/>
          </a:prstGeom>
          <a:solidFill>
            <a:srgbClr val="D55E00"/>
          </a:solidFill>
          <a:ln w="12700">
            <a:solidFill>
              <a:srgbClr val="D55E00"/>
            </a:solidFill>
            <a:prstDash val="solid"/>
          </a:ln>
        </p:spPr>
      </p:sp>
      <p:sp>
        <p:nvSpPr>
          <p:cNvPr id="109" name="Shape 106"/>
          <p:cNvSpPr/>
          <p:nvPr/>
        </p:nvSpPr>
        <p:spPr>
          <a:xfrm>
            <a:off x="731520" y="5961888"/>
            <a:ext cx="201168" cy="201168"/>
          </a:xfrm>
          <a:prstGeom prst="rect">
            <a:avLst/>
          </a:prstGeom>
          <a:solidFill>
            <a:srgbClr val="009E73"/>
          </a:solidFill>
          <a:ln w="12700">
            <a:solidFill>
              <a:srgbClr val="009E73"/>
            </a:solidFill>
            <a:prstDash val="solid"/>
          </a:ln>
        </p:spPr>
      </p:sp>
      <p:sp>
        <p:nvSpPr>
          <p:cNvPr id="110" name="Text 107"/>
          <p:cNvSpPr/>
          <p:nvPr/>
        </p:nvSpPr>
        <p:spPr>
          <a:xfrm>
            <a:off x="1005840" y="5897880"/>
            <a:ext cx="2574036" cy="329184"/>
          </a:xfrm>
          <a:prstGeom prst="rect">
            <a:avLst/>
          </a:prstGeom>
          <a:noFill/>
          <a:ln/>
        </p:spPr>
        <p:txBody>
          <a:bodyPr wrap="square" lIns="0" tIns="0" rIns="0" bIns="0" rtlCol="0" anchor="ctr"/>
          <a:lstStyle/>
          <a:p>
            <a:pPr indent="0" marL="0">
              <a:buNone/>
            </a:pPr>
            <a:r>
              <a:rPr lang="en-US" sz="1200" dirty="0">
                <a:solidFill>
                  <a:srgbClr val="1B2433"/>
                </a:solidFill>
                <a:latin typeface="Calibri" pitchFamily="34" charset="0"/>
                <a:ea typeface="Calibri" pitchFamily="34" charset="-122"/>
                <a:cs typeface="Calibri" pitchFamily="34" charset="-120"/>
              </a:rPr>
              <a:t>correct version scored higher</a:t>
            </a:r>
            <a:endParaRPr lang="en-US" sz="1200" dirty="0"/>
          </a:p>
        </p:txBody>
      </p:sp>
      <p:sp>
        <p:nvSpPr>
          <p:cNvPr id="111" name="Shape 108"/>
          <p:cNvSpPr/>
          <p:nvPr/>
        </p:nvSpPr>
        <p:spPr>
          <a:xfrm>
            <a:off x="3808476" y="5961888"/>
            <a:ext cx="201168" cy="201168"/>
          </a:xfrm>
          <a:prstGeom prst="rect">
            <a:avLst/>
          </a:prstGeom>
          <a:solidFill>
            <a:srgbClr val="D55E00"/>
          </a:solidFill>
          <a:ln w="12700">
            <a:solidFill>
              <a:srgbClr val="D55E00"/>
            </a:solidFill>
            <a:prstDash val="solid"/>
          </a:ln>
        </p:spPr>
      </p:sp>
      <p:sp>
        <p:nvSpPr>
          <p:cNvPr id="112" name="Text 109"/>
          <p:cNvSpPr/>
          <p:nvPr/>
        </p:nvSpPr>
        <p:spPr>
          <a:xfrm>
            <a:off x="4082796" y="5897880"/>
            <a:ext cx="2418588" cy="329184"/>
          </a:xfrm>
          <a:prstGeom prst="rect">
            <a:avLst/>
          </a:prstGeom>
          <a:noFill/>
          <a:ln/>
        </p:spPr>
        <p:txBody>
          <a:bodyPr wrap="square" lIns="0" tIns="0" rIns="0" bIns="0" rtlCol="0" anchor="ctr"/>
          <a:lstStyle/>
          <a:p>
            <a:pPr indent="0" marL="0">
              <a:buNone/>
            </a:pPr>
            <a:r>
              <a:rPr lang="en-US" sz="1200" dirty="0">
                <a:solidFill>
                  <a:srgbClr val="1B2433"/>
                </a:solidFill>
                <a:latin typeface="Calibri" pitchFamily="34" charset="0"/>
                <a:ea typeface="Calibri" pitchFamily="34" charset="-122"/>
                <a:cs typeface="Calibri" pitchFamily="34" charset="-120"/>
              </a:rPr>
              <a:t>wrong version scored higher</a:t>
            </a:r>
            <a:endParaRPr lang="en-US" sz="1200" dirty="0"/>
          </a:p>
        </p:txBody>
      </p:sp>
      <p:sp>
        <p:nvSpPr>
          <p:cNvPr id="113" name="Text 110"/>
          <p:cNvSpPr/>
          <p:nvPr/>
        </p:nvSpPr>
        <p:spPr>
          <a:xfrm>
            <a:off x="5120640" y="1783080"/>
            <a:ext cx="6492240" cy="3977640"/>
          </a:xfrm>
          <a:prstGeom prst="rect">
            <a:avLst/>
          </a:prstGeom>
          <a:noFill/>
          <a:ln/>
        </p:spPr>
        <p:txBody>
          <a:bodyPr wrap="square" lIns="0" tIns="0" rIns="0" bIns="0" rtlCol="0" anchor="t"/>
          <a:lstStyle/>
          <a:p>
            <a:pPr marL="228600" indent="-228600">
              <a:lnSpc>
                <a:spcPct val="105000"/>
              </a:lnSpc>
              <a:spcAft>
                <a:spcPts val="800"/>
              </a:spcAft>
              <a:buSzPct val="100000"/>
              <a:buChar char="•"/>
            </a:pPr>
            <a:r>
              <a:rPr lang="en-US" sz="1700" dirty="0">
                <a:solidFill>
                  <a:srgbClr val="1B2433"/>
                </a:solidFill>
                <a:latin typeface="Calibri" pitchFamily="34" charset="0"/>
                <a:ea typeface="Calibri" pitchFamily="34" charset="-122"/>
                <a:cs typeface="Calibri" pitchFamily="34" charset="-120"/>
              </a:rPr>
              <a:t>For every pair: does the metric score the </a:t>
            </a:r>
            <a:r>
              <a:rPr lang="en-US" sz="1700" b="1" dirty="0">
                <a:solidFill>
                  <a:srgbClr val="1B2433"/>
                </a:solidFill>
                <a:latin typeface="Calibri" pitchFamily="34" charset="0"/>
                <a:ea typeface="Calibri" pitchFamily="34" charset="-122"/>
                <a:cs typeface="Calibri" pitchFamily="34" charset="-120"/>
              </a:rPr>
              <a:t>correct</a:t>
            </a:r>
            <a:r>
              <a:rPr lang="en-US" sz="1700" dirty="0">
                <a:solidFill>
                  <a:srgbClr val="1B2433"/>
                </a:solidFill>
                <a:latin typeface="Calibri" pitchFamily="34" charset="0"/>
                <a:ea typeface="Calibri" pitchFamily="34" charset="-122"/>
                <a:cs typeface="Calibri" pitchFamily="34" charset="-120"/>
              </a:rPr>
              <a:t> version </a:t>
            </a:r>
            <a:r>
              <a:rPr lang="en-US" sz="1700" b="1" dirty="0">
                <a:solidFill>
                  <a:srgbClr val="1B2433"/>
                </a:solidFill>
                <a:latin typeface="Calibri" pitchFamily="34" charset="0"/>
                <a:ea typeface="Calibri" pitchFamily="34" charset="-122"/>
                <a:cs typeface="Calibri" pitchFamily="34" charset="-120"/>
              </a:rPr>
              <a:t>higher</a:t>
            </a:r>
            <a:r>
              <a:rPr lang="en-US" sz="1700" dirty="0">
                <a:solidFill>
                  <a:srgbClr val="1B2433"/>
                </a:solidFill>
                <a:latin typeface="Calibri" pitchFamily="34" charset="0"/>
                <a:ea typeface="Calibri" pitchFamily="34" charset="-122"/>
                <a:cs typeface="Calibri" pitchFamily="34" charset="-120"/>
              </a:rPr>
              <a:t> than the wrong one?</a:t>
            </a:r>
            <a:endParaRPr lang="en-US" sz="1700" dirty="0"/>
          </a:p>
          <a:p>
            <a:pPr marL="228600" indent="-228600">
              <a:lnSpc>
                <a:spcPct val="105000"/>
              </a:lnSpc>
              <a:spcAft>
                <a:spcPts val="800"/>
              </a:spcAft>
              <a:buSzPct val="100000"/>
              <a:buChar char="•"/>
            </a:pPr>
            <a:r>
              <a:rPr lang="en-US" sz="1700" b="1" dirty="0">
                <a:solidFill>
                  <a:srgbClr val="1B2433"/>
                </a:solidFill>
                <a:latin typeface="Calibri" pitchFamily="34" charset="0"/>
                <a:ea typeface="Calibri" pitchFamily="34" charset="-122"/>
                <a:cs typeface="Calibri" pitchFamily="34" charset="-120"/>
              </a:rPr>
              <a:t>Win rate</a:t>
            </a:r>
            <a:r>
              <a:rPr lang="en-US" sz="1700" dirty="0">
                <a:solidFill>
                  <a:srgbClr val="1B2433"/>
                </a:solidFill>
                <a:latin typeface="Calibri" pitchFamily="34" charset="0"/>
                <a:ea typeface="Calibri" pitchFamily="34" charset="-122"/>
                <a:cs typeface="Calibri" pitchFamily="34" charset="-120"/>
              </a:rPr>
              <a:t> = share of pairs where it does.</a:t>
            </a:r>
            <a:endParaRPr lang="en-US" sz="1700" dirty="0"/>
          </a:p>
          <a:p>
            <a:pPr marL="228600" indent="-228600">
              <a:lnSpc>
                <a:spcPct val="105000"/>
              </a:lnSpc>
              <a:spcAft>
                <a:spcPts val="800"/>
              </a:spcAft>
              <a:buSzPct val="100000"/>
              <a:buChar char="•"/>
            </a:pPr>
            <a:r>
              <a:rPr lang="en-US" sz="1700" b="1" dirty="0">
                <a:solidFill>
                  <a:srgbClr val="1B2433"/>
                </a:solidFill>
                <a:latin typeface="Calibri" pitchFamily="34" charset="0"/>
                <a:ea typeface="Calibri" pitchFamily="34" charset="-122"/>
                <a:cs typeface="Calibri" pitchFamily="34" charset="-120"/>
              </a:rPr>
              <a:t>50% = a coin flip.</a:t>
            </a:r>
            <a:r>
              <a:rPr lang="en-US" sz="1700" dirty="0">
                <a:solidFill>
                  <a:srgbClr val="1B2433"/>
                </a:solidFill>
                <a:latin typeface="Calibri" pitchFamily="34" charset="0"/>
                <a:ea typeface="Calibri" pitchFamily="34" charset="-122"/>
                <a:cs typeface="Calibri" pitchFamily="34" charset="-120"/>
              </a:rPr>
              <a:t> A good metric should be far above 50%.</a:t>
            </a:r>
            <a:endParaRPr lang="en-US" sz="1700" dirty="0"/>
          </a:p>
          <a:p>
            <a:pPr marL="228600" indent="-228600">
              <a:lnSpc>
                <a:spcPct val="105000"/>
              </a:lnSpc>
              <a:spcAft>
                <a:spcPts val="800"/>
              </a:spcAft>
              <a:buSzPct val="100000"/>
              <a:buChar char="•"/>
            </a:pPr>
            <a:r>
              <a:rPr lang="en-US" sz="1700" b="1" dirty="0">
                <a:solidFill>
                  <a:srgbClr val="1B2433"/>
                </a:solidFill>
                <a:latin typeface="Calibri" pitchFamily="34" charset="0"/>
                <a:ea typeface="Calibri" pitchFamily="34" charset="-122"/>
                <a:cs typeface="Calibri" pitchFamily="34" charset="-120"/>
              </a:rPr>
              <a:t>Below 50%</a:t>
            </a:r>
            <a:r>
              <a:rPr lang="en-US" sz="1700" dirty="0">
                <a:solidFill>
                  <a:srgbClr val="1B2433"/>
                </a:solidFill>
                <a:latin typeface="Calibri" pitchFamily="34" charset="0"/>
                <a:ea typeface="Calibri" pitchFamily="34" charset="-122"/>
                <a:cs typeface="Calibri" pitchFamily="34" charset="-120"/>
              </a:rPr>
              <a:t> means the metric prefers the </a:t>
            </a:r>
            <a:r>
              <a:rPr lang="en-US" sz="1700" b="1" dirty="0">
                <a:solidFill>
                  <a:srgbClr val="1B2433"/>
                </a:solidFill>
                <a:latin typeface="Calibri" pitchFamily="34" charset="0"/>
                <a:ea typeface="Calibri" pitchFamily="34" charset="-122"/>
                <a:cs typeface="Calibri" pitchFamily="34" charset="-120"/>
              </a:rPr>
              <a:t>wrong</a:t>
            </a:r>
            <a:r>
              <a:rPr lang="en-US" sz="1700" dirty="0">
                <a:solidFill>
                  <a:srgbClr val="1B2433"/>
                </a:solidFill>
                <a:latin typeface="Calibri" pitchFamily="34" charset="0"/>
                <a:ea typeface="Calibri" pitchFamily="34" charset="-122"/>
                <a:cs typeface="Calibri" pitchFamily="34" charset="-120"/>
              </a:rPr>
              <a:t> version more often than the right one.</a:t>
            </a:r>
            <a:endParaRPr lang="en-US" sz="1700" dirty="0"/>
          </a:p>
          <a:p>
            <a:pPr marL="228600" indent="-228600">
              <a:lnSpc>
                <a:spcPct val="105000"/>
              </a:lnSpc>
              <a:spcAft>
                <a:spcPts val="800"/>
              </a:spcAft>
              <a:buSzPct val="100000"/>
              <a:buChar char="•"/>
            </a:pPr>
            <a:r>
              <a:rPr lang="en-US" sz="1700" dirty="0">
                <a:solidFill>
                  <a:srgbClr val="1B2433"/>
                </a:solidFill>
                <a:latin typeface="Calibri" pitchFamily="34" charset="0"/>
                <a:ea typeface="Calibri" pitchFamily="34" charset="-122"/>
                <a:cs typeface="Calibri" pitchFamily="34" charset="-120"/>
              </a:rPr>
              <a:t>The grid shows </a:t>
            </a:r>
            <a:r>
              <a:rPr lang="en-US" sz="1700" b="1" dirty="0">
                <a:solidFill>
                  <a:srgbClr val="1B2433"/>
                </a:solidFill>
                <a:latin typeface="Calibri" pitchFamily="34" charset="0"/>
                <a:ea typeface="Calibri" pitchFamily="34" charset="-122"/>
                <a:cs typeface="Calibri" pitchFamily="34" charset="-120"/>
              </a:rPr>
              <a:t>42 of 100</a:t>
            </a:r>
            <a:r>
              <a:rPr lang="en-US" sz="1700" dirty="0">
                <a:solidFill>
                  <a:srgbClr val="1B2433"/>
                </a:solidFill>
                <a:latin typeface="Calibri" pitchFamily="34" charset="0"/>
                <a:ea typeface="Calibri" pitchFamily="34" charset="-122"/>
                <a:cs typeface="Calibri" pitchFamily="34" charset="-120"/>
              </a:rPr>
              <a:t>: close to what CometKiwi-22 does on real errors (42.3%).</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5</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Measurement 2: size, "would a human notice this gap?"</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51</a:t>
            </a:r>
            <a:endParaRPr lang="en-US" sz="900" dirty="0"/>
          </a:p>
        </p:txBody>
      </p:sp>
      <p:sp>
        <p:nvSpPr>
          <p:cNvPr id="9" name="Shape 6"/>
          <p:cNvSpPr/>
          <p:nvPr/>
        </p:nvSpPr>
        <p:spPr>
          <a:xfrm>
            <a:off x="822960" y="3108960"/>
            <a:ext cx="10241280" cy="0"/>
          </a:xfrm>
          <a:prstGeom prst="line">
            <a:avLst/>
          </a:prstGeom>
          <a:noFill/>
          <a:ln w="25400">
            <a:solidFill>
              <a:srgbClr val="1B2433"/>
            </a:solidFill>
            <a:prstDash val="solid"/>
          </a:ln>
        </p:spPr>
      </p:sp>
      <p:sp>
        <p:nvSpPr>
          <p:cNvPr id="10" name="Shape 7"/>
          <p:cNvSpPr/>
          <p:nvPr/>
        </p:nvSpPr>
        <p:spPr>
          <a:xfrm>
            <a:off x="704088" y="2990088"/>
            <a:ext cx="237744" cy="237744"/>
          </a:xfrm>
          <a:prstGeom prst="ellipse">
            <a:avLst/>
          </a:prstGeom>
          <a:solidFill>
            <a:srgbClr val="5B6577"/>
          </a:solidFill>
          <a:ln w="12700">
            <a:solidFill>
              <a:srgbClr val="5B6577"/>
            </a:solidFill>
            <a:prstDash val="solid"/>
          </a:ln>
        </p:spPr>
      </p:sp>
      <p:sp>
        <p:nvSpPr>
          <p:cNvPr id="11" name="Text 8"/>
          <p:cNvSpPr/>
          <p:nvPr/>
        </p:nvSpPr>
        <p:spPr>
          <a:xfrm>
            <a:off x="594360" y="2423160"/>
            <a:ext cx="457200" cy="457200"/>
          </a:xfrm>
          <a:prstGeom prst="rect">
            <a:avLst/>
          </a:prstGeom>
          <a:noFill/>
          <a:ln/>
        </p:spPr>
        <p:txBody>
          <a:bodyPr wrap="square" lIns="0" tIns="0" rIns="0" bIns="0" rtlCol="0" anchor="t"/>
          <a:lstStyle/>
          <a:p>
            <a:pPr algn="ctr" indent="0" marL="0">
              <a:lnSpc>
                <a:spcPct val="100000"/>
              </a:lnSpc>
              <a:buNone/>
            </a:pPr>
            <a:r>
              <a:rPr lang="en-US" sz="1500" b="1" dirty="0">
                <a:solidFill>
                  <a:srgbClr val="5B6577"/>
                </a:solidFill>
                <a:latin typeface="Calibri" pitchFamily="34" charset="0"/>
                <a:ea typeface="Calibri" pitchFamily="34" charset="-122"/>
                <a:cs typeface="Calibri" pitchFamily="34" charset="-120"/>
              </a:rPr>
              <a:t>0</a:t>
            </a:r>
            <a:endParaRPr lang="en-US" sz="1500" dirty="0"/>
          </a:p>
        </p:txBody>
      </p:sp>
      <p:sp>
        <p:nvSpPr>
          <p:cNvPr id="12" name="Shape 9"/>
          <p:cNvSpPr/>
          <p:nvPr/>
        </p:nvSpPr>
        <p:spPr>
          <a:xfrm>
            <a:off x="1728216" y="2990088"/>
            <a:ext cx="237744" cy="237744"/>
          </a:xfrm>
          <a:prstGeom prst="ellipse">
            <a:avLst/>
          </a:prstGeom>
          <a:solidFill>
            <a:srgbClr val="E39B2D"/>
          </a:solidFill>
          <a:ln w="12700">
            <a:solidFill>
              <a:srgbClr val="E39B2D"/>
            </a:solidFill>
            <a:prstDash val="solid"/>
          </a:ln>
        </p:spPr>
      </p:sp>
      <p:sp>
        <p:nvSpPr>
          <p:cNvPr id="13" name="Text 10"/>
          <p:cNvSpPr/>
          <p:nvPr/>
        </p:nvSpPr>
        <p:spPr>
          <a:xfrm>
            <a:off x="1069848" y="2423160"/>
            <a:ext cx="1554480" cy="457200"/>
          </a:xfrm>
          <a:prstGeom prst="rect">
            <a:avLst/>
          </a:prstGeom>
          <a:noFill/>
          <a:ln/>
        </p:spPr>
        <p:txBody>
          <a:bodyPr wrap="square" lIns="0" tIns="0" rIns="0" bIns="0" rtlCol="0" anchor="t"/>
          <a:lstStyle/>
          <a:p>
            <a:pPr algn="ctr" indent="0" marL="0">
              <a:lnSpc>
                <a:spcPct val="100000"/>
              </a:lnSpc>
              <a:buNone/>
            </a:pPr>
            <a:r>
              <a:rPr lang="en-US" sz="1500" b="1" dirty="0">
                <a:solidFill>
                  <a:srgbClr val="E39B2D"/>
                </a:solidFill>
                <a:latin typeface="Calibri" pitchFamily="34" charset="0"/>
                <a:ea typeface="Calibri" pitchFamily="34" charset="-122"/>
                <a:cs typeface="Calibri" pitchFamily="34" charset="-120"/>
              </a:rPr>
              <a:t>1×  noticeable</a:t>
            </a:r>
            <a:endParaRPr lang="en-US" sz="1500" dirty="0"/>
          </a:p>
        </p:txBody>
      </p:sp>
      <p:sp>
        <p:nvSpPr>
          <p:cNvPr id="14" name="Shape 11"/>
          <p:cNvSpPr/>
          <p:nvPr/>
        </p:nvSpPr>
        <p:spPr>
          <a:xfrm>
            <a:off x="9429659" y="2990088"/>
            <a:ext cx="237744" cy="237744"/>
          </a:xfrm>
          <a:prstGeom prst="ellipse">
            <a:avLst/>
          </a:prstGeom>
          <a:solidFill>
            <a:srgbClr val="2F6FB3"/>
          </a:solidFill>
          <a:ln w="12700">
            <a:solidFill>
              <a:srgbClr val="2F6FB3"/>
            </a:solidFill>
            <a:prstDash val="solid"/>
          </a:ln>
        </p:spPr>
      </p:sp>
      <p:sp>
        <p:nvSpPr>
          <p:cNvPr id="15" name="Text 12"/>
          <p:cNvSpPr/>
          <p:nvPr/>
        </p:nvSpPr>
        <p:spPr>
          <a:xfrm>
            <a:off x="8679851" y="2423160"/>
            <a:ext cx="1737360" cy="457200"/>
          </a:xfrm>
          <a:prstGeom prst="rect">
            <a:avLst/>
          </a:prstGeom>
          <a:noFill/>
          <a:ln/>
        </p:spPr>
        <p:txBody>
          <a:bodyPr wrap="square" lIns="0" tIns="0" rIns="0" bIns="0" rtlCol="0" anchor="t"/>
          <a:lstStyle/>
          <a:p>
            <a:pPr algn="ctr" indent="0" marL="0">
              <a:lnSpc>
                <a:spcPct val="100000"/>
              </a:lnSpc>
              <a:buNone/>
            </a:pPr>
            <a:r>
              <a:rPr lang="en-US" sz="1500" b="1" dirty="0">
                <a:solidFill>
                  <a:srgbClr val="2F6FB3"/>
                </a:solidFill>
                <a:latin typeface="Calibri" pitchFamily="34" charset="0"/>
                <a:ea typeface="Calibri" pitchFamily="34" charset="-122"/>
                <a:cs typeface="Calibri" pitchFamily="34" charset="-120"/>
              </a:rPr>
              <a:t>8.52×  COMET-22</a:t>
            </a:r>
            <a:endParaRPr lang="en-US" sz="1500" dirty="0"/>
          </a:p>
        </p:txBody>
      </p:sp>
      <p:sp>
        <p:nvSpPr>
          <p:cNvPr id="16" name="Text 13"/>
          <p:cNvSpPr/>
          <p:nvPr/>
        </p:nvSpPr>
        <p:spPr>
          <a:xfrm>
            <a:off x="822960" y="3383280"/>
            <a:ext cx="10241280" cy="365760"/>
          </a:xfrm>
          <a:prstGeom prst="rect">
            <a:avLst/>
          </a:prstGeom>
          <a:noFill/>
          <a:ln/>
        </p:spPr>
        <p:txBody>
          <a:bodyPr wrap="square" lIns="0" tIns="0" rIns="0" bIns="0" rtlCol="0" anchor="t"/>
          <a:lstStyle/>
          <a:p>
            <a:pPr algn="ctr" indent="0" marL="0">
              <a:lnSpc>
                <a:spcPct val="100000"/>
              </a:lnSpc>
              <a:buNone/>
            </a:pPr>
            <a:r>
              <a:rPr lang="en-US" sz="1300" dirty="0">
                <a:solidFill>
                  <a:srgbClr val="5B6577"/>
                </a:solidFill>
                <a:latin typeface="Calibri" pitchFamily="34" charset="0"/>
                <a:ea typeface="Calibri" pitchFamily="34" charset="-122"/>
                <a:cs typeface="Calibri" pitchFamily="34" charset="-120"/>
              </a:rPr>
              <a:t>size of the score drop, in units of the human-noticeable threshold</a:t>
            </a:r>
            <a:endParaRPr lang="en-US" sz="1300" dirty="0"/>
          </a:p>
        </p:txBody>
      </p:sp>
      <p:sp>
        <p:nvSpPr>
          <p:cNvPr id="17" name="Text 14"/>
          <p:cNvSpPr/>
          <p:nvPr/>
        </p:nvSpPr>
        <p:spPr>
          <a:xfrm>
            <a:off x="548640" y="3931920"/>
            <a:ext cx="11064240" cy="2194560"/>
          </a:xfrm>
          <a:prstGeom prst="rect">
            <a:avLst/>
          </a:prstGeom>
          <a:noFill/>
          <a:ln/>
        </p:spPr>
        <p:txBody>
          <a:bodyPr wrap="square" lIns="0" tIns="0" rIns="0" bIns="0" rtlCol="0" anchor="t"/>
          <a:lstStyle/>
          <a:p>
            <a:pPr marL="228600" indent="-228600">
              <a:lnSpc>
                <a:spcPct val="105000"/>
              </a:lnSpc>
              <a:spcAft>
                <a:spcPts val="800"/>
              </a:spcAft>
              <a:buSzPct val="100000"/>
              <a:buChar char="•"/>
            </a:pPr>
            <a:r>
              <a:rPr lang="en-US" sz="1600" b="1" dirty="0">
                <a:solidFill>
                  <a:srgbClr val="1B2433"/>
                </a:solidFill>
                <a:latin typeface="Calibri" pitchFamily="34" charset="0"/>
                <a:ea typeface="Calibri" pitchFamily="34" charset="-122"/>
                <a:cs typeface="Calibri" pitchFamily="34" charset="-120"/>
              </a:rPr>
              <a:t>The threshold</a:t>
            </a:r>
            <a:r>
              <a:rPr lang="en-US" sz="1600" dirty="0">
                <a:solidFill>
                  <a:srgbClr val="1B2433"/>
                </a:solidFill>
                <a:latin typeface="Calibri" pitchFamily="34" charset="0"/>
                <a:ea typeface="Calibri" pitchFamily="34" charset="-122"/>
                <a:cs typeface="Calibri" pitchFamily="34" charset="-120"/>
              </a:rPr>
              <a:t> (Kocmi et al., 2024): the score difference at which human judges agree with the metric </a:t>
            </a:r>
            <a:r>
              <a:rPr lang="en-US" sz="1600" b="1" dirty="0">
                <a:solidFill>
                  <a:srgbClr val="1B2433"/>
                </a:solidFill>
                <a:latin typeface="Calibri" pitchFamily="34" charset="0"/>
                <a:ea typeface="Calibri" pitchFamily="34" charset="-122"/>
                <a:cs typeface="Calibri" pitchFamily="34" charset="-120"/>
              </a:rPr>
              <a:t>3 times out of 4</a:t>
            </a:r>
            <a:r>
              <a:rPr lang="en-US" sz="1600" dirty="0">
                <a:solidFill>
                  <a:srgbClr val="1B2433"/>
                </a:solidFill>
                <a:latin typeface="Calibri" pitchFamily="34" charset="0"/>
                <a:ea typeface="Calibri" pitchFamily="34" charset="-122"/>
                <a:cs typeface="Calibri" pitchFamily="34" charset="-120"/>
              </a:rPr>
              <a:t>. We call it the </a:t>
            </a:r>
            <a:r>
              <a:rPr lang="en-US" sz="1600" b="1" dirty="0">
                <a:solidFill>
                  <a:srgbClr val="1B2433"/>
                </a:solidFill>
                <a:latin typeface="Calibri" pitchFamily="34" charset="0"/>
                <a:ea typeface="Calibri" pitchFamily="34" charset="-122"/>
                <a:cs typeface="Calibri" pitchFamily="34" charset="-120"/>
              </a:rPr>
              <a:t>75%-agreement threshold</a:t>
            </a:r>
            <a:r>
              <a:rPr lang="en-US" sz="1600" dirty="0">
                <a:solidFill>
                  <a:srgbClr val="1B2433"/>
                </a:solidFill>
                <a:latin typeface="Calibri" pitchFamily="34" charset="0"/>
                <a:ea typeface="Calibri" pitchFamily="34" charset="-122"/>
                <a:cs typeface="Calibri" pitchFamily="34" charset="-120"/>
              </a:rPr>
              <a:t>.</a:t>
            </a:r>
            <a:endParaRPr lang="en-US" sz="1600" dirty="0"/>
          </a:p>
          <a:p>
            <a:pPr marL="228600" indent="-228600">
              <a:lnSpc>
                <a:spcPct val="105000"/>
              </a:lnSpc>
              <a:spcAft>
                <a:spcPts val="800"/>
              </a:spcAft>
              <a:buSzPct val="100000"/>
              <a:buChar char="•"/>
            </a:pPr>
            <a:r>
              <a:rPr lang="en-US" sz="1600" dirty="0">
                <a:solidFill>
                  <a:srgbClr val="1B2433"/>
                </a:solidFill>
                <a:latin typeface="Calibri" pitchFamily="34" charset="0"/>
                <a:ea typeface="Calibri" pitchFamily="34" charset="-122"/>
                <a:cs typeface="Calibri" pitchFamily="34" charset="-120"/>
              </a:rPr>
              <a:t>We report each penalty as a </a:t>
            </a:r>
            <a:r>
              <a:rPr lang="en-US" sz="1600" b="1" dirty="0">
                <a:solidFill>
                  <a:srgbClr val="1B2433"/>
                </a:solidFill>
                <a:latin typeface="Calibri" pitchFamily="34" charset="0"/>
                <a:ea typeface="Calibri" pitchFamily="34" charset="-122"/>
                <a:cs typeface="Calibri" pitchFamily="34" charset="-120"/>
              </a:rPr>
              <a:t>multiple</a:t>
            </a:r>
            <a:r>
              <a:rPr lang="en-US" sz="1600" dirty="0">
                <a:solidFill>
                  <a:srgbClr val="1B2433"/>
                </a:solidFill>
                <a:latin typeface="Calibri" pitchFamily="34" charset="0"/>
                <a:ea typeface="Calibri" pitchFamily="34" charset="-122"/>
                <a:cs typeface="Calibri" pitchFamily="34" charset="-120"/>
              </a:rPr>
              <a:t> of it: </a:t>
            </a:r>
            <a:r>
              <a:rPr lang="en-US" sz="1600" b="1" dirty="0">
                <a:solidFill>
                  <a:srgbClr val="1B2433"/>
                </a:solidFill>
                <a:latin typeface="Calibri" pitchFamily="34" charset="0"/>
                <a:ea typeface="Calibri" pitchFamily="34" charset="-122"/>
                <a:cs typeface="Calibri" pitchFamily="34" charset="-120"/>
              </a:rPr>
              <a:t>1×</a:t>
            </a:r>
            <a:r>
              <a:rPr lang="en-US" sz="1600" dirty="0">
                <a:solidFill>
                  <a:srgbClr val="1B2433"/>
                </a:solidFill>
                <a:latin typeface="Calibri" pitchFamily="34" charset="0"/>
                <a:ea typeface="Calibri" pitchFamily="34" charset="-122"/>
                <a:cs typeface="Calibri" pitchFamily="34" charset="-120"/>
              </a:rPr>
              <a:t> = just noticeable; </a:t>
            </a:r>
            <a:r>
              <a:rPr lang="en-US" sz="1600" b="1" dirty="0">
                <a:solidFill>
                  <a:srgbClr val="1B2433"/>
                </a:solidFill>
                <a:latin typeface="Calibri" pitchFamily="34" charset="0"/>
                <a:ea typeface="Calibri" pitchFamily="34" charset="-122"/>
                <a:cs typeface="Calibri" pitchFamily="34" charset="-120"/>
              </a:rPr>
              <a:t>8×</a:t>
            </a:r>
            <a:r>
              <a:rPr lang="en-US" sz="1600" dirty="0">
                <a:solidFill>
                  <a:srgbClr val="1B2433"/>
                </a:solidFill>
                <a:latin typeface="Calibri" pitchFamily="34" charset="0"/>
                <a:ea typeface="Calibri" pitchFamily="34" charset="-122"/>
                <a:cs typeface="Calibri" pitchFamily="34" charset="-120"/>
              </a:rPr>
              <a:t> = very large.</a:t>
            </a:r>
            <a:endParaRPr lang="en-US" sz="1600" dirty="0"/>
          </a:p>
          <a:p>
            <a:pPr marL="228600" indent="-228600">
              <a:lnSpc>
                <a:spcPct val="105000"/>
              </a:lnSpc>
              <a:spcAft>
                <a:spcPts val="800"/>
              </a:spcAft>
              <a:buSzPct val="100000"/>
              <a:buChar char="•"/>
            </a:pPr>
            <a:r>
              <a:rPr lang="en-US" sz="1600" dirty="0">
                <a:solidFill>
                  <a:srgbClr val="1B2433"/>
                </a:solidFill>
                <a:latin typeface="Calibri" pitchFamily="34" charset="0"/>
                <a:ea typeface="Calibri" pitchFamily="34" charset="-122"/>
                <a:cs typeface="Calibri" pitchFamily="34" charset="-120"/>
              </a:rPr>
              <a:t>Each metric has </a:t>
            </a:r>
            <a:r>
              <a:rPr lang="en-US" sz="1600" b="1" dirty="0">
                <a:solidFill>
                  <a:srgbClr val="1B2433"/>
                </a:solidFill>
                <a:latin typeface="Calibri" pitchFamily="34" charset="0"/>
                <a:ea typeface="Calibri" pitchFamily="34" charset="-122"/>
                <a:cs typeface="Calibri" pitchFamily="34" charset="-120"/>
              </a:rPr>
              <a:t>its own</a:t>
            </a:r>
            <a:r>
              <a:rPr lang="en-US" sz="1600" dirty="0">
                <a:solidFill>
                  <a:srgbClr val="1B2433"/>
                </a:solidFill>
                <a:latin typeface="Calibri" pitchFamily="34" charset="0"/>
                <a:ea typeface="Calibri" pitchFamily="34" charset="-122"/>
                <a:cs typeface="Calibri" pitchFamily="34" charset="-120"/>
              </a:rPr>
              <a:t> threshold. </a:t>
            </a:r>
            <a:r>
              <a:rPr lang="en-US" sz="1600" b="1" dirty="0">
                <a:solidFill>
                  <a:srgbClr val="1B2433"/>
                </a:solidFill>
                <a:latin typeface="Calibri" pitchFamily="34" charset="0"/>
                <a:ea typeface="Calibri" pitchFamily="34" charset="-122"/>
                <a:cs typeface="Calibri" pitchFamily="34" charset="-120"/>
              </a:rPr>
              <a:t>3 metrics</a:t>
            </a:r>
            <a:r>
              <a:rPr lang="en-US" sz="1600" dirty="0">
                <a:solidFill>
                  <a:srgbClr val="1B2433"/>
                </a:solidFill>
                <a:latin typeface="Calibri" pitchFamily="34" charset="0"/>
                <a:ea typeface="Calibri" pitchFamily="34" charset="-122"/>
                <a:cs typeface="Calibri" pitchFamily="34" charset="-120"/>
              </a:rPr>
              <a:t> have none published, so we show </a:t>
            </a:r>
            <a:r>
              <a:rPr lang="en-US" sz="1600" b="1" dirty="0">
                <a:solidFill>
                  <a:srgbClr val="1B2433"/>
                </a:solidFill>
                <a:latin typeface="Calibri" pitchFamily="34" charset="0"/>
                <a:ea typeface="Calibri" pitchFamily="34" charset="-122"/>
                <a:cs typeface="Calibri" pitchFamily="34" charset="-120"/>
              </a:rPr>
              <a:t>n/a</a:t>
            </a:r>
            <a:r>
              <a:rPr lang="en-US" sz="1600" dirty="0">
                <a:solidFill>
                  <a:srgbClr val="1B2433"/>
                </a:solidFill>
                <a:latin typeface="Calibri" pitchFamily="34" charset="0"/>
                <a:ea typeface="Calibri" pitchFamily="34" charset="-122"/>
                <a:cs typeface="Calibri" pitchFamily="34" charset="-120"/>
              </a:rPr>
              <a:t> rather than borrow another metric's.</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5</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Measurement 3: the avoidance penalty and its uncertainty</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52</a:t>
            </a:r>
            <a:endParaRPr lang="en-US" sz="900" dirty="0"/>
          </a:p>
        </p:txBody>
      </p:sp>
      <p:sp>
        <p:nvSpPr>
          <p:cNvPr id="9" name="Text 6"/>
          <p:cNvSpPr/>
          <p:nvPr/>
        </p:nvSpPr>
        <p:spPr>
          <a:xfrm>
            <a:off x="548640" y="1691640"/>
            <a:ext cx="5760720" cy="4206240"/>
          </a:xfrm>
          <a:prstGeom prst="rect">
            <a:avLst/>
          </a:prstGeom>
          <a:noFill/>
          <a:ln/>
        </p:spPr>
        <p:txBody>
          <a:bodyPr wrap="square" lIns="0" tIns="0" rIns="0" bIns="0" rtlCol="0" anchor="t"/>
          <a:lstStyle/>
          <a:p>
            <a:pPr marL="228600" indent="-228600">
              <a:lnSpc>
                <a:spcPct val="105000"/>
              </a:lnSpc>
              <a:spcAft>
                <a:spcPts val="800"/>
              </a:spcAft>
              <a:buSzPct val="100000"/>
              <a:buChar char="•"/>
            </a:pPr>
            <a:r>
              <a:rPr lang="en-US" sz="1600" b="1" dirty="0">
                <a:solidFill>
                  <a:srgbClr val="1B2433"/>
                </a:solidFill>
                <a:latin typeface="Calibri" pitchFamily="34" charset="0"/>
                <a:ea typeface="Calibri" pitchFamily="34" charset="-122"/>
                <a:cs typeface="Calibri" pitchFamily="34" charset="-120"/>
              </a:rPr>
              <a:t>Avoidance penalty</a:t>
            </a:r>
            <a:r>
              <a:rPr lang="en-US" sz="1600" dirty="0">
                <a:solidFill>
                  <a:srgbClr val="1B2433"/>
                </a:solidFill>
                <a:latin typeface="Calibri" pitchFamily="34" charset="0"/>
                <a:ea typeface="Calibri" pitchFamily="34" charset="-122"/>
                <a:cs typeface="Calibri" pitchFamily="34" charset="-120"/>
              </a:rPr>
              <a:t> = average score drop when the neutral form replaces the correctly gendered form (1,252 real outputs).</a:t>
            </a:r>
            <a:endParaRPr lang="en-US" sz="1600" dirty="0"/>
          </a:p>
          <a:p>
            <a:pPr marL="228600" indent="-228600">
              <a:lnSpc>
                <a:spcPct val="105000"/>
              </a:lnSpc>
              <a:spcAft>
                <a:spcPts val="800"/>
              </a:spcAft>
              <a:buSzPct val="100000"/>
              <a:buChar char="•"/>
            </a:pPr>
            <a:r>
              <a:rPr lang="en-US" sz="1600" b="1" dirty="0">
                <a:solidFill>
                  <a:srgbClr val="1B2433"/>
                </a:solidFill>
                <a:latin typeface="Calibri" pitchFamily="34" charset="0"/>
                <a:ea typeface="Calibri" pitchFamily="34" charset="-122"/>
                <a:cs typeface="Calibri" pitchFamily="34" charset="-120"/>
              </a:rPr>
              <a:t>95% confidence interval</a:t>
            </a:r>
            <a:r>
              <a:rPr lang="en-US" sz="1600" dirty="0">
                <a:solidFill>
                  <a:srgbClr val="1B2433"/>
                </a:solidFill>
                <a:latin typeface="Calibri" pitchFamily="34" charset="0"/>
                <a:ea typeface="Calibri" pitchFamily="34" charset="-122"/>
                <a:cs typeface="Calibri" pitchFamily="34" charset="-120"/>
              </a:rPr>
              <a:t>: the range where the true average plausibly lies. We find it by re-drawing our data at random many times and recomputing (a "bootstrap").</a:t>
            </a:r>
            <a:endParaRPr lang="en-US" sz="1600" dirty="0"/>
          </a:p>
          <a:p>
            <a:pPr marL="228600" indent="-228600">
              <a:lnSpc>
                <a:spcPct val="105000"/>
              </a:lnSpc>
              <a:spcAft>
                <a:spcPts val="800"/>
              </a:spcAft>
              <a:buSzPct val="100000"/>
              <a:buChar char="•"/>
            </a:pPr>
            <a:r>
              <a:rPr lang="en-US" sz="1600" b="1" dirty="0">
                <a:solidFill>
                  <a:srgbClr val="1B2433"/>
                </a:solidFill>
                <a:latin typeface="Calibri" pitchFamily="34" charset="0"/>
                <a:ea typeface="Calibri" pitchFamily="34" charset="-122"/>
                <a:cs typeface="Calibri" pitchFamily="34" charset="-120"/>
              </a:rPr>
              <a:t>Interval includes 0</a:t>
            </a:r>
            <a:r>
              <a:rPr lang="en-US" sz="1600" dirty="0">
                <a:solidFill>
                  <a:srgbClr val="1B2433"/>
                </a:solidFill>
                <a:latin typeface="Calibri" pitchFamily="34" charset="0"/>
                <a:ea typeface="Calibri" pitchFamily="34" charset="-122"/>
                <a:cs typeface="Calibri" pitchFamily="34" charset="-120"/>
              </a:rPr>
              <a:t> → no evidence the metric charges anything for avoiding.</a:t>
            </a:r>
            <a:endParaRPr lang="en-US" sz="1600" dirty="0"/>
          </a:p>
          <a:p>
            <a:pPr marL="228600" indent="-228600">
              <a:lnSpc>
                <a:spcPct val="105000"/>
              </a:lnSpc>
              <a:spcAft>
                <a:spcPts val="800"/>
              </a:spcAft>
              <a:buSzPct val="100000"/>
              <a:buChar char="•"/>
            </a:pPr>
            <a:r>
              <a:rPr lang="en-US" sz="1600" dirty="0">
                <a:solidFill>
                  <a:srgbClr val="1B2433"/>
                </a:solidFill>
                <a:latin typeface="Calibri" pitchFamily="34" charset="0"/>
                <a:ea typeface="Calibri" pitchFamily="34" charset="-122"/>
                <a:cs typeface="Calibri" pitchFamily="34" charset="-120"/>
              </a:rPr>
              <a:t>Shown as </a:t>
            </a:r>
            <a:r>
              <a:rPr lang="en-US" sz="1600" b="1" dirty="0">
                <a:solidFill>
                  <a:srgbClr val="1B2433"/>
                </a:solidFill>
                <a:latin typeface="Calibri" pitchFamily="34" charset="0"/>
                <a:ea typeface="Calibri" pitchFamily="34" charset="-122"/>
                <a:cs typeface="Calibri" pitchFamily="34" charset="-120"/>
              </a:rPr>
              <a:t>% of each metric's score range</a:t>
            </a:r>
            <a:r>
              <a:rPr lang="en-US" sz="1600" dirty="0">
                <a:solidFill>
                  <a:srgbClr val="1B2433"/>
                </a:solidFill>
                <a:latin typeface="Calibri" pitchFamily="34" charset="0"/>
                <a:ea typeface="Calibri" pitchFamily="34" charset="-122"/>
                <a:cs typeface="Calibri" pitchFamily="34" charset="-120"/>
              </a:rPr>
              <a:t>, so 0–1, 0–25 and 0–100 metrics can be compared.</a:t>
            </a:r>
            <a:endParaRPr lang="en-US" sz="1600" dirty="0"/>
          </a:p>
        </p:txBody>
      </p:sp>
      <p:sp>
        <p:nvSpPr>
          <p:cNvPr id="10" name="Shape 7"/>
          <p:cNvSpPr/>
          <p:nvPr/>
        </p:nvSpPr>
        <p:spPr>
          <a:xfrm>
            <a:off x="7626096" y="1828800"/>
            <a:ext cx="0" cy="3566160"/>
          </a:xfrm>
          <a:prstGeom prst="line">
            <a:avLst/>
          </a:prstGeom>
          <a:noFill/>
          <a:ln w="19050">
            <a:solidFill>
              <a:srgbClr val="1B2433"/>
            </a:solidFill>
            <a:prstDash val="dash"/>
          </a:ln>
        </p:spPr>
      </p:sp>
      <p:sp>
        <p:nvSpPr>
          <p:cNvPr id="11" name="Text 8"/>
          <p:cNvSpPr/>
          <p:nvPr/>
        </p:nvSpPr>
        <p:spPr>
          <a:xfrm>
            <a:off x="6711696" y="1645920"/>
            <a:ext cx="1828800" cy="256032"/>
          </a:xfrm>
          <a:prstGeom prst="rect">
            <a:avLst/>
          </a:prstGeom>
          <a:noFill/>
          <a:ln/>
        </p:spPr>
        <p:txBody>
          <a:bodyPr wrap="square" lIns="0" tIns="0" rIns="0" bIns="0" rtlCol="0" anchor="t"/>
          <a:lstStyle/>
          <a:p>
            <a:pPr algn="ctr" indent="0" marL="0">
              <a:lnSpc>
                <a:spcPct val="100000"/>
              </a:lnSpc>
              <a:buNone/>
            </a:pPr>
            <a:r>
              <a:rPr lang="en-US" sz="1200" b="1" dirty="0">
                <a:solidFill>
                  <a:srgbClr val="1B2433"/>
                </a:solidFill>
                <a:latin typeface="Calibri" pitchFamily="34" charset="0"/>
                <a:ea typeface="Calibri" pitchFamily="34" charset="-122"/>
                <a:cs typeface="Calibri" pitchFamily="34" charset="-120"/>
              </a:rPr>
              <a:t>zero penalty</a:t>
            </a:r>
            <a:endParaRPr lang="en-US" sz="1200" dirty="0"/>
          </a:p>
        </p:txBody>
      </p:sp>
      <p:sp>
        <p:nvSpPr>
          <p:cNvPr id="12" name="Shape 9"/>
          <p:cNvSpPr/>
          <p:nvPr/>
        </p:nvSpPr>
        <p:spPr>
          <a:xfrm>
            <a:off x="8957462" y="2514600"/>
            <a:ext cx="1901952" cy="0"/>
          </a:xfrm>
          <a:prstGeom prst="line">
            <a:avLst/>
          </a:prstGeom>
          <a:noFill/>
          <a:ln w="38100">
            <a:solidFill>
              <a:srgbClr val="2F6FB3"/>
            </a:solidFill>
            <a:prstDash val="solid"/>
          </a:ln>
        </p:spPr>
      </p:sp>
      <p:sp>
        <p:nvSpPr>
          <p:cNvPr id="13" name="Shape 10"/>
          <p:cNvSpPr/>
          <p:nvPr/>
        </p:nvSpPr>
        <p:spPr>
          <a:xfrm>
            <a:off x="9789566" y="2395728"/>
            <a:ext cx="237744" cy="237744"/>
          </a:xfrm>
          <a:prstGeom prst="ellipse">
            <a:avLst/>
          </a:prstGeom>
          <a:solidFill>
            <a:srgbClr val="2F6FB3"/>
          </a:solidFill>
          <a:ln w="12700">
            <a:solidFill>
              <a:srgbClr val="2F6FB3"/>
            </a:solidFill>
            <a:prstDash val="solid"/>
          </a:ln>
        </p:spPr>
      </p:sp>
      <p:sp>
        <p:nvSpPr>
          <p:cNvPr id="14" name="Text 11"/>
          <p:cNvSpPr/>
          <p:nvPr/>
        </p:nvSpPr>
        <p:spPr>
          <a:xfrm>
            <a:off x="7763256" y="2743200"/>
            <a:ext cx="3666744" cy="320040"/>
          </a:xfrm>
          <a:prstGeom prst="rect">
            <a:avLst/>
          </a:prstGeom>
          <a:noFill/>
          <a:ln/>
        </p:spPr>
        <p:txBody>
          <a:bodyPr wrap="square" lIns="0" tIns="0" rIns="0" bIns="0" rtlCol="0" anchor="t"/>
          <a:lstStyle/>
          <a:p>
            <a:pPr algn="l" indent="0" marL="0">
              <a:lnSpc>
                <a:spcPct val="100000"/>
              </a:lnSpc>
              <a:buNone/>
            </a:pPr>
            <a:r>
              <a:rPr lang="en-US" sz="1400" b="1" dirty="0">
                <a:solidFill>
                  <a:srgbClr val="2F6FB3"/>
                </a:solidFill>
                <a:latin typeface="Calibri" pitchFamily="34" charset="0"/>
                <a:ea typeface="Calibri" pitchFamily="34" charset="-122"/>
                <a:cs typeface="Calibri" pitchFamily="34" charset="-120"/>
              </a:rPr>
              <a:t>Metric A: interval excludes 0</a:t>
            </a:r>
            <a:endParaRPr lang="en-US" sz="1400" dirty="0"/>
          </a:p>
        </p:txBody>
      </p:sp>
      <p:sp>
        <p:nvSpPr>
          <p:cNvPr id="15" name="Text 12"/>
          <p:cNvSpPr/>
          <p:nvPr/>
        </p:nvSpPr>
        <p:spPr>
          <a:xfrm>
            <a:off x="7763256" y="3063240"/>
            <a:ext cx="3666744" cy="320040"/>
          </a:xfrm>
          <a:prstGeom prst="rect">
            <a:avLst/>
          </a:prstGeom>
          <a:noFill/>
          <a:ln/>
        </p:spPr>
        <p:txBody>
          <a:bodyPr wrap="square" lIns="0" tIns="0" rIns="0" bIns="0" rtlCol="0" anchor="t"/>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it charges for avoiding</a:t>
            </a:r>
            <a:endParaRPr lang="en-US" sz="1300" dirty="0"/>
          </a:p>
        </p:txBody>
      </p:sp>
      <p:sp>
        <p:nvSpPr>
          <p:cNvPr id="16" name="Shape 13"/>
          <p:cNvSpPr/>
          <p:nvPr/>
        </p:nvSpPr>
        <p:spPr>
          <a:xfrm>
            <a:off x="7055510" y="4114800"/>
            <a:ext cx="1236269" cy="0"/>
          </a:xfrm>
          <a:prstGeom prst="line">
            <a:avLst/>
          </a:prstGeom>
          <a:noFill/>
          <a:ln w="38100">
            <a:solidFill>
              <a:srgbClr val="8E44AD"/>
            </a:solidFill>
            <a:prstDash val="solid"/>
          </a:ln>
        </p:spPr>
      </p:sp>
      <p:sp>
        <p:nvSpPr>
          <p:cNvPr id="17" name="Shape 14"/>
          <p:cNvSpPr/>
          <p:nvPr/>
        </p:nvSpPr>
        <p:spPr>
          <a:xfrm>
            <a:off x="7602322" y="3995928"/>
            <a:ext cx="237744" cy="237744"/>
          </a:xfrm>
          <a:prstGeom prst="ellipse">
            <a:avLst/>
          </a:prstGeom>
          <a:solidFill>
            <a:srgbClr val="8E44AD"/>
          </a:solidFill>
          <a:ln w="12700">
            <a:solidFill>
              <a:srgbClr val="8E44AD"/>
            </a:solidFill>
            <a:prstDash val="solid"/>
          </a:ln>
        </p:spPr>
      </p:sp>
      <p:sp>
        <p:nvSpPr>
          <p:cNvPr id="18" name="Text 15"/>
          <p:cNvSpPr/>
          <p:nvPr/>
        </p:nvSpPr>
        <p:spPr>
          <a:xfrm>
            <a:off x="7763256" y="4343400"/>
            <a:ext cx="3666744" cy="320040"/>
          </a:xfrm>
          <a:prstGeom prst="rect">
            <a:avLst/>
          </a:prstGeom>
          <a:noFill/>
          <a:ln/>
        </p:spPr>
        <p:txBody>
          <a:bodyPr wrap="square" lIns="0" tIns="0" rIns="0" bIns="0" rtlCol="0" anchor="t"/>
          <a:lstStyle/>
          <a:p>
            <a:pPr algn="l" indent="0" marL="0">
              <a:lnSpc>
                <a:spcPct val="100000"/>
              </a:lnSpc>
              <a:buNone/>
            </a:pPr>
            <a:r>
              <a:rPr lang="en-US" sz="1400" b="1" dirty="0">
                <a:solidFill>
                  <a:srgbClr val="8E44AD"/>
                </a:solidFill>
                <a:latin typeface="Calibri" pitchFamily="34" charset="0"/>
                <a:ea typeface="Calibri" pitchFamily="34" charset="-122"/>
                <a:cs typeface="Calibri" pitchFamily="34" charset="-120"/>
              </a:rPr>
              <a:t>Metric B: interval includes 0</a:t>
            </a:r>
            <a:endParaRPr lang="en-US" sz="1400" dirty="0"/>
          </a:p>
        </p:txBody>
      </p:sp>
      <p:sp>
        <p:nvSpPr>
          <p:cNvPr id="19" name="Text 16"/>
          <p:cNvSpPr/>
          <p:nvPr/>
        </p:nvSpPr>
        <p:spPr>
          <a:xfrm>
            <a:off x="7763256" y="4663440"/>
            <a:ext cx="3666744" cy="320040"/>
          </a:xfrm>
          <a:prstGeom prst="rect">
            <a:avLst/>
          </a:prstGeom>
          <a:noFill/>
          <a:ln/>
        </p:spPr>
        <p:txBody>
          <a:bodyPr wrap="square" lIns="0" tIns="0" rIns="0" bIns="0" rtlCol="0" anchor="t"/>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no evidence it charges anything</a:t>
            </a:r>
            <a:endParaRPr lang="en-US" sz="1300" dirty="0"/>
          </a:p>
        </p:txBody>
      </p:sp>
      <p:sp>
        <p:nvSpPr>
          <p:cNvPr id="20" name="Text 17"/>
          <p:cNvSpPr/>
          <p:nvPr/>
        </p:nvSpPr>
        <p:spPr>
          <a:xfrm>
            <a:off x="6675120" y="5440680"/>
            <a:ext cx="4754880" cy="274320"/>
          </a:xfrm>
          <a:prstGeom prst="rect">
            <a:avLst/>
          </a:prstGeom>
          <a:noFill/>
          <a:ln/>
        </p:spPr>
        <p:txBody>
          <a:bodyPr wrap="square" lIns="0" tIns="0" rIns="0" bIns="0" rtlCol="0" anchor="t"/>
          <a:lstStyle/>
          <a:p>
            <a:pPr algn="r" indent="0" marL="0">
              <a:lnSpc>
                <a:spcPct val="100000"/>
              </a:lnSpc>
              <a:buNone/>
            </a:pPr>
            <a:r>
              <a:rPr lang="en-US" sz="1100" i="1" dirty="0">
                <a:solidFill>
                  <a:srgbClr val="98A1B2"/>
                </a:solidFill>
                <a:latin typeface="Calibri" pitchFamily="34" charset="0"/>
                <a:ea typeface="Calibri" pitchFamily="34" charset="-122"/>
                <a:cs typeface="Calibri" pitchFamily="34" charset="-120"/>
              </a:rPr>
              <a:t>(illustration)</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5</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A practical problem: our test set has no full reference sentences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53</a:t>
            </a:r>
            <a:endParaRPr lang="en-US" sz="900" dirty="0"/>
          </a:p>
        </p:txBody>
      </p:sp>
      <p:sp>
        <p:nvSpPr>
          <p:cNvPr id="9" name="Shape 6"/>
          <p:cNvSpPr/>
          <p:nvPr/>
        </p:nvSpPr>
        <p:spPr>
          <a:xfrm>
            <a:off x="548640" y="1737360"/>
            <a:ext cx="3566160" cy="1783080"/>
          </a:xfrm>
          <a:prstGeom prst="roundRect">
            <a:avLst>
              <a:gd name="adj" fmla="val 4103"/>
            </a:avLst>
          </a:prstGeom>
          <a:solidFill>
            <a:srgbClr val="F2F4F8"/>
          </a:solidFill>
          <a:ln w="12700">
            <a:solidFill>
              <a:srgbClr val="F2F4F8"/>
            </a:solidFill>
            <a:prstDash val="solid"/>
          </a:ln>
        </p:spPr>
      </p:sp>
      <p:sp>
        <p:nvSpPr>
          <p:cNvPr id="10" name="Text 7"/>
          <p:cNvSpPr/>
          <p:nvPr/>
        </p:nvSpPr>
        <p:spPr>
          <a:xfrm>
            <a:off x="749808" y="188366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The problem</a:t>
            </a:r>
            <a:endParaRPr lang="en-US" sz="1700" dirty="0"/>
          </a:p>
        </p:txBody>
      </p:sp>
      <p:sp>
        <p:nvSpPr>
          <p:cNvPr id="11" name="Text 8"/>
          <p:cNvSpPr/>
          <p:nvPr/>
        </p:nvSpPr>
        <p:spPr>
          <a:xfrm>
            <a:off x="749808" y="2295144"/>
            <a:ext cx="3163824" cy="107899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Gold answers are only the </a:t>
            </a:r>
            <a:r>
              <a:rPr lang="en-US" sz="1500" b="1" dirty="0">
                <a:solidFill>
                  <a:srgbClr val="1B2433"/>
                </a:solidFill>
                <a:latin typeface="Calibri" pitchFamily="34" charset="0"/>
                <a:ea typeface="Calibri" pitchFamily="34" charset="-122"/>
                <a:cs typeface="Calibri" pitchFamily="34" charset="-120"/>
              </a:rPr>
              <a:t>key words</a:t>
            </a:r>
            <a:r>
              <a:rPr lang="en-US" sz="1500" dirty="0">
                <a:solidFill>
                  <a:srgbClr val="1B2433"/>
                </a:solidFill>
                <a:latin typeface="Calibri" pitchFamily="34" charset="0"/>
                <a:ea typeface="Calibri" pitchFamily="34" charset="-122"/>
                <a:cs typeface="Calibri" pitchFamily="34" charset="-120"/>
              </a:rPr>
              <a:t> (median </a:t>
            </a:r>
            <a:r>
              <a:rPr lang="en-US" sz="1500" b="1" dirty="0">
                <a:solidFill>
                  <a:srgbClr val="1B2433"/>
                </a:solidFill>
                <a:latin typeface="Calibri" pitchFamily="34" charset="0"/>
                <a:ea typeface="Calibri" pitchFamily="34" charset="-122"/>
                <a:cs typeface="Calibri" pitchFamily="34" charset="-120"/>
              </a:rPr>
              <a:t>2 words</a:t>
            </a:r>
            <a:r>
              <a:rPr lang="en-US" sz="1500" dirty="0">
                <a:solidFill>
                  <a:srgbClr val="1B2433"/>
                </a:solidFill>
                <a:latin typeface="Calibri" pitchFamily="34" charset="0"/>
                <a:ea typeface="Calibri" pitchFamily="34" charset="-122"/>
                <a:cs typeface="Calibri" pitchFamily="34" charset="-120"/>
              </a:rPr>
              <a:t>); the English sources are </a:t>
            </a:r>
            <a:r>
              <a:rPr lang="en-US" sz="1500" b="1" dirty="0">
                <a:solidFill>
                  <a:srgbClr val="1B2433"/>
                </a:solidFill>
                <a:latin typeface="Calibri" pitchFamily="34" charset="0"/>
                <a:ea typeface="Calibri" pitchFamily="34" charset="-122"/>
                <a:cs typeface="Calibri" pitchFamily="34" charset="-120"/>
              </a:rPr>
              <a:t>5–9 words</a:t>
            </a:r>
            <a:r>
              <a:rPr lang="en-US" sz="1500" dirty="0">
                <a:solidFill>
                  <a:srgbClr val="1B2433"/>
                </a:solidFill>
                <a:latin typeface="Calibri" pitchFamily="34" charset="0"/>
                <a:ea typeface="Calibri" pitchFamily="34" charset="-122"/>
                <a:cs typeface="Calibri" pitchFamily="34" charset="-120"/>
              </a:rPr>
              <a:t>. No full human reference.</a:t>
            </a:r>
            <a:endParaRPr lang="en-US" sz="1500" dirty="0"/>
          </a:p>
        </p:txBody>
      </p:sp>
      <p:sp>
        <p:nvSpPr>
          <p:cNvPr id="12" name="Shape 9"/>
          <p:cNvSpPr/>
          <p:nvPr/>
        </p:nvSpPr>
        <p:spPr>
          <a:xfrm>
            <a:off x="4297680" y="1737360"/>
            <a:ext cx="3566160" cy="1783080"/>
          </a:xfrm>
          <a:prstGeom prst="roundRect">
            <a:avLst>
              <a:gd name="adj" fmla="val 4103"/>
            </a:avLst>
          </a:prstGeom>
          <a:solidFill>
            <a:srgbClr val="F2F4F8"/>
          </a:solidFill>
          <a:ln w="12700">
            <a:solidFill>
              <a:srgbClr val="F2F4F8"/>
            </a:solidFill>
            <a:prstDash val="solid"/>
          </a:ln>
        </p:spPr>
      </p:sp>
      <p:sp>
        <p:nvSpPr>
          <p:cNvPr id="13" name="Text 10"/>
          <p:cNvSpPr/>
          <p:nvPr/>
        </p:nvSpPr>
        <p:spPr>
          <a:xfrm>
            <a:off x="4498848" y="188366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Standard fix</a:t>
            </a:r>
            <a:endParaRPr lang="en-US" sz="1700" dirty="0"/>
          </a:p>
        </p:txBody>
      </p:sp>
      <p:sp>
        <p:nvSpPr>
          <p:cNvPr id="14" name="Text 11"/>
          <p:cNvSpPr/>
          <p:nvPr/>
        </p:nvSpPr>
        <p:spPr>
          <a:xfrm>
            <a:off x="4498848" y="2295144"/>
            <a:ext cx="3163824" cy="107899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As in </a:t>
            </a:r>
            <a:r>
              <a:rPr lang="en-US" sz="1500" b="1" dirty="0">
                <a:solidFill>
                  <a:srgbClr val="1B2433"/>
                </a:solidFill>
                <a:latin typeface="Calibri" pitchFamily="34" charset="0"/>
                <a:ea typeface="Calibri" pitchFamily="34" charset="-122"/>
                <a:cs typeface="Calibri" pitchFamily="34" charset="-120"/>
              </a:rPr>
              <a:t>DEMETR</a:t>
            </a:r>
            <a:r>
              <a:rPr lang="en-US" sz="1500" dirty="0">
                <a:solidFill>
                  <a:srgbClr val="1B2433"/>
                </a:solidFill>
                <a:latin typeface="Calibri" pitchFamily="34" charset="0"/>
                <a:ea typeface="Calibri" pitchFamily="34" charset="-122"/>
                <a:cs typeface="Calibri" pitchFamily="34" charset="-120"/>
              </a:rPr>
              <a:t> and </a:t>
            </a:r>
            <a:r>
              <a:rPr lang="en-US" sz="1500" b="1" dirty="0">
                <a:solidFill>
                  <a:srgbClr val="1B2433"/>
                </a:solidFill>
                <a:latin typeface="Calibri" pitchFamily="34" charset="0"/>
                <a:ea typeface="Calibri" pitchFamily="34" charset="-122"/>
                <a:cs typeface="Calibri" pitchFamily="34" charset="-120"/>
              </a:rPr>
              <a:t>ACES</a:t>
            </a:r>
            <a:r>
              <a:rPr lang="en-US" sz="1500" dirty="0">
                <a:solidFill>
                  <a:srgbClr val="1B2433"/>
                </a:solidFill>
                <a:latin typeface="Calibri" pitchFamily="34" charset="0"/>
                <a:ea typeface="Calibri" pitchFamily="34" charset="-122"/>
                <a:cs typeface="Calibri" pitchFamily="34" charset="-120"/>
              </a:rPr>
              <a:t>: use the correct variant of each pair as the reference.</a:t>
            </a:r>
            <a:endParaRPr lang="en-US" sz="1500" dirty="0"/>
          </a:p>
        </p:txBody>
      </p:sp>
      <p:sp>
        <p:nvSpPr>
          <p:cNvPr id="15" name="Shape 12"/>
          <p:cNvSpPr/>
          <p:nvPr/>
        </p:nvSpPr>
        <p:spPr>
          <a:xfrm>
            <a:off x="8046720" y="1737360"/>
            <a:ext cx="3566160" cy="1783080"/>
          </a:xfrm>
          <a:prstGeom prst="roundRect">
            <a:avLst>
              <a:gd name="adj" fmla="val 4103"/>
            </a:avLst>
          </a:prstGeom>
          <a:solidFill>
            <a:srgbClr val="F2F4F8"/>
          </a:solidFill>
          <a:ln w="12700">
            <a:solidFill>
              <a:srgbClr val="F2F4F8"/>
            </a:solidFill>
            <a:prstDash val="solid"/>
          </a:ln>
        </p:spPr>
      </p:sp>
      <p:sp>
        <p:nvSpPr>
          <p:cNvPr id="16" name="Text 13"/>
          <p:cNvSpPr/>
          <p:nvPr/>
        </p:nvSpPr>
        <p:spPr>
          <a:xfrm>
            <a:off x="8247888" y="188366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Checking the fix</a:t>
            </a:r>
            <a:endParaRPr lang="en-US" sz="1700" dirty="0"/>
          </a:p>
        </p:txBody>
      </p:sp>
      <p:sp>
        <p:nvSpPr>
          <p:cNvPr id="17" name="Text 14"/>
          <p:cNvSpPr/>
          <p:nvPr/>
        </p:nvSpPr>
        <p:spPr>
          <a:xfrm>
            <a:off x="8247888" y="2295144"/>
            <a:ext cx="3163824" cy="107899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Re-score with </a:t>
            </a:r>
            <a:r>
              <a:rPr lang="en-US" sz="1500" b="1" dirty="0">
                <a:solidFill>
                  <a:srgbClr val="1B2433"/>
                </a:solidFill>
                <a:latin typeface="Calibri" pitchFamily="34" charset="0"/>
                <a:ea typeface="Calibri" pitchFamily="34" charset="-122"/>
                <a:cs typeface="Calibri" pitchFamily="34" charset="-120"/>
              </a:rPr>
              <a:t>another system's independent translation</a:t>
            </a:r>
            <a:r>
              <a:rPr lang="en-US" sz="1500" dirty="0">
                <a:solidFill>
                  <a:srgbClr val="1B2433"/>
                </a:solidFill>
                <a:latin typeface="Calibri" pitchFamily="34" charset="0"/>
                <a:ea typeface="Calibri" pitchFamily="34" charset="-122"/>
                <a:cs typeface="Calibri" pitchFamily="34" charset="-120"/>
              </a:rPr>
              <a:t> as the reference.</a:t>
            </a:r>
            <a:endParaRPr lang="en-US" sz="1500" dirty="0"/>
          </a:p>
        </p:txBody>
      </p:sp>
      <p:sp>
        <p:nvSpPr>
          <p:cNvPr id="18" name="Text 15"/>
          <p:cNvSpPr/>
          <p:nvPr/>
        </p:nvSpPr>
        <p:spPr>
          <a:xfrm>
            <a:off x="548640" y="3931920"/>
            <a:ext cx="3291840" cy="502920"/>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COMET-22, correct variant as reference</a:t>
            </a:r>
            <a:endParaRPr lang="en-US" sz="1300" dirty="0"/>
          </a:p>
        </p:txBody>
      </p:sp>
      <p:sp>
        <p:nvSpPr>
          <p:cNvPr id="19" name="Shape 16"/>
          <p:cNvSpPr/>
          <p:nvPr/>
        </p:nvSpPr>
        <p:spPr>
          <a:xfrm>
            <a:off x="3931920" y="4027475"/>
            <a:ext cx="3017520" cy="311810"/>
          </a:xfrm>
          <a:prstGeom prst="rect">
            <a:avLst/>
          </a:prstGeom>
          <a:solidFill>
            <a:srgbClr val="2F6FB3"/>
          </a:solidFill>
          <a:ln w="12700">
            <a:solidFill>
              <a:srgbClr val="2F6FB3"/>
            </a:solidFill>
            <a:prstDash val="solid"/>
          </a:ln>
        </p:spPr>
      </p:sp>
      <p:sp>
        <p:nvSpPr>
          <p:cNvPr id="20" name="Text 17"/>
          <p:cNvSpPr/>
          <p:nvPr/>
        </p:nvSpPr>
        <p:spPr>
          <a:xfrm>
            <a:off x="7013448" y="4027932"/>
            <a:ext cx="652741" cy="310896"/>
          </a:xfrm>
          <a:prstGeom prst="rect">
            <a:avLst/>
          </a:prstGeom>
          <a:solidFill>
            <a:srgbClr val="FFFFFF"/>
          </a:solidFill>
          <a:ln/>
        </p:spPr>
        <p:txBody>
          <a:bodyPr wrap="square" lIns="0" tIns="25400" rIns="25400" bIns="0" rtlCol="0" anchor="ctr"/>
          <a:lstStyle/>
          <a:p>
            <a:pPr algn="l" indent="0" marL="0">
              <a:buNone/>
            </a:pPr>
            <a:r>
              <a:rPr lang="en-US" sz="1400" b="1" dirty="0">
                <a:solidFill>
                  <a:srgbClr val="1B2433"/>
                </a:solidFill>
                <a:latin typeface="Calibri" pitchFamily="34" charset="0"/>
                <a:ea typeface="Calibri" pitchFamily="34" charset="-122"/>
                <a:cs typeface="Calibri" pitchFamily="34" charset="-120"/>
              </a:rPr>
              <a:t>100.0%</a:t>
            </a:r>
            <a:endParaRPr lang="en-US" sz="1400" dirty="0"/>
          </a:p>
        </p:txBody>
      </p:sp>
      <p:sp>
        <p:nvSpPr>
          <p:cNvPr id="21" name="Text 18"/>
          <p:cNvSpPr/>
          <p:nvPr/>
        </p:nvSpPr>
        <p:spPr>
          <a:xfrm>
            <a:off x="548640" y="4434840"/>
            <a:ext cx="3291840" cy="502920"/>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COMET-22, independent reference</a:t>
            </a:r>
            <a:endParaRPr lang="en-US" sz="1300" dirty="0"/>
          </a:p>
        </p:txBody>
      </p:sp>
      <p:sp>
        <p:nvSpPr>
          <p:cNvPr id="22" name="Shape 19"/>
          <p:cNvSpPr/>
          <p:nvPr/>
        </p:nvSpPr>
        <p:spPr>
          <a:xfrm>
            <a:off x="3931920" y="4530395"/>
            <a:ext cx="2779136" cy="311810"/>
          </a:xfrm>
          <a:prstGeom prst="rect">
            <a:avLst/>
          </a:prstGeom>
          <a:solidFill>
            <a:srgbClr val="2F6FB3"/>
          </a:solidFill>
          <a:ln w="12700">
            <a:solidFill>
              <a:srgbClr val="2F6FB3"/>
            </a:solidFill>
            <a:prstDash val="solid"/>
          </a:ln>
        </p:spPr>
      </p:sp>
      <p:sp>
        <p:nvSpPr>
          <p:cNvPr id="23" name="Text 20"/>
          <p:cNvSpPr/>
          <p:nvPr/>
        </p:nvSpPr>
        <p:spPr>
          <a:xfrm>
            <a:off x="6775064" y="4530852"/>
            <a:ext cx="559191" cy="310896"/>
          </a:xfrm>
          <a:prstGeom prst="rect">
            <a:avLst/>
          </a:prstGeom>
          <a:solidFill>
            <a:srgbClr val="FFFFFF"/>
          </a:solidFill>
          <a:ln/>
        </p:spPr>
        <p:txBody>
          <a:bodyPr wrap="square" lIns="0" tIns="25400" rIns="25400" bIns="0" rtlCol="0" anchor="ctr"/>
          <a:lstStyle/>
          <a:p>
            <a:pPr algn="l" indent="0" marL="0">
              <a:buNone/>
            </a:pPr>
            <a:r>
              <a:rPr lang="en-US" sz="1400" b="1" dirty="0">
                <a:solidFill>
                  <a:srgbClr val="1B2433"/>
                </a:solidFill>
                <a:latin typeface="Calibri" pitchFamily="34" charset="0"/>
                <a:ea typeface="Calibri" pitchFamily="34" charset="-122"/>
                <a:cs typeface="Calibri" pitchFamily="34" charset="-120"/>
              </a:rPr>
              <a:t>92.1%</a:t>
            </a:r>
            <a:endParaRPr lang="en-US" sz="1400" dirty="0"/>
          </a:p>
        </p:txBody>
      </p:sp>
      <p:sp>
        <p:nvSpPr>
          <p:cNvPr id="24" name="Text 21"/>
          <p:cNvSpPr/>
          <p:nvPr/>
        </p:nvSpPr>
        <p:spPr>
          <a:xfrm>
            <a:off x="8138160" y="3886200"/>
            <a:ext cx="3474720" cy="1097280"/>
          </a:xfrm>
          <a:prstGeom prst="rect">
            <a:avLst/>
          </a:prstGeom>
          <a:noFill/>
          <a:ln/>
        </p:spPr>
        <p:txBody>
          <a:bodyPr wrap="square" lIns="0" tIns="0" rIns="0" bIns="0" rtlCol="0" anchor="t"/>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Share of pairs ranked correctly. COMET-22 stays high with an independent reference (this check was run for COMET-22's ranking).</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5</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We wrote our prediction down before seeing the results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54</a:t>
            </a:r>
            <a:endParaRPr lang="en-US" sz="900" dirty="0"/>
          </a:p>
        </p:txBody>
      </p:sp>
      <p:sp>
        <p:nvSpPr>
          <p:cNvPr id="9" name="Shape 6"/>
          <p:cNvSpPr/>
          <p:nvPr/>
        </p:nvSpPr>
        <p:spPr>
          <a:xfrm>
            <a:off x="548640" y="1737360"/>
            <a:ext cx="11064240" cy="1463040"/>
          </a:xfrm>
          <a:prstGeom prst="roundRect">
            <a:avLst>
              <a:gd name="adj" fmla="val 6250"/>
            </a:avLst>
          </a:prstGeom>
          <a:solidFill>
            <a:srgbClr val="F2F4F8"/>
          </a:solidFill>
          <a:ln w="25400">
            <a:solidFill>
              <a:srgbClr val="1F3057"/>
            </a:solidFill>
            <a:prstDash val="solid"/>
          </a:ln>
        </p:spPr>
      </p:sp>
      <p:sp>
        <p:nvSpPr>
          <p:cNvPr id="10" name="Text 7"/>
          <p:cNvSpPr/>
          <p:nvPr/>
        </p:nvSpPr>
        <p:spPr>
          <a:xfrm>
            <a:off x="822960" y="1828800"/>
            <a:ext cx="10515600" cy="365760"/>
          </a:xfrm>
          <a:prstGeom prst="rect">
            <a:avLst/>
          </a:prstGeom>
          <a:noFill/>
          <a:ln/>
        </p:spPr>
        <p:txBody>
          <a:bodyPr wrap="square" lIns="0" tIns="0" rIns="0" bIns="0" rtlCol="0" anchor="t"/>
          <a:lstStyle/>
          <a:p>
            <a:pPr algn="l" indent="0" marL="0">
              <a:lnSpc>
                <a:spcPct val="100000"/>
              </a:lnSpc>
              <a:buNone/>
            </a:pPr>
            <a:r>
              <a:rPr lang="en-US" sz="1400" b="1" dirty="0">
                <a:solidFill>
                  <a:srgbClr val="5B6577"/>
                </a:solidFill>
                <a:latin typeface="Calibri" pitchFamily="34" charset="0"/>
                <a:ea typeface="Calibri" pitchFamily="34" charset="-122"/>
                <a:cs typeface="Calibri" pitchFamily="34" charset="-120"/>
              </a:rPr>
              <a:t>Our prediction, frozen in advance</a:t>
            </a:r>
            <a:endParaRPr lang="en-US" sz="1400" dirty="0"/>
          </a:p>
        </p:txBody>
      </p:sp>
      <p:sp>
        <p:nvSpPr>
          <p:cNvPr id="11" name="Text 8"/>
          <p:cNvSpPr/>
          <p:nvPr/>
        </p:nvSpPr>
        <p:spPr>
          <a:xfrm>
            <a:off x="822960" y="2194560"/>
            <a:ext cx="10515600" cy="914400"/>
          </a:xfrm>
          <a:prstGeom prst="rect">
            <a:avLst/>
          </a:prstGeom>
          <a:noFill/>
          <a:ln/>
        </p:spPr>
        <p:txBody>
          <a:bodyPr wrap="square" lIns="0" tIns="0" rIns="0" bIns="0" rtlCol="0" anchor="t"/>
          <a:lstStyle/>
          <a:p>
            <a:pPr algn="l" indent="0" marL="0">
              <a:lnSpc>
                <a:spcPct val="100000"/>
              </a:lnSpc>
              <a:buNone/>
            </a:pPr>
            <a:r>
              <a:rPr lang="en-US" sz="2200" i="1" dirty="0">
                <a:solidFill>
                  <a:srgbClr val="1B2433"/>
                </a:solidFill>
                <a:latin typeface="Georgia" pitchFamily="34" charset="0"/>
                <a:ea typeface="Georgia" pitchFamily="34" charset="-122"/>
                <a:cs typeface="Georgia" pitchFamily="34" charset="-120"/>
              </a:rPr>
              <a:t>"Neural metrics will </a:t>
            </a:r>
            <a:r>
              <a:rPr lang="en-US" sz="2200" b="1" i="1" dirty="0">
                <a:solidFill>
                  <a:srgbClr val="1B2433"/>
                </a:solidFill>
                <a:latin typeface="Georgia" pitchFamily="34" charset="0"/>
                <a:ea typeface="Georgia" pitchFamily="34" charset="-122"/>
                <a:cs typeface="Georgia" pitchFamily="34" charset="-120"/>
              </a:rPr>
              <a:t>not</a:t>
            </a:r>
            <a:r>
              <a:rPr lang="en-US" sz="2200" i="1" dirty="0">
                <a:solidFill>
                  <a:srgbClr val="1B2433"/>
                </a:solidFill>
                <a:latin typeface="Georgia" pitchFamily="34" charset="0"/>
                <a:ea typeface="Georgia" pitchFamily="34" charset="-122"/>
                <a:cs typeface="Georgia" pitchFamily="34" charset="-120"/>
              </a:rPr>
              <a:t> charge a human-noticeable penalty for a </a:t>
            </a:r>
            <a:r>
              <a:rPr lang="en-US" sz="2200" b="1" i="1" dirty="0">
                <a:solidFill>
                  <a:srgbClr val="1B2433"/>
                </a:solidFill>
                <a:latin typeface="Georgia" pitchFamily="34" charset="0"/>
                <a:ea typeface="Georgia" pitchFamily="34" charset="-122"/>
                <a:cs typeface="Georgia" pitchFamily="34" charset="-120"/>
              </a:rPr>
              <a:t>single</a:t>
            </a:r>
            <a:r>
              <a:rPr lang="en-US" sz="2200" i="1" dirty="0">
                <a:solidFill>
                  <a:srgbClr val="1B2433"/>
                </a:solidFill>
                <a:latin typeface="Georgia" pitchFamily="34" charset="0"/>
                <a:ea typeface="Georgia" pitchFamily="34" charset="-122"/>
                <a:cs typeface="Georgia" pitchFamily="34" charset="-120"/>
              </a:rPr>
              <a:t> obligatory morpheme."</a:t>
            </a:r>
            <a:endParaRPr lang="en-US" sz="2200" dirty="0"/>
          </a:p>
        </p:txBody>
      </p:sp>
      <p:sp>
        <p:nvSpPr>
          <p:cNvPr id="12" name="Text 9"/>
          <p:cNvSpPr/>
          <p:nvPr/>
        </p:nvSpPr>
        <p:spPr>
          <a:xfrm>
            <a:off x="548640" y="3291840"/>
            <a:ext cx="11064240" cy="548640"/>
          </a:xfrm>
          <a:prstGeom prst="rect">
            <a:avLst/>
          </a:prstGeom>
          <a:noFill/>
          <a:ln/>
        </p:spPr>
        <p:txBody>
          <a:bodyPr wrap="square" lIns="0" tIns="0" rIns="0" bIns="0" rtlCol="0" anchor="t"/>
          <a:lstStyle/>
          <a:p>
            <a:pPr algn="l" indent="0" marL="0">
              <a:lnSpc>
                <a:spcPct val="100000"/>
              </a:lnSpc>
              <a:buNone/>
            </a:pPr>
            <a:r>
              <a:rPr lang="en-US" sz="1500" i="1" dirty="0">
                <a:solidFill>
                  <a:srgbClr val="5B6577"/>
                </a:solidFill>
                <a:latin typeface="Calibri" pitchFamily="34" charset="0"/>
                <a:ea typeface="Calibri" pitchFamily="34" charset="-122"/>
                <a:cs typeface="Calibri" pitchFamily="34" charset="-120"/>
              </a:rPr>
              <a:t>In plain words: "AI-based metrics will not lower the score enough for a person to notice when just one verb ending is wrong."</a:t>
            </a:r>
            <a:endParaRPr lang="en-US" sz="1500" dirty="0"/>
          </a:p>
        </p:txBody>
      </p:sp>
      <p:sp>
        <p:nvSpPr>
          <p:cNvPr id="13" name="Shape 10"/>
          <p:cNvSpPr/>
          <p:nvPr/>
        </p:nvSpPr>
        <p:spPr>
          <a:xfrm>
            <a:off x="548640" y="3931920"/>
            <a:ext cx="3566160" cy="1828800"/>
          </a:xfrm>
          <a:prstGeom prst="roundRect">
            <a:avLst>
              <a:gd name="adj" fmla="val 4000"/>
            </a:avLst>
          </a:prstGeom>
          <a:solidFill>
            <a:srgbClr val="F2F4F8"/>
          </a:solidFill>
          <a:ln w="12700">
            <a:solidFill>
              <a:srgbClr val="F2F4F8"/>
            </a:solidFill>
            <a:prstDash val="solid"/>
          </a:ln>
        </p:spPr>
      </p:sp>
      <p:sp>
        <p:nvSpPr>
          <p:cNvPr id="14" name="Text 11"/>
          <p:cNvSpPr/>
          <p:nvPr/>
        </p:nvSpPr>
        <p:spPr>
          <a:xfrm>
            <a:off x="749808" y="407822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Pre-registration</a:t>
            </a:r>
            <a:endParaRPr lang="en-US" sz="1700" dirty="0"/>
          </a:p>
        </p:txBody>
      </p:sp>
      <p:sp>
        <p:nvSpPr>
          <p:cNvPr id="15" name="Text 12"/>
          <p:cNvSpPr/>
          <p:nvPr/>
        </p:nvSpPr>
        <p:spPr>
          <a:xfrm>
            <a:off x="749808" y="4489704"/>
            <a:ext cx="3163824" cy="112471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Write the prediction down and </a:t>
            </a:r>
            <a:r>
              <a:rPr lang="en-US" sz="1500" b="1" dirty="0">
                <a:solidFill>
                  <a:srgbClr val="1B2433"/>
                </a:solidFill>
                <a:latin typeface="Calibri" pitchFamily="34" charset="0"/>
                <a:ea typeface="Calibri" pitchFamily="34" charset="-122"/>
                <a:cs typeface="Calibri" pitchFamily="34" charset="-120"/>
              </a:rPr>
              <a:t>freeze it before</a:t>
            </a:r>
            <a:r>
              <a:rPr lang="en-US" sz="1500" dirty="0">
                <a:solidFill>
                  <a:srgbClr val="1B2433"/>
                </a:solidFill>
                <a:latin typeface="Calibri" pitchFamily="34" charset="0"/>
                <a:ea typeface="Calibri" pitchFamily="34" charset="-122"/>
                <a:cs typeface="Calibri" pitchFamily="34" charset="-120"/>
              </a:rPr>
              <a:t> looking at the results.</a:t>
            </a:r>
            <a:endParaRPr lang="en-US" sz="1500" dirty="0"/>
          </a:p>
        </p:txBody>
      </p:sp>
      <p:sp>
        <p:nvSpPr>
          <p:cNvPr id="16" name="Shape 13"/>
          <p:cNvSpPr/>
          <p:nvPr/>
        </p:nvSpPr>
        <p:spPr>
          <a:xfrm>
            <a:off x="4297680" y="3931920"/>
            <a:ext cx="3566160" cy="1828800"/>
          </a:xfrm>
          <a:prstGeom prst="roundRect">
            <a:avLst>
              <a:gd name="adj" fmla="val 4000"/>
            </a:avLst>
          </a:prstGeom>
          <a:solidFill>
            <a:srgbClr val="F2F4F8"/>
          </a:solidFill>
          <a:ln w="12700">
            <a:solidFill>
              <a:srgbClr val="F2F4F8"/>
            </a:solidFill>
            <a:prstDash val="solid"/>
          </a:ln>
        </p:spPr>
      </p:sp>
      <p:sp>
        <p:nvSpPr>
          <p:cNvPr id="17" name="Text 14"/>
          <p:cNvSpPr/>
          <p:nvPr/>
        </p:nvSpPr>
        <p:spPr>
          <a:xfrm>
            <a:off x="4498848" y="407822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Why it matters</a:t>
            </a:r>
            <a:endParaRPr lang="en-US" sz="1700" dirty="0"/>
          </a:p>
        </p:txBody>
      </p:sp>
      <p:sp>
        <p:nvSpPr>
          <p:cNvPr id="18" name="Text 15"/>
          <p:cNvSpPr/>
          <p:nvPr/>
        </p:nvSpPr>
        <p:spPr>
          <a:xfrm>
            <a:off x="4498848" y="4489704"/>
            <a:ext cx="3163824" cy="112471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You cannot quietly change the hypothesis afterwards ("</a:t>
            </a:r>
            <a:r>
              <a:rPr lang="en-US" sz="1500" b="1" dirty="0">
                <a:solidFill>
                  <a:srgbClr val="1B2433"/>
                </a:solidFill>
                <a:latin typeface="Calibri" pitchFamily="34" charset="0"/>
                <a:ea typeface="Calibri" pitchFamily="34" charset="-122"/>
                <a:cs typeface="Calibri" pitchFamily="34" charset="-120"/>
              </a:rPr>
              <a:t>moving the goalposts</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
        <p:nvSpPr>
          <p:cNvPr id="19" name="Shape 16"/>
          <p:cNvSpPr/>
          <p:nvPr/>
        </p:nvSpPr>
        <p:spPr>
          <a:xfrm>
            <a:off x="8046720" y="3931920"/>
            <a:ext cx="3566160" cy="1828800"/>
          </a:xfrm>
          <a:prstGeom prst="roundRect">
            <a:avLst>
              <a:gd name="adj" fmla="val 4000"/>
            </a:avLst>
          </a:prstGeom>
          <a:solidFill>
            <a:srgbClr val="F2F4F8"/>
          </a:solidFill>
          <a:ln w="12700">
            <a:solidFill>
              <a:srgbClr val="F2F4F8"/>
            </a:solidFill>
            <a:prstDash val="solid"/>
          </a:ln>
        </p:spPr>
      </p:sp>
      <p:sp>
        <p:nvSpPr>
          <p:cNvPr id="20" name="Text 17"/>
          <p:cNvSpPr/>
          <p:nvPr/>
        </p:nvSpPr>
        <p:spPr>
          <a:xfrm>
            <a:off x="8247888" y="407822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Morpheme</a:t>
            </a:r>
            <a:endParaRPr lang="en-US" sz="1700" dirty="0"/>
          </a:p>
        </p:txBody>
      </p:sp>
      <p:sp>
        <p:nvSpPr>
          <p:cNvPr id="21" name="Text 18"/>
          <p:cNvSpPr/>
          <p:nvPr/>
        </p:nvSpPr>
        <p:spPr>
          <a:xfrm>
            <a:off x="8247888" y="4489704"/>
            <a:ext cx="3163824" cy="112471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The smallest meaningful piece of a word. Here: the </a:t>
            </a:r>
            <a:r>
              <a:rPr lang="en-US" sz="1500" b="1" dirty="0">
                <a:solidFill>
                  <a:srgbClr val="1B2433"/>
                </a:solidFill>
                <a:latin typeface="Calibri" pitchFamily="34" charset="0"/>
                <a:ea typeface="Calibri" pitchFamily="34" charset="-122"/>
                <a:cs typeface="Calibri" pitchFamily="34" charset="-120"/>
              </a:rPr>
              <a:t>verb ending</a:t>
            </a:r>
            <a:r>
              <a:rPr lang="en-US" sz="1500" dirty="0">
                <a:solidFill>
                  <a:srgbClr val="1B2433"/>
                </a:solidFill>
                <a:latin typeface="Calibri" pitchFamily="34" charset="0"/>
                <a:ea typeface="Calibri" pitchFamily="34" charset="-122"/>
                <a:cs typeface="Calibri" pitchFamily="34" charset="-120"/>
              </a:rPr>
              <a:t>, e.g. -aṉa.</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5</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THE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Statistical care, in plain words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55</a:t>
            </a:r>
            <a:endParaRPr lang="en-US" sz="900" dirty="0"/>
          </a:p>
        </p:txBody>
      </p:sp>
      <p:sp>
        <p:nvSpPr>
          <p:cNvPr id="9" name="Shape 6"/>
          <p:cNvSpPr/>
          <p:nvPr/>
        </p:nvSpPr>
        <p:spPr>
          <a:xfrm>
            <a:off x="548640" y="1737360"/>
            <a:ext cx="3566160" cy="1965960"/>
          </a:xfrm>
          <a:prstGeom prst="roundRect">
            <a:avLst>
              <a:gd name="adj" fmla="val 3721"/>
            </a:avLst>
          </a:prstGeom>
          <a:solidFill>
            <a:srgbClr val="F2F4F8"/>
          </a:solidFill>
          <a:ln w="12700">
            <a:solidFill>
              <a:srgbClr val="F2F4F8"/>
            </a:solidFill>
            <a:prstDash val="solid"/>
          </a:ln>
        </p:spPr>
      </p:sp>
      <p:sp>
        <p:nvSpPr>
          <p:cNvPr id="10" name="Text 7"/>
          <p:cNvSpPr/>
          <p:nvPr/>
        </p:nvSpPr>
        <p:spPr>
          <a:xfrm>
            <a:off x="749808" y="188366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Many tests</a:t>
            </a:r>
            <a:endParaRPr lang="en-US" sz="1700" dirty="0"/>
          </a:p>
        </p:txBody>
      </p:sp>
      <p:sp>
        <p:nvSpPr>
          <p:cNvPr id="11" name="Text 8"/>
          <p:cNvSpPr/>
          <p:nvPr/>
        </p:nvSpPr>
        <p:spPr>
          <a:xfrm>
            <a:off x="749808" y="2295144"/>
            <a:ext cx="3163824" cy="126187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Running many tests makes lucky findings more likely. So we use a </a:t>
            </a:r>
            <a:r>
              <a:rPr lang="en-US" sz="1500" b="1" dirty="0">
                <a:solidFill>
                  <a:srgbClr val="1B2433"/>
                </a:solidFill>
                <a:latin typeface="Calibri" pitchFamily="34" charset="0"/>
                <a:ea typeface="Calibri" pitchFamily="34" charset="-122"/>
                <a:cs typeface="Calibri" pitchFamily="34" charset="-120"/>
              </a:rPr>
              <a:t>stricter pass mark</a:t>
            </a:r>
            <a:r>
              <a:rPr lang="en-US" sz="1500" dirty="0">
                <a:solidFill>
                  <a:srgbClr val="1B2433"/>
                </a:solidFill>
                <a:latin typeface="Calibri" pitchFamily="34" charset="0"/>
                <a:ea typeface="Calibri" pitchFamily="34" charset="-122"/>
                <a:cs typeface="Calibri" pitchFamily="34" charset="-120"/>
              </a:rPr>
              <a:t> (Holm–Bonferroni) inside each of </a:t>
            </a:r>
            <a:r>
              <a:rPr lang="en-US" sz="1500" b="1" dirty="0">
                <a:solidFill>
                  <a:srgbClr val="1B2433"/>
                </a:solidFill>
                <a:latin typeface="Calibri" pitchFamily="34" charset="0"/>
                <a:ea typeface="Calibri" pitchFamily="34" charset="-122"/>
                <a:cs typeface="Calibri" pitchFamily="34" charset="-120"/>
              </a:rPr>
              <a:t>257</a:t>
            </a:r>
            <a:r>
              <a:rPr lang="en-US" sz="1500" dirty="0">
                <a:solidFill>
                  <a:srgbClr val="1B2433"/>
                </a:solidFill>
                <a:latin typeface="Calibri" pitchFamily="34" charset="0"/>
                <a:ea typeface="Calibri" pitchFamily="34" charset="-122"/>
                <a:cs typeface="Calibri" pitchFamily="34" charset="-120"/>
              </a:rPr>
              <a:t> groups of related tests.</a:t>
            </a:r>
            <a:endParaRPr lang="en-US" sz="1500" dirty="0"/>
          </a:p>
        </p:txBody>
      </p:sp>
      <p:sp>
        <p:nvSpPr>
          <p:cNvPr id="12" name="Shape 9"/>
          <p:cNvSpPr/>
          <p:nvPr/>
        </p:nvSpPr>
        <p:spPr>
          <a:xfrm>
            <a:off x="4297680" y="1737360"/>
            <a:ext cx="3566160" cy="1965960"/>
          </a:xfrm>
          <a:prstGeom prst="roundRect">
            <a:avLst>
              <a:gd name="adj" fmla="val 3721"/>
            </a:avLst>
          </a:prstGeom>
          <a:solidFill>
            <a:srgbClr val="F2F4F8"/>
          </a:solidFill>
          <a:ln w="12700">
            <a:solidFill>
              <a:srgbClr val="F2F4F8"/>
            </a:solidFill>
            <a:prstDash val="solid"/>
          </a:ln>
        </p:spPr>
      </p:sp>
      <p:sp>
        <p:nvSpPr>
          <p:cNvPr id="13" name="Text 10"/>
          <p:cNvSpPr/>
          <p:nvPr/>
        </p:nvSpPr>
        <p:spPr>
          <a:xfrm>
            <a:off x="4498848" y="188366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Similar items</a:t>
            </a:r>
            <a:endParaRPr lang="en-US" sz="1700" dirty="0"/>
          </a:p>
        </p:txBody>
      </p:sp>
      <p:sp>
        <p:nvSpPr>
          <p:cNvPr id="14" name="Text 11"/>
          <p:cNvSpPr/>
          <p:nvPr/>
        </p:nvSpPr>
        <p:spPr>
          <a:xfrm>
            <a:off x="4498848" y="2295144"/>
            <a:ext cx="3163824" cy="126187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Items from the same template are alike, so uncertainty is estimated by resampling </a:t>
            </a:r>
            <a:r>
              <a:rPr lang="en-US" sz="1500" b="1" dirty="0">
                <a:solidFill>
                  <a:srgbClr val="1B2433"/>
                </a:solidFill>
                <a:latin typeface="Calibri" pitchFamily="34" charset="0"/>
                <a:ea typeface="Calibri" pitchFamily="34" charset="-122"/>
                <a:cs typeface="Calibri" pitchFamily="34" charset="-120"/>
              </a:rPr>
              <a:t>whole templates</a:t>
            </a:r>
            <a:r>
              <a:rPr lang="en-US" sz="1500" dirty="0">
                <a:solidFill>
                  <a:srgbClr val="1B2433"/>
                </a:solidFill>
                <a:latin typeface="Calibri" pitchFamily="34" charset="0"/>
                <a:ea typeface="Calibri" pitchFamily="34" charset="-122"/>
                <a:cs typeface="Calibri" pitchFamily="34" charset="-120"/>
              </a:rPr>
              <a:t> (cluster bootstrap).</a:t>
            </a:r>
            <a:endParaRPr lang="en-US" sz="1500" dirty="0"/>
          </a:p>
        </p:txBody>
      </p:sp>
      <p:sp>
        <p:nvSpPr>
          <p:cNvPr id="15" name="Shape 12"/>
          <p:cNvSpPr/>
          <p:nvPr/>
        </p:nvSpPr>
        <p:spPr>
          <a:xfrm>
            <a:off x="8046720" y="1737360"/>
            <a:ext cx="3566160" cy="1965960"/>
          </a:xfrm>
          <a:prstGeom prst="roundRect">
            <a:avLst>
              <a:gd name="adj" fmla="val 3721"/>
            </a:avLst>
          </a:prstGeom>
          <a:solidFill>
            <a:srgbClr val="FBEBD2"/>
          </a:solidFill>
          <a:ln w="12700">
            <a:solidFill>
              <a:srgbClr val="FBEBD2"/>
            </a:solidFill>
            <a:prstDash val="solid"/>
          </a:ln>
        </p:spPr>
      </p:sp>
      <p:sp>
        <p:nvSpPr>
          <p:cNvPr id="16" name="Text 13"/>
          <p:cNvSpPr/>
          <p:nvPr/>
        </p:nvSpPr>
        <p:spPr>
          <a:xfrm>
            <a:off x="8247888" y="188366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Removing an unfair bonus</a:t>
            </a:r>
            <a:endParaRPr lang="en-US" sz="1700" dirty="0"/>
          </a:p>
        </p:txBody>
      </p:sp>
      <p:sp>
        <p:nvSpPr>
          <p:cNvPr id="17" name="Text 14"/>
          <p:cNvSpPr/>
          <p:nvPr/>
        </p:nvSpPr>
        <p:spPr>
          <a:xfrm>
            <a:off x="8247888" y="2295144"/>
            <a:ext cx="3163824" cy="126187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Metrics prefer </a:t>
            </a:r>
            <a:r>
              <a:rPr lang="en-US" sz="1500" b="1" dirty="0">
                <a:solidFill>
                  <a:srgbClr val="1B2433"/>
                </a:solidFill>
                <a:latin typeface="Calibri" pitchFamily="34" charset="0"/>
                <a:ea typeface="Calibri" pitchFamily="34" charset="-122"/>
                <a:cs typeface="Calibri" pitchFamily="34" charset="-120"/>
              </a:rPr>
              <a:t>unedited</a:t>
            </a:r>
            <a:r>
              <a:rPr lang="en-US" sz="1500" dirty="0">
                <a:solidFill>
                  <a:srgbClr val="1B2433"/>
                </a:solidFill>
                <a:latin typeface="Calibri" pitchFamily="34" charset="0"/>
                <a:ea typeface="Calibri" pitchFamily="34" charset="-122"/>
                <a:cs typeface="Calibri" pitchFamily="34" charset="-120"/>
              </a:rPr>
              <a:t> text. We subtract that effect by comparing the controlled and natural arms on the same items (</a:t>
            </a:r>
            <a:r>
              <a:rPr lang="en-US" sz="1500" b="1" dirty="0">
                <a:solidFill>
                  <a:srgbClr val="1B2433"/>
                </a:solidFill>
                <a:latin typeface="Calibri" pitchFamily="34" charset="0"/>
                <a:ea typeface="Calibri" pitchFamily="34" charset="-122"/>
                <a:cs typeface="Calibri" pitchFamily="34" charset="-120"/>
              </a:rPr>
              <a:t>de-confounding</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
        <p:nvSpPr>
          <p:cNvPr id="18" name="Shape 15"/>
          <p:cNvSpPr/>
          <p:nvPr/>
        </p:nvSpPr>
        <p:spPr>
          <a:xfrm>
            <a:off x="548640" y="3977640"/>
            <a:ext cx="11064240" cy="548640"/>
          </a:xfrm>
          <a:prstGeom prst="roundRect">
            <a:avLst>
              <a:gd name="adj" fmla="val 13333"/>
            </a:avLst>
          </a:prstGeom>
          <a:solidFill>
            <a:srgbClr val="FBEBD2"/>
          </a:solidFill>
          <a:ln w="12700">
            <a:solidFill>
              <a:srgbClr val="E39B2D"/>
            </a:solidFill>
            <a:prstDash val="solid"/>
          </a:ln>
        </p:spPr>
      </p:sp>
      <p:sp>
        <p:nvSpPr>
          <p:cNvPr id="19" name="Text 16"/>
          <p:cNvSpPr/>
          <p:nvPr/>
        </p:nvSpPr>
        <p:spPr>
          <a:xfrm>
            <a:off x="777240" y="3977640"/>
            <a:ext cx="10607040" cy="54864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The penalty sizes we defend are the </a:t>
            </a:r>
            <a:r>
              <a:rPr lang="en-US" sz="1500" b="1" dirty="0">
                <a:solidFill>
                  <a:srgbClr val="1B2433"/>
                </a:solidFill>
                <a:latin typeface="Calibri" pitchFamily="34" charset="0"/>
                <a:ea typeface="Calibri" pitchFamily="34" charset="-122"/>
                <a:cs typeface="Calibri" pitchFamily="34" charset="-120"/>
              </a:rPr>
              <a:t>de-confounded</a:t>
            </a:r>
            <a:r>
              <a:rPr lang="en-US" sz="1500" dirty="0">
                <a:solidFill>
                  <a:srgbClr val="1B2433"/>
                </a:solidFill>
                <a:latin typeface="Calibri" pitchFamily="34" charset="0"/>
                <a:ea typeface="Calibri" pitchFamily="34" charset="-122"/>
                <a:cs typeface="Calibri" pitchFamily="34" charset="-120"/>
              </a:rPr>
              <a:t> ones, which are </a:t>
            </a:r>
            <a:r>
              <a:rPr lang="en-US" sz="1500" b="1" dirty="0">
                <a:solidFill>
                  <a:srgbClr val="1B2433"/>
                </a:solidFill>
                <a:latin typeface="Calibri" pitchFamily="34" charset="0"/>
                <a:ea typeface="Calibri" pitchFamily="34" charset="-122"/>
                <a:cs typeface="Calibri" pitchFamily="34" charset="-120"/>
              </a:rPr>
              <a:t>smaller</a:t>
            </a:r>
            <a:r>
              <a:rPr lang="en-US" sz="1500" dirty="0">
                <a:solidFill>
                  <a:srgbClr val="1B2433"/>
                </a:solidFill>
                <a:latin typeface="Calibri" pitchFamily="34" charset="0"/>
                <a:ea typeface="Calibri" pitchFamily="34" charset="-122"/>
                <a:cs typeface="Calibri" pitchFamily="34" charset="-120"/>
              </a:rPr>
              <a:t> than the raw numbers.</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286000"/>
            <a:ext cx="1371600" cy="1097280"/>
          </a:xfrm>
          <a:prstGeom prst="roundRect">
            <a:avLst>
              <a:gd name="adj" fmla="val 10000"/>
            </a:avLst>
          </a:prstGeom>
          <a:solidFill>
            <a:srgbClr val="14213D"/>
          </a:solidFill>
          <a:ln w="31750">
            <a:solidFill>
              <a:srgbClr val="E39B2D"/>
            </a:solidFill>
            <a:prstDash val="dash"/>
          </a:ln>
        </p:spPr>
      </p:sp>
      <p:sp>
        <p:nvSpPr>
          <p:cNvPr id="3" name="Text 1"/>
          <p:cNvSpPr/>
          <p:nvPr/>
        </p:nvSpPr>
        <p:spPr>
          <a:xfrm>
            <a:off x="822960" y="2286000"/>
            <a:ext cx="1371600" cy="1097280"/>
          </a:xfrm>
          <a:prstGeom prst="rect">
            <a:avLst/>
          </a:prstGeom>
          <a:noFill/>
          <a:ln/>
        </p:spPr>
        <p:txBody>
          <a:bodyPr wrap="square" lIns="0" tIns="0" rIns="0" bIns="0" rtlCol="0" anchor="ctr"/>
          <a:lstStyle/>
          <a:p>
            <a:pPr algn="ctr" indent="0" marL="0">
              <a:buNone/>
            </a:pPr>
            <a:r>
              <a:rPr lang="en-US" sz="4800" b="1" dirty="0">
                <a:solidFill>
                  <a:srgbClr val="E39B2D"/>
                </a:solidFill>
                <a:latin typeface="Calibri" pitchFamily="34" charset="0"/>
                <a:ea typeface="Calibri" pitchFamily="34" charset="-122"/>
                <a:cs typeface="Calibri" pitchFamily="34" charset="-120"/>
              </a:rPr>
              <a:t>6</a:t>
            </a:r>
            <a:endParaRPr lang="en-US" sz="4800" dirty="0"/>
          </a:p>
        </p:txBody>
      </p:sp>
      <p:sp>
        <p:nvSpPr>
          <p:cNvPr id="4" name="Text 2"/>
          <p:cNvSpPr/>
          <p:nvPr/>
        </p:nvSpPr>
        <p:spPr>
          <a:xfrm>
            <a:off x="2560320" y="1097280"/>
            <a:ext cx="9052560" cy="1965960"/>
          </a:xfrm>
          <a:prstGeom prst="rect">
            <a:avLst/>
          </a:prstGeom>
          <a:noFill/>
          <a:ln/>
        </p:spPr>
        <p:txBody>
          <a:bodyPr wrap="square" lIns="0" tIns="0" rIns="0" bIns="0" rtlCol="0" anchor="b"/>
          <a:lstStyle/>
          <a:p>
            <a:pPr indent="0" marL="0">
              <a:buNone/>
            </a:pPr>
            <a:r>
              <a:rPr lang="en-US" sz="3600" b="1" dirty="0">
                <a:solidFill>
                  <a:srgbClr val="FFFFFF"/>
                </a:solidFill>
                <a:latin typeface="Georgia" pitchFamily="34" charset="0"/>
                <a:ea typeface="Georgia" pitchFamily="34" charset="-122"/>
                <a:cs typeface="Georgia" pitchFamily="34" charset="-120"/>
              </a:rPr>
              <a:t>Results: what the metrics charge</a:t>
            </a:r>
            <a:endParaRPr lang="en-US" sz="3600" dirty="0"/>
          </a:p>
        </p:txBody>
      </p:sp>
      <p:sp>
        <p:nvSpPr>
          <p:cNvPr id="5" name="Text 3"/>
          <p:cNvSpPr/>
          <p:nvPr/>
        </p:nvSpPr>
        <p:spPr>
          <a:xfrm>
            <a:off x="2560320" y="3246120"/>
            <a:ext cx="9052560" cy="1280160"/>
          </a:xfrm>
          <a:prstGeom prst="rect">
            <a:avLst/>
          </a:prstGeom>
          <a:noFill/>
          <a:ln/>
        </p:spPr>
        <p:txBody>
          <a:bodyPr wrap="square" lIns="0" tIns="0" rIns="0" bIns="0" rtlCol="0" anchor="t"/>
          <a:lstStyle/>
          <a:p>
            <a:pPr indent="0" marL="0">
              <a:buNone/>
            </a:pPr>
            <a:r>
              <a:rPr lang="en-US" sz="1800" dirty="0">
                <a:solidFill>
                  <a:srgbClr val="C9D2E3"/>
                </a:solidFill>
                <a:latin typeface="Calibri" pitchFamily="34" charset="0"/>
                <a:ea typeface="Calibri" pitchFamily="34" charset="-122"/>
                <a:cs typeface="Calibri" pitchFamily="34" charset="-120"/>
              </a:rPr>
              <a:t>Six findings about how metrics react to a wrong or missing value.</a:t>
            </a:r>
            <a:endParaRPr lang="en-US" sz="1800" dirty="0"/>
          </a:p>
        </p:txBody>
      </p:sp>
      <p:sp>
        <p:nvSpPr>
          <p:cNvPr id="6" name="Text 4"/>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7D8AA5"/>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6</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Result 1: our own prediction was wrong</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57</a:t>
            </a:r>
            <a:endParaRPr lang="en-US" sz="900" dirty="0"/>
          </a:p>
        </p:txBody>
      </p:sp>
      <p:sp>
        <p:nvSpPr>
          <p:cNvPr id="9" name="Text 6"/>
          <p:cNvSpPr/>
          <p:nvPr/>
        </p:nvSpPr>
        <p:spPr>
          <a:xfrm>
            <a:off x="548640" y="1600200"/>
            <a:ext cx="7772400" cy="502920"/>
          </a:xfrm>
          <a:prstGeom prst="rect">
            <a:avLst/>
          </a:prstGeom>
          <a:noFill/>
          <a:ln/>
        </p:spPr>
        <p:txBody>
          <a:bodyPr wrap="square" lIns="0" tIns="0" rIns="0" bIns="0" rtlCol="0" anchor="t"/>
          <a:lstStyle/>
          <a:p>
            <a:pPr algn="l" indent="0" marL="0">
              <a:lnSpc>
                <a:spcPct val="100000"/>
              </a:lnSpc>
              <a:buNone/>
            </a:pPr>
            <a:r>
              <a:rPr lang="en-US" sz="1400" b="1" dirty="0">
                <a:solidFill>
                  <a:srgbClr val="5B6577"/>
                </a:solidFill>
                <a:latin typeface="Calibri" pitchFamily="34" charset="0"/>
                <a:ea typeface="Calibri" pitchFamily="34" charset="-122"/>
                <a:cs typeface="Calibri" pitchFamily="34" charset="-120"/>
              </a:rPr>
              <a:t>For neural metrics with a reference: penalty for a wrong ending, in units of the human-noticeable threshold (de-confounded, from the controlled and natural arms)</a:t>
            </a:r>
            <a:endParaRPr lang="en-US" sz="1400" dirty="0"/>
          </a:p>
        </p:txBody>
      </p:sp>
      <p:sp>
        <p:nvSpPr>
          <p:cNvPr id="10" name="Shape 7"/>
          <p:cNvSpPr/>
          <p:nvPr/>
        </p:nvSpPr>
        <p:spPr>
          <a:xfrm>
            <a:off x="3291840" y="2514600"/>
            <a:ext cx="0" cy="2926080"/>
          </a:xfrm>
          <a:prstGeom prst="line">
            <a:avLst/>
          </a:prstGeom>
          <a:noFill/>
          <a:ln w="9525">
            <a:solidFill>
              <a:srgbClr val="D5DAE3"/>
            </a:solidFill>
            <a:prstDash val="solid"/>
          </a:ln>
        </p:spPr>
      </p:sp>
      <p:sp>
        <p:nvSpPr>
          <p:cNvPr id="11" name="Text 8"/>
          <p:cNvSpPr/>
          <p:nvPr/>
        </p:nvSpPr>
        <p:spPr>
          <a:xfrm>
            <a:off x="2926080" y="54772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0×</a:t>
            </a:r>
            <a:endParaRPr lang="en-US" sz="1100" dirty="0"/>
          </a:p>
        </p:txBody>
      </p:sp>
      <p:sp>
        <p:nvSpPr>
          <p:cNvPr id="12" name="Shape 9"/>
          <p:cNvSpPr/>
          <p:nvPr/>
        </p:nvSpPr>
        <p:spPr>
          <a:xfrm>
            <a:off x="4078224" y="2514600"/>
            <a:ext cx="0" cy="2926080"/>
          </a:xfrm>
          <a:prstGeom prst="line">
            <a:avLst/>
          </a:prstGeom>
          <a:noFill/>
          <a:ln w="9525">
            <a:solidFill>
              <a:srgbClr val="D5DAE3"/>
            </a:solidFill>
            <a:prstDash val="solid"/>
          </a:ln>
        </p:spPr>
      </p:sp>
      <p:sp>
        <p:nvSpPr>
          <p:cNvPr id="13" name="Text 10"/>
          <p:cNvSpPr/>
          <p:nvPr/>
        </p:nvSpPr>
        <p:spPr>
          <a:xfrm>
            <a:off x="3712464" y="54772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2×</a:t>
            </a:r>
            <a:endParaRPr lang="en-US" sz="1100" dirty="0"/>
          </a:p>
        </p:txBody>
      </p:sp>
      <p:sp>
        <p:nvSpPr>
          <p:cNvPr id="14" name="Shape 11"/>
          <p:cNvSpPr/>
          <p:nvPr/>
        </p:nvSpPr>
        <p:spPr>
          <a:xfrm>
            <a:off x="4864608" y="2514600"/>
            <a:ext cx="0" cy="2926080"/>
          </a:xfrm>
          <a:prstGeom prst="line">
            <a:avLst/>
          </a:prstGeom>
          <a:noFill/>
          <a:ln w="9525">
            <a:solidFill>
              <a:srgbClr val="D5DAE3"/>
            </a:solidFill>
            <a:prstDash val="solid"/>
          </a:ln>
        </p:spPr>
      </p:sp>
      <p:sp>
        <p:nvSpPr>
          <p:cNvPr id="15" name="Text 12"/>
          <p:cNvSpPr/>
          <p:nvPr/>
        </p:nvSpPr>
        <p:spPr>
          <a:xfrm>
            <a:off x="4498848" y="54772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4×</a:t>
            </a:r>
            <a:endParaRPr lang="en-US" sz="1100" dirty="0"/>
          </a:p>
        </p:txBody>
      </p:sp>
      <p:sp>
        <p:nvSpPr>
          <p:cNvPr id="16" name="Shape 13"/>
          <p:cNvSpPr/>
          <p:nvPr/>
        </p:nvSpPr>
        <p:spPr>
          <a:xfrm>
            <a:off x="5650992" y="2514600"/>
            <a:ext cx="0" cy="2926080"/>
          </a:xfrm>
          <a:prstGeom prst="line">
            <a:avLst/>
          </a:prstGeom>
          <a:noFill/>
          <a:ln w="9525">
            <a:solidFill>
              <a:srgbClr val="D5DAE3"/>
            </a:solidFill>
            <a:prstDash val="solid"/>
          </a:ln>
        </p:spPr>
      </p:sp>
      <p:sp>
        <p:nvSpPr>
          <p:cNvPr id="17" name="Text 14"/>
          <p:cNvSpPr/>
          <p:nvPr/>
        </p:nvSpPr>
        <p:spPr>
          <a:xfrm>
            <a:off x="5285232" y="54772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6×</a:t>
            </a:r>
            <a:endParaRPr lang="en-US" sz="1100" dirty="0"/>
          </a:p>
        </p:txBody>
      </p:sp>
      <p:sp>
        <p:nvSpPr>
          <p:cNvPr id="18" name="Shape 15"/>
          <p:cNvSpPr/>
          <p:nvPr/>
        </p:nvSpPr>
        <p:spPr>
          <a:xfrm>
            <a:off x="6437376" y="2514600"/>
            <a:ext cx="0" cy="2926080"/>
          </a:xfrm>
          <a:prstGeom prst="line">
            <a:avLst/>
          </a:prstGeom>
          <a:noFill/>
          <a:ln w="9525">
            <a:solidFill>
              <a:srgbClr val="D5DAE3"/>
            </a:solidFill>
            <a:prstDash val="solid"/>
          </a:ln>
        </p:spPr>
      </p:sp>
      <p:sp>
        <p:nvSpPr>
          <p:cNvPr id="19" name="Text 16"/>
          <p:cNvSpPr/>
          <p:nvPr/>
        </p:nvSpPr>
        <p:spPr>
          <a:xfrm>
            <a:off x="6071616" y="54772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8×</a:t>
            </a:r>
            <a:endParaRPr lang="en-US" sz="1100" dirty="0"/>
          </a:p>
        </p:txBody>
      </p:sp>
      <p:sp>
        <p:nvSpPr>
          <p:cNvPr id="20" name="Shape 17"/>
          <p:cNvSpPr/>
          <p:nvPr/>
        </p:nvSpPr>
        <p:spPr>
          <a:xfrm>
            <a:off x="7223760" y="2514600"/>
            <a:ext cx="0" cy="2926080"/>
          </a:xfrm>
          <a:prstGeom prst="line">
            <a:avLst/>
          </a:prstGeom>
          <a:noFill/>
          <a:ln w="9525">
            <a:solidFill>
              <a:srgbClr val="D5DAE3"/>
            </a:solidFill>
            <a:prstDash val="solid"/>
          </a:ln>
        </p:spPr>
      </p:sp>
      <p:sp>
        <p:nvSpPr>
          <p:cNvPr id="21" name="Text 18"/>
          <p:cNvSpPr/>
          <p:nvPr/>
        </p:nvSpPr>
        <p:spPr>
          <a:xfrm>
            <a:off x="6858000" y="54772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10×</a:t>
            </a:r>
            <a:endParaRPr lang="en-US" sz="1100" dirty="0"/>
          </a:p>
        </p:txBody>
      </p:sp>
      <p:sp>
        <p:nvSpPr>
          <p:cNvPr id="22" name="Shape 19"/>
          <p:cNvSpPr/>
          <p:nvPr/>
        </p:nvSpPr>
        <p:spPr>
          <a:xfrm>
            <a:off x="3685032" y="2404872"/>
            <a:ext cx="0" cy="3035808"/>
          </a:xfrm>
          <a:prstGeom prst="line">
            <a:avLst/>
          </a:prstGeom>
          <a:noFill/>
          <a:ln w="19050">
            <a:solidFill>
              <a:srgbClr val="E39B2D"/>
            </a:solidFill>
            <a:prstDash val="dash"/>
          </a:ln>
        </p:spPr>
      </p:sp>
      <p:sp>
        <p:nvSpPr>
          <p:cNvPr id="23" name="Text 20"/>
          <p:cNvSpPr/>
          <p:nvPr/>
        </p:nvSpPr>
        <p:spPr>
          <a:xfrm>
            <a:off x="2221992" y="2093976"/>
            <a:ext cx="2926080" cy="274320"/>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 = humans notice</a:t>
            </a:r>
            <a:endParaRPr lang="en-US" sz="1200" dirty="0"/>
          </a:p>
        </p:txBody>
      </p:sp>
      <p:sp>
        <p:nvSpPr>
          <p:cNvPr id="24" name="Text 21"/>
          <p:cNvSpPr/>
          <p:nvPr/>
        </p:nvSpPr>
        <p:spPr>
          <a:xfrm>
            <a:off x="548640" y="2514600"/>
            <a:ext cx="2651760" cy="585216"/>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COMET-22</a:t>
            </a:r>
            <a:endParaRPr lang="en-US" sz="1300" dirty="0"/>
          </a:p>
          <a:p>
            <a:pPr algn="r" indent="0" marL="0">
              <a:buNone/>
            </a:pPr>
            <a:r>
              <a:rPr lang="en-US" sz="1000" dirty="0">
                <a:solidFill>
                  <a:srgbClr val="5B6577"/>
                </a:solidFill>
                <a:latin typeface="Calibri" pitchFamily="34" charset="0"/>
                <a:ea typeface="Calibri" pitchFamily="34" charset="-122"/>
                <a:cs typeface="Calibri" pitchFamily="34" charset="-120"/>
              </a:rPr>
              <a:t>neural, with reference</a:t>
            </a:r>
            <a:endParaRPr lang="en-US" sz="1300" dirty="0"/>
          </a:p>
        </p:txBody>
      </p:sp>
      <p:sp>
        <p:nvSpPr>
          <p:cNvPr id="25" name="Shape 22"/>
          <p:cNvSpPr/>
          <p:nvPr/>
        </p:nvSpPr>
        <p:spPr>
          <a:xfrm>
            <a:off x="3291840" y="2625791"/>
            <a:ext cx="3349996" cy="362834"/>
          </a:xfrm>
          <a:prstGeom prst="rect">
            <a:avLst/>
          </a:prstGeom>
          <a:solidFill>
            <a:srgbClr val="2F6FB3"/>
          </a:solidFill>
          <a:ln w="12700">
            <a:solidFill>
              <a:srgbClr val="2F6FB3"/>
            </a:solidFill>
            <a:prstDash val="solid"/>
          </a:ln>
        </p:spPr>
      </p:sp>
      <p:sp>
        <p:nvSpPr>
          <p:cNvPr id="26" name="Text 23"/>
          <p:cNvSpPr/>
          <p:nvPr/>
        </p:nvSpPr>
        <p:spPr>
          <a:xfrm>
            <a:off x="6705844" y="2651760"/>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8.52×</a:t>
            </a:r>
            <a:endParaRPr lang="en-US" sz="1300" dirty="0"/>
          </a:p>
        </p:txBody>
      </p:sp>
      <p:sp>
        <p:nvSpPr>
          <p:cNvPr id="27" name="Text 24"/>
          <p:cNvSpPr/>
          <p:nvPr/>
        </p:nvSpPr>
        <p:spPr>
          <a:xfrm>
            <a:off x="548640" y="3099816"/>
            <a:ext cx="2651760" cy="585216"/>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xCOMET-XL</a:t>
            </a:r>
            <a:endParaRPr lang="en-US" sz="1300" dirty="0"/>
          </a:p>
          <a:p>
            <a:pPr algn="r" indent="0" marL="0">
              <a:buNone/>
            </a:pPr>
            <a:r>
              <a:rPr lang="en-US" sz="1000" dirty="0">
                <a:solidFill>
                  <a:srgbClr val="5B6577"/>
                </a:solidFill>
                <a:latin typeface="Calibri" pitchFamily="34" charset="0"/>
                <a:ea typeface="Calibri" pitchFamily="34" charset="-122"/>
                <a:cs typeface="Calibri" pitchFamily="34" charset="-120"/>
              </a:rPr>
              <a:t>neural, with reference</a:t>
            </a:r>
            <a:endParaRPr lang="en-US" sz="1300" dirty="0"/>
          </a:p>
        </p:txBody>
      </p:sp>
      <p:sp>
        <p:nvSpPr>
          <p:cNvPr id="28" name="Shape 25"/>
          <p:cNvSpPr/>
          <p:nvPr/>
        </p:nvSpPr>
        <p:spPr>
          <a:xfrm>
            <a:off x="3291840" y="3211007"/>
            <a:ext cx="2575408" cy="362834"/>
          </a:xfrm>
          <a:prstGeom prst="rect">
            <a:avLst/>
          </a:prstGeom>
          <a:solidFill>
            <a:srgbClr val="2F6FB3"/>
          </a:solidFill>
          <a:ln w="12700">
            <a:solidFill>
              <a:srgbClr val="2F6FB3"/>
            </a:solidFill>
            <a:prstDash val="solid"/>
          </a:ln>
        </p:spPr>
      </p:sp>
      <p:sp>
        <p:nvSpPr>
          <p:cNvPr id="29" name="Text 26"/>
          <p:cNvSpPr/>
          <p:nvPr/>
        </p:nvSpPr>
        <p:spPr>
          <a:xfrm>
            <a:off x="5931256" y="3236976"/>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6.55×</a:t>
            </a:r>
            <a:endParaRPr lang="en-US" sz="1300" dirty="0"/>
          </a:p>
        </p:txBody>
      </p:sp>
      <p:sp>
        <p:nvSpPr>
          <p:cNvPr id="30" name="Text 27"/>
          <p:cNvSpPr/>
          <p:nvPr/>
        </p:nvSpPr>
        <p:spPr>
          <a:xfrm>
            <a:off x="548640" y="3685032"/>
            <a:ext cx="2651760" cy="585216"/>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MetricX-23</a:t>
            </a:r>
            <a:endParaRPr lang="en-US" sz="1300" dirty="0"/>
          </a:p>
          <a:p>
            <a:pPr algn="r" indent="0" marL="0">
              <a:buNone/>
            </a:pPr>
            <a:r>
              <a:rPr lang="en-US" sz="1000" dirty="0">
                <a:solidFill>
                  <a:srgbClr val="5B6577"/>
                </a:solidFill>
                <a:latin typeface="Calibri" pitchFamily="34" charset="0"/>
                <a:ea typeface="Calibri" pitchFamily="34" charset="-122"/>
                <a:cs typeface="Calibri" pitchFamily="34" charset="-120"/>
              </a:rPr>
              <a:t>neural, with reference</a:t>
            </a:r>
            <a:endParaRPr lang="en-US" sz="1300" dirty="0"/>
          </a:p>
        </p:txBody>
      </p:sp>
      <p:sp>
        <p:nvSpPr>
          <p:cNvPr id="31" name="Shape 28"/>
          <p:cNvSpPr/>
          <p:nvPr/>
        </p:nvSpPr>
        <p:spPr>
          <a:xfrm>
            <a:off x="3291840" y="3796223"/>
            <a:ext cx="849295" cy="362834"/>
          </a:xfrm>
          <a:prstGeom prst="rect">
            <a:avLst/>
          </a:prstGeom>
          <a:solidFill>
            <a:srgbClr val="2F6FB3"/>
          </a:solidFill>
          <a:ln w="12700">
            <a:solidFill>
              <a:srgbClr val="2F6FB3"/>
            </a:solidFill>
            <a:prstDash val="solid"/>
          </a:ln>
        </p:spPr>
      </p:sp>
      <p:sp>
        <p:nvSpPr>
          <p:cNvPr id="32" name="Text 29"/>
          <p:cNvSpPr/>
          <p:nvPr/>
        </p:nvSpPr>
        <p:spPr>
          <a:xfrm>
            <a:off x="4205143" y="3822192"/>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2.16×</a:t>
            </a:r>
            <a:endParaRPr lang="en-US" sz="1300" dirty="0"/>
          </a:p>
        </p:txBody>
      </p:sp>
      <p:sp>
        <p:nvSpPr>
          <p:cNvPr id="33" name="Text 30"/>
          <p:cNvSpPr/>
          <p:nvPr/>
        </p:nvSpPr>
        <p:spPr>
          <a:xfrm>
            <a:off x="548640" y="4270248"/>
            <a:ext cx="2651760" cy="585216"/>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chrF2</a:t>
            </a:r>
            <a:endParaRPr lang="en-US" sz="1300" dirty="0"/>
          </a:p>
          <a:p>
            <a:pPr algn="r" indent="0" marL="0">
              <a:buNone/>
            </a:pPr>
            <a:r>
              <a:rPr lang="en-US" sz="1000" dirty="0">
                <a:solidFill>
                  <a:srgbClr val="5B6577"/>
                </a:solidFill>
                <a:latin typeface="Calibri" pitchFamily="34" charset="0"/>
                <a:ea typeface="Calibri" pitchFamily="34" charset="-122"/>
                <a:cs typeface="Calibri" pitchFamily="34" charset="-120"/>
              </a:rPr>
              <a:t>NOT neural, with reference</a:t>
            </a:r>
            <a:endParaRPr lang="en-US" sz="1300" dirty="0"/>
          </a:p>
        </p:txBody>
      </p:sp>
      <p:sp>
        <p:nvSpPr>
          <p:cNvPr id="34" name="Shape 31"/>
          <p:cNvSpPr/>
          <p:nvPr/>
        </p:nvSpPr>
        <p:spPr>
          <a:xfrm>
            <a:off x="3291840" y="4381439"/>
            <a:ext cx="3845418" cy="362834"/>
          </a:xfrm>
          <a:prstGeom prst="rect">
            <a:avLst/>
          </a:prstGeom>
          <a:solidFill>
            <a:srgbClr val="98A1B2"/>
          </a:solidFill>
          <a:ln w="12700">
            <a:solidFill>
              <a:srgbClr val="98A1B2"/>
            </a:solidFill>
            <a:prstDash val="solid"/>
          </a:ln>
        </p:spPr>
      </p:sp>
      <p:sp>
        <p:nvSpPr>
          <p:cNvPr id="35" name="Text 32"/>
          <p:cNvSpPr/>
          <p:nvPr/>
        </p:nvSpPr>
        <p:spPr>
          <a:xfrm>
            <a:off x="7201266" y="4407408"/>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9.78×</a:t>
            </a:r>
            <a:endParaRPr lang="en-US" sz="1300" dirty="0"/>
          </a:p>
        </p:txBody>
      </p:sp>
      <p:sp>
        <p:nvSpPr>
          <p:cNvPr id="36" name="Text 33"/>
          <p:cNvSpPr/>
          <p:nvPr/>
        </p:nvSpPr>
        <p:spPr>
          <a:xfrm>
            <a:off x="548640" y="4855464"/>
            <a:ext cx="2651760" cy="585216"/>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CometKiwi-22</a:t>
            </a:r>
            <a:endParaRPr lang="en-US" sz="1300" dirty="0"/>
          </a:p>
          <a:p>
            <a:pPr algn="r" indent="0" marL="0">
              <a:buNone/>
            </a:pPr>
            <a:r>
              <a:rPr lang="en-US" sz="1000" dirty="0">
                <a:solidFill>
                  <a:srgbClr val="5B6577"/>
                </a:solidFill>
                <a:latin typeface="Calibri" pitchFamily="34" charset="0"/>
                <a:ea typeface="Calibri" pitchFamily="34" charset="-122"/>
                <a:cs typeface="Calibri" pitchFamily="34" charset="-120"/>
              </a:rPr>
              <a:t>neural, no reference</a:t>
            </a:r>
            <a:endParaRPr lang="en-US" sz="1300" dirty="0"/>
          </a:p>
        </p:txBody>
      </p:sp>
      <p:sp>
        <p:nvSpPr>
          <p:cNvPr id="37" name="Shape 34"/>
          <p:cNvSpPr/>
          <p:nvPr/>
        </p:nvSpPr>
        <p:spPr>
          <a:xfrm>
            <a:off x="3291840" y="4966655"/>
            <a:ext cx="137617" cy="362834"/>
          </a:xfrm>
          <a:prstGeom prst="rect">
            <a:avLst/>
          </a:prstGeom>
          <a:solidFill>
            <a:srgbClr val="8E44AD"/>
          </a:solidFill>
          <a:ln w="12700">
            <a:solidFill>
              <a:srgbClr val="8E44AD"/>
            </a:solidFill>
            <a:prstDash val="solid"/>
          </a:ln>
        </p:spPr>
      </p:sp>
      <p:sp>
        <p:nvSpPr>
          <p:cNvPr id="38" name="Text 35"/>
          <p:cNvSpPr/>
          <p:nvPr/>
        </p:nvSpPr>
        <p:spPr>
          <a:xfrm>
            <a:off x="3493465" y="4992624"/>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0.35×</a:t>
            </a:r>
            <a:endParaRPr lang="en-US" sz="1300" dirty="0"/>
          </a:p>
        </p:txBody>
      </p:sp>
      <p:sp>
        <p:nvSpPr>
          <p:cNvPr id="39" name="Shape 36"/>
          <p:cNvSpPr/>
          <p:nvPr/>
        </p:nvSpPr>
        <p:spPr>
          <a:xfrm>
            <a:off x="8503920" y="1691640"/>
            <a:ext cx="3108960" cy="3840480"/>
          </a:xfrm>
          <a:prstGeom prst="roundRect">
            <a:avLst>
              <a:gd name="adj" fmla="val 2353"/>
            </a:avLst>
          </a:prstGeom>
          <a:solidFill>
            <a:srgbClr val="F2F4F8"/>
          </a:solidFill>
          <a:ln w="12700">
            <a:solidFill>
              <a:srgbClr val="F2F4F8"/>
            </a:solidFill>
            <a:prstDash val="solid"/>
          </a:ln>
        </p:spPr>
      </p:sp>
      <p:sp>
        <p:nvSpPr>
          <p:cNvPr id="40" name="Text 37"/>
          <p:cNvSpPr/>
          <p:nvPr/>
        </p:nvSpPr>
        <p:spPr>
          <a:xfrm>
            <a:off x="8705088" y="1837944"/>
            <a:ext cx="27066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What this means</a:t>
            </a:r>
            <a:endParaRPr lang="en-US" sz="1700" dirty="0"/>
          </a:p>
        </p:txBody>
      </p:sp>
      <p:sp>
        <p:nvSpPr>
          <p:cNvPr id="41" name="Text 38"/>
          <p:cNvSpPr/>
          <p:nvPr/>
        </p:nvSpPr>
        <p:spPr>
          <a:xfrm>
            <a:off x="8705088" y="2249424"/>
            <a:ext cx="2706624" cy="3136392"/>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1B2433"/>
                </a:solidFill>
                <a:latin typeface="Calibri" pitchFamily="34" charset="0"/>
                <a:ea typeface="Calibri" pitchFamily="34" charset="-122"/>
                <a:cs typeface="Calibri" pitchFamily="34" charset="-120"/>
              </a:rPr>
              <a:t>Wrong for </a:t>
            </a:r>
            <a:r>
              <a:rPr lang="en-US" sz="1300" b="1" dirty="0">
                <a:solidFill>
                  <a:srgbClr val="1B2433"/>
                </a:solidFill>
                <a:latin typeface="Calibri" pitchFamily="34" charset="0"/>
                <a:ea typeface="Calibri" pitchFamily="34" charset="-122"/>
                <a:cs typeface="Calibri" pitchFamily="34" charset="-120"/>
              </a:rPr>
              <a:t>3 of the 4</a:t>
            </a:r>
            <a:r>
              <a:rPr lang="en-US" sz="1300" dirty="0">
                <a:solidFill>
                  <a:srgbClr val="1B2433"/>
                </a:solidFill>
                <a:latin typeface="Calibri" pitchFamily="34" charset="0"/>
                <a:ea typeface="Calibri" pitchFamily="34" charset="-122"/>
                <a:cs typeface="Calibri" pitchFamily="34" charset="-120"/>
              </a:rPr>
              <a:t> neural metrics that have a published threshold.</a:t>
            </a:r>
            <a:endParaRPr lang="en-US" sz="1300" dirty="0"/>
          </a:p>
          <a:p>
            <a:pPr marL="228600" indent="-228600">
              <a:spcAft>
                <a:spcPts val="500"/>
              </a:spcAft>
              <a:buSzPct val="100000"/>
              <a:buChar char="•"/>
            </a:pPr>
            <a:r>
              <a:rPr lang="en-US" sz="1300" dirty="0">
                <a:solidFill>
                  <a:srgbClr val="1B2433"/>
                </a:solidFill>
                <a:latin typeface="Calibri" pitchFamily="34" charset="0"/>
                <a:ea typeface="Calibri" pitchFamily="34" charset="-122"/>
                <a:cs typeface="Calibri" pitchFamily="34" charset="-120"/>
              </a:rPr>
              <a:t>Held only for </a:t>
            </a:r>
            <a:r>
              <a:rPr lang="en-US" sz="1300" b="1" dirty="0">
                <a:solidFill>
                  <a:srgbClr val="1B2433"/>
                </a:solidFill>
                <a:latin typeface="Calibri" pitchFamily="34" charset="0"/>
                <a:ea typeface="Calibri" pitchFamily="34" charset="-122"/>
                <a:cs typeface="Calibri" pitchFamily="34" charset="-120"/>
              </a:rPr>
              <a:t>CometKiwi-22</a:t>
            </a:r>
            <a:r>
              <a:rPr lang="en-US" sz="1300" dirty="0">
                <a:solidFill>
                  <a:srgbClr val="1B2433"/>
                </a:solidFill>
                <a:latin typeface="Calibri" pitchFamily="34" charset="0"/>
                <a:ea typeface="Calibri" pitchFamily="34" charset="-122"/>
                <a:cs typeface="Calibri" pitchFamily="34" charset="-120"/>
              </a:rPr>
              <a:t> (no reference).</a:t>
            </a:r>
            <a:endParaRPr lang="en-US" sz="1300" dirty="0"/>
          </a:p>
          <a:p>
            <a:pPr marL="228600" indent="-228600">
              <a:spcAft>
                <a:spcPts val="500"/>
              </a:spcAft>
              <a:buSzPct val="100000"/>
              <a:buChar char="•"/>
            </a:pPr>
            <a:r>
              <a:rPr lang="en-US" sz="1300" b="1" dirty="0">
                <a:solidFill>
                  <a:srgbClr val="1B2433"/>
                </a:solidFill>
                <a:latin typeface="Calibri" pitchFamily="34" charset="0"/>
                <a:ea typeface="Calibri" pitchFamily="34" charset="-122"/>
                <a:cs typeface="Calibri" pitchFamily="34" charset="-120"/>
              </a:rPr>
              <a:t>chrF2</a:t>
            </a:r>
            <a:r>
              <a:rPr lang="en-US" sz="1300" dirty="0">
                <a:solidFill>
                  <a:srgbClr val="1B2433"/>
                </a:solidFill>
                <a:latin typeface="Calibri" pitchFamily="34" charset="0"/>
                <a:ea typeface="Calibri" pitchFamily="34" charset="-122"/>
                <a:cs typeface="Calibri" pitchFamily="34" charset="-120"/>
              </a:rPr>
              <a:t> (not neural) also charges a lot, so it is not about neural metrics.</a:t>
            </a:r>
            <a:endParaRPr lang="en-US" sz="1300" dirty="0"/>
          </a:p>
          <a:p>
            <a:pPr marL="228600" indent="-228600">
              <a:spcAft>
                <a:spcPts val="500"/>
              </a:spcAft>
              <a:buSzPct val="100000"/>
              <a:buChar char="•"/>
            </a:pPr>
            <a:r>
              <a:rPr lang="en-US" sz="1300" dirty="0">
                <a:solidFill>
                  <a:srgbClr val="1B2433"/>
                </a:solidFill>
                <a:latin typeface="Calibri" pitchFamily="34" charset="0"/>
                <a:ea typeface="Calibri" pitchFamily="34" charset="-122"/>
                <a:cs typeface="Calibri" pitchFamily="34" charset="-120"/>
              </a:rPr>
              <a:t>MetricX-24, chrF++ and MetricX-24-QE: no published threshold.</a:t>
            </a:r>
            <a:endParaRPr lang="en-US" sz="1300" dirty="0"/>
          </a:p>
        </p:txBody>
      </p:sp>
      <p:sp>
        <p:nvSpPr>
          <p:cNvPr id="42" name="Shape 39"/>
          <p:cNvSpPr/>
          <p:nvPr/>
        </p:nvSpPr>
        <p:spPr>
          <a:xfrm>
            <a:off x="548640" y="5760720"/>
            <a:ext cx="11064240" cy="548640"/>
          </a:xfrm>
          <a:prstGeom prst="roundRect">
            <a:avLst>
              <a:gd name="adj" fmla="val 13333"/>
            </a:avLst>
          </a:prstGeom>
          <a:solidFill>
            <a:srgbClr val="FBEBD2"/>
          </a:solidFill>
          <a:ln w="12700">
            <a:solidFill>
              <a:srgbClr val="E39B2D"/>
            </a:solidFill>
            <a:prstDash val="solid"/>
          </a:ln>
        </p:spPr>
      </p:sp>
      <p:sp>
        <p:nvSpPr>
          <p:cNvPr id="43" name="Text 40"/>
          <p:cNvSpPr/>
          <p:nvPr/>
        </p:nvSpPr>
        <p:spPr>
          <a:xfrm>
            <a:off x="777240" y="5760720"/>
            <a:ext cx="10607040" cy="54864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"Neural metrics are blind to single-morpheme errors" is </a:t>
            </a:r>
            <a:r>
              <a:rPr lang="en-US" sz="1500" b="1" dirty="0">
                <a:solidFill>
                  <a:srgbClr val="1B2433"/>
                </a:solidFill>
                <a:latin typeface="Calibri" pitchFamily="34" charset="0"/>
                <a:ea typeface="Calibri" pitchFamily="34" charset="-122"/>
                <a:cs typeface="Calibri" pitchFamily="34" charset="-120"/>
              </a:rPr>
              <a:t>not true</a:t>
            </a:r>
            <a:r>
              <a:rPr lang="en-US" sz="1500" dirty="0">
                <a:solidFill>
                  <a:srgbClr val="1B2433"/>
                </a:solidFill>
                <a:latin typeface="Calibri" pitchFamily="34" charset="0"/>
                <a:ea typeface="Calibri" pitchFamily="34" charset="-122"/>
                <a:cs typeface="Calibri" pitchFamily="34" charset="-120"/>
              </a:rPr>
              <a:t> as a general statement. We report our failed prediction as failed.</a:t>
            </a:r>
            <a:endParaRPr lang="en-US" sz="1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6</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Result 2: reference-free metrics prefer the wrong form</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58</a:t>
            </a:r>
            <a:endParaRPr lang="en-US" sz="900" dirty="0"/>
          </a:p>
        </p:txBody>
      </p:sp>
      <p:sp>
        <p:nvSpPr>
          <p:cNvPr id="9" name="Text 6"/>
          <p:cNvSpPr/>
          <p:nvPr/>
        </p:nvSpPr>
        <p:spPr>
          <a:xfrm>
            <a:off x="548640" y="1600200"/>
            <a:ext cx="8046720" cy="502920"/>
          </a:xfrm>
          <a:prstGeom prst="rect">
            <a:avLst/>
          </a:prstGeom>
          <a:noFill/>
          <a:ln/>
        </p:spPr>
        <p:txBody>
          <a:bodyPr wrap="square" lIns="0" tIns="0" rIns="0" bIns="0" rtlCol="0" anchor="t"/>
          <a:lstStyle/>
          <a:p>
            <a:pPr algn="l" indent="0" marL="0">
              <a:lnSpc>
                <a:spcPct val="100000"/>
              </a:lnSpc>
              <a:buNone/>
            </a:pPr>
            <a:r>
              <a:rPr lang="en-US" sz="1400" b="1" dirty="0">
                <a:solidFill>
                  <a:srgbClr val="5B6577"/>
                </a:solidFill>
                <a:latin typeface="Calibri" pitchFamily="34" charset="0"/>
                <a:ea typeface="Calibri" pitchFamily="34" charset="-122"/>
                <a:cs typeface="Calibri" pitchFamily="34" charset="-120"/>
              </a:rPr>
              <a:t>Natural arm, 1,479 real system errors: how often each metric scores the correct version higher (win rate)</a:t>
            </a:r>
            <a:endParaRPr lang="en-US" sz="1400" dirty="0"/>
          </a:p>
        </p:txBody>
      </p:sp>
      <p:sp>
        <p:nvSpPr>
          <p:cNvPr id="10" name="Shape 7"/>
          <p:cNvSpPr/>
          <p:nvPr/>
        </p:nvSpPr>
        <p:spPr>
          <a:xfrm>
            <a:off x="3017520" y="2514600"/>
            <a:ext cx="0" cy="2926080"/>
          </a:xfrm>
          <a:prstGeom prst="line">
            <a:avLst/>
          </a:prstGeom>
          <a:noFill/>
          <a:ln w="9525">
            <a:solidFill>
              <a:srgbClr val="D5DAE3"/>
            </a:solidFill>
            <a:prstDash val="solid"/>
          </a:ln>
        </p:spPr>
      </p:sp>
      <p:sp>
        <p:nvSpPr>
          <p:cNvPr id="11" name="Text 8"/>
          <p:cNvSpPr/>
          <p:nvPr/>
        </p:nvSpPr>
        <p:spPr>
          <a:xfrm>
            <a:off x="2651760" y="54772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0%</a:t>
            </a:r>
            <a:endParaRPr lang="en-US" sz="1100" dirty="0"/>
          </a:p>
        </p:txBody>
      </p:sp>
      <p:sp>
        <p:nvSpPr>
          <p:cNvPr id="12" name="Shape 9"/>
          <p:cNvSpPr/>
          <p:nvPr/>
        </p:nvSpPr>
        <p:spPr>
          <a:xfrm>
            <a:off x="4137660" y="2514600"/>
            <a:ext cx="0" cy="2926080"/>
          </a:xfrm>
          <a:prstGeom prst="line">
            <a:avLst/>
          </a:prstGeom>
          <a:noFill/>
          <a:ln w="9525">
            <a:solidFill>
              <a:srgbClr val="D5DAE3"/>
            </a:solidFill>
            <a:prstDash val="solid"/>
          </a:ln>
        </p:spPr>
      </p:sp>
      <p:sp>
        <p:nvSpPr>
          <p:cNvPr id="13" name="Text 10"/>
          <p:cNvSpPr/>
          <p:nvPr/>
        </p:nvSpPr>
        <p:spPr>
          <a:xfrm>
            <a:off x="3771900" y="54772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25%</a:t>
            </a:r>
            <a:endParaRPr lang="en-US" sz="1100" dirty="0"/>
          </a:p>
        </p:txBody>
      </p:sp>
      <p:sp>
        <p:nvSpPr>
          <p:cNvPr id="14" name="Shape 11"/>
          <p:cNvSpPr/>
          <p:nvPr/>
        </p:nvSpPr>
        <p:spPr>
          <a:xfrm>
            <a:off x="5257800" y="2514600"/>
            <a:ext cx="0" cy="2926080"/>
          </a:xfrm>
          <a:prstGeom prst="line">
            <a:avLst/>
          </a:prstGeom>
          <a:noFill/>
          <a:ln w="9525">
            <a:solidFill>
              <a:srgbClr val="D5DAE3"/>
            </a:solidFill>
            <a:prstDash val="solid"/>
          </a:ln>
        </p:spPr>
      </p:sp>
      <p:sp>
        <p:nvSpPr>
          <p:cNvPr id="15" name="Text 12"/>
          <p:cNvSpPr/>
          <p:nvPr/>
        </p:nvSpPr>
        <p:spPr>
          <a:xfrm>
            <a:off x="4892040" y="54772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50%</a:t>
            </a:r>
            <a:endParaRPr lang="en-US" sz="1100" dirty="0"/>
          </a:p>
        </p:txBody>
      </p:sp>
      <p:sp>
        <p:nvSpPr>
          <p:cNvPr id="16" name="Shape 13"/>
          <p:cNvSpPr/>
          <p:nvPr/>
        </p:nvSpPr>
        <p:spPr>
          <a:xfrm>
            <a:off x="6377940" y="2514600"/>
            <a:ext cx="0" cy="2926080"/>
          </a:xfrm>
          <a:prstGeom prst="line">
            <a:avLst/>
          </a:prstGeom>
          <a:noFill/>
          <a:ln w="9525">
            <a:solidFill>
              <a:srgbClr val="D5DAE3"/>
            </a:solidFill>
            <a:prstDash val="solid"/>
          </a:ln>
        </p:spPr>
      </p:sp>
      <p:sp>
        <p:nvSpPr>
          <p:cNvPr id="17" name="Text 14"/>
          <p:cNvSpPr/>
          <p:nvPr/>
        </p:nvSpPr>
        <p:spPr>
          <a:xfrm>
            <a:off x="6012180" y="54772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75%</a:t>
            </a:r>
            <a:endParaRPr lang="en-US" sz="1100" dirty="0"/>
          </a:p>
        </p:txBody>
      </p:sp>
      <p:sp>
        <p:nvSpPr>
          <p:cNvPr id="18" name="Shape 15"/>
          <p:cNvSpPr/>
          <p:nvPr/>
        </p:nvSpPr>
        <p:spPr>
          <a:xfrm>
            <a:off x="7498080" y="2514600"/>
            <a:ext cx="0" cy="2926080"/>
          </a:xfrm>
          <a:prstGeom prst="line">
            <a:avLst/>
          </a:prstGeom>
          <a:noFill/>
          <a:ln w="9525">
            <a:solidFill>
              <a:srgbClr val="D5DAE3"/>
            </a:solidFill>
            <a:prstDash val="solid"/>
          </a:ln>
        </p:spPr>
      </p:sp>
      <p:sp>
        <p:nvSpPr>
          <p:cNvPr id="19" name="Text 16"/>
          <p:cNvSpPr/>
          <p:nvPr/>
        </p:nvSpPr>
        <p:spPr>
          <a:xfrm>
            <a:off x="7132320" y="54772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100%</a:t>
            </a:r>
            <a:endParaRPr lang="en-US" sz="1100" dirty="0"/>
          </a:p>
        </p:txBody>
      </p:sp>
      <p:sp>
        <p:nvSpPr>
          <p:cNvPr id="20" name="Shape 17"/>
          <p:cNvSpPr/>
          <p:nvPr/>
        </p:nvSpPr>
        <p:spPr>
          <a:xfrm>
            <a:off x="5257800" y="2404872"/>
            <a:ext cx="0" cy="3035808"/>
          </a:xfrm>
          <a:prstGeom prst="line">
            <a:avLst/>
          </a:prstGeom>
          <a:noFill/>
          <a:ln w="19050">
            <a:solidFill>
              <a:srgbClr val="1B2433"/>
            </a:solidFill>
            <a:prstDash val="dash"/>
          </a:ln>
        </p:spPr>
      </p:sp>
      <p:sp>
        <p:nvSpPr>
          <p:cNvPr id="21" name="Text 18"/>
          <p:cNvSpPr/>
          <p:nvPr/>
        </p:nvSpPr>
        <p:spPr>
          <a:xfrm>
            <a:off x="3794760" y="2093976"/>
            <a:ext cx="2926080" cy="274320"/>
          </a:xfrm>
          <a:prstGeom prst="rect">
            <a:avLst/>
          </a:prstGeom>
          <a:noFill/>
          <a:ln/>
        </p:spPr>
        <p:txBody>
          <a:bodyPr wrap="square" lIns="0" tIns="0" rIns="0" bIns="0" rtlCol="0" anchor="ctr"/>
          <a:lstStyle/>
          <a:p>
            <a:pPr algn="ctr" indent="0" marL="0">
              <a:buNone/>
            </a:pPr>
            <a:r>
              <a:rPr lang="en-US" sz="1200" b="1" dirty="0">
                <a:solidFill>
                  <a:srgbClr val="1B2433"/>
                </a:solidFill>
                <a:latin typeface="Calibri" pitchFamily="34" charset="0"/>
                <a:ea typeface="Calibri" pitchFamily="34" charset="-122"/>
                <a:cs typeface="Calibri" pitchFamily="34" charset="-120"/>
              </a:rPr>
              <a:t>50% = coin flip</a:t>
            </a:r>
            <a:endParaRPr lang="en-US" sz="1200" dirty="0"/>
          </a:p>
        </p:txBody>
      </p:sp>
      <p:sp>
        <p:nvSpPr>
          <p:cNvPr id="22" name="Text 19"/>
          <p:cNvSpPr/>
          <p:nvPr/>
        </p:nvSpPr>
        <p:spPr>
          <a:xfrm>
            <a:off x="548640" y="2514600"/>
            <a:ext cx="2377440" cy="487680"/>
          </a:xfrm>
          <a:prstGeom prst="rect">
            <a:avLst/>
          </a:prstGeom>
          <a:noFill/>
          <a:ln/>
        </p:spPr>
        <p:txBody>
          <a:bodyPr wrap="square" lIns="0" tIns="0" rIns="0" bIns="0" rtlCol="0" anchor="ctr"/>
          <a:lstStyle/>
          <a:p>
            <a:pPr algn="r" indent="0" marL="0">
              <a:buNone/>
            </a:pPr>
            <a:r>
              <a:rPr lang="en-US" sz="1300" b="1" dirty="0">
                <a:solidFill>
                  <a:srgbClr val="1B2433"/>
                </a:solidFill>
                <a:latin typeface="Calibri" pitchFamily="34" charset="0"/>
                <a:ea typeface="Calibri" pitchFamily="34" charset="-122"/>
                <a:cs typeface="Calibri" pitchFamily="34" charset="-120"/>
              </a:rPr>
              <a:t>MetricX-24-QE</a:t>
            </a:r>
            <a:endParaRPr lang="en-US" sz="1300" dirty="0"/>
          </a:p>
          <a:p>
            <a:pPr algn="r" indent="0" marL="0">
              <a:buNone/>
            </a:pPr>
            <a:r>
              <a:rPr lang="en-US" sz="1000" dirty="0">
                <a:solidFill>
                  <a:srgbClr val="5B6577"/>
                </a:solidFill>
                <a:latin typeface="Calibri" pitchFamily="34" charset="0"/>
                <a:ea typeface="Calibri" pitchFamily="34" charset="-122"/>
                <a:cs typeface="Calibri" pitchFamily="34" charset="-120"/>
              </a:rPr>
              <a:t>no reference</a:t>
            </a:r>
            <a:endParaRPr lang="en-US" sz="1300" dirty="0"/>
          </a:p>
        </p:txBody>
      </p:sp>
      <p:sp>
        <p:nvSpPr>
          <p:cNvPr id="23" name="Shape 20"/>
          <p:cNvSpPr/>
          <p:nvPr/>
        </p:nvSpPr>
        <p:spPr>
          <a:xfrm>
            <a:off x="3017520" y="2607259"/>
            <a:ext cx="1725016" cy="302362"/>
          </a:xfrm>
          <a:prstGeom prst="rect">
            <a:avLst/>
          </a:prstGeom>
          <a:solidFill>
            <a:srgbClr val="8E44AD"/>
          </a:solidFill>
          <a:ln w="12700">
            <a:solidFill>
              <a:srgbClr val="8E44AD"/>
            </a:solidFill>
            <a:prstDash val="solid"/>
          </a:ln>
        </p:spPr>
      </p:sp>
      <p:sp>
        <p:nvSpPr>
          <p:cNvPr id="24" name="Text 21"/>
          <p:cNvSpPr/>
          <p:nvPr/>
        </p:nvSpPr>
        <p:spPr>
          <a:xfrm>
            <a:off x="4806544" y="2602992"/>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38.5%</a:t>
            </a:r>
            <a:endParaRPr lang="en-US" sz="1300" dirty="0"/>
          </a:p>
        </p:txBody>
      </p:sp>
      <p:sp>
        <p:nvSpPr>
          <p:cNvPr id="25" name="Text 22"/>
          <p:cNvSpPr/>
          <p:nvPr/>
        </p:nvSpPr>
        <p:spPr>
          <a:xfrm>
            <a:off x="548640" y="3002280"/>
            <a:ext cx="2377440" cy="487680"/>
          </a:xfrm>
          <a:prstGeom prst="rect">
            <a:avLst/>
          </a:prstGeom>
          <a:noFill/>
          <a:ln/>
        </p:spPr>
        <p:txBody>
          <a:bodyPr wrap="square" lIns="0" tIns="0" rIns="0" bIns="0" rtlCol="0" anchor="ctr"/>
          <a:lstStyle/>
          <a:p>
            <a:pPr algn="r" indent="0" marL="0">
              <a:buNone/>
            </a:pPr>
            <a:r>
              <a:rPr lang="en-US" sz="1300" b="1" dirty="0">
                <a:solidFill>
                  <a:srgbClr val="1B2433"/>
                </a:solidFill>
                <a:latin typeface="Calibri" pitchFamily="34" charset="0"/>
                <a:ea typeface="Calibri" pitchFamily="34" charset="-122"/>
                <a:cs typeface="Calibri" pitchFamily="34" charset="-120"/>
              </a:rPr>
              <a:t>CometKiwi-22</a:t>
            </a:r>
            <a:endParaRPr lang="en-US" sz="1300" dirty="0"/>
          </a:p>
          <a:p>
            <a:pPr algn="r" indent="0" marL="0">
              <a:buNone/>
            </a:pPr>
            <a:r>
              <a:rPr lang="en-US" sz="1000" dirty="0">
                <a:solidFill>
                  <a:srgbClr val="5B6577"/>
                </a:solidFill>
                <a:latin typeface="Calibri" pitchFamily="34" charset="0"/>
                <a:ea typeface="Calibri" pitchFamily="34" charset="-122"/>
                <a:cs typeface="Calibri" pitchFamily="34" charset="-120"/>
              </a:rPr>
              <a:t>no reference</a:t>
            </a:r>
            <a:endParaRPr lang="en-US" sz="1300" dirty="0"/>
          </a:p>
        </p:txBody>
      </p:sp>
      <p:sp>
        <p:nvSpPr>
          <p:cNvPr id="26" name="Shape 23"/>
          <p:cNvSpPr/>
          <p:nvPr/>
        </p:nvSpPr>
        <p:spPr>
          <a:xfrm>
            <a:off x="3017520" y="3094939"/>
            <a:ext cx="1895277" cy="302362"/>
          </a:xfrm>
          <a:prstGeom prst="rect">
            <a:avLst/>
          </a:prstGeom>
          <a:solidFill>
            <a:srgbClr val="8E44AD"/>
          </a:solidFill>
          <a:ln w="12700">
            <a:solidFill>
              <a:srgbClr val="8E44AD"/>
            </a:solidFill>
            <a:prstDash val="solid"/>
          </a:ln>
        </p:spPr>
      </p:sp>
      <p:sp>
        <p:nvSpPr>
          <p:cNvPr id="27" name="Text 24"/>
          <p:cNvSpPr/>
          <p:nvPr/>
        </p:nvSpPr>
        <p:spPr>
          <a:xfrm>
            <a:off x="4976805" y="3090672"/>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42.3%</a:t>
            </a:r>
            <a:endParaRPr lang="en-US" sz="1300" dirty="0"/>
          </a:p>
        </p:txBody>
      </p:sp>
      <p:sp>
        <p:nvSpPr>
          <p:cNvPr id="28" name="Text 25"/>
          <p:cNvSpPr/>
          <p:nvPr/>
        </p:nvSpPr>
        <p:spPr>
          <a:xfrm>
            <a:off x="548640" y="3489960"/>
            <a:ext cx="2377440" cy="487680"/>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MetricX-23</a:t>
            </a:r>
            <a:endParaRPr lang="en-US" sz="1300" dirty="0"/>
          </a:p>
          <a:p>
            <a:pPr algn="r" indent="0" marL="0">
              <a:buNone/>
            </a:pPr>
            <a:r>
              <a:rPr lang="en-US" sz="1000" dirty="0">
                <a:solidFill>
                  <a:srgbClr val="5B6577"/>
                </a:solidFill>
                <a:latin typeface="Calibri" pitchFamily="34" charset="0"/>
                <a:ea typeface="Calibri" pitchFamily="34" charset="-122"/>
                <a:cs typeface="Calibri" pitchFamily="34" charset="-120"/>
              </a:rPr>
              <a:t>with reference</a:t>
            </a:r>
            <a:endParaRPr lang="en-US" sz="1300" dirty="0"/>
          </a:p>
        </p:txBody>
      </p:sp>
      <p:sp>
        <p:nvSpPr>
          <p:cNvPr id="29" name="Shape 26"/>
          <p:cNvSpPr/>
          <p:nvPr/>
        </p:nvSpPr>
        <p:spPr>
          <a:xfrm>
            <a:off x="3017520" y="3582619"/>
            <a:ext cx="2298527" cy="302362"/>
          </a:xfrm>
          <a:prstGeom prst="rect">
            <a:avLst/>
          </a:prstGeom>
          <a:solidFill>
            <a:srgbClr val="2F6FB3"/>
          </a:solidFill>
          <a:ln w="12700">
            <a:solidFill>
              <a:srgbClr val="2F6FB3"/>
            </a:solidFill>
            <a:prstDash val="solid"/>
          </a:ln>
        </p:spPr>
      </p:sp>
      <p:sp>
        <p:nvSpPr>
          <p:cNvPr id="30" name="Text 27"/>
          <p:cNvSpPr/>
          <p:nvPr/>
        </p:nvSpPr>
        <p:spPr>
          <a:xfrm>
            <a:off x="5380055" y="3578352"/>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51.3%</a:t>
            </a:r>
            <a:endParaRPr lang="en-US" sz="1300" dirty="0"/>
          </a:p>
        </p:txBody>
      </p:sp>
      <p:sp>
        <p:nvSpPr>
          <p:cNvPr id="31" name="Text 28"/>
          <p:cNvSpPr/>
          <p:nvPr/>
        </p:nvSpPr>
        <p:spPr>
          <a:xfrm>
            <a:off x="548640" y="3977640"/>
            <a:ext cx="2377440" cy="487680"/>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xCOMET-XL</a:t>
            </a:r>
            <a:endParaRPr lang="en-US" sz="1300" dirty="0"/>
          </a:p>
          <a:p>
            <a:pPr algn="r" indent="0" marL="0">
              <a:buNone/>
            </a:pPr>
            <a:r>
              <a:rPr lang="en-US" sz="1000" dirty="0">
                <a:solidFill>
                  <a:srgbClr val="5B6577"/>
                </a:solidFill>
                <a:latin typeface="Calibri" pitchFamily="34" charset="0"/>
                <a:ea typeface="Calibri" pitchFamily="34" charset="-122"/>
                <a:cs typeface="Calibri" pitchFamily="34" charset="-120"/>
              </a:rPr>
              <a:t>with reference</a:t>
            </a:r>
            <a:endParaRPr lang="en-US" sz="1300" dirty="0"/>
          </a:p>
        </p:txBody>
      </p:sp>
      <p:sp>
        <p:nvSpPr>
          <p:cNvPr id="32" name="Shape 29"/>
          <p:cNvSpPr/>
          <p:nvPr/>
        </p:nvSpPr>
        <p:spPr>
          <a:xfrm>
            <a:off x="3017520" y="4070299"/>
            <a:ext cx="2791389" cy="302362"/>
          </a:xfrm>
          <a:prstGeom prst="rect">
            <a:avLst/>
          </a:prstGeom>
          <a:solidFill>
            <a:srgbClr val="2F6FB3"/>
          </a:solidFill>
          <a:ln w="12700">
            <a:solidFill>
              <a:srgbClr val="2F6FB3"/>
            </a:solidFill>
            <a:prstDash val="solid"/>
          </a:ln>
        </p:spPr>
      </p:sp>
      <p:sp>
        <p:nvSpPr>
          <p:cNvPr id="33" name="Text 30"/>
          <p:cNvSpPr/>
          <p:nvPr/>
        </p:nvSpPr>
        <p:spPr>
          <a:xfrm>
            <a:off x="5872917" y="4066032"/>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62.3%</a:t>
            </a:r>
            <a:endParaRPr lang="en-US" sz="1300" dirty="0"/>
          </a:p>
        </p:txBody>
      </p:sp>
      <p:sp>
        <p:nvSpPr>
          <p:cNvPr id="34" name="Text 31"/>
          <p:cNvSpPr/>
          <p:nvPr/>
        </p:nvSpPr>
        <p:spPr>
          <a:xfrm>
            <a:off x="548640" y="4465320"/>
            <a:ext cx="2377440" cy="487680"/>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MetricX-24</a:t>
            </a:r>
            <a:endParaRPr lang="en-US" sz="1300" dirty="0"/>
          </a:p>
          <a:p>
            <a:pPr algn="r" indent="0" marL="0">
              <a:buNone/>
            </a:pPr>
            <a:r>
              <a:rPr lang="en-US" sz="1000" dirty="0">
                <a:solidFill>
                  <a:srgbClr val="5B6577"/>
                </a:solidFill>
                <a:latin typeface="Calibri" pitchFamily="34" charset="0"/>
                <a:ea typeface="Calibri" pitchFamily="34" charset="-122"/>
                <a:cs typeface="Calibri" pitchFamily="34" charset="-120"/>
              </a:rPr>
              <a:t>with reference</a:t>
            </a:r>
            <a:endParaRPr lang="en-US" sz="1300" dirty="0"/>
          </a:p>
        </p:txBody>
      </p:sp>
      <p:sp>
        <p:nvSpPr>
          <p:cNvPr id="35" name="Shape 32"/>
          <p:cNvSpPr/>
          <p:nvPr/>
        </p:nvSpPr>
        <p:spPr>
          <a:xfrm>
            <a:off x="3017520" y="4557979"/>
            <a:ext cx="4041465" cy="302362"/>
          </a:xfrm>
          <a:prstGeom prst="rect">
            <a:avLst/>
          </a:prstGeom>
          <a:solidFill>
            <a:srgbClr val="2F6FB3"/>
          </a:solidFill>
          <a:ln w="12700">
            <a:solidFill>
              <a:srgbClr val="2F6FB3"/>
            </a:solidFill>
            <a:prstDash val="solid"/>
          </a:ln>
        </p:spPr>
      </p:sp>
      <p:sp>
        <p:nvSpPr>
          <p:cNvPr id="36" name="Text 33"/>
          <p:cNvSpPr/>
          <p:nvPr/>
        </p:nvSpPr>
        <p:spPr>
          <a:xfrm>
            <a:off x="7122993" y="4553712"/>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90.2%</a:t>
            </a:r>
            <a:endParaRPr lang="en-US" sz="1300" dirty="0"/>
          </a:p>
        </p:txBody>
      </p:sp>
      <p:sp>
        <p:nvSpPr>
          <p:cNvPr id="37" name="Text 34"/>
          <p:cNvSpPr/>
          <p:nvPr/>
        </p:nvSpPr>
        <p:spPr>
          <a:xfrm>
            <a:off x="548640" y="4953000"/>
            <a:ext cx="2377440" cy="487680"/>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COMET-22 · chrF2 · chrF++</a:t>
            </a:r>
            <a:endParaRPr lang="en-US" sz="1300" dirty="0"/>
          </a:p>
          <a:p>
            <a:pPr algn="r" indent="0" marL="0">
              <a:buNone/>
            </a:pPr>
            <a:r>
              <a:rPr lang="en-US" sz="1000" dirty="0">
                <a:solidFill>
                  <a:srgbClr val="5B6577"/>
                </a:solidFill>
                <a:latin typeface="Calibri" pitchFamily="34" charset="0"/>
                <a:ea typeface="Calibri" pitchFamily="34" charset="-122"/>
                <a:cs typeface="Calibri" pitchFamily="34" charset="-120"/>
              </a:rPr>
              <a:t>with reference</a:t>
            </a:r>
            <a:endParaRPr lang="en-US" sz="1300" dirty="0"/>
          </a:p>
        </p:txBody>
      </p:sp>
      <p:sp>
        <p:nvSpPr>
          <p:cNvPr id="38" name="Shape 35"/>
          <p:cNvSpPr/>
          <p:nvPr/>
        </p:nvSpPr>
        <p:spPr>
          <a:xfrm>
            <a:off x="3017520" y="5045659"/>
            <a:ext cx="4480560" cy="302362"/>
          </a:xfrm>
          <a:prstGeom prst="rect">
            <a:avLst/>
          </a:prstGeom>
          <a:solidFill>
            <a:srgbClr val="2F6FB3"/>
          </a:solidFill>
          <a:ln w="12700">
            <a:solidFill>
              <a:srgbClr val="2F6FB3"/>
            </a:solidFill>
            <a:prstDash val="solid"/>
          </a:ln>
        </p:spPr>
      </p:sp>
      <p:sp>
        <p:nvSpPr>
          <p:cNvPr id="39" name="Text 36"/>
          <p:cNvSpPr/>
          <p:nvPr/>
        </p:nvSpPr>
        <p:spPr>
          <a:xfrm>
            <a:off x="7562088" y="5041392"/>
            <a:ext cx="612648"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100.0%</a:t>
            </a:r>
            <a:endParaRPr lang="en-US" sz="1300" dirty="0"/>
          </a:p>
        </p:txBody>
      </p:sp>
      <p:sp>
        <p:nvSpPr>
          <p:cNvPr id="40" name="Shape 37"/>
          <p:cNvSpPr/>
          <p:nvPr/>
        </p:nvSpPr>
        <p:spPr>
          <a:xfrm>
            <a:off x="8732520" y="1691640"/>
            <a:ext cx="2880360" cy="3886200"/>
          </a:xfrm>
          <a:prstGeom prst="roundRect">
            <a:avLst>
              <a:gd name="adj" fmla="val 2540"/>
            </a:avLst>
          </a:prstGeom>
          <a:solidFill>
            <a:srgbClr val="F2F4F8"/>
          </a:solidFill>
          <a:ln w="12700">
            <a:solidFill>
              <a:srgbClr val="F2F4F8"/>
            </a:solidFill>
            <a:prstDash val="solid"/>
          </a:ln>
        </p:spPr>
      </p:sp>
      <p:sp>
        <p:nvSpPr>
          <p:cNvPr id="41" name="Text 38"/>
          <p:cNvSpPr/>
          <p:nvPr/>
        </p:nvSpPr>
        <p:spPr>
          <a:xfrm>
            <a:off x="8933688" y="1837944"/>
            <a:ext cx="24780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Reading the chart</a:t>
            </a:r>
            <a:endParaRPr lang="en-US" sz="1700" dirty="0"/>
          </a:p>
        </p:txBody>
      </p:sp>
      <p:sp>
        <p:nvSpPr>
          <p:cNvPr id="42" name="Text 39"/>
          <p:cNvSpPr/>
          <p:nvPr/>
        </p:nvSpPr>
        <p:spPr>
          <a:xfrm>
            <a:off x="8933688" y="2249424"/>
            <a:ext cx="2478024" cy="3182112"/>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1B2433"/>
                </a:solidFill>
                <a:latin typeface="Calibri" pitchFamily="34" charset="0"/>
                <a:ea typeface="Calibri" pitchFamily="34" charset="-122"/>
                <a:cs typeface="Calibri" pitchFamily="34" charset="-120"/>
              </a:rPr>
              <a:t>Below 50%: the metric </a:t>
            </a:r>
            <a:r>
              <a:rPr lang="en-US" sz="1300" b="1" dirty="0">
                <a:solidFill>
                  <a:srgbClr val="1B2433"/>
                </a:solidFill>
                <a:latin typeface="Calibri" pitchFamily="34" charset="0"/>
                <a:ea typeface="Calibri" pitchFamily="34" charset="-122"/>
                <a:cs typeface="Calibri" pitchFamily="34" charset="-120"/>
              </a:rPr>
              <a:t>prefers the wrong</a:t>
            </a:r>
            <a:r>
              <a:rPr lang="en-US" sz="1300" dirty="0">
                <a:solidFill>
                  <a:srgbClr val="1B2433"/>
                </a:solidFill>
                <a:latin typeface="Calibri" pitchFamily="34" charset="0"/>
                <a:ea typeface="Calibri" pitchFamily="34" charset="-122"/>
                <a:cs typeface="Calibri" pitchFamily="34" charset="-120"/>
              </a:rPr>
              <a:t> version.</a:t>
            </a:r>
            <a:endParaRPr lang="en-US" sz="1300" dirty="0"/>
          </a:p>
          <a:p>
            <a:pPr marL="228600" indent="-228600">
              <a:spcAft>
                <a:spcPts val="500"/>
              </a:spcAft>
              <a:buSzPct val="100000"/>
              <a:buChar char="•"/>
            </a:pPr>
            <a:r>
              <a:rPr lang="en-US" sz="1300" dirty="0">
                <a:solidFill>
                  <a:srgbClr val="1B2433"/>
                </a:solidFill>
                <a:latin typeface="Calibri" pitchFamily="34" charset="0"/>
                <a:ea typeface="Calibri" pitchFamily="34" charset="-122"/>
                <a:cs typeface="Calibri" pitchFamily="34" charset="-120"/>
              </a:rPr>
              <a:t>Both reference-free metrics are </a:t>
            </a:r>
            <a:r>
              <a:rPr lang="en-US" sz="1300" b="1" dirty="0">
                <a:solidFill>
                  <a:srgbClr val="1B2433"/>
                </a:solidFill>
                <a:latin typeface="Calibri" pitchFamily="34" charset="0"/>
                <a:ea typeface="Calibri" pitchFamily="34" charset="-122"/>
                <a:cs typeface="Calibri" pitchFamily="34" charset="-120"/>
              </a:rPr>
              <a:t>below 50%</a:t>
            </a:r>
            <a:r>
              <a:rPr lang="en-US" sz="1300" dirty="0">
                <a:solidFill>
                  <a:srgbClr val="1B2433"/>
                </a:solidFill>
                <a:latin typeface="Calibri" pitchFamily="34" charset="0"/>
                <a:ea typeface="Calibri" pitchFamily="34" charset="-122"/>
                <a:cs typeface="Calibri" pitchFamily="34" charset="-120"/>
              </a:rPr>
              <a:t>.</a:t>
            </a:r>
            <a:endParaRPr lang="en-US" sz="1300" dirty="0"/>
          </a:p>
          <a:p>
            <a:pPr marL="228600" indent="-228600">
              <a:spcAft>
                <a:spcPts val="500"/>
              </a:spcAft>
              <a:buSzPct val="100000"/>
              <a:buChar char="•"/>
            </a:pPr>
            <a:r>
              <a:rPr lang="en-US" sz="1300" dirty="0">
                <a:solidFill>
                  <a:srgbClr val="1B2433"/>
                </a:solidFill>
                <a:latin typeface="Calibri" pitchFamily="34" charset="0"/>
                <a:ea typeface="Calibri" pitchFamily="34" charset="-122"/>
                <a:cs typeface="Calibri" pitchFamily="34" charset="-120"/>
              </a:rPr>
              <a:t>Two metrics from </a:t>
            </a:r>
            <a:r>
              <a:rPr lang="en-US" sz="1300" b="1" dirty="0">
                <a:solidFill>
                  <a:srgbClr val="1B2433"/>
                </a:solidFill>
                <a:latin typeface="Calibri" pitchFamily="34" charset="0"/>
                <a:ea typeface="Calibri" pitchFamily="34" charset="-122"/>
                <a:cs typeface="Calibri" pitchFamily="34" charset="-120"/>
              </a:rPr>
              <a:t>different labs</a:t>
            </a:r>
            <a:r>
              <a:rPr lang="en-US" sz="1300" dirty="0">
                <a:solidFill>
                  <a:srgbClr val="1B2433"/>
                </a:solidFill>
                <a:latin typeface="Calibri" pitchFamily="34" charset="0"/>
                <a:ea typeface="Calibri" pitchFamily="34" charset="-122"/>
                <a:cs typeface="Calibri" pitchFamily="34" charset="-120"/>
              </a:rPr>
              <a:t> fail the same way.</a:t>
            </a:r>
            <a:endParaRPr lang="en-US" sz="1300" dirty="0"/>
          </a:p>
          <a:p>
            <a:pPr marL="228600" indent="-228600">
              <a:spcAft>
                <a:spcPts val="500"/>
              </a:spcAft>
              <a:buSzPct val="100000"/>
              <a:buChar char="•"/>
            </a:pPr>
            <a:r>
              <a:rPr lang="en-US" sz="1300" dirty="0">
                <a:solidFill>
                  <a:srgbClr val="1B2433"/>
                </a:solidFill>
                <a:latin typeface="Calibri" pitchFamily="34" charset="0"/>
                <a:ea typeface="Calibri" pitchFamily="34" charset="-122"/>
                <a:cs typeface="Calibri" pitchFamily="34" charset="-120"/>
              </a:rPr>
              <a:t>The 100% rows are partly built in: the reference is the correct version.</a:t>
            </a:r>
            <a:endParaRPr lang="en-US" sz="1300" dirty="0"/>
          </a:p>
        </p:txBody>
      </p:sp>
      <p:sp>
        <p:nvSpPr>
          <p:cNvPr id="43" name="Shape 40"/>
          <p:cNvSpPr/>
          <p:nvPr/>
        </p:nvSpPr>
        <p:spPr>
          <a:xfrm>
            <a:off x="548640" y="5806440"/>
            <a:ext cx="11064240" cy="502920"/>
          </a:xfrm>
          <a:prstGeom prst="roundRect">
            <a:avLst>
              <a:gd name="adj" fmla="val 14545"/>
            </a:avLst>
          </a:prstGeom>
          <a:solidFill>
            <a:srgbClr val="FBEBD2"/>
          </a:solidFill>
          <a:ln w="12700">
            <a:solidFill>
              <a:srgbClr val="E39B2D"/>
            </a:solidFill>
            <a:prstDash val="solid"/>
          </a:ln>
        </p:spPr>
      </p:sp>
      <p:sp>
        <p:nvSpPr>
          <p:cNvPr id="44" name="Text 41"/>
          <p:cNvSpPr/>
          <p:nvPr/>
        </p:nvSpPr>
        <p:spPr>
          <a:xfrm>
            <a:off x="777240" y="5806440"/>
            <a:ext cx="10607040" cy="50292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On the errors systems </a:t>
            </a:r>
            <a:r>
              <a:rPr lang="en-US" sz="1500" b="1" dirty="0">
                <a:solidFill>
                  <a:srgbClr val="1B2433"/>
                </a:solidFill>
                <a:latin typeface="Calibri" pitchFamily="34" charset="0"/>
                <a:ea typeface="Calibri" pitchFamily="34" charset="-122"/>
                <a:cs typeface="Calibri" pitchFamily="34" charset="-120"/>
              </a:rPr>
              <a:t>actually make</a:t>
            </a:r>
            <a:r>
              <a:rPr lang="en-US" sz="1500" dirty="0">
                <a:solidFill>
                  <a:srgbClr val="1B2433"/>
                </a:solidFill>
                <a:latin typeface="Calibri" pitchFamily="34" charset="0"/>
                <a:ea typeface="Calibri" pitchFamily="34" charset="-122"/>
                <a:cs typeface="Calibri" pitchFamily="34" charset="-120"/>
              </a:rPr>
              <a:t>, both reference-free metrics rank the </a:t>
            </a:r>
            <a:r>
              <a:rPr lang="en-US" sz="1500" b="1" dirty="0">
                <a:solidFill>
                  <a:srgbClr val="1B2433"/>
                </a:solidFill>
                <a:latin typeface="Calibri" pitchFamily="34" charset="0"/>
                <a:ea typeface="Calibri" pitchFamily="34" charset="-122"/>
                <a:cs typeface="Calibri" pitchFamily="34" charset="-120"/>
              </a:rPr>
              <a:t>wrong</a:t>
            </a:r>
            <a:r>
              <a:rPr lang="en-US" sz="1500" dirty="0">
                <a:solidFill>
                  <a:srgbClr val="1B2433"/>
                </a:solidFill>
                <a:latin typeface="Calibri" pitchFamily="34" charset="0"/>
                <a:ea typeface="Calibri" pitchFamily="34" charset="-122"/>
                <a:cs typeface="Calibri" pitchFamily="34" charset="-120"/>
              </a:rPr>
              <a:t> form first </a:t>
            </a:r>
            <a:r>
              <a:rPr lang="en-US" sz="1500" b="1" dirty="0">
                <a:solidFill>
                  <a:srgbClr val="1B2433"/>
                </a:solidFill>
                <a:latin typeface="Calibri" pitchFamily="34" charset="0"/>
                <a:ea typeface="Calibri" pitchFamily="34" charset="-122"/>
                <a:cs typeface="Calibri" pitchFamily="34" charset="-120"/>
              </a:rPr>
              <a:t>more often than not</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6</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Result 3: without a reference, avoiding is free</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59</a:t>
            </a:r>
            <a:endParaRPr lang="en-US" sz="900" dirty="0"/>
          </a:p>
        </p:txBody>
      </p:sp>
      <p:sp>
        <p:nvSpPr>
          <p:cNvPr id="9" name="Text 6"/>
          <p:cNvSpPr/>
          <p:nvPr/>
        </p:nvSpPr>
        <p:spPr>
          <a:xfrm>
            <a:off x="548640" y="1645920"/>
            <a:ext cx="6949440" cy="411480"/>
          </a:xfrm>
          <a:prstGeom prst="rect">
            <a:avLst/>
          </a:prstGeom>
          <a:noFill/>
          <a:ln/>
        </p:spPr>
        <p:txBody>
          <a:bodyPr wrap="square" lIns="0" tIns="0" rIns="0" bIns="0" rtlCol="0" anchor="t"/>
          <a:lstStyle/>
          <a:p>
            <a:pPr algn="l" indent="0" marL="0">
              <a:lnSpc>
                <a:spcPct val="100000"/>
              </a:lnSpc>
              <a:buNone/>
            </a:pPr>
            <a:r>
              <a:rPr lang="en-US" sz="1400" b="1" dirty="0">
                <a:solidFill>
                  <a:srgbClr val="5B6577"/>
                </a:solidFill>
                <a:latin typeface="Calibri" pitchFamily="34" charset="0"/>
                <a:ea typeface="Calibri" pitchFamily="34" charset="-122"/>
                <a:cs typeface="Calibri" pitchFamily="34" charset="-120"/>
              </a:rPr>
              <a:t>Avoidance arm, 1,252 real outputs: average penalty for the neutral form, as % of each metric's score range</a:t>
            </a:r>
            <a:endParaRPr lang="en-US" sz="1400" dirty="0"/>
          </a:p>
        </p:txBody>
      </p:sp>
      <p:sp>
        <p:nvSpPr>
          <p:cNvPr id="10" name="Shape 7"/>
          <p:cNvSpPr/>
          <p:nvPr/>
        </p:nvSpPr>
        <p:spPr>
          <a:xfrm>
            <a:off x="2952974" y="2103120"/>
            <a:ext cx="0" cy="3337560"/>
          </a:xfrm>
          <a:prstGeom prst="line">
            <a:avLst/>
          </a:prstGeom>
          <a:noFill/>
          <a:ln w="9525">
            <a:solidFill>
              <a:srgbClr val="D5DAE3"/>
            </a:solidFill>
            <a:prstDash val="solid"/>
          </a:ln>
        </p:spPr>
      </p:sp>
      <p:sp>
        <p:nvSpPr>
          <p:cNvPr id="11" name="Text 8"/>
          <p:cNvSpPr/>
          <p:nvPr/>
        </p:nvSpPr>
        <p:spPr>
          <a:xfrm>
            <a:off x="2587214" y="54772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0%</a:t>
            </a:r>
            <a:endParaRPr lang="en-US" sz="1100" dirty="0"/>
          </a:p>
        </p:txBody>
      </p:sp>
      <p:sp>
        <p:nvSpPr>
          <p:cNvPr id="12" name="Shape 9"/>
          <p:cNvSpPr/>
          <p:nvPr/>
        </p:nvSpPr>
        <p:spPr>
          <a:xfrm>
            <a:off x="4163209" y="2103120"/>
            <a:ext cx="0" cy="3337560"/>
          </a:xfrm>
          <a:prstGeom prst="line">
            <a:avLst/>
          </a:prstGeom>
          <a:noFill/>
          <a:ln w="9525">
            <a:solidFill>
              <a:srgbClr val="D5DAE3"/>
            </a:solidFill>
            <a:prstDash val="solid"/>
          </a:ln>
        </p:spPr>
      </p:sp>
      <p:sp>
        <p:nvSpPr>
          <p:cNvPr id="13" name="Text 10"/>
          <p:cNvSpPr/>
          <p:nvPr/>
        </p:nvSpPr>
        <p:spPr>
          <a:xfrm>
            <a:off x="3797449" y="54772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5%</a:t>
            </a:r>
            <a:endParaRPr lang="en-US" sz="1100" dirty="0"/>
          </a:p>
        </p:txBody>
      </p:sp>
      <p:sp>
        <p:nvSpPr>
          <p:cNvPr id="14" name="Shape 11"/>
          <p:cNvSpPr/>
          <p:nvPr/>
        </p:nvSpPr>
        <p:spPr>
          <a:xfrm>
            <a:off x="5373445" y="2103120"/>
            <a:ext cx="0" cy="3337560"/>
          </a:xfrm>
          <a:prstGeom prst="line">
            <a:avLst/>
          </a:prstGeom>
          <a:noFill/>
          <a:ln w="9525">
            <a:solidFill>
              <a:srgbClr val="D5DAE3"/>
            </a:solidFill>
            <a:prstDash val="solid"/>
          </a:ln>
        </p:spPr>
      </p:sp>
      <p:sp>
        <p:nvSpPr>
          <p:cNvPr id="15" name="Text 12"/>
          <p:cNvSpPr/>
          <p:nvPr/>
        </p:nvSpPr>
        <p:spPr>
          <a:xfrm>
            <a:off x="5007685" y="54772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10%</a:t>
            </a:r>
            <a:endParaRPr lang="en-US" sz="1100" dirty="0"/>
          </a:p>
        </p:txBody>
      </p:sp>
      <p:sp>
        <p:nvSpPr>
          <p:cNvPr id="16" name="Shape 13"/>
          <p:cNvSpPr/>
          <p:nvPr/>
        </p:nvSpPr>
        <p:spPr>
          <a:xfrm>
            <a:off x="6583680" y="2103120"/>
            <a:ext cx="0" cy="3337560"/>
          </a:xfrm>
          <a:prstGeom prst="line">
            <a:avLst/>
          </a:prstGeom>
          <a:noFill/>
          <a:ln w="9525">
            <a:solidFill>
              <a:srgbClr val="D5DAE3"/>
            </a:solidFill>
            <a:prstDash val="solid"/>
          </a:ln>
        </p:spPr>
      </p:sp>
      <p:sp>
        <p:nvSpPr>
          <p:cNvPr id="17" name="Text 14"/>
          <p:cNvSpPr/>
          <p:nvPr/>
        </p:nvSpPr>
        <p:spPr>
          <a:xfrm>
            <a:off x="6217920" y="547725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15%</a:t>
            </a:r>
            <a:endParaRPr lang="en-US" sz="1100" dirty="0"/>
          </a:p>
        </p:txBody>
      </p:sp>
      <p:sp>
        <p:nvSpPr>
          <p:cNvPr id="18" name="Text 15"/>
          <p:cNvSpPr/>
          <p:nvPr/>
        </p:nvSpPr>
        <p:spPr>
          <a:xfrm>
            <a:off x="548640" y="2103120"/>
            <a:ext cx="1828800" cy="417195"/>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chrF++</a:t>
            </a:r>
            <a:endParaRPr lang="en-US" sz="1300" dirty="0"/>
          </a:p>
        </p:txBody>
      </p:sp>
      <p:sp>
        <p:nvSpPr>
          <p:cNvPr id="19" name="Shape 16"/>
          <p:cNvSpPr/>
          <p:nvPr/>
        </p:nvSpPr>
        <p:spPr>
          <a:xfrm>
            <a:off x="2952974" y="2182387"/>
            <a:ext cx="3366875" cy="258661"/>
          </a:xfrm>
          <a:prstGeom prst="rect">
            <a:avLst/>
          </a:prstGeom>
          <a:solidFill>
            <a:srgbClr val="2F6FB3"/>
          </a:solidFill>
          <a:ln w="12700">
            <a:solidFill>
              <a:srgbClr val="2F6FB3"/>
            </a:solidFill>
            <a:prstDash val="solid"/>
          </a:ln>
        </p:spPr>
      </p:sp>
      <p:sp>
        <p:nvSpPr>
          <p:cNvPr id="20" name="Text 17"/>
          <p:cNvSpPr/>
          <p:nvPr/>
        </p:nvSpPr>
        <p:spPr>
          <a:xfrm>
            <a:off x="6383857" y="2156270"/>
            <a:ext cx="612648"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13.91%</a:t>
            </a:r>
            <a:endParaRPr lang="en-US" sz="1300" dirty="0"/>
          </a:p>
        </p:txBody>
      </p:sp>
      <p:sp>
        <p:nvSpPr>
          <p:cNvPr id="21" name="Text 18"/>
          <p:cNvSpPr/>
          <p:nvPr/>
        </p:nvSpPr>
        <p:spPr>
          <a:xfrm>
            <a:off x="548640" y="2520315"/>
            <a:ext cx="1828800" cy="417195"/>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chrF2</a:t>
            </a:r>
            <a:endParaRPr lang="en-US" sz="1300" dirty="0"/>
          </a:p>
        </p:txBody>
      </p:sp>
      <p:sp>
        <p:nvSpPr>
          <p:cNvPr id="22" name="Shape 19"/>
          <p:cNvSpPr/>
          <p:nvPr/>
        </p:nvSpPr>
        <p:spPr>
          <a:xfrm>
            <a:off x="2952974" y="2599582"/>
            <a:ext cx="2168742" cy="258661"/>
          </a:xfrm>
          <a:prstGeom prst="rect">
            <a:avLst/>
          </a:prstGeom>
          <a:solidFill>
            <a:srgbClr val="2F6FB3"/>
          </a:solidFill>
          <a:ln w="12700">
            <a:solidFill>
              <a:srgbClr val="2F6FB3"/>
            </a:solidFill>
            <a:prstDash val="solid"/>
          </a:ln>
        </p:spPr>
      </p:sp>
      <p:sp>
        <p:nvSpPr>
          <p:cNvPr id="23" name="Text 20"/>
          <p:cNvSpPr/>
          <p:nvPr/>
        </p:nvSpPr>
        <p:spPr>
          <a:xfrm>
            <a:off x="5185724" y="2573464"/>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8.96%</a:t>
            </a:r>
            <a:endParaRPr lang="en-US" sz="1300" dirty="0"/>
          </a:p>
        </p:txBody>
      </p:sp>
      <p:sp>
        <p:nvSpPr>
          <p:cNvPr id="24" name="Text 21"/>
          <p:cNvSpPr/>
          <p:nvPr/>
        </p:nvSpPr>
        <p:spPr>
          <a:xfrm>
            <a:off x="548640" y="2937510"/>
            <a:ext cx="1828800" cy="417195"/>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MetricX-24</a:t>
            </a:r>
            <a:endParaRPr lang="en-US" sz="1300" dirty="0"/>
          </a:p>
        </p:txBody>
      </p:sp>
      <p:sp>
        <p:nvSpPr>
          <p:cNvPr id="25" name="Shape 22"/>
          <p:cNvSpPr/>
          <p:nvPr/>
        </p:nvSpPr>
        <p:spPr>
          <a:xfrm>
            <a:off x="2952974" y="3016777"/>
            <a:ext cx="1829876" cy="258661"/>
          </a:xfrm>
          <a:prstGeom prst="rect">
            <a:avLst/>
          </a:prstGeom>
          <a:solidFill>
            <a:srgbClr val="2F6FB3"/>
          </a:solidFill>
          <a:ln w="12700">
            <a:solidFill>
              <a:srgbClr val="2F6FB3"/>
            </a:solidFill>
            <a:prstDash val="solid"/>
          </a:ln>
        </p:spPr>
      </p:sp>
      <p:sp>
        <p:nvSpPr>
          <p:cNvPr id="26" name="Text 23"/>
          <p:cNvSpPr/>
          <p:nvPr/>
        </p:nvSpPr>
        <p:spPr>
          <a:xfrm>
            <a:off x="4846858" y="2990660"/>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7.56%</a:t>
            </a:r>
            <a:endParaRPr lang="en-US" sz="1300" dirty="0"/>
          </a:p>
        </p:txBody>
      </p:sp>
      <p:sp>
        <p:nvSpPr>
          <p:cNvPr id="27" name="Text 24"/>
          <p:cNvSpPr/>
          <p:nvPr/>
        </p:nvSpPr>
        <p:spPr>
          <a:xfrm>
            <a:off x="548640" y="3354705"/>
            <a:ext cx="1828800" cy="417195"/>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COMET-22</a:t>
            </a:r>
            <a:endParaRPr lang="en-US" sz="1300" dirty="0"/>
          </a:p>
        </p:txBody>
      </p:sp>
      <p:sp>
        <p:nvSpPr>
          <p:cNvPr id="28" name="Shape 25"/>
          <p:cNvSpPr/>
          <p:nvPr/>
        </p:nvSpPr>
        <p:spPr>
          <a:xfrm>
            <a:off x="2952974" y="3433972"/>
            <a:ext cx="958506" cy="258661"/>
          </a:xfrm>
          <a:prstGeom prst="rect">
            <a:avLst/>
          </a:prstGeom>
          <a:solidFill>
            <a:srgbClr val="2F6FB3"/>
          </a:solidFill>
          <a:ln w="12700">
            <a:solidFill>
              <a:srgbClr val="2F6FB3"/>
            </a:solidFill>
            <a:prstDash val="solid"/>
          </a:ln>
        </p:spPr>
      </p:sp>
      <p:sp>
        <p:nvSpPr>
          <p:cNvPr id="29" name="Text 26"/>
          <p:cNvSpPr/>
          <p:nvPr/>
        </p:nvSpPr>
        <p:spPr>
          <a:xfrm>
            <a:off x="3975488" y="3407854"/>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3.96%</a:t>
            </a:r>
            <a:endParaRPr lang="en-US" sz="1300" dirty="0"/>
          </a:p>
        </p:txBody>
      </p:sp>
      <p:sp>
        <p:nvSpPr>
          <p:cNvPr id="30" name="Text 27"/>
          <p:cNvSpPr/>
          <p:nvPr/>
        </p:nvSpPr>
        <p:spPr>
          <a:xfrm>
            <a:off x="548640" y="3771900"/>
            <a:ext cx="1828800" cy="417195"/>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xCOMET-XL</a:t>
            </a:r>
            <a:endParaRPr lang="en-US" sz="1300" dirty="0"/>
          </a:p>
        </p:txBody>
      </p:sp>
      <p:sp>
        <p:nvSpPr>
          <p:cNvPr id="31" name="Shape 28"/>
          <p:cNvSpPr/>
          <p:nvPr/>
        </p:nvSpPr>
        <p:spPr>
          <a:xfrm>
            <a:off x="2952974" y="3851167"/>
            <a:ext cx="539765" cy="258661"/>
          </a:xfrm>
          <a:prstGeom prst="rect">
            <a:avLst/>
          </a:prstGeom>
          <a:solidFill>
            <a:srgbClr val="2F6FB3"/>
          </a:solidFill>
          <a:ln w="12700">
            <a:solidFill>
              <a:srgbClr val="2F6FB3"/>
            </a:solidFill>
            <a:prstDash val="solid"/>
          </a:ln>
        </p:spPr>
      </p:sp>
      <p:sp>
        <p:nvSpPr>
          <p:cNvPr id="32" name="Text 29"/>
          <p:cNvSpPr/>
          <p:nvPr/>
        </p:nvSpPr>
        <p:spPr>
          <a:xfrm>
            <a:off x="3556747" y="3825050"/>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2.23%</a:t>
            </a:r>
            <a:endParaRPr lang="en-US" sz="1300" dirty="0"/>
          </a:p>
        </p:txBody>
      </p:sp>
      <p:sp>
        <p:nvSpPr>
          <p:cNvPr id="33" name="Text 30"/>
          <p:cNvSpPr/>
          <p:nvPr/>
        </p:nvSpPr>
        <p:spPr>
          <a:xfrm>
            <a:off x="548640" y="4189095"/>
            <a:ext cx="1828800" cy="417195"/>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MetricX-23</a:t>
            </a:r>
            <a:endParaRPr lang="en-US" sz="1300" dirty="0"/>
          </a:p>
        </p:txBody>
      </p:sp>
      <p:sp>
        <p:nvSpPr>
          <p:cNvPr id="34" name="Shape 31"/>
          <p:cNvSpPr/>
          <p:nvPr/>
        </p:nvSpPr>
        <p:spPr>
          <a:xfrm>
            <a:off x="2952974" y="4268362"/>
            <a:ext cx="27432" cy="258661"/>
          </a:xfrm>
          <a:prstGeom prst="rect">
            <a:avLst/>
          </a:prstGeom>
          <a:solidFill>
            <a:srgbClr val="2F6FB3"/>
          </a:solidFill>
          <a:ln w="12700">
            <a:solidFill>
              <a:srgbClr val="2F6FB3"/>
            </a:solidFill>
            <a:prstDash val="solid"/>
          </a:ln>
        </p:spPr>
      </p:sp>
      <p:sp>
        <p:nvSpPr>
          <p:cNvPr id="35" name="Text 32"/>
          <p:cNvSpPr/>
          <p:nvPr/>
        </p:nvSpPr>
        <p:spPr>
          <a:xfrm>
            <a:off x="3043607" y="4242244"/>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0.11%</a:t>
            </a:r>
            <a:endParaRPr lang="en-US" sz="1300" dirty="0"/>
          </a:p>
        </p:txBody>
      </p:sp>
      <p:sp>
        <p:nvSpPr>
          <p:cNvPr id="36" name="Text 33"/>
          <p:cNvSpPr/>
          <p:nvPr/>
        </p:nvSpPr>
        <p:spPr>
          <a:xfrm>
            <a:off x="548640" y="4606290"/>
            <a:ext cx="1828800" cy="417195"/>
          </a:xfrm>
          <a:prstGeom prst="rect">
            <a:avLst/>
          </a:prstGeom>
          <a:noFill/>
          <a:ln/>
        </p:spPr>
        <p:txBody>
          <a:bodyPr wrap="square" lIns="0" tIns="0" rIns="0" bIns="0" rtlCol="0" anchor="ctr"/>
          <a:lstStyle/>
          <a:p>
            <a:pPr algn="r" indent="0" marL="0">
              <a:buNone/>
            </a:pPr>
            <a:r>
              <a:rPr lang="en-US" sz="1300" b="1" dirty="0">
                <a:solidFill>
                  <a:srgbClr val="1B2433"/>
                </a:solidFill>
                <a:latin typeface="Calibri" pitchFamily="34" charset="0"/>
                <a:ea typeface="Calibri" pitchFamily="34" charset="-122"/>
                <a:cs typeface="Calibri" pitchFamily="34" charset="-120"/>
              </a:rPr>
              <a:t>CometKiwi-22</a:t>
            </a:r>
            <a:endParaRPr lang="en-US" sz="1300" dirty="0"/>
          </a:p>
        </p:txBody>
      </p:sp>
      <p:sp>
        <p:nvSpPr>
          <p:cNvPr id="37" name="Shape 34"/>
          <p:cNvSpPr/>
          <p:nvPr/>
        </p:nvSpPr>
        <p:spPr>
          <a:xfrm>
            <a:off x="2928769" y="4685557"/>
            <a:ext cx="27432" cy="258661"/>
          </a:xfrm>
          <a:prstGeom prst="rect">
            <a:avLst/>
          </a:prstGeom>
          <a:solidFill>
            <a:srgbClr val="8E44AD"/>
          </a:solidFill>
          <a:ln w="12700">
            <a:solidFill>
              <a:srgbClr val="8E44AD"/>
            </a:solidFill>
            <a:prstDash val="solid"/>
          </a:ln>
        </p:spPr>
      </p:sp>
      <p:sp>
        <p:nvSpPr>
          <p:cNvPr id="38" name="Text 35"/>
          <p:cNvSpPr/>
          <p:nvPr/>
        </p:nvSpPr>
        <p:spPr>
          <a:xfrm>
            <a:off x="3016982" y="4659440"/>
            <a:ext cx="612648"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-0.10%</a:t>
            </a:r>
            <a:endParaRPr lang="en-US" sz="1300" dirty="0"/>
          </a:p>
        </p:txBody>
      </p:sp>
      <p:sp>
        <p:nvSpPr>
          <p:cNvPr id="39" name="Text 36"/>
          <p:cNvSpPr/>
          <p:nvPr/>
        </p:nvSpPr>
        <p:spPr>
          <a:xfrm>
            <a:off x="548640" y="5023485"/>
            <a:ext cx="1828800" cy="417195"/>
          </a:xfrm>
          <a:prstGeom prst="rect">
            <a:avLst/>
          </a:prstGeom>
          <a:noFill/>
          <a:ln/>
        </p:spPr>
        <p:txBody>
          <a:bodyPr wrap="square" lIns="0" tIns="0" rIns="0" bIns="0" rtlCol="0" anchor="ctr"/>
          <a:lstStyle/>
          <a:p>
            <a:pPr algn="r" indent="0" marL="0">
              <a:buNone/>
            </a:pPr>
            <a:r>
              <a:rPr lang="en-US" sz="1300" b="1" dirty="0">
                <a:solidFill>
                  <a:srgbClr val="1B2433"/>
                </a:solidFill>
                <a:latin typeface="Calibri" pitchFamily="34" charset="0"/>
                <a:ea typeface="Calibri" pitchFamily="34" charset="-122"/>
                <a:cs typeface="Calibri" pitchFamily="34" charset="-120"/>
              </a:rPr>
              <a:t>MetricX-24-QE</a:t>
            </a:r>
            <a:endParaRPr lang="en-US" sz="1300" dirty="0"/>
          </a:p>
        </p:txBody>
      </p:sp>
      <p:sp>
        <p:nvSpPr>
          <p:cNvPr id="40" name="Shape 37"/>
          <p:cNvSpPr/>
          <p:nvPr/>
        </p:nvSpPr>
        <p:spPr>
          <a:xfrm>
            <a:off x="2851314" y="5102752"/>
            <a:ext cx="101660" cy="258661"/>
          </a:xfrm>
          <a:prstGeom prst="rect">
            <a:avLst/>
          </a:prstGeom>
          <a:solidFill>
            <a:srgbClr val="8E44AD"/>
          </a:solidFill>
          <a:ln w="12700">
            <a:solidFill>
              <a:srgbClr val="8E44AD"/>
            </a:solidFill>
            <a:prstDash val="solid"/>
          </a:ln>
        </p:spPr>
      </p:sp>
      <p:sp>
        <p:nvSpPr>
          <p:cNvPr id="41" name="Text 38"/>
          <p:cNvSpPr/>
          <p:nvPr/>
        </p:nvSpPr>
        <p:spPr>
          <a:xfrm>
            <a:off x="3016982" y="5076635"/>
            <a:ext cx="612648"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-0.42%</a:t>
            </a:r>
            <a:endParaRPr lang="en-US" sz="1300" dirty="0"/>
          </a:p>
        </p:txBody>
      </p:sp>
      <p:sp>
        <p:nvSpPr>
          <p:cNvPr id="42" name="Shape 39"/>
          <p:cNvSpPr/>
          <p:nvPr/>
        </p:nvSpPr>
        <p:spPr>
          <a:xfrm>
            <a:off x="2952974" y="2057400"/>
            <a:ext cx="0" cy="3383280"/>
          </a:xfrm>
          <a:prstGeom prst="line">
            <a:avLst/>
          </a:prstGeom>
          <a:noFill/>
          <a:ln w="12700">
            <a:solidFill>
              <a:srgbClr val="1B2433"/>
            </a:solidFill>
            <a:prstDash val="solid"/>
          </a:ln>
        </p:spPr>
      </p:sp>
      <p:sp>
        <p:nvSpPr>
          <p:cNvPr id="43" name="Text 40"/>
          <p:cNvSpPr/>
          <p:nvPr/>
        </p:nvSpPr>
        <p:spPr>
          <a:xfrm>
            <a:off x="7589520" y="1627632"/>
            <a:ext cx="1188720" cy="457200"/>
          </a:xfrm>
          <a:prstGeom prst="rect">
            <a:avLst/>
          </a:prstGeom>
          <a:noFill/>
          <a:ln/>
        </p:spPr>
        <p:txBody>
          <a:bodyPr wrap="square" lIns="0" tIns="0" rIns="0" bIns="0" rtlCol="0" anchor="t"/>
          <a:lstStyle/>
          <a:p>
            <a:pPr algn="ctr" indent="0" marL="0">
              <a:lnSpc>
                <a:spcPct val="100000"/>
              </a:lnSpc>
              <a:buNone/>
            </a:pPr>
            <a:r>
              <a:rPr lang="en-US" sz="1100" b="1" dirty="0">
                <a:solidFill>
                  <a:srgbClr val="5B6577"/>
                </a:solidFill>
                <a:latin typeface="Calibri" pitchFamily="34" charset="0"/>
                <a:ea typeface="Calibri" pitchFamily="34" charset="-122"/>
                <a:cs typeface="Calibri" pitchFamily="34" charset="-120"/>
              </a:rPr>
              <a:t>interval</a:t>
            </a:r>
            <a:endParaRPr lang="en-US" sz="1100" dirty="0"/>
          </a:p>
          <a:p>
            <a:pPr algn="ctr" indent="0" marL="0">
              <a:lnSpc>
                <a:spcPct val="100000"/>
              </a:lnSpc>
              <a:buNone/>
            </a:pPr>
            <a:r>
              <a:rPr lang="en-US" sz="1100" b="1" dirty="0">
                <a:solidFill>
                  <a:srgbClr val="5B6577"/>
                </a:solidFill>
                <a:latin typeface="Calibri" pitchFamily="34" charset="0"/>
                <a:ea typeface="Calibri" pitchFamily="34" charset="-122"/>
                <a:cs typeface="Calibri" pitchFamily="34" charset="-120"/>
              </a:rPr>
              <a:t>includes 0?</a:t>
            </a:r>
            <a:endParaRPr lang="en-US" sz="1100" dirty="0"/>
          </a:p>
        </p:txBody>
      </p:sp>
      <p:sp>
        <p:nvSpPr>
          <p:cNvPr id="44" name="Shape 41"/>
          <p:cNvSpPr/>
          <p:nvPr/>
        </p:nvSpPr>
        <p:spPr>
          <a:xfrm>
            <a:off x="7726680" y="2185416"/>
            <a:ext cx="914400" cy="256032"/>
          </a:xfrm>
          <a:prstGeom prst="roundRect">
            <a:avLst>
              <a:gd name="adj" fmla="val 28571"/>
            </a:avLst>
          </a:prstGeom>
          <a:solidFill>
            <a:srgbClr val="009E73"/>
          </a:solidFill>
          <a:ln w="12700">
            <a:solidFill>
              <a:srgbClr val="009E73"/>
            </a:solidFill>
            <a:prstDash val="solid"/>
          </a:ln>
        </p:spPr>
      </p:sp>
      <p:sp>
        <p:nvSpPr>
          <p:cNvPr id="45" name="Text 42"/>
          <p:cNvSpPr/>
          <p:nvPr/>
        </p:nvSpPr>
        <p:spPr>
          <a:xfrm>
            <a:off x="7726680" y="2185416"/>
            <a:ext cx="9144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a:t>
            </a:r>
            <a:endParaRPr lang="en-US" sz="1100" dirty="0"/>
          </a:p>
        </p:txBody>
      </p:sp>
      <p:sp>
        <p:nvSpPr>
          <p:cNvPr id="46" name="Shape 43"/>
          <p:cNvSpPr/>
          <p:nvPr/>
        </p:nvSpPr>
        <p:spPr>
          <a:xfrm>
            <a:off x="7726680" y="2602611"/>
            <a:ext cx="914400" cy="256032"/>
          </a:xfrm>
          <a:prstGeom prst="roundRect">
            <a:avLst>
              <a:gd name="adj" fmla="val 28571"/>
            </a:avLst>
          </a:prstGeom>
          <a:solidFill>
            <a:srgbClr val="009E73"/>
          </a:solidFill>
          <a:ln w="12700">
            <a:solidFill>
              <a:srgbClr val="009E73"/>
            </a:solidFill>
            <a:prstDash val="solid"/>
          </a:ln>
        </p:spPr>
      </p:sp>
      <p:sp>
        <p:nvSpPr>
          <p:cNvPr id="47" name="Text 44"/>
          <p:cNvSpPr/>
          <p:nvPr/>
        </p:nvSpPr>
        <p:spPr>
          <a:xfrm>
            <a:off x="7726680" y="2602611"/>
            <a:ext cx="9144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a:t>
            </a:r>
            <a:endParaRPr lang="en-US" sz="1100" dirty="0"/>
          </a:p>
        </p:txBody>
      </p:sp>
      <p:sp>
        <p:nvSpPr>
          <p:cNvPr id="48" name="Shape 45"/>
          <p:cNvSpPr/>
          <p:nvPr/>
        </p:nvSpPr>
        <p:spPr>
          <a:xfrm>
            <a:off x="7726680" y="3019806"/>
            <a:ext cx="914400" cy="256032"/>
          </a:xfrm>
          <a:prstGeom prst="roundRect">
            <a:avLst>
              <a:gd name="adj" fmla="val 28571"/>
            </a:avLst>
          </a:prstGeom>
          <a:solidFill>
            <a:srgbClr val="009E73"/>
          </a:solidFill>
          <a:ln w="12700">
            <a:solidFill>
              <a:srgbClr val="009E73"/>
            </a:solidFill>
            <a:prstDash val="solid"/>
          </a:ln>
        </p:spPr>
      </p:sp>
      <p:sp>
        <p:nvSpPr>
          <p:cNvPr id="49" name="Text 46"/>
          <p:cNvSpPr/>
          <p:nvPr/>
        </p:nvSpPr>
        <p:spPr>
          <a:xfrm>
            <a:off x="7726680" y="3019806"/>
            <a:ext cx="9144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a:t>
            </a:r>
            <a:endParaRPr lang="en-US" sz="1100" dirty="0"/>
          </a:p>
        </p:txBody>
      </p:sp>
      <p:sp>
        <p:nvSpPr>
          <p:cNvPr id="50" name="Shape 47"/>
          <p:cNvSpPr/>
          <p:nvPr/>
        </p:nvSpPr>
        <p:spPr>
          <a:xfrm>
            <a:off x="7726680" y="3437001"/>
            <a:ext cx="914400" cy="256032"/>
          </a:xfrm>
          <a:prstGeom prst="roundRect">
            <a:avLst>
              <a:gd name="adj" fmla="val 28571"/>
            </a:avLst>
          </a:prstGeom>
          <a:solidFill>
            <a:srgbClr val="009E73"/>
          </a:solidFill>
          <a:ln w="12700">
            <a:solidFill>
              <a:srgbClr val="009E73"/>
            </a:solidFill>
            <a:prstDash val="solid"/>
          </a:ln>
        </p:spPr>
      </p:sp>
      <p:sp>
        <p:nvSpPr>
          <p:cNvPr id="51" name="Text 48"/>
          <p:cNvSpPr/>
          <p:nvPr/>
        </p:nvSpPr>
        <p:spPr>
          <a:xfrm>
            <a:off x="7726680" y="3437001"/>
            <a:ext cx="9144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a:t>
            </a:r>
            <a:endParaRPr lang="en-US" sz="1100" dirty="0"/>
          </a:p>
        </p:txBody>
      </p:sp>
      <p:sp>
        <p:nvSpPr>
          <p:cNvPr id="52" name="Shape 49"/>
          <p:cNvSpPr/>
          <p:nvPr/>
        </p:nvSpPr>
        <p:spPr>
          <a:xfrm>
            <a:off x="7726680" y="3854196"/>
            <a:ext cx="914400" cy="256032"/>
          </a:xfrm>
          <a:prstGeom prst="roundRect">
            <a:avLst>
              <a:gd name="adj" fmla="val 28571"/>
            </a:avLst>
          </a:prstGeom>
          <a:solidFill>
            <a:srgbClr val="009E73"/>
          </a:solidFill>
          <a:ln w="12700">
            <a:solidFill>
              <a:srgbClr val="009E73"/>
            </a:solidFill>
            <a:prstDash val="solid"/>
          </a:ln>
        </p:spPr>
      </p:sp>
      <p:sp>
        <p:nvSpPr>
          <p:cNvPr id="53" name="Text 50"/>
          <p:cNvSpPr/>
          <p:nvPr/>
        </p:nvSpPr>
        <p:spPr>
          <a:xfrm>
            <a:off x="7726680" y="3854196"/>
            <a:ext cx="9144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a:t>
            </a:r>
            <a:endParaRPr lang="en-US" sz="1100" dirty="0"/>
          </a:p>
        </p:txBody>
      </p:sp>
      <p:sp>
        <p:nvSpPr>
          <p:cNvPr id="54" name="Shape 51"/>
          <p:cNvSpPr/>
          <p:nvPr/>
        </p:nvSpPr>
        <p:spPr>
          <a:xfrm>
            <a:off x="7726680" y="4271391"/>
            <a:ext cx="914400" cy="256032"/>
          </a:xfrm>
          <a:prstGeom prst="roundRect">
            <a:avLst>
              <a:gd name="adj" fmla="val 28571"/>
            </a:avLst>
          </a:prstGeom>
          <a:solidFill>
            <a:srgbClr val="D55E00"/>
          </a:solidFill>
          <a:ln w="12700">
            <a:solidFill>
              <a:srgbClr val="D55E00"/>
            </a:solidFill>
            <a:prstDash val="solid"/>
          </a:ln>
        </p:spPr>
      </p:sp>
      <p:sp>
        <p:nvSpPr>
          <p:cNvPr id="55" name="Text 52"/>
          <p:cNvSpPr/>
          <p:nvPr/>
        </p:nvSpPr>
        <p:spPr>
          <a:xfrm>
            <a:off x="7726680" y="4271391"/>
            <a:ext cx="9144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yes</a:t>
            </a:r>
            <a:endParaRPr lang="en-US" sz="1100" dirty="0"/>
          </a:p>
        </p:txBody>
      </p:sp>
      <p:sp>
        <p:nvSpPr>
          <p:cNvPr id="56" name="Shape 53"/>
          <p:cNvSpPr/>
          <p:nvPr/>
        </p:nvSpPr>
        <p:spPr>
          <a:xfrm>
            <a:off x="7726680" y="4688586"/>
            <a:ext cx="914400" cy="256032"/>
          </a:xfrm>
          <a:prstGeom prst="roundRect">
            <a:avLst>
              <a:gd name="adj" fmla="val 28571"/>
            </a:avLst>
          </a:prstGeom>
          <a:solidFill>
            <a:srgbClr val="D55E00"/>
          </a:solidFill>
          <a:ln w="12700">
            <a:solidFill>
              <a:srgbClr val="D55E00"/>
            </a:solidFill>
            <a:prstDash val="solid"/>
          </a:ln>
        </p:spPr>
      </p:sp>
      <p:sp>
        <p:nvSpPr>
          <p:cNvPr id="57" name="Text 54"/>
          <p:cNvSpPr/>
          <p:nvPr/>
        </p:nvSpPr>
        <p:spPr>
          <a:xfrm>
            <a:off x="7726680" y="4688586"/>
            <a:ext cx="9144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yes</a:t>
            </a:r>
            <a:endParaRPr lang="en-US" sz="1100" dirty="0"/>
          </a:p>
        </p:txBody>
      </p:sp>
      <p:sp>
        <p:nvSpPr>
          <p:cNvPr id="58" name="Shape 55"/>
          <p:cNvSpPr/>
          <p:nvPr/>
        </p:nvSpPr>
        <p:spPr>
          <a:xfrm>
            <a:off x="7726680" y="5105781"/>
            <a:ext cx="914400" cy="256032"/>
          </a:xfrm>
          <a:prstGeom prst="roundRect">
            <a:avLst>
              <a:gd name="adj" fmla="val 28571"/>
            </a:avLst>
          </a:prstGeom>
          <a:solidFill>
            <a:srgbClr val="D55E00"/>
          </a:solidFill>
          <a:ln w="12700">
            <a:solidFill>
              <a:srgbClr val="D55E00"/>
            </a:solidFill>
            <a:prstDash val="solid"/>
          </a:ln>
        </p:spPr>
      </p:sp>
      <p:sp>
        <p:nvSpPr>
          <p:cNvPr id="59" name="Text 56"/>
          <p:cNvSpPr/>
          <p:nvPr/>
        </p:nvSpPr>
        <p:spPr>
          <a:xfrm>
            <a:off x="7726680" y="5105781"/>
            <a:ext cx="9144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yes</a:t>
            </a:r>
            <a:endParaRPr lang="en-US" sz="1100" dirty="0"/>
          </a:p>
        </p:txBody>
      </p:sp>
      <p:sp>
        <p:nvSpPr>
          <p:cNvPr id="60" name="Shape 57"/>
          <p:cNvSpPr/>
          <p:nvPr/>
        </p:nvSpPr>
        <p:spPr>
          <a:xfrm>
            <a:off x="8915400" y="1691640"/>
            <a:ext cx="2697480" cy="3886200"/>
          </a:xfrm>
          <a:prstGeom prst="roundRect">
            <a:avLst>
              <a:gd name="adj" fmla="val 2712"/>
            </a:avLst>
          </a:prstGeom>
          <a:solidFill>
            <a:srgbClr val="EFE3F5"/>
          </a:solidFill>
          <a:ln w="12700">
            <a:solidFill>
              <a:srgbClr val="EFE3F5"/>
            </a:solidFill>
            <a:prstDash val="solid"/>
          </a:ln>
        </p:spPr>
      </p:sp>
      <p:sp>
        <p:nvSpPr>
          <p:cNvPr id="61" name="Text 58"/>
          <p:cNvSpPr/>
          <p:nvPr/>
        </p:nvSpPr>
        <p:spPr>
          <a:xfrm>
            <a:off x="9116568" y="1837944"/>
            <a:ext cx="229514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CometKiwi-22, exactly</a:t>
            </a:r>
            <a:endParaRPr lang="en-US" sz="1700" dirty="0"/>
          </a:p>
        </p:txBody>
      </p:sp>
      <p:sp>
        <p:nvSpPr>
          <p:cNvPr id="62" name="Text 59"/>
          <p:cNvSpPr/>
          <p:nvPr/>
        </p:nvSpPr>
        <p:spPr>
          <a:xfrm>
            <a:off x="9116568" y="2249424"/>
            <a:ext cx="2295144" cy="3182112"/>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1B2433"/>
                </a:solidFill>
                <a:latin typeface="Calibri" pitchFamily="34" charset="0"/>
                <a:ea typeface="Calibri" pitchFamily="34" charset="-122"/>
                <a:cs typeface="Calibri" pitchFamily="34" charset="-120"/>
              </a:rPr>
              <a:t>Average penalty </a:t>
            </a:r>
            <a:r>
              <a:rPr lang="en-US" sz="1300" b="1" dirty="0">
                <a:solidFill>
                  <a:srgbClr val="1B2433"/>
                </a:solidFill>
                <a:latin typeface="Calibri" pitchFamily="34" charset="0"/>
                <a:ea typeface="Calibri" pitchFamily="34" charset="-122"/>
                <a:cs typeface="Calibri" pitchFamily="34" charset="-120"/>
              </a:rPr>
              <a:t>−0.000965</a:t>
            </a:r>
            <a:r>
              <a:rPr lang="en-US" sz="1300" dirty="0">
                <a:solidFill>
                  <a:srgbClr val="1B2433"/>
                </a:solidFill>
                <a:latin typeface="Calibri" pitchFamily="34" charset="0"/>
                <a:ea typeface="Calibri" pitchFamily="34" charset="-122"/>
                <a:cs typeface="Calibri" pitchFamily="34" charset="-120"/>
              </a:rPr>
              <a:t> (on a 0 to 1 scale).</a:t>
            </a:r>
            <a:endParaRPr lang="en-US" sz="1300" dirty="0"/>
          </a:p>
          <a:p>
            <a:pPr marL="228600" indent="-228600">
              <a:spcAft>
                <a:spcPts val="500"/>
              </a:spcAft>
              <a:buSzPct val="100000"/>
              <a:buChar char="•"/>
            </a:pPr>
            <a:r>
              <a:rPr lang="en-US" sz="1300" dirty="0">
                <a:solidFill>
                  <a:srgbClr val="1B2433"/>
                </a:solidFill>
                <a:latin typeface="Calibri" pitchFamily="34" charset="0"/>
                <a:ea typeface="Calibri" pitchFamily="34" charset="-122"/>
                <a:cs typeface="Calibri" pitchFamily="34" charset="-120"/>
              </a:rPr>
              <a:t>95% interval </a:t>
            </a:r>
            <a:r>
              <a:rPr lang="en-US" sz="1300" b="1" dirty="0">
                <a:solidFill>
                  <a:srgbClr val="1B2433"/>
                </a:solidFill>
                <a:latin typeface="Calibri" pitchFamily="34" charset="0"/>
                <a:ea typeface="Calibri" pitchFamily="34" charset="-122"/>
                <a:cs typeface="Calibri" pitchFamily="34" charset="-120"/>
              </a:rPr>
              <a:t>−0.00426 to +0.00275</a:t>
            </a:r>
            <a:r>
              <a:rPr lang="en-US" sz="1300" dirty="0">
                <a:solidFill>
                  <a:srgbClr val="1B2433"/>
                </a:solidFill>
                <a:latin typeface="Calibri" pitchFamily="34" charset="0"/>
                <a:ea typeface="Calibri" pitchFamily="34" charset="-122"/>
                <a:cs typeface="Calibri" pitchFamily="34" charset="-120"/>
              </a:rPr>
              <a:t>: includes zero.</a:t>
            </a:r>
            <a:endParaRPr lang="en-US" sz="1300" dirty="0"/>
          </a:p>
          <a:p>
            <a:pPr marL="228600" indent="-228600">
              <a:spcAft>
                <a:spcPts val="500"/>
              </a:spcAft>
              <a:buSzPct val="100000"/>
              <a:buChar char="•"/>
            </a:pPr>
            <a:r>
              <a:rPr lang="en-US" sz="1300" dirty="0">
                <a:solidFill>
                  <a:srgbClr val="1B2433"/>
                </a:solidFill>
                <a:latin typeface="Calibri" pitchFamily="34" charset="0"/>
                <a:ea typeface="Calibri" pitchFamily="34" charset="-122"/>
                <a:cs typeface="Calibri" pitchFamily="34" charset="-120"/>
              </a:rPr>
              <a:t>That is </a:t>
            </a:r>
            <a:r>
              <a:rPr lang="en-US" sz="1300" b="1" dirty="0">
                <a:solidFill>
                  <a:srgbClr val="1B2433"/>
                </a:solidFill>
                <a:latin typeface="Calibri" pitchFamily="34" charset="0"/>
                <a:ea typeface="Calibri" pitchFamily="34" charset="-122"/>
                <a:cs typeface="Calibri" pitchFamily="34" charset="-120"/>
              </a:rPr>
              <a:t>0.23</a:t>
            </a:r>
            <a:r>
              <a:rPr lang="en-US" sz="1300" dirty="0">
                <a:solidFill>
                  <a:srgbClr val="1B2433"/>
                </a:solidFill>
                <a:latin typeface="Calibri" pitchFamily="34" charset="0"/>
                <a:ea typeface="Calibri" pitchFamily="34" charset="-122"/>
                <a:cs typeface="Calibri" pitchFamily="34" charset="-120"/>
              </a:rPr>
              <a:t> of the human-noticeable threshold.</a:t>
            </a:r>
            <a:endParaRPr lang="en-US" sz="1300" dirty="0"/>
          </a:p>
          <a:p>
            <a:pPr marL="228600" indent="-228600">
              <a:spcAft>
                <a:spcPts val="500"/>
              </a:spcAft>
              <a:buSzPct val="100000"/>
              <a:buChar char="•"/>
            </a:pPr>
            <a:r>
              <a:rPr lang="en-US" sz="1300" dirty="0">
                <a:solidFill>
                  <a:srgbClr val="1B2433"/>
                </a:solidFill>
                <a:latin typeface="Calibri" pitchFamily="34" charset="0"/>
                <a:ea typeface="Calibri" pitchFamily="34" charset="-122"/>
                <a:cs typeface="Calibri" pitchFamily="34" charset="-120"/>
              </a:rPr>
              <a:t>MetricX-24-QE: interval also includes zero.</a:t>
            </a:r>
            <a:endParaRPr lang="en-US" sz="1300" dirty="0"/>
          </a:p>
        </p:txBody>
      </p:sp>
      <p:sp>
        <p:nvSpPr>
          <p:cNvPr id="63" name="Shape 60"/>
          <p:cNvSpPr/>
          <p:nvPr/>
        </p:nvSpPr>
        <p:spPr>
          <a:xfrm>
            <a:off x="548640" y="5806440"/>
            <a:ext cx="11064240" cy="502920"/>
          </a:xfrm>
          <a:prstGeom prst="roundRect">
            <a:avLst>
              <a:gd name="adj" fmla="val 14545"/>
            </a:avLst>
          </a:prstGeom>
          <a:solidFill>
            <a:srgbClr val="FBEBD2"/>
          </a:solidFill>
          <a:ln w="12700">
            <a:solidFill>
              <a:srgbClr val="E39B2D"/>
            </a:solidFill>
            <a:prstDash val="solid"/>
          </a:ln>
        </p:spPr>
      </p:sp>
      <p:sp>
        <p:nvSpPr>
          <p:cNvPr id="64" name="Text 61"/>
          <p:cNvSpPr/>
          <p:nvPr/>
        </p:nvSpPr>
        <p:spPr>
          <a:xfrm>
            <a:off x="777240" y="5806440"/>
            <a:ext cx="10607040" cy="50292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Under reference-free evaluation, a system that </a:t>
            </a:r>
            <a:r>
              <a:rPr lang="en-US" sz="1500" b="1" dirty="0">
                <a:solidFill>
                  <a:srgbClr val="1B2433"/>
                </a:solidFill>
                <a:latin typeface="Calibri" pitchFamily="34" charset="0"/>
                <a:ea typeface="Calibri" pitchFamily="34" charset="-122"/>
                <a:cs typeface="Calibri" pitchFamily="34" charset="-120"/>
              </a:rPr>
              <a:t>never marks</a:t>
            </a:r>
            <a:r>
              <a:rPr lang="en-US" sz="1500" dirty="0">
                <a:solidFill>
                  <a:srgbClr val="1B2433"/>
                </a:solidFill>
                <a:latin typeface="Calibri" pitchFamily="34" charset="0"/>
                <a:ea typeface="Calibri" pitchFamily="34" charset="-122"/>
                <a:cs typeface="Calibri" pitchFamily="34" charset="-120"/>
              </a:rPr>
              <a:t> the distinction </a:t>
            </a:r>
            <a:r>
              <a:rPr lang="en-US" sz="1500" b="1" dirty="0">
                <a:solidFill>
                  <a:srgbClr val="1B2433"/>
                </a:solidFill>
                <a:latin typeface="Calibri" pitchFamily="34" charset="0"/>
                <a:ea typeface="Calibri" pitchFamily="34" charset="-122"/>
                <a:cs typeface="Calibri" pitchFamily="34" charset="-120"/>
              </a:rPr>
              <a:t>loses nothing</a:t>
            </a:r>
            <a:r>
              <a:rPr lang="en-US" sz="1500" dirty="0">
                <a:solidFill>
                  <a:srgbClr val="1B2433"/>
                </a:solidFill>
                <a:latin typeface="Calibri" pitchFamily="34" charset="0"/>
                <a:ea typeface="Calibri" pitchFamily="34" charset="-122"/>
                <a:cs typeface="Calibri" pitchFamily="34" charset="-120"/>
              </a:rPr>
              <a:t>. Reference-based metrics do charge for it (MetricX-23 is the exception).</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6</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What "avoiding is free" looks like on one real output</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60</a:t>
            </a:r>
            <a:endParaRPr lang="en-US" sz="900" dirty="0"/>
          </a:p>
        </p:txBody>
      </p:sp>
      <p:sp>
        <p:nvSpPr>
          <p:cNvPr id="9" name="Text 6"/>
          <p:cNvSpPr/>
          <p:nvPr/>
        </p:nvSpPr>
        <p:spPr>
          <a:xfrm>
            <a:off x="548640" y="1691640"/>
            <a:ext cx="11064240" cy="411480"/>
          </a:xfrm>
          <a:prstGeom prst="rect">
            <a:avLst/>
          </a:prstGeom>
          <a:noFill/>
          <a:ln/>
        </p:spPr>
        <p:txBody>
          <a:bodyPr wrap="square" lIns="0" tIns="0" rIns="0" bIns="0" rtlCol="0" anchor="t"/>
          <a:lstStyle/>
          <a:p>
            <a:pPr algn="l" indent="0" marL="0">
              <a:lnSpc>
                <a:spcPct val="100000"/>
              </a:lnSpc>
              <a:buNone/>
            </a:pPr>
            <a:r>
              <a:rPr lang="en-US" sz="1700" i="1" dirty="0">
                <a:solidFill>
                  <a:srgbClr val="1B2433"/>
                </a:solidFill>
                <a:latin typeface="Calibri" pitchFamily="34" charset="0"/>
                <a:ea typeface="Calibri" pitchFamily="34" charset="-122"/>
                <a:cs typeface="Calibri" pitchFamily="34" charset="-120"/>
              </a:rPr>
              <a:t>English: "Akaran cried at noon."  (Akaran is a masculine name)   System: Gemma 3 12B</a:t>
            </a:r>
            <a:endParaRPr lang="en-US" sz="1700" dirty="0"/>
          </a:p>
        </p:txBody>
      </p:sp>
      <p:sp>
        <p:nvSpPr>
          <p:cNvPr id="10" name="Shape 7"/>
          <p:cNvSpPr/>
          <p:nvPr/>
        </p:nvSpPr>
        <p:spPr>
          <a:xfrm>
            <a:off x="548640" y="2240280"/>
            <a:ext cx="5394960" cy="1325880"/>
          </a:xfrm>
          <a:prstGeom prst="roundRect">
            <a:avLst>
              <a:gd name="adj" fmla="val 5517"/>
            </a:avLst>
          </a:prstGeom>
          <a:solidFill>
            <a:srgbClr val="FFFFFF"/>
          </a:solidFill>
          <a:ln w="31750">
            <a:solidFill>
              <a:srgbClr val="0072B2"/>
            </a:solidFill>
            <a:prstDash val="solid"/>
          </a:ln>
        </p:spPr>
      </p:sp>
      <p:sp>
        <p:nvSpPr>
          <p:cNvPr id="11" name="Text 8"/>
          <p:cNvSpPr/>
          <p:nvPr/>
        </p:nvSpPr>
        <p:spPr>
          <a:xfrm>
            <a:off x="640080" y="2350008"/>
            <a:ext cx="5212080" cy="596646"/>
          </a:xfrm>
          <a:prstGeom prst="rect">
            <a:avLst/>
          </a:prstGeom>
          <a:noFill/>
          <a:ln/>
        </p:spPr>
        <p:txBody>
          <a:bodyPr wrap="square" lIns="0" tIns="0" rIns="0" bIns="0" rtlCol="0" anchor="ctr"/>
          <a:lstStyle/>
          <a:p>
            <a:pPr algn="ctr" indent="0" marL="0">
              <a:buNone/>
            </a:pPr>
            <a:r>
              <a:rPr lang="en-US" sz="2200" dirty="0">
                <a:solidFill>
                  <a:srgbClr val="1B2433"/>
                </a:solidFill>
                <a:latin typeface="Calibri" pitchFamily="34" charset="0"/>
                <a:ea typeface="Calibri" pitchFamily="34" charset="-122"/>
                <a:cs typeface="Calibri" pitchFamily="34" charset="-120"/>
              </a:rPr>
              <a:t>அக்காரன் நண்பகல் அழுதார்.</a:t>
            </a:r>
            <a:endParaRPr lang="en-US" sz="2200" dirty="0"/>
          </a:p>
        </p:txBody>
      </p:sp>
      <p:sp>
        <p:nvSpPr>
          <p:cNvPr id="12" name="Text 9"/>
          <p:cNvSpPr/>
          <p:nvPr/>
        </p:nvSpPr>
        <p:spPr>
          <a:xfrm>
            <a:off x="640080" y="2946654"/>
            <a:ext cx="5212080" cy="265176"/>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akkāraṉ naṇpakal aḻutār.</a:t>
            </a:r>
            <a:endParaRPr lang="en-US" sz="1400" dirty="0"/>
          </a:p>
        </p:txBody>
      </p:sp>
      <p:sp>
        <p:nvSpPr>
          <p:cNvPr id="13" name="Text 10"/>
          <p:cNvSpPr/>
          <p:nvPr/>
        </p:nvSpPr>
        <p:spPr>
          <a:xfrm>
            <a:off x="640080" y="3211830"/>
            <a:ext cx="5212080" cy="397764"/>
          </a:xfrm>
          <a:prstGeom prst="rect">
            <a:avLst/>
          </a:prstGeom>
          <a:noFill/>
          <a:ln/>
        </p:spPr>
        <p:txBody>
          <a:bodyPr wrap="square" lIns="0" tIns="0" rIns="0" bIns="0" rtlCol="0" anchor="t"/>
          <a:lstStyle/>
          <a:p>
            <a:pPr algn="ctr" indent="0" marL="0">
              <a:buNone/>
            </a:pPr>
            <a:r>
              <a:rPr lang="en-US" sz="1300" b="1" dirty="0">
                <a:solidFill>
                  <a:srgbClr val="0072B2"/>
                </a:solidFill>
                <a:latin typeface="Calibri" pitchFamily="34" charset="0"/>
                <a:ea typeface="Calibri" pitchFamily="34" charset="-122"/>
                <a:cs typeface="Calibri" pitchFamily="34" charset="-120"/>
              </a:rPr>
              <a:t>what the system wrote</a:t>
            </a:r>
            <a:r>
              <a:rPr lang="en-US" sz="1300" dirty="0">
                <a:solidFill>
                  <a:srgbClr val="0072B2"/>
                </a:solidFill>
                <a:latin typeface="Calibri" pitchFamily="34" charset="0"/>
                <a:ea typeface="Calibri" pitchFamily="34" charset="-122"/>
                <a:cs typeface="Calibri" pitchFamily="34" charset="-120"/>
              </a:rPr>
              <a:t>: neutral form, no gender</a:t>
            </a:r>
            <a:endParaRPr lang="en-US" sz="1300" dirty="0"/>
          </a:p>
        </p:txBody>
      </p:sp>
      <p:sp>
        <p:nvSpPr>
          <p:cNvPr id="14" name="Shape 11"/>
          <p:cNvSpPr/>
          <p:nvPr/>
        </p:nvSpPr>
        <p:spPr>
          <a:xfrm>
            <a:off x="6217920" y="2240280"/>
            <a:ext cx="5394960" cy="1325880"/>
          </a:xfrm>
          <a:prstGeom prst="roundRect">
            <a:avLst>
              <a:gd name="adj" fmla="val 5517"/>
            </a:avLst>
          </a:prstGeom>
          <a:solidFill>
            <a:srgbClr val="FFFFFF"/>
          </a:solidFill>
          <a:ln w="31750">
            <a:solidFill>
              <a:srgbClr val="009E73"/>
            </a:solidFill>
            <a:prstDash val="solid"/>
          </a:ln>
        </p:spPr>
      </p:sp>
      <p:sp>
        <p:nvSpPr>
          <p:cNvPr id="15" name="Text 12"/>
          <p:cNvSpPr/>
          <p:nvPr/>
        </p:nvSpPr>
        <p:spPr>
          <a:xfrm>
            <a:off x="6309360" y="2350008"/>
            <a:ext cx="5212080" cy="596646"/>
          </a:xfrm>
          <a:prstGeom prst="rect">
            <a:avLst/>
          </a:prstGeom>
          <a:noFill/>
          <a:ln/>
        </p:spPr>
        <p:txBody>
          <a:bodyPr wrap="square" lIns="0" tIns="0" rIns="0" bIns="0" rtlCol="0" anchor="ctr"/>
          <a:lstStyle/>
          <a:p>
            <a:pPr algn="ctr" indent="0" marL="0">
              <a:buNone/>
            </a:pPr>
            <a:r>
              <a:rPr lang="en-US" sz="2200" dirty="0">
                <a:solidFill>
                  <a:srgbClr val="1B2433"/>
                </a:solidFill>
                <a:latin typeface="Calibri" pitchFamily="34" charset="0"/>
                <a:ea typeface="Calibri" pitchFamily="34" charset="-122"/>
                <a:cs typeface="Calibri" pitchFamily="34" charset="-120"/>
              </a:rPr>
              <a:t>அக்காரன் நண்பகல் அழுதான்.</a:t>
            </a:r>
            <a:endParaRPr lang="en-US" sz="2200" dirty="0"/>
          </a:p>
        </p:txBody>
      </p:sp>
      <p:sp>
        <p:nvSpPr>
          <p:cNvPr id="16" name="Text 13"/>
          <p:cNvSpPr/>
          <p:nvPr/>
        </p:nvSpPr>
        <p:spPr>
          <a:xfrm>
            <a:off x="6309360" y="2946654"/>
            <a:ext cx="5212080" cy="265176"/>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akkāraṉ naṇpakal aḻutāṉ.</a:t>
            </a:r>
            <a:endParaRPr lang="en-US" sz="1400" dirty="0"/>
          </a:p>
        </p:txBody>
      </p:sp>
      <p:sp>
        <p:nvSpPr>
          <p:cNvPr id="17" name="Text 14"/>
          <p:cNvSpPr/>
          <p:nvPr/>
        </p:nvSpPr>
        <p:spPr>
          <a:xfrm>
            <a:off x="6309360" y="3211830"/>
            <a:ext cx="5212080" cy="397764"/>
          </a:xfrm>
          <a:prstGeom prst="rect">
            <a:avLst/>
          </a:prstGeom>
          <a:noFill/>
          <a:ln/>
        </p:spPr>
        <p:txBody>
          <a:bodyPr wrap="square" lIns="0" tIns="0" rIns="0" bIns="0" rtlCol="0" anchor="t"/>
          <a:lstStyle/>
          <a:p>
            <a:pPr algn="ctr" indent="0" marL="0">
              <a:buNone/>
            </a:pPr>
            <a:r>
              <a:rPr lang="en-US" sz="1300" b="1" dirty="0">
                <a:solidFill>
                  <a:srgbClr val="009E73"/>
                </a:solidFill>
                <a:latin typeface="Calibri" pitchFamily="34" charset="0"/>
                <a:ea typeface="Calibri" pitchFamily="34" charset="-122"/>
                <a:cs typeface="Calibri" pitchFamily="34" charset="-120"/>
              </a:rPr>
              <a:t>the gendered version</a:t>
            </a:r>
            <a:r>
              <a:rPr lang="en-US" sz="1300" dirty="0">
                <a:solidFill>
                  <a:srgbClr val="009E73"/>
                </a:solidFill>
                <a:latin typeface="Calibri" pitchFamily="34" charset="0"/>
                <a:ea typeface="Calibri" pitchFamily="34" charset="-122"/>
                <a:cs typeface="Calibri" pitchFamily="34" charset="-120"/>
              </a:rPr>
              <a:t>: masculine ending</a:t>
            </a:r>
            <a:endParaRPr lang="en-US" sz="13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11064240" cy="914400"/>
        </p:xfrm>
        <a:graphic>
          <a:graphicData uri="http://schemas.openxmlformats.org/drawingml/2006/table">
            <a:tbl>
              <a:tblPr/>
              <a:tblGrid>
                <a:gridCol w="3291840"/>
                <a:gridCol w="2560320"/>
                <a:gridCol w="2194560"/>
                <a:gridCol w="3017520"/>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Metric</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Score: neutral (avoided)</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Score: masculine</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Penalty for avoiding?</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r>
              <a:tr h="457200">
                <a:tc>
                  <a:txBody>
                    <a:bodyPr/>
                    <a:lstStyle/>
                    <a:p>
                      <a:pPr algn="l" indent="0" marL="0">
                        <a:buNone/>
                      </a:pPr>
                      <a:r>
                        <a:rPr lang="en-US" sz="1500" b="1" dirty="0">
                          <a:solidFill>
                            <a:srgbClr val="8E44AD"/>
                          </a:solidFill>
                          <a:latin typeface="Calibri" pitchFamily="34" charset="0"/>
                          <a:ea typeface="Calibri" pitchFamily="34" charset="-122"/>
                          <a:cs typeface="Calibri" pitchFamily="34" charset="-120"/>
                        </a:rPr>
                        <a:t>CometKiwi-22 (no reference)</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0.8844</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0.8840</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D55E00"/>
                          </a:solidFill>
                          <a:latin typeface="Calibri" pitchFamily="34" charset="0"/>
                          <a:ea typeface="Calibri" pitchFamily="34" charset="-122"/>
                          <a:cs typeface="Calibri" pitchFamily="34" charset="-120"/>
                        </a:rPr>
                        <a:t>none (neutral even a hair higher)</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500" b="1" dirty="0">
                          <a:solidFill>
                            <a:srgbClr val="2F6FB3"/>
                          </a:solidFill>
                          <a:latin typeface="Calibri" pitchFamily="34" charset="0"/>
                          <a:ea typeface="Calibri" pitchFamily="34" charset="-122"/>
                          <a:cs typeface="Calibri" pitchFamily="34" charset="-120"/>
                        </a:rPr>
                        <a:t>COMET-22 (with reference)</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0.968</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0.988</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b="1" dirty="0">
                          <a:solidFill>
                            <a:srgbClr val="009E73"/>
                          </a:solidFill>
                          <a:latin typeface="Calibri" pitchFamily="34" charset="0"/>
                          <a:ea typeface="Calibri" pitchFamily="34" charset="-122"/>
                          <a:cs typeface="Calibri" pitchFamily="34" charset="-120"/>
                        </a:rPr>
                        <a:t>yes, a clear drop</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bl>
          </a:graphicData>
        </a:graphic>
      </p:graphicFrame>
      <p:sp>
        <p:nvSpPr>
          <p:cNvPr id="19" name="Shape 15"/>
          <p:cNvSpPr/>
          <p:nvPr/>
        </p:nvSpPr>
        <p:spPr>
          <a:xfrm>
            <a:off x="548640" y="5532120"/>
            <a:ext cx="11064240" cy="594360"/>
          </a:xfrm>
          <a:prstGeom prst="roundRect">
            <a:avLst>
              <a:gd name="adj" fmla="val 12308"/>
            </a:avLst>
          </a:prstGeom>
          <a:solidFill>
            <a:srgbClr val="FBEBD2"/>
          </a:solidFill>
          <a:ln w="12700">
            <a:solidFill>
              <a:srgbClr val="E39B2D"/>
            </a:solidFill>
            <a:prstDash val="solid"/>
          </a:ln>
        </p:spPr>
      </p:sp>
      <p:sp>
        <p:nvSpPr>
          <p:cNvPr id="20" name="Text 16"/>
          <p:cNvSpPr/>
          <p:nvPr/>
        </p:nvSpPr>
        <p:spPr>
          <a:xfrm>
            <a:off x="777240" y="5532120"/>
            <a:ext cx="10607040" cy="59436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One pair in miniature; Result 3 is the same pattern over </a:t>
            </a:r>
            <a:r>
              <a:rPr lang="en-US" sz="1500" b="1" dirty="0">
                <a:solidFill>
                  <a:srgbClr val="1B2433"/>
                </a:solidFill>
                <a:latin typeface="Calibri" pitchFamily="34" charset="0"/>
                <a:ea typeface="Calibri" pitchFamily="34" charset="-122"/>
                <a:cs typeface="Calibri" pitchFamily="34" charset="-120"/>
              </a:rPr>
              <a:t>1,252</a:t>
            </a:r>
            <a:r>
              <a:rPr lang="en-US" sz="1500" dirty="0">
                <a:solidFill>
                  <a:srgbClr val="1B2433"/>
                </a:solidFill>
                <a:latin typeface="Calibri" pitchFamily="34" charset="0"/>
                <a:ea typeface="Calibri" pitchFamily="34" charset="-122"/>
                <a:cs typeface="Calibri" pitchFamily="34" charset="-120"/>
              </a:rPr>
              <a:t> real outputs. (Name spelled as the system wrote it.)</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6</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The paper's main table, explained column by column</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61</a:t>
            </a:r>
            <a:endParaRPr lang="en-US" sz="9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1920240"/>
                <a:gridCol w="1463040"/>
                <a:gridCol w="1005840"/>
                <a:gridCol w="1828800"/>
                <a:gridCol w="1463040"/>
                <a:gridCol w="1737360"/>
                <a:gridCol w="1645920"/>
              </a:tblGrid>
              <a:tr h="420624">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Uses reference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Scale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Win on real errors (natural arm)</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 noticeable (de-confounded)</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Avoidance penalty (avoidance arm)</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Interval includes 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r>
              <a:tr h="420624">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COMET-22</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0–1</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8.52</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3.96%</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20624">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xCOMET-XL</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0–1</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62.3%</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6.55</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2.23%</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420624">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MetricX-24</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0–25</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90.2%</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7.56%</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20624">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MetricX-23</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0–25</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51.3%</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2.16</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0.11%</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420624">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chrF2</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0–100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9.78</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8.96%</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20624">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chrF++</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0–100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13.91%</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420624">
                <a:tc>
                  <a:txBody>
                    <a:bodyPr/>
                    <a:lstStyle/>
                    <a:p>
                      <a:pPr algn="l" indent="0" marL="0">
                        <a:buNone/>
                      </a:pPr>
                      <a:r>
                        <a:rPr lang="en-US" sz="1400" b="1" dirty="0">
                          <a:solidFill>
                            <a:srgbClr val="8E44AD"/>
                          </a:solidFill>
                          <a:latin typeface="Calibri" pitchFamily="34" charset="0"/>
                          <a:ea typeface="Calibri" pitchFamily="34" charset="-122"/>
                          <a:cs typeface="Calibri" pitchFamily="34" charset="-120"/>
                        </a:rPr>
                        <a:t>CometKiwi-22</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3F5"/>
                    </a:solidFill>
                  </a:tcPr>
                </a:tc>
                <a:tc>
                  <a:txBody>
                    <a:bodyPr/>
                    <a:lstStyle/>
                    <a:p>
                      <a:pPr algn="ctr" indent="0" marL="0">
                        <a:buNone/>
                      </a:pPr>
                      <a:r>
                        <a:rPr lang="en-US" sz="1400" b="1" dirty="0">
                          <a:solidFill>
                            <a:srgbClr val="8E44A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3F5"/>
                    </a:solidFill>
                  </a:tcPr>
                </a:tc>
                <a:tc>
                  <a:txBody>
                    <a:bodyPr/>
                    <a:lstStyle/>
                    <a:p>
                      <a:pPr algn="ctr" indent="0" marL="0">
                        <a:buNone/>
                      </a:pPr>
                      <a:r>
                        <a:rPr lang="en-US" sz="1400" b="1" dirty="0">
                          <a:solidFill>
                            <a:srgbClr val="8E44AD"/>
                          </a:solidFill>
                          <a:latin typeface="Calibri" pitchFamily="34" charset="0"/>
                          <a:ea typeface="Calibri" pitchFamily="34" charset="-122"/>
                          <a:cs typeface="Calibri" pitchFamily="34" charset="-120"/>
                        </a:rPr>
                        <a:t>0–1</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3F5"/>
                    </a:solidFill>
                  </a:tcPr>
                </a:tc>
                <a:tc>
                  <a:txBody>
                    <a:bodyPr/>
                    <a:lstStyle/>
                    <a:p>
                      <a:pPr algn="ctr" indent="0" marL="0">
                        <a:buNone/>
                      </a:pPr>
                      <a:r>
                        <a:rPr lang="en-US" sz="1400" b="1" dirty="0">
                          <a:solidFill>
                            <a:srgbClr val="8E44AD"/>
                          </a:solidFill>
                          <a:latin typeface="Calibri" pitchFamily="34" charset="0"/>
                          <a:ea typeface="Calibri" pitchFamily="34" charset="-122"/>
                          <a:cs typeface="Calibri" pitchFamily="34" charset="-120"/>
                        </a:rPr>
                        <a:t>42.3%</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3F5"/>
                    </a:solidFill>
                  </a:tcPr>
                </a:tc>
                <a:tc>
                  <a:txBody>
                    <a:bodyPr/>
                    <a:lstStyle/>
                    <a:p>
                      <a:pPr algn="ctr" indent="0" marL="0">
                        <a:buNone/>
                      </a:pPr>
                      <a:r>
                        <a:rPr lang="en-US" sz="1400" b="1" dirty="0">
                          <a:solidFill>
                            <a:srgbClr val="8E44AD"/>
                          </a:solidFill>
                          <a:latin typeface="Calibri" pitchFamily="34" charset="0"/>
                          <a:ea typeface="Calibri" pitchFamily="34" charset="-122"/>
                          <a:cs typeface="Calibri" pitchFamily="34" charset="-120"/>
                        </a:rPr>
                        <a:t>0.35</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3F5"/>
                    </a:solidFill>
                  </a:tcPr>
                </a:tc>
                <a:tc>
                  <a:txBody>
                    <a:bodyPr/>
                    <a:lstStyle/>
                    <a:p>
                      <a:pPr algn="ctr" indent="0" marL="0">
                        <a:buNone/>
                      </a:pPr>
                      <a:r>
                        <a:rPr lang="en-US" sz="1400" b="1" dirty="0">
                          <a:solidFill>
                            <a:srgbClr val="8E44AD"/>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3F5"/>
                    </a:solidFill>
                  </a:tcPr>
                </a:tc>
                <a:tc>
                  <a:txBody>
                    <a:bodyPr/>
                    <a:lstStyle/>
                    <a:p>
                      <a:pPr algn="ctr" indent="0" marL="0">
                        <a:buNone/>
                      </a:pPr>
                      <a:r>
                        <a:rPr lang="en-US" sz="1400" b="1" dirty="0">
                          <a:solidFill>
                            <a:srgbClr val="8E44A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3F5"/>
                    </a:solidFill>
                  </a:tcPr>
                </a:tc>
              </a:tr>
              <a:tr h="420624">
                <a:tc>
                  <a:txBody>
                    <a:bodyPr/>
                    <a:lstStyle/>
                    <a:p>
                      <a:pPr algn="l" indent="0" marL="0">
                        <a:buNone/>
                      </a:pPr>
                      <a:r>
                        <a:rPr lang="en-US" sz="1400" b="1" dirty="0">
                          <a:solidFill>
                            <a:srgbClr val="8E44AD"/>
                          </a:solidFill>
                          <a:latin typeface="Calibri" pitchFamily="34" charset="0"/>
                          <a:ea typeface="Calibri" pitchFamily="34" charset="-122"/>
                          <a:cs typeface="Calibri" pitchFamily="34" charset="-120"/>
                        </a:rPr>
                        <a:t>MetricX-24-QE</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3F5"/>
                    </a:solidFill>
                  </a:tcPr>
                </a:tc>
                <a:tc>
                  <a:txBody>
                    <a:bodyPr/>
                    <a:lstStyle/>
                    <a:p>
                      <a:pPr algn="ctr" indent="0" marL="0">
                        <a:buNone/>
                      </a:pPr>
                      <a:r>
                        <a:rPr lang="en-US" sz="1400" b="1" dirty="0">
                          <a:solidFill>
                            <a:srgbClr val="8E44A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3F5"/>
                    </a:solidFill>
                  </a:tcPr>
                </a:tc>
                <a:tc>
                  <a:txBody>
                    <a:bodyPr/>
                    <a:lstStyle/>
                    <a:p>
                      <a:pPr algn="ctr" indent="0" marL="0">
                        <a:buNone/>
                      </a:pPr>
                      <a:r>
                        <a:rPr lang="en-US" sz="1400" b="1" dirty="0">
                          <a:solidFill>
                            <a:srgbClr val="8E44AD"/>
                          </a:solidFill>
                          <a:latin typeface="Calibri" pitchFamily="34" charset="0"/>
                          <a:ea typeface="Calibri" pitchFamily="34" charset="-122"/>
                          <a:cs typeface="Calibri" pitchFamily="34" charset="-120"/>
                        </a:rPr>
                        <a:t>0–25</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3F5"/>
                    </a:solidFill>
                  </a:tcPr>
                </a:tc>
                <a:tc>
                  <a:txBody>
                    <a:bodyPr/>
                    <a:lstStyle/>
                    <a:p>
                      <a:pPr algn="ctr" indent="0" marL="0">
                        <a:buNone/>
                      </a:pPr>
                      <a:r>
                        <a:rPr lang="en-US" sz="1400" b="1" dirty="0">
                          <a:solidFill>
                            <a:srgbClr val="8E44AD"/>
                          </a:solidFill>
                          <a:latin typeface="Calibri" pitchFamily="34" charset="0"/>
                          <a:ea typeface="Calibri" pitchFamily="34" charset="-122"/>
                          <a:cs typeface="Calibri" pitchFamily="34" charset="-120"/>
                        </a:rPr>
                        <a:t>38.5%</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3F5"/>
                    </a:solidFill>
                  </a:tcPr>
                </a:tc>
                <a:tc>
                  <a:txBody>
                    <a:bodyPr/>
                    <a:lstStyle/>
                    <a:p>
                      <a:pPr algn="ctr" indent="0" marL="0">
                        <a:buNone/>
                      </a:pPr>
                      <a:r>
                        <a:rPr lang="en-US" sz="1400" b="1" dirty="0">
                          <a:solidFill>
                            <a:srgbClr val="8E44AD"/>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3F5"/>
                    </a:solidFill>
                  </a:tcPr>
                </a:tc>
                <a:tc>
                  <a:txBody>
                    <a:bodyPr/>
                    <a:lstStyle/>
                    <a:p>
                      <a:pPr algn="ctr" indent="0" marL="0">
                        <a:buNone/>
                      </a:pPr>
                      <a:r>
                        <a:rPr lang="en-US" sz="1400" b="1" dirty="0">
                          <a:solidFill>
                            <a:srgbClr val="8E44AD"/>
                          </a:solidFill>
                          <a:latin typeface="Calibri" pitchFamily="34" charset="0"/>
                          <a:ea typeface="Calibri" pitchFamily="34" charset="-122"/>
                          <a:cs typeface="Calibri" pitchFamily="34" charset="-120"/>
                        </a:rPr>
                        <a:t>−0.42%</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3F5"/>
                    </a:solidFill>
                  </a:tcPr>
                </a:tc>
                <a:tc>
                  <a:txBody>
                    <a:bodyPr/>
                    <a:lstStyle/>
                    <a:p>
                      <a:pPr algn="ctr" indent="0" marL="0">
                        <a:buNone/>
                      </a:pPr>
                      <a:r>
                        <a:rPr lang="en-US" sz="1400" b="1" dirty="0">
                          <a:solidFill>
                            <a:srgbClr val="8E44A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3F5"/>
                    </a:solidFill>
                  </a:tcPr>
                </a:tc>
              </a:tr>
            </a:tbl>
          </a:graphicData>
        </a:graphic>
      </p:graphicFrame>
      <p:sp>
        <p:nvSpPr>
          <p:cNvPr id="10" name="Shape 6"/>
          <p:cNvSpPr/>
          <p:nvPr/>
        </p:nvSpPr>
        <p:spPr>
          <a:xfrm>
            <a:off x="548640" y="5669280"/>
            <a:ext cx="11064240" cy="594360"/>
          </a:xfrm>
          <a:prstGeom prst="roundRect">
            <a:avLst>
              <a:gd name="adj" fmla="val 12308"/>
            </a:avLst>
          </a:prstGeom>
          <a:solidFill>
            <a:srgbClr val="FBEBD2"/>
          </a:solidFill>
          <a:ln w="12700">
            <a:solidFill>
              <a:srgbClr val="E39B2D"/>
            </a:solidFill>
            <a:prstDash val="solid"/>
          </a:ln>
        </p:spPr>
      </p:sp>
      <p:sp>
        <p:nvSpPr>
          <p:cNvPr id="11" name="Text 7"/>
          <p:cNvSpPr/>
          <p:nvPr/>
        </p:nvSpPr>
        <p:spPr>
          <a:xfrm>
            <a:off x="777240" y="5669280"/>
            <a:ext cx="10607040" cy="59436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Bottom two rows (</a:t>
            </a:r>
            <a:r>
              <a:rPr lang="en-US" sz="1500" b="1" dirty="0">
                <a:solidFill>
                  <a:srgbClr val="1B2433"/>
                </a:solidFill>
                <a:latin typeface="Calibri" pitchFamily="34" charset="0"/>
                <a:ea typeface="Calibri" pitchFamily="34" charset="-122"/>
                <a:cs typeface="Calibri" pitchFamily="34" charset="-120"/>
              </a:rPr>
              <a:t>no reference</a:t>
            </a:r>
            <a:r>
              <a:rPr lang="en-US" sz="1500" dirty="0">
                <a:solidFill>
                  <a:srgbClr val="1B2433"/>
                </a:solidFill>
                <a:latin typeface="Calibri" pitchFamily="34" charset="0"/>
                <a:ea typeface="Calibri" pitchFamily="34" charset="-122"/>
                <a:cs typeface="Calibri" pitchFamily="34" charset="-120"/>
              </a:rPr>
              <a:t>): win on </a:t>
            </a:r>
            <a:r>
              <a:rPr lang="en-US" sz="1500" b="1" dirty="0">
                <a:solidFill>
                  <a:srgbClr val="1B2433"/>
                </a:solidFill>
                <a:latin typeface="Calibri" pitchFamily="34" charset="0"/>
                <a:ea typeface="Calibri" pitchFamily="34" charset="-122"/>
                <a:cs typeface="Calibri" pitchFamily="34" charset="-120"/>
              </a:rPr>
              <a:t>under half</a:t>
            </a:r>
            <a:r>
              <a:rPr lang="en-US" sz="1500" dirty="0">
                <a:solidFill>
                  <a:srgbClr val="1B2433"/>
                </a:solidFill>
                <a:latin typeface="Calibri" pitchFamily="34" charset="0"/>
                <a:ea typeface="Calibri" pitchFamily="34" charset="-122"/>
                <a:cs typeface="Calibri" pitchFamily="34" charset="-120"/>
              </a:rPr>
              <a:t> of real errors, and the avoidance interval </a:t>
            </a:r>
            <a:r>
              <a:rPr lang="en-US" sz="1500" b="1" dirty="0">
                <a:solidFill>
                  <a:srgbClr val="1B2433"/>
                </a:solidFill>
                <a:latin typeface="Calibri" pitchFamily="34" charset="0"/>
                <a:ea typeface="Calibri" pitchFamily="34" charset="-122"/>
                <a:cs typeface="Calibri" pitchFamily="34" charset="-120"/>
              </a:rPr>
              <a:t>includes zero</a:t>
            </a:r>
            <a:r>
              <a:rPr lang="en-US" sz="1500" dirty="0">
                <a:solidFill>
                  <a:srgbClr val="1B2433"/>
                </a:solidFill>
                <a:latin typeface="Calibri" pitchFamily="34" charset="0"/>
                <a:ea typeface="Calibri" pitchFamily="34" charset="-122"/>
                <a:cs typeface="Calibri" pitchFamily="34" charset="-120"/>
              </a:rPr>
              <a:t>. That is the paper's central claim.</a:t>
            </a:r>
            <a:endParaRPr lang="en-US" sz="15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6</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What the paper's title means, in plain words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62</a:t>
            </a:r>
            <a:endParaRPr lang="en-US" sz="900" dirty="0"/>
          </a:p>
        </p:txBody>
      </p:sp>
      <p:sp>
        <p:nvSpPr>
          <p:cNvPr id="9" name="Shape 6"/>
          <p:cNvSpPr/>
          <p:nvPr/>
        </p:nvSpPr>
        <p:spPr>
          <a:xfrm>
            <a:off x="548640" y="1737360"/>
            <a:ext cx="5120640" cy="777240"/>
          </a:xfrm>
          <a:prstGeom prst="roundRect">
            <a:avLst>
              <a:gd name="adj" fmla="val 9412"/>
            </a:avLst>
          </a:prstGeom>
          <a:solidFill>
            <a:srgbClr val="F2F4F8"/>
          </a:solidFill>
          <a:ln w="12700">
            <a:solidFill>
              <a:srgbClr val="F2F4F8"/>
            </a:solidFill>
            <a:prstDash val="solid"/>
          </a:ln>
        </p:spPr>
      </p:sp>
      <p:sp>
        <p:nvSpPr>
          <p:cNvPr id="10" name="Text 7"/>
          <p:cNvSpPr/>
          <p:nvPr/>
        </p:nvSpPr>
        <p:spPr>
          <a:xfrm>
            <a:off x="731520" y="1737360"/>
            <a:ext cx="4846320" cy="777240"/>
          </a:xfrm>
          <a:prstGeom prst="rect">
            <a:avLst/>
          </a:prstGeom>
          <a:noFill/>
          <a:ln/>
        </p:spPr>
        <p:txBody>
          <a:bodyPr wrap="square" lIns="0" tIns="0" rIns="0" bIns="0" rtlCol="0" anchor="ctr"/>
          <a:lstStyle/>
          <a:p>
            <a:pPr algn="l" indent="0" marL="0">
              <a:lnSpc>
                <a:spcPct val="100000"/>
              </a:lnSpc>
              <a:buNone/>
            </a:pPr>
            <a:r>
              <a:rPr lang="en-US" sz="1800" b="1" dirty="0">
                <a:solidFill>
                  <a:srgbClr val="1B2433"/>
                </a:solidFill>
                <a:latin typeface="Georgia" pitchFamily="34" charset="0"/>
                <a:ea typeface="Georgia" pitchFamily="34" charset="-122"/>
                <a:cs typeface="Georgia" pitchFamily="34" charset="-120"/>
              </a:rPr>
              <a:t>Obligatory Slots</a:t>
            </a:r>
            <a:endParaRPr lang="en-US" sz="1800" dirty="0"/>
          </a:p>
        </p:txBody>
      </p:sp>
      <p:sp>
        <p:nvSpPr>
          <p:cNvPr id="11" name="Shape 8"/>
          <p:cNvSpPr/>
          <p:nvPr/>
        </p:nvSpPr>
        <p:spPr>
          <a:xfrm>
            <a:off x="5760720" y="2121408"/>
            <a:ext cx="548640" cy="0"/>
          </a:xfrm>
          <a:prstGeom prst="line">
            <a:avLst/>
          </a:prstGeom>
          <a:noFill/>
          <a:ln w="25400">
            <a:solidFill>
              <a:srgbClr val="1B2433"/>
            </a:solidFill>
            <a:prstDash val="solid"/>
            <a:tailEnd type="triangle"/>
          </a:ln>
        </p:spPr>
      </p:sp>
      <p:sp>
        <p:nvSpPr>
          <p:cNvPr id="12" name="Text 9"/>
          <p:cNvSpPr/>
          <p:nvPr/>
        </p:nvSpPr>
        <p:spPr>
          <a:xfrm>
            <a:off x="6400800" y="1737360"/>
            <a:ext cx="5212080" cy="777240"/>
          </a:xfrm>
          <a:prstGeom prst="rect">
            <a:avLst/>
          </a:prstGeom>
          <a:noFill/>
          <a:ln/>
        </p:spPr>
        <p:txBody>
          <a:bodyPr wrap="square" lIns="0" tIns="0" rIns="0" bIns="0" rtlCol="0" anchor="ctr"/>
          <a:lstStyle/>
          <a:p>
            <a:pPr algn="l" indent="0" marL="0">
              <a:lnSpc>
                <a:spcPct val="100000"/>
              </a:lnSpc>
              <a:buNone/>
            </a:pPr>
            <a:r>
              <a:rPr lang="en-US" sz="1600" dirty="0">
                <a:solidFill>
                  <a:srgbClr val="1B2433"/>
                </a:solidFill>
                <a:latin typeface="Calibri" pitchFamily="34" charset="0"/>
                <a:ea typeface="Calibri" pitchFamily="34" charset="-122"/>
                <a:cs typeface="Calibri" pitchFamily="34" charset="-120"/>
              </a:rPr>
              <a:t>places where Tamil forces a choice English never made</a:t>
            </a:r>
            <a:endParaRPr lang="en-US" sz="1600" dirty="0"/>
          </a:p>
        </p:txBody>
      </p:sp>
      <p:sp>
        <p:nvSpPr>
          <p:cNvPr id="13" name="Shape 10"/>
          <p:cNvSpPr/>
          <p:nvPr/>
        </p:nvSpPr>
        <p:spPr>
          <a:xfrm>
            <a:off x="548640" y="2670048"/>
            <a:ext cx="5120640" cy="777240"/>
          </a:xfrm>
          <a:prstGeom prst="roundRect">
            <a:avLst>
              <a:gd name="adj" fmla="val 9412"/>
            </a:avLst>
          </a:prstGeom>
          <a:solidFill>
            <a:srgbClr val="FBEBD2"/>
          </a:solidFill>
          <a:ln w="15875">
            <a:solidFill>
              <a:srgbClr val="E39B2D"/>
            </a:solidFill>
            <a:prstDash val="solid"/>
          </a:ln>
        </p:spPr>
      </p:sp>
      <p:sp>
        <p:nvSpPr>
          <p:cNvPr id="14" name="Text 11"/>
          <p:cNvSpPr/>
          <p:nvPr/>
        </p:nvSpPr>
        <p:spPr>
          <a:xfrm>
            <a:off x="731520" y="2670048"/>
            <a:ext cx="4846320" cy="777240"/>
          </a:xfrm>
          <a:prstGeom prst="rect">
            <a:avLst/>
          </a:prstGeom>
          <a:noFill/>
          <a:ln/>
        </p:spPr>
        <p:txBody>
          <a:bodyPr wrap="square" lIns="0" tIns="0" rIns="0" bIns="0" rtlCol="0" anchor="ctr"/>
          <a:lstStyle/>
          <a:p>
            <a:pPr algn="l" indent="0" marL="0">
              <a:lnSpc>
                <a:spcPct val="100000"/>
              </a:lnSpc>
              <a:buNone/>
            </a:pPr>
            <a:r>
              <a:rPr lang="en-US" sz="1800" b="1" dirty="0">
                <a:solidFill>
                  <a:srgbClr val="1B2433"/>
                </a:solidFill>
                <a:latin typeface="Georgia" pitchFamily="34" charset="0"/>
                <a:ea typeface="Georgia" pitchFamily="34" charset="-122"/>
                <a:cs typeface="Georgia" pitchFamily="34" charset="-120"/>
              </a:rPr>
              <a:t>Under Reference-Free Evaluation,</a:t>
            </a:r>
            <a:endParaRPr lang="en-US" sz="1800" dirty="0"/>
          </a:p>
        </p:txBody>
      </p:sp>
      <p:sp>
        <p:nvSpPr>
          <p:cNvPr id="15" name="Shape 12"/>
          <p:cNvSpPr/>
          <p:nvPr/>
        </p:nvSpPr>
        <p:spPr>
          <a:xfrm>
            <a:off x="5760720" y="3054096"/>
            <a:ext cx="548640" cy="0"/>
          </a:xfrm>
          <a:prstGeom prst="line">
            <a:avLst/>
          </a:prstGeom>
          <a:noFill/>
          <a:ln w="25400">
            <a:solidFill>
              <a:srgbClr val="1B2433"/>
            </a:solidFill>
            <a:prstDash val="solid"/>
            <a:tailEnd type="triangle"/>
          </a:ln>
        </p:spPr>
      </p:sp>
      <p:sp>
        <p:nvSpPr>
          <p:cNvPr id="16" name="Text 13"/>
          <p:cNvSpPr/>
          <p:nvPr/>
        </p:nvSpPr>
        <p:spPr>
          <a:xfrm>
            <a:off x="6400800" y="2670048"/>
            <a:ext cx="5212080" cy="777240"/>
          </a:xfrm>
          <a:prstGeom prst="rect">
            <a:avLst/>
          </a:prstGeom>
          <a:noFill/>
          <a:ln/>
        </p:spPr>
        <p:txBody>
          <a:bodyPr wrap="square" lIns="0" tIns="0" rIns="0" bIns="0" rtlCol="0" anchor="ctr"/>
          <a:lstStyle/>
          <a:p>
            <a:pPr algn="l" indent="0" marL="0">
              <a:lnSpc>
                <a:spcPct val="100000"/>
              </a:lnSpc>
              <a:buNone/>
            </a:pPr>
            <a:r>
              <a:rPr lang="en-US" sz="1600" dirty="0">
                <a:solidFill>
                  <a:srgbClr val="1B2433"/>
                </a:solidFill>
                <a:latin typeface="Calibri" pitchFamily="34" charset="0"/>
                <a:ea typeface="Calibri" pitchFamily="34" charset="-122"/>
                <a:cs typeface="Calibri" pitchFamily="34" charset="-120"/>
              </a:rPr>
              <a:t>when translations are judged without a human reference, as in most live monitoring</a:t>
            </a:r>
            <a:endParaRPr lang="en-US" sz="1600" dirty="0"/>
          </a:p>
        </p:txBody>
      </p:sp>
      <p:sp>
        <p:nvSpPr>
          <p:cNvPr id="17" name="Shape 14"/>
          <p:cNvSpPr/>
          <p:nvPr/>
        </p:nvSpPr>
        <p:spPr>
          <a:xfrm>
            <a:off x="548640" y="3602736"/>
            <a:ext cx="5120640" cy="777240"/>
          </a:xfrm>
          <a:prstGeom prst="roundRect">
            <a:avLst>
              <a:gd name="adj" fmla="val 9412"/>
            </a:avLst>
          </a:prstGeom>
          <a:solidFill>
            <a:srgbClr val="F2F4F8"/>
          </a:solidFill>
          <a:ln w="12700">
            <a:solidFill>
              <a:srgbClr val="F2F4F8"/>
            </a:solidFill>
            <a:prstDash val="solid"/>
          </a:ln>
        </p:spPr>
      </p:sp>
      <p:sp>
        <p:nvSpPr>
          <p:cNvPr id="18" name="Text 15"/>
          <p:cNvSpPr/>
          <p:nvPr/>
        </p:nvSpPr>
        <p:spPr>
          <a:xfrm>
            <a:off x="731520" y="3602736"/>
            <a:ext cx="4846320" cy="777240"/>
          </a:xfrm>
          <a:prstGeom prst="rect">
            <a:avLst/>
          </a:prstGeom>
          <a:noFill/>
          <a:ln/>
        </p:spPr>
        <p:txBody>
          <a:bodyPr wrap="square" lIns="0" tIns="0" rIns="0" bIns="0" rtlCol="0" anchor="ctr"/>
          <a:lstStyle/>
          <a:p>
            <a:pPr algn="l" indent="0" marL="0">
              <a:lnSpc>
                <a:spcPct val="100000"/>
              </a:lnSpc>
              <a:buNone/>
            </a:pPr>
            <a:r>
              <a:rPr lang="en-US" sz="1800" b="1" dirty="0">
                <a:solidFill>
                  <a:srgbClr val="1B2433"/>
                </a:solidFill>
                <a:latin typeface="Georgia" pitchFamily="34" charset="0"/>
                <a:ea typeface="Georgia" pitchFamily="34" charset="-122"/>
                <a:cs typeface="Georgia" pitchFamily="34" charset="-120"/>
              </a:rPr>
              <a:t>Dropping a Distinction the Source Never Made</a:t>
            </a:r>
            <a:endParaRPr lang="en-US" sz="1800" dirty="0"/>
          </a:p>
        </p:txBody>
      </p:sp>
      <p:sp>
        <p:nvSpPr>
          <p:cNvPr id="19" name="Shape 16"/>
          <p:cNvSpPr/>
          <p:nvPr/>
        </p:nvSpPr>
        <p:spPr>
          <a:xfrm>
            <a:off x="5760720" y="3986784"/>
            <a:ext cx="548640" cy="0"/>
          </a:xfrm>
          <a:prstGeom prst="line">
            <a:avLst/>
          </a:prstGeom>
          <a:noFill/>
          <a:ln w="25400">
            <a:solidFill>
              <a:srgbClr val="1B2433"/>
            </a:solidFill>
            <a:prstDash val="solid"/>
            <a:tailEnd type="triangle"/>
          </a:ln>
        </p:spPr>
      </p:sp>
      <p:sp>
        <p:nvSpPr>
          <p:cNvPr id="20" name="Text 17"/>
          <p:cNvSpPr/>
          <p:nvPr/>
        </p:nvSpPr>
        <p:spPr>
          <a:xfrm>
            <a:off x="6400800" y="3602736"/>
            <a:ext cx="5212080" cy="777240"/>
          </a:xfrm>
          <a:prstGeom prst="rect">
            <a:avLst/>
          </a:prstGeom>
          <a:noFill/>
          <a:ln/>
        </p:spPr>
        <p:txBody>
          <a:bodyPr wrap="square" lIns="0" tIns="0" rIns="0" bIns="0" rtlCol="0" anchor="ctr"/>
          <a:lstStyle/>
          <a:p>
            <a:pPr algn="l" indent="0" marL="0">
              <a:lnSpc>
                <a:spcPct val="100000"/>
              </a:lnSpc>
              <a:buNone/>
            </a:pPr>
            <a:r>
              <a:rPr lang="en-US" sz="1600" dirty="0">
                <a:solidFill>
                  <a:srgbClr val="1B2433"/>
                </a:solidFill>
                <a:latin typeface="Calibri" pitchFamily="34" charset="0"/>
                <a:ea typeface="Calibri" pitchFamily="34" charset="-122"/>
                <a:cs typeface="Calibri" pitchFamily="34" charset="-120"/>
              </a:rPr>
              <a:t>using a form that avoids the choice, e.g. the neutral வந்தார்</a:t>
            </a:r>
            <a:endParaRPr lang="en-US" sz="1600" dirty="0"/>
          </a:p>
        </p:txBody>
      </p:sp>
      <p:sp>
        <p:nvSpPr>
          <p:cNvPr id="21" name="Shape 18"/>
          <p:cNvSpPr/>
          <p:nvPr/>
        </p:nvSpPr>
        <p:spPr>
          <a:xfrm>
            <a:off x="548640" y="4535424"/>
            <a:ext cx="5120640" cy="777240"/>
          </a:xfrm>
          <a:prstGeom prst="roundRect">
            <a:avLst>
              <a:gd name="adj" fmla="val 9412"/>
            </a:avLst>
          </a:prstGeom>
          <a:solidFill>
            <a:srgbClr val="F2F4F8"/>
          </a:solidFill>
          <a:ln w="12700">
            <a:solidFill>
              <a:srgbClr val="F2F4F8"/>
            </a:solidFill>
            <a:prstDash val="solid"/>
          </a:ln>
        </p:spPr>
      </p:sp>
      <p:sp>
        <p:nvSpPr>
          <p:cNvPr id="22" name="Text 19"/>
          <p:cNvSpPr/>
          <p:nvPr/>
        </p:nvSpPr>
        <p:spPr>
          <a:xfrm>
            <a:off x="731520" y="4535424"/>
            <a:ext cx="4846320" cy="777240"/>
          </a:xfrm>
          <a:prstGeom prst="rect">
            <a:avLst/>
          </a:prstGeom>
          <a:noFill/>
          <a:ln/>
        </p:spPr>
        <p:txBody>
          <a:bodyPr wrap="square" lIns="0" tIns="0" rIns="0" bIns="0" rtlCol="0" anchor="ctr"/>
          <a:lstStyle/>
          <a:p>
            <a:pPr algn="l" indent="0" marL="0">
              <a:lnSpc>
                <a:spcPct val="100000"/>
              </a:lnSpc>
              <a:buNone/>
            </a:pPr>
            <a:r>
              <a:rPr lang="en-US" sz="1800" b="1" dirty="0">
                <a:solidFill>
                  <a:srgbClr val="1B2433"/>
                </a:solidFill>
                <a:latin typeface="Georgia" pitchFamily="34" charset="0"/>
                <a:ea typeface="Georgia" pitchFamily="34" charset="-122"/>
                <a:cs typeface="Georgia" pitchFamily="34" charset="-120"/>
              </a:rPr>
              <a:t>Is Free</a:t>
            </a:r>
            <a:endParaRPr lang="en-US" sz="1800" dirty="0"/>
          </a:p>
        </p:txBody>
      </p:sp>
      <p:sp>
        <p:nvSpPr>
          <p:cNvPr id="23" name="Shape 20"/>
          <p:cNvSpPr/>
          <p:nvPr/>
        </p:nvSpPr>
        <p:spPr>
          <a:xfrm>
            <a:off x="5760720" y="4919472"/>
            <a:ext cx="548640" cy="0"/>
          </a:xfrm>
          <a:prstGeom prst="line">
            <a:avLst/>
          </a:prstGeom>
          <a:noFill/>
          <a:ln w="25400">
            <a:solidFill>
              <a:srgbClr val="1B2433"/>
            </a:solidFill>
            <a:prstDash val="solid"/>
            <a:tailEnd type="triangle"/>
          </a:ln>
        </p:spPr>
      </p:sp>
      <p:sp>
        <p:nvSpPr>
          <p:cNvPr id="24" name="Text 21"/>
          <p:cNvSpPr/>
          <p:nvPr/>
        </p:nvSpPr>
        <p:spPr>
          <a:xfrm>
            <a:off x="6400800" y="4535424"/>
            <a:ext cx="5212080" cy="777240"/>
          </a:xfrm>
          <a:prstGeom prst="rect">
            <a:avLst/>
          </a:prstGeom>
          <a:noFill/>
          <a:ln/>
        </p:spPr>
        <p:txBody>
          <a:bodyPr wrap="square" lIns="0" tIns="0" rIns="0" bIns="0" rtlCol="0" anchor="ctr"/>
          <a:lstStyle/>
          <a:p>
            <a:pPr algn="l" indent="0" marL="0">
              <a:lnSpc>
                <a:spcPct val="100000"/>
              </a:lnSpc>
              <a:buNone/>
            </a:pPr>
            <a:r>
              <a:rPr lang="en-US" sz="1600" dirty="0">
                <a:solidFill>
                  <a:srgbClr val="1B2433"/>
                </a:solidFill>
                <a:latin typeface="Calibri" pitchFamily="34" charset="0"/>
                <a:ea typeface="Calibri" pitchFamily="34" charset="-122"/>
                <a:cs typeface="Calibri" pitchFamily="34" charset="-120"/>
              </a:rPr>
              <a:t>the metric does not lower the score for it</a:t>
            </a:r>
            <a:endParaRPr lang="en-US" sz="1600" dirty="0"/>
          </a:p>
        </p:txBody>
      </p:sp>
      <p:sp>
        <p:nvSpPr>
          <p:cNvPr id="25" name="Shape 22"/>
          <p:cNvSpPr/>
          <p:nvPr/>
        </p:nvSpPr>
        <p:spPr>
          <a:xfrm>
            <a:off x="548640" y="5577840"/>
            <a:ext cx="11064240" cy="594360"/>
          </a:xfrm>
          <a:prstGeom prst="roundRect">
            <a:avLst>
              <a:gd name="adj" fmla="val 12308"/>
            </a:avLst>
          </a:prstGeom>
          <a:solidFill>
            <a:srgbClr val="FBEBD2"/>
          </a:solidFill>
          <a:ln w="12700">
            <a:solidFill>
              <a:srgbClr val="E39B2D"/>
            </a:solidFill>
            <a:prstDash val="solid"/>
          </a:ln>
        </p:spPr>
      </p:sp>
      <p:sp>
        <p:nvSpPr>
          <p:cNvPr id="26" name="Text 23"/>
          <p:cNvSpPr/>
          <p:nvPr/>
        </p:nvSpPr>
        <p:spPr>
          <a:xfrm>
            <a:off x="777240" y="5577840"/>
            <a:ext cx="10607040" cy="59436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The qualifier </a:t>
            </a:r>
            <a:r>
              <a:rPr lang="en-US" sz="1500" b="1" dirty="0">
                <a:solidFill>
                  <a:srgbClr val="1B2433"/>
                </a:solidFill>
                <a:latin typeface="Calibri" pitchFamily="34" charset="0"/>
                <a:ea typeface="Calibri" pitchFamily="34" charset="-122"/>
                <a:cs typeface="Calibri" pitchFamily="34" charset="-120"/>
              </a:rPr>
              <a:t>"under reference-free evaluation"</a:t>
            </a:r>
            <a:r>
              <a:rPr lang="en-US" sz="1500" dirty="0">
                <a:solidFill>
                  <a:srgbClr val="1B2433"/>
                </a:solidFill>
                <a:latin typeface="Calibri" pitchFamily="34" charset="0"/>
                <a:ea typeface="Calibri" pitchFamily="34" charset="-122"/>
                <a:cs typeface="Calibri" pitchFamily="34" charset="-120"/>
              </a:rPr>
              <a:t> is essential: most </a:t>
            </a:r>
            <a:r>
              <a:rPr lang="en-US" sz="1500" b="1" dirty="0">
                <a:solidFill>
                  <a:srgbClr val="1B2433"/>
                </a:solidFill>
                <a:latin typeface="Calibri" pitchFamily="34" charset="0"/>
                <a:ea typeface="Calibri" pitchFamily="34" charset="-122"/>
                <a:cs typeface="Calibri" pitchFamily="34" charset="-120"/>
              </a:rPr>
              <a:t>reference-based</a:t>
            </a:r>
            <a:r>
              <a:rPr lang="en-US" sz="1500" dirty="0">
                <a:solidFill>
                  <a:srgbClr val="1B2433"/>
                </a:solidFill>
                <a:latin typeface="Calibri" pitchFamily="34" charset="0"/>
                <a:ea typeface="Calibri" pitchFamily="34" charset="-122"/>
                <a:cs typeface="Calibri" pitchFamily="34" charset="-120"/>
              </a:rPr>
              <a:t> metrics </a:t>
            </a:r>
            <a:r>
              <a:rPr lang="en-US" sz="1500" b="1" dirty="0">
                <a:solidFill>
                  <a:srgbClr val="1B2433"/>
                </a:solidFill>
                <a:latin typeface="Calibri" pitchFamily="34" charset="0"/>
                <a:ea typeface="Calibri" pitchFamily="34" charset="-122"/>
                <a:cs typeface="Calibri" pitchFamily="34" charset="-120"/>
              </a:rPr>
              <a:t>do</a:t>
            </a:r>
            <a:r>
              <a:rPr lang="en-US" sz="1500" dirty="0">
                <a:solidFill>
                  <a:srgbClr val="1B2433"/>
                </a:solidFill>
                <a:latin typeface="Calibri" pitchFamily="34" charset="0"/>
                <a:ea typeface="Calibri" pitchFamily="34" charset="-122"/>
                <a:cs typeface="Calibri" pitchFamily="34" charset="-120"/>
              </a:rPr>
              <a:t> charge for dropping the distinction.</a:t>
            </a:r>
            <a:endParaRPr lang="en-US" sz="15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6</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Result 4 (weaker): metrics rank best what English shows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63</a:t>
            </a:r>
            <a:endParaRPr lang="en-US" sz="900" dirty="0"/>
          </a:p>
        </p:txBody>
      </p:sp>
      <p:pic>
        <p:nvPicPr>
          <p:cNvPr id="9" name="Image 0" descr="fig5_qe_blindness.png">    </p:cNvPr>
          <p:cNvPicPr>
            <a:picLocks noChangeAspect="1"/>
          </p:cNvPicPr>
          <p:nvPr/>
        </p:nvPicPr>
        <p:blipFill>
          <a:blip r:embed="rId1"/>
          <a:stretch>
            <a:fillRect/>
          </a:stretch>
        </p:blipFill>
        <p:spPr>
          <a:xfrm>
            <a:off x="548640" y="1874520"/>
            <a:ext cx="4480560" cy="4261104"/>
          </a:xfrm>
          <a:prstGeom prst="rect">
            <a:avLst/>
          </a:prstGeom>
        </p:spPr>
      </p:pic>
      <p:sp>
        <p:nvSpPr>
          <p:cNvPr id="10" name="Text 6"/>
          <p:cNvSpPr/>
          <p:nvPr/>
        </p:nvSpPr>
        <p:spPr>
          <a:xfrm>
            <a:off x="548640" y="6144768"/>
            <a:ext cx="4937760" cy="320040"/>
          </a:xfrm>
          <a:prstGeom prst="rect">
            <a:avLst/>
          </a:prstGeom>
          <a:noFill/>
          <a:ln/>
        </p:spPr>
        <p:txBody>
          <a:bodyPr wrap="square" lIns="0" tIns="0" rIns="0" bIns="0" rtlCol="0" anchor="t"/>
          <a:lstStyle/>
          <a:p>
            <a:pPr algn="l" indent="0" marL="0">
              <a:lnSpc>
                <a:spcPct val="100000"/>
              </a:lnSpc>
              <a:buNone/>
            </a:pPr>
            <a:r>
              <a:rPr lang="en-US" sz="1000" dirty="0">
                <a:solidFill>
                  <a:srgbClr val="5B6577"/>
                </a:solidFill>
                <a:latin typeface="Calibri" pitchFamily="34" charset="0"/>
                <a:ea typeface="Calibri" pitchFamily="34" charset="-122"/>
                <a:cs typeface="Calibri" pitchFamily="34" charset="-120"/>
              </a:rPr>
              <a:t>Paper Figure 1. Top: constructed ("spliced") pairs. Bottom: real errors ("the panel" = our 13 systems). Dashed line = 50% coin flip.</a:t>
            </a:r>
            <a:endParaRPr lang="en-US" sz="10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669280" y="1783080"/>
          <a:ext cx="5943600" cy="914400"/>
        </p:xfrm>
        <a:graphic>
          <a:graphicData uri="http://schemas.openxmlformats.org/drawingml/2006/table">
            <a:tbl>
              <a:tblPr/>
              <a:tblGrid>
                <a:gridCol w="2103120"/>
                <a:gridCol w="1280160"/>
                <a:gridCol w="1280160"/>
                <a:gridCol w="1280160"/>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Constructed pairs</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number</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rationality</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gender</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r>
              <a:tr h="457200">
                <a:tc>
                  <a:txBody>
                    <a:bodyPr/>
                    <a:lstStyle/>
                    <a:p>
                      <a:pPr algn="l" indent="0" marL="0">
                        <a:buNone/>
                      </a:pPr>
                      <a:r>
                        <a:rPr lang="en-US" sz="1500" b="1" dirty="0">
                          <a:solidFill>
                            <a:srgbClr val="8E44AD"/>
                          </a:solidFill>
                          <a:latin typeface="Calibri" pitchFamily="34" charset="0"/>
                          <a:ea typeface="Calibri" pitchFamily="34" charset="-122"/>
                          <a:cs typeface="Calibri" pitchFamily="34" charset="-120"/>
                        </a:rPr>
                        <a:t>CometKiwi-22</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99.2%</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80.2%</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79.1%</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500" b="1" dirty="0">
                          <a:solidFill>
                            <a:srgbClr val="8E44AD"/>
                          </a:solidFill>
                          <a:latin typeface="Calibri" pitchFamily="34" charset="0"/>
                          <a:ea typeface="Calibri" pitchFamily="34" charset="-122"/>
                          <a:cs typeface="Calibri" pitchFamily="34" charset="-120"/>
                        </a:rPr>
                        <a:t>MetricX-24-QE</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99.7%</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88.9%</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81.9%</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bl>
          </a:graphicData>
        </a:graphic>
      </p:graphicFrame>
      <p:sp>
        <p:nvSpPr>
          <p:cNvPr id="12" name="Text 7"/>
          <p:cNvSpPr/>
          <p:nvPr/>
        </p:nvSpPr>
        <p:spPr>
          <a:xfrm>
            <a:off x="5669280" y="3474720"/>
            <a:ext cx="5943600" cy="2651760"/>
          </a:xfrm>
          <a:prstGeom prst="rect">
            <a:avLst/>
          </a:prstGeom>
          <a:noFill/>
          <a:ln/>
        </p:spPr>
        <p:txBody>
          <a:bodyPr wrap="square" lIns="0" tIns="0" rIns="0" bIns="0" rtlCol="0" anchor="t"/>
          <a:lstStyle/>
          <a:p>
            <a:pPr marL="228600" indent="-228600">
              <a:lnSpc>
                <a:spcPct val="105000"/>
              </a:lnSpc>
              <a:spcAft>
                <a:spcPts val="800"/>
              </a:spcAft>
              <a:buSzPct val="100000"/>
              <a:buChar char="•"/>
            </a:pPr>
            <a:r>
              <a:rPr lang="en-US" sz="1600" b="1" dirty="0">
                <a:solidFill>
                  <a:srgbClr val="1B2433"/>
                </a:solidFill>
                <a:latin typeface="Calibri" pitchFamily="34" charset="0"/>
                <a:ea typeface="Calibri" pitchFamily="34" charset="-122"/>
                <a:cs typeface="Calibri" pitchFamily="34" charset="-120"/>
              </a:rPr>
              <a:t>Number</a:t>
            </a:r>
            <a:r>
              <a:rPr lang="en-US" sz="1600" dirty="0">
                <a:solidFill>
                  <a:srgbClr val="1B2433"/>
                </a:solidFill>
                <a:latin typeface="Calibri" pitchFamily="34" charset="0"/>
                <a:ea typeface="Calibri" pitchFamily="34" charset="-122"/>
                <a:cs typeface="Calibri" pitchFamily="34" charset="-120"/>
              </a:rPr>
              <a:t>: English marks it in grammar (cow / cows) → ranked almost perfectly.</a:t>
            </a:r>
            <a:endParaRPr lang="en-US" sz="1600" dirty="0"/>
          </a:p>
          <a:p>
            <a:pPr marL="228600" indent="-228600">
              <a:lnSpc>
                <a:spcPct val="105000"/>
              </a:lnSpc>
              <a:spcAft>
                <a:spcPts val="800"/>
              </a:spcAft>
              <a:buSzPct val="100000"/>
              <a:buChar char="•"/>
            </a:pPr>
            <a:r>
              <a:rPr lang="en-US" sz="1600" b="1" dirty="0">
                <a:solidFill>
                  <a:srgbClr val="1B2433"/>
                </a:solidFill>
                <a:latin typeface="Calibri" pitchFamily="34" charset="0"/>
                <a:ea typeface="Calibri" pitchFamily="34" charset="-122"/>
                <a:cs typeface="Calibri" pitchFamily="34" charset="-120"/>
              </a:rPr>
              <a:t>Rationality</a:t>
            </a:r>
            <a:r>
              <a:rPr lang="en-US" sz="1600" dirty="0">
                <a:solidFill>
                  <a:srgbClr val="1B2433"/>
                </a:solidFill>
                <a:latin typeface="Calibri" pitchFamily="34" charset="0"/>
                <a:ea typeface="Calibri" pitchFamily="34" charset="-122"/>
                <a:cs typeface="Calibri" pitchFamily="34" charset="-120"/>
              </a:rPr>
              <a:t> and </a:t>
            </a:r>
            <a:r>
              <a:rPr lang="en-US" sz="1600" b="1" dirty="0">
                <a:solidFill>
                  <a:srgbClr val="1B2433"/>
                </a:solidFill>
                <a:latin typeface="Calibri" pitchFamily="34" charset="0"/>
                <a:ea typeface="Calibri" pitchFamily="34" charset="-122"/>
                <a:cs typeface="Calibri" pitchFamily="34" charset="-120"/>
              </a:rPr>
              <a:t>gender</a:t>
            </a:r>
            <a:r>
              <a:rPr lang="en-US" sz="1600" dirty="0">
                <a:solidFill>
                  <a:srgbClr val="1B2433"/>
                </a:solidFill>
                <a:latin typeface="Calibri" pitchFamily="34" charset="0"/>
                <a:ea typeface="Calibri" pitchFamily="34" charset="-122"/>
                <a:cs typeface="Calibri" pitchFamily="34" charset="-120"/>
              </a:rPr>
              <a:t>: English leaves them to the </a:t>
            </a:r>
            <a:r>
              <a:rPr lang="en-US" sz="1600" b="1" dirty="0">
                <a:solidFill>
                  <a:srgbClr val="1B2433"/>
                </a:solidFill>
                <a:latin typeface="Calibri" pitchFamily="34" charset="0"/>
                <a:ea typeface="Calibri" pitchFamily="34" charset="-122"/>
                <a:cs typeface="Calibri" pitchFamily="34" charset="-120"/>
              </a:rPr>
              <a:t>meaning</a:t>
            </a:r>
            <a:r>
              <a:rPr lang="en-US" sz="1600" dirty="0">
                <a:solidFill>
                  <a:srgbClr val="1B2433"/>
                </a:solidFill>
                <a:latin typeface="Calibri" pitchFamily="34" charset="0"/>
                <a:ea typeface="Calibri" pitchFamily="34" charset="-122"/>
                <a:cs typeface="Calibri" pitchFamily="34" charset="-120"/>
              </a:rPr>
              <a:t> of the noun or the name → ranked worse.</a:t>
            </a:r>
            <a:endParaRPr lang="en-US" sz="1600" dirty="0"/>
          </a:p>
          <a:p>
            <a:pPr marL="228600" indent="-228600">
              <a:lnSpc>
                <a:spcPct val="105000"/>
              </a:lnSpc>
              <a:spcAft>
                <a:spcPts val="800"/>
              </a:spcAft>
              <a:buSzPct val="100000"/>
              <a:buChar char="•"/>
            </a:pPr>
            <a:r>
              <a:rPr lang="en-US" sz="1600" dirty="0">
                <a:solidFill>
                  <a:srgbClr val="1B2433"/>
                </a:solidFill>
                <a:latin typeface="Calibri" pitchFamily="34" charset="0"/>
                <a:ea typeface="Calibri" pitchFamily="34" charset="-122"/>
                <a:cs typeface="Calibri" pitchFamily="34" charset="-120"/>
              </a:rPr>
              <a:t>So a metric ranks best what the English source makes </a:t>
            </a:r>
            <a:r>
              <a:rPr lang="en-US" sz="1600" b="1" dirty="0">
                <a:solidFill>
                  <a:srgbClr val="1B2433"/>
                </a:solidFill>
                <a:latin typeface="Calibri" pitchFamily="34" charset="0"/>
                <a:ea typeface="Calibri" pitchFamily="34" charset="-122"/>
                <a:cs typeface="Calibri" pitchFamily="34" charset="-120"/>
              </a:rPr>
              <a:t>easiest to recover</a:t>
            </a:r>
            <a:r>
              <a:rPr lang="en-US" sz="1600" dirty="0">
                <a:solidFill>
                  <a:srgbClr val="1B2433"/>
                </a:solidFill>
                <a:latin typeface="Calibri" pitchFamily="34" charset="0"/>
                <a:ea typeface="Calibri" pitchFamily="34" charset="-122"/>
                <a:cs typeface="Calibri" pitchFamily="34" charset="-120"/>
              </a:rPr>
              <a:t>.</a:t>
            </a:r>
            <a:endParaRPr lang="en-US" sz="16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6</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Result 4: three honest qualifications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64</a:t>
            </a:r>
            <a:endParaRPr lang="en-US" sz="900" dirty="0"/>
          </a:p>
        </p:txBody>
      </p:sp>
      <p:sp>
        <p:nvSpPr>
          <p:cNvPr id="9" name="Shape 6"/>
          <p:cNvSpPr/>
          <p:nvPr/>
        </p:nvSpPr>
        <p:spPr>
          <a:xfrm>
            <a:off x="548640" y="1737360"/>
            <a:ext cx="3566160" cy="2148840"/>
          </a:xfrm>
          <a:prstGeom prst="roundRect">
            <a:avLst>
              <a:gd name="adj" fmla="val 3404"/>
            </a:avLst>
          </a:prstGeom>
          <a:solidFill>
            <a:srgbClr val="F2F4F8"/>
          </a:solidFill>
          <a:ln w="12700">
            <a:solidFill>
              <a:srgbClr val="F2F4F8"/>
            </a:solidFill>
            <a:prstDash val="solid"/>
          </a:ln>
        </p:spPr>
      </p:sp>
      <p:sp>
        <p:nvSpPr>
          <p:cNvPr id="10" name="Text 7"/>
          <p:cNvSpPr/>
          <p:nvPr/>
        </p:nvSpPr>
        <p:spPr>
          <a:xfrm>
            <a:off x="749808" y="188366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1 · Only in constructed pairs</a:t>
            </a:r>
            <a:endParaRPr lang="en-US" sz="1700" dirty="0"/>
          </a:p>
        </p:txBody>
      </p:sp>
      <p:sp>
        <p:nvSpPr>
          <p:cNvPr id="11" name="Text 8"/>
          <p:cNvSpPr/>
          <p:nvPr/>
        </p:nvSpPr>
        <p:spPr>
          <a:xfrm>
            <a:off x="749808" y="2295144"/>
            <a:ext cx="3163824" cy="1444752"/>
          </a:xfrm>
          <a:prstGeom prst="rect">
            <a:avLst/>
          </a:prstGeom>
          <a:noFill/>
          <a:ln/>
        </p:spPr>
        <p:txBody>
          <a:bodyPr wrap="square" lIns="0" tIns="0" rIns="0" bIns="0" rtlCol="0" anchor="t"/>
          <a:lstStyle/>
          <a:p>
            <a:pPr marL="228600" indent="-228600">
              <a:spcAft>
                <a:spcPts val="500"/>
              </a:spcAft>
              <a:buSzPct val="100000"/>
              <a:buChar char="•"/>
            </a:pPr>
            <a:r>
              <a:rPr lang="en-US" sz="1500" dirty="0">
                <a:solidFill>
                  <a:srgbClr val="1B2433"/>
                </a:solidFill>
                <a:latin typeface="Calibri" pitchFamily="34" charset="0"/>
                <a:ea typeface="Calibri" pitchFamily="34" charset="-122"/>
                <a:cs typeface="Calibri" pitchFamily="34" charset="-120"/>
              </a:rPr>
              <a:t>On </a:t>
            </a:r>
            <a:r>
              <a:rPr lang="en-US" sz="1500" b="1" dirty="0">
                <a:solidFill>
                  <a:srgbClr val="1B2433"/>
                </a:solidFill>
                <a:latin typeface="Calibri" pitchFamily="34" charset="0"/>
                <a:ea typeface="Calibri" pitchFamily="34" charset="-122"/>
                <a:cs typeface="Calibri" pitchFamily="34" charset="-120"/>
              </a:rPr>
              <a:t>real errors</a:t>
            </a:r>
            <a:r>
              <a:rPr lang="en-US" sz="1500" dirty="0">
                <a:solidFill>
                  <a:srgbClr val="1B2433"/>
                </a:solidFill>
                <a:latin typeface="Calibri" pitchFamily="34" charset="0"/>
                <a:ea typeface="Calibri" pitchFamily="34" charset="-122"/>
                <a:cs typeface="Calibri" pitchFamily="34" charset="-120"/>
              </a:rPr>
              <a:t> the pattern disappears.</a:t>
            </a:r>
            <a:endParaRPr lang="en-US" sz="1500" dirty="0"/>
          </a:p>
          <a:p>
            <a:pPr marL="228600" indent="-228600">
              <a:spcAft>
                <a:spcPts val="500"/>
              </a:spcAft>
              <a:buSzPct val="100000"/>
              <a:buChar char="•"/>
            </a:pPr>
            <a:r>
              <a:rPr lang="en-US" sz="1500" dirty="0">
                <a:solidFill>
                  <a:srgbClr val="1B2433"/>
                </a:solidFill>
                <a:latin typeface="Calibri" pitchFamily="34" charset="0"/>
                <a:ea typeface="Calibri" pitchFamily="34" charset="-122"/>
                <a:cs typeface="Calibri" pitchFamily="34" charset="-120"/>
              </a:rPr>
              <a:t>CometKiwi: </a:t>
            </a:r>
            <a:r>
              <a:rPr lang="en-US" sz="1500" b="1" dirty="0">
                <a:solidFill>
                  <a:srgbClr val="1B2433"/>
                </a:solidFill>
                <a:latin typeface="Calibri" pitchFamily="34" charset="0"/>
                <a:ea typeface="Calibri" pitchFamily="34" charset="-122"/>
                <a:cs typeface="Calibri" pitchFamily="34" charset="-120"/>
              </a:rPr>
              <a:t>44.3%</a:t>
            </a:r>
            <a:r>
              <a:rPr lang="en-US" sz="1500" dirty="0">
                <a:solidFill>
                  <a:srgbClr val="1B2433"/>
                </a:solidFill>
                <a:latin typeface="Calibri" pitchFamily="34" charset="0"/>
                <a:ea typeface="Calibri" pitchFamily="34" charset="-122"/>
                <a:cs typeface="Calibri" pitchFamily="34" charset="-120"/>
              </a:rPr>
              <a:t> on number vs </a:t>
            </a:r>
            <a:r>
              <a:rPr lang="en-US" sz="1500" b="1" dirty="0">
                <a:solidFill>
                  <a:srgbClr val="1B2433"/>
                </a:solidFill>
                <a:latin typeface="Calibri" pitchFamily="34" charset="0"/>
                <a:ea typeface="Calibri" pitchFamily="34" charset="-122"/>
                <a:cs typeface="Calibri" pitchFamily="34" charset="-120"/>
              </a:rPr>
              <a:t>61.6%</a:t>
            </a:r>
            <a:r>
              <a:rPr lang="en-US" sz="1500" dirty="0">
                <a:solidFill>
                  <a:srgbClr val="1B2433"/>
                </a:solidFill>
                <a:latin typeface="Calibri" pitchFamily="34" charset="0"/>
                <a:ea typeface="Calibri" pitchFamily="34" charset="-122"/>
                <a:cs typeface="Calibri" pitchFamily="34" charset="-120"/>
              </a:rPr>
              <a:t> on rationality.</a:t>
            </a:r>
            <a:endParaRPr lang="en-US" sz="1500" dirty="0"/>
          </a:p>
        </p:txBody>
      </p:sp>
      <p:sp>
        <p:nvSpPr>
          <p:cNvPr id="12" name="Shape 9"/>
          <p:cNvSpPr/>
          <p:nvPr/>
        </p:nvSpPr>
        <p:spPr>
          <a:xfrm>
            <a:off x="4297680" y="1737360"/>
            <a:ext cx="3566160" cy="2148840"/>
          </a:xfrm>
          <a:prstGeom prst="roundRect">
            <a:avLst>
              <a:gd name="adj" fmla="val 3404"/>
            </a:avLst>
          </a:prstGeom>
          <a:solidFill>
            <a:srgbClr val="F2F4F8"/>
          </a:solidFill>
          <a:ln w="12700">
            <a:solidFill>
              <a:srgbClr val="F2F4F8"/>
            </a:solidFill>
            <a:prstDash val="solid"/>
          </a:ln>
        </p:spPr>
      </p:sp>
      <p:sp>
        <p:nvSpPr>
          <p:cNvPr id="13" name="Text 10"/>
          <p:cNvSpPr/>
          <p:nvPr/>
        </p:nvSpPr>
        <p:spPr>
          <a:xfrm>
            <a:off x="4498848" y="188366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2 · Not only reference-free</a:t>
            </a:r>
            <a:endParaRPr lang="en-US" sz="1700" dirty="0"/>
          </a:p>
        </p:txBody>
      </p:sp>
      <p:sp>
        <p:nvSpPr>
          <p:cNvPr id="14" name="Text 11"/>
          <p:cNvSpPr/>
          <p:nvPr/>
        </p:nvSpPr>
        <p:spPr>
          <a:xfrm>
            <a:off x="4498848" y="2295144"/>
            <a:ext cx="3163824" cy="1444752"/>
          </a:xfrm>
          <a:prstGeom prst="rect">
            <a:avLst/>
          </a:prstGeom>
          <a:noFill/>
          <a:ln/>
        </p:spPr>
        <p:txBody>
          <a:bodyPr wrap="square" lIns="0" tIns="0" rIns="0" bIns="0" rtlCol="0" anchor="t"/>
          <a:lstStyle/>
          <a:p>
            <a:pPr marL="228600" indent="-228600">
              <a:spcAft>
                <a:spcPts val="500"/>
              </a:spcAft>
              <a:buSzPct val="100000"/>
              <a:buChar char="•"/>
            </a:pPr>
            <a:r>
              <a:rPr lang="en-US" sz="1500" dirty="0">
                <a:solidFill>
                  <a:srgbClr val="1B2433"/>
                </a:solidFill>
                <a:latin typeface="Calibri" pitchFamily="34" charset="0"/>
                <a:ea typeface="Calibri" pitchFamily="34" charset="-122"/>
                <a:cs typeface="Calibri" pitchFamily="34" charset="-120"/>
              </a:rPr>
              <a:t>MetricX-23 (with reference) separates the slots </a:t>
            </a:r>
            <a:r>
              <a:rPr lang="en-US" sz="1500" b="1" dirty="0">
                <a:solidFill>
                  <a:srgbClr val="1B2433"/>
                </a:solidFill>
                <a:latin typeface="Calibri" pitchFamily="34" charset="0"/>
                <a:ea typeface="Calibri" pitchFamily="34" charset="-122"/>
                <a:cs typeface="Calibri" pitchFamily="34" charset="-120"/>
              </a:rPr>
              <a:t>more</a:t>
            </a:r>
            <a:r>
              <a:rPr lang="en-US" sz="1500" dirty="0">
                <a:solidFill>
                  <a:srgbClr val="1B2433"/>
                </a:solidFill>
                <a:latin typeface="Calibri" pitchFamily="34" charset="0"/>
                <a:ea typeface="Calibri" pitchFamily="34" charset="-122"/>
                <a:cs typeface="Calibri" pitchFamily="34" charset="-120"/>
              </a:rPr>
              <a:t>: 89.8% vs 57.9%.</a:t>
            </a:r>
            <a:endParaRPr lang="en-US" sz="1500" dirty="0"/>
          </a:p>
          <a:p>
            <a:pPr marL="228600" indent="-228600">
              <a:spcAft>
                <a:spcPts val="500"/>
              </a:spcAft>
              <a:buSzPct val="100000"/>
              <a:buChar char="•"/>
            </a:pPr>
            <a:r>
              <a:rPr lang="en-US" sz="1500" dirty="0">
                <a:solidFill>
                  <a:srgbClr val="1B2433"/>
                </a:solidFill>
                <a:latin typeface="Calibri" pitchFamily="34" charset="0"/>
                <a:ea typeface="Calibri" pitchFamily="34" charset="-122"/>
                <a:cs typeface="Calibri" pitchFamily="34" charset="-120"/>
              </a:rPr>
              <a:t>xCOMET-XL (with reference) is almost flat: 96.5% vs 93.9%.</a:t>
            </a:r>
            <a:endParaRPr lang="en-US" sz="1500" dirty="0"/>
          </a:p>
        </p:txBody>
      </p:sp>
      <p:sp>
        <p:nvSpPr>
          <p:cNvPr id="15" name="Shape 12"/>
          <p:cNvSpPr/>
          <p:nvPr/>
        </p:nvSpPr>
        <p:spPr>
          <a:xfrm>
            <a:off x="8046720" y="1737360"/>
            <a:ext cx="3566160" cy="2148840"/>
          </a:xfrm>
          <a:prstGeom prst="roundRect">
            <a:avLst>
              <a:gd name="adj" fmla="val 3404"/>
            </a:avLst>
          </a:prstGeom>
          <a:solidFill>
            <a:srgbClr val="F2F4F8"/>
          </a:solidFill>
          <a:ln w="12700">
            <a:solidFill>
              <a:srgbClr val="F2F4F8"/>
            </a:solidFill>
            <a:prstDash val="solid"/>
          </a:ln>
        </p:spPr>
      </p:sp>
      <p:sp>
        <p:nvSpPr>
          <p:cNvPr id="16" name="Text 13"/>
          <p:cNvSpPr/>
          <p:nvPr/>
        </p:nvSpPr>
        <p:spPr>
          <a:xfrm>
            <a:off x="8247888" y="188366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3 · Strongest part withdrawn</a:t>
            </a:r>
            <a:endParaRPr lang="en-US" sz="1700" dirty="0"/>
          </a:p>
        </p:txBody>
      </p:sp>
      <p:sp>
        <p:nvSpPr>
          <p:cNvPr id="17" name="Text 14"/>
          <p:cNvSpPr/>
          <p:nvPr/>
        </p:nvSpPr>
        <p:spPr>
          <a:xfrm>
            <a:off x="8247888" y="2295144"/>
            <a:ext cx="3163824" cy="1444752"/>
          </a:xfrm>
          <a:prstGeom prst="rect">
            <a:avLst/>
          </a:prstGeom>
          <a:noFill/>
          <a:ln/>
        </p:spPr>
        <p:txBody>
          <a:bodyPr wrap="square" lIns="0" tIns="0" rIns="0" bIns="0" rtlCol="0" anchor="t"/>
          <a:lstStyle/>
          <a:p>
            <a:pPr marL="228600" indent="-228600">
              <a:spcAft>
                <a:spcPts val="500"/>
              </a:spcAft>
              <a:buSzPct val="100000"/>
              <a:buChar char="•"/>
            </a:pPr>
            <a:r>
              <a:rPr lang="en-US" sz="1500" dirty="0">
                <a:solidFill>
                  <a:srgbClr val="1B2433"/>
                </a:solidFill>
                <a:latin typeface="Calibri" pitchFamily="34" charset="0"/>
                <a:ea typeface="Calibri" pitchFamily="34" charset="-122"/>
                <a:cs typeface="Calibri" pitchFamily="34" charset="-120"/>
              </a:rPr>
              <a:t>The lowest scores were on two slots English cannot mark at all (CometKiwi </a:t>
            </a:r>
            <a:r>
              <a:rPr lang="en-US" sz="1500" b="1" dirty="0">
                <a:solidFill>
                  <a:srgbClr val="1B2433"/>
                </a:solidFill>
                <a:latin typeface="Calibri" pitchFamily="34" charset="0"/>
                <a:ea typeface="Calibri" pitchFamily="34" charset="-122"/>
                <a:cs typeface="Calibri" pitchFamily="34" charset="-120"/>
              </a:rPr>
              <a:t>67.9%</a:t>
            </a:r>
            <a:r>
              <a:rPr lang="en-US" sz="1500" dirty="0">
                <a:solidFill>
                  <a:srgbClr val="1B2433"/>
                </a:solidFill>
                <a:latin typeface="Calibri" pitchFamily="34" charset="0"/>
                <a:ea typeface="Calibri" pitchFamily="34" charset="-122"/>
                <a:cs typeface="Calibri" pitchFamily="34" charset="-120"/>
              </a:rPr>
              <a:t> and </a:t>
            </a:r>
            <a:r>
              <a:rPr lang="en-US" sz="1500" b="1" dirty="0">
                <a:solidFill>
                  <a:srgbClr val="1B2433"/>
                </a:solidFill>
                <a:latin typeface="Calibri" pitchFamily="34" charset="0"/>
                <a:ea typeface="Calibri" pitchFamily="34" charset="-122"/>
                <a:cs typeface="Calibri" pitchFamily="34" charset="-120"/>
              </a:rPr>
              <a:t>20.7%</a:t>
            </a:r>
            <a:r>
              <a:rPr lang="en-US" sz="1500" dirty="0">
                <a:solidFill>
                  <a:srgbClr val="1B2433"/>
                </a:solidFill>
                <a:latin typeface="Calibri" pitchFamily="34" charset="0"/>
                <a:ea typeface="Calibri" pitchFamily="34" charset="-122"/>
                <a:cs typeface="Calibri" pitchFamily="34" charset="-120"/>
              </a:rPr>
              <a:t>).</a:t>
            </a:r>
            <a:endParaRPr lang="en-US" sz="1500" dirty="0"/>
          </a:p>
          <a:p>
            <a:pPr marL="228600" indent="-228600">
              <a:spcAft>
                <a:spcPts val="500"/>
              </a:spcAft>
              <a:buSzPct val="100000"/>
              <a:buChar char="•"/>
            </a:pPr>
            <a:r>
              <a:rPr lang="en-US" sz="1500" dirty="0">
                <a:solidFill>
                  <a:srgbClr val="1B2433"/>
                </a:solidFill>
                <a:latin typeface="Calibri" pitchFamily="34" charset="0"/>
                <a:ea typeface="Calibri" pitchFamily="34" charset="-122"/>
                <a:cs typeface="Calibri" pitchFamily="34" charset="-120"/>
              </a:rPr>
              <a:t>Both slots were </a:t>
            </a:r>
            <a:r>
              <a:rPr lang="en-US" sz="1500" b="1" dirty="0">
                <a:solidFill>
                  <a:srgbClr val="1B2433"/>
                </a:solidFill>
                <a:latin typeface="Calibri" pitchFamily="34" charset="0"/>
                <a:ea typeface="Calibri" pitchFamily="34" charset="-122"/>
                <a:cs typeface="Calibri" pitchFamily="34" charset="-120"/>
              </a:rPr>
              <a:t>withdrawn</a:t>
            </a:r>
            <a:r>
              <a:rPr lang="en-US" sz="1500" dirty="0">
                <a:solidFill>
                  <a:srgbClr val="1B2433"/>
                </a:solidFill>
                <a:latin typeface="Calibri" pitchFamily="34" charset="0"/>
                <a:ea typeface="Calibri" pitchFamily="34" charset="-122"/>
                <a:cs typeface="Calibri" pitchFamily="34" charset="-120"/>
              </a:rPr>
              <a:t> for construction flaws.</a:t>
            </a:r>
            <a:endParaRPr lang="en-US" sz="1500" dirty="0"/>
          </a:p>
        </p:txBody>
      </p:sp>
      <p:sp>
        <p:nvSpPr>
          <p:cNvPr id="18" name="Shape 15"/>
          <p:cNvSpPr/>
          <p:nvPr/>
        </p:nvSpPr>
        <p:spPr>
          <a:xfrm>
            <a:off x="548640" y="4160520"/>
            <a:ext cx="11064240" cy="548640"/>
          </a:xfrm>
          <a:prstGeom prst="roundRect">
            <a:avLst>
              <a:gd name="adj" fmla="val 13333"/>
            </a:avLst>
          </a:prstGeom>
          <a:solidFill>
            <a:srgbClr val="FBEBD2"/>
          </a:solidFill>
          <a:ln w="12700">
            <a:solidFill>
              <a:srgbClr val="E39B2D"/>
            </a:solidFill>
            <a:prstDash val="solid"/>
          </a:ln>
        </p:spPr>
      </p:sp>
      <p:sp>
        <p:nvSpPr>
          <p:cNvPr id="19" name="Text 16"/>
          <p:cNvSpPr/>
          <p:nvPr/>
        </p:nvSpPr>
        <p:spPr>
          <a:xfrm>
            <a:off x="777240" y="4160520"/>
            <a:ext cx="10607040" cy="54864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Result 4 is </a:t>
            </a:r>
            <a:r>
              <a:rPr lang="en-US" sz="1500" b="1" dirty="0">
                <a:solidFill>
                  <a:srgbClr val="1B2433"/>
                </a:solidFill>
                <a:latin typeface="Calibri" pitchFamily="34" charset="0"/>
                <a:ea typeface="Calibri" pitchFamily="34" charset="-122"/>
                <a:cs typeface="Calibri" pitchFamily="34" charset="-120"/>
              </a:rPr>
              <a:t>suggestive, not central</a:t>
            </a:r>
            <a:r>
              <a:rPr lang="en-US" sz="1500" dirty="0">
                <a:solidFill>
                  <a:srgbClr val="1B2433"/>
                </a:solidFill>
                <a:latin typeface="Calibri" pitchFamily="34" charset="0"/>
                <a:ea typeface="Calibri" pitchFamily="34" charset="-122"/>
                <a:cs typeface="Calibri" pitchFamily="34" charset="-120"/>
              </a:rPr>
              <a:t>. The central claim is Results 2 and 3, which hold on </a:t>
            </a:r>
            <a:r>
              <a:rPr lang="en-US" sz="1500" b="1" dirty="0">
                <a:solidFill>
                  <a:srgbClr val="1B2433"/>
                </a:solidFill>
                <a:latin typeface="Calibri" pitchFamily="34" charset="0"/>
                <a:ea typeface="Calibri" pitchFamily="34" charset="-122"/>
                <a:cs typeface="Calibri" pitchFamily="34" charset="-120"/>
              </a:rPr>
              <a:t>real outputs</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6</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Result 5: xCOMET finds the area of the error, not the error</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65</a:t>
            </a:r>
            <a:endParaRPr lang="en-US" sz="900" dirty="0"/>
          </a:p>
        </p:txBody>
      </p:sp>
      <p:sp>
        <p:nvSpPr>
          <p:cNvPr id="9" name="Text 6"/>
          <p:cNvSpPr/>
          <p:nvPr/>
        </p:nvSpPr>
        <p:spPr>
          <a:xfrm>
            <a:off x="548640" y="1691640"/>
            <a:ext cx="5669280" cy="320040"/>
          </a:xfrm>
          <a:prstGeom prst="rect">
            <a:avLst/>
          </a:prstGeom>
          <a:noFill/>
          <a:ln/>
        </p:spPr>
        <p:txBody>
          <a:bodyPr wrap="square" lIns="0" tIns="0" rIns="0" bIns="0" rtlCol="0" anchor="t"/>
          <a:lstStyle/>
          <a:p>
            <a:pPr algn="l" indent="0" marL="0">
              <a:lnSpc>
                <a:spcPct val="100000"/>
              </a:lnSpc>
              <a:buNone/>
            </a:pPr>
            <a:r>
              <a:rPr lang="en-US" sz="1300" b="1" dirty="0">
                <a:solidFill>
                  <a:srgbClr val="5B6577"/>
                </a:solidFill>
                <a:latin typeface="Calibri" pitchFamily="34" charset="0"/>
                <a:ea typeface="Calibri" pitchFamily="34" charset="-122"/>
                <a:cs typeface="Calibri" pitchFamily="34" charset="-120"/>
              </a:rPr>
              <a:t>One sentence (illustration of average proportions)</a:t>
            </a:r>
            <a:endParaRPr lang="en-US" sz="1300" dirty="0"/>
          </a:p>
        </p:txBody>
      </p:sp>
      <p:sp>
        <p:nvSpPr>
          <p:cNvPr id="10" name="Shape 7"/>
          <p:cNvSpPr/>
          <p:nvPr/>
        </p:nvSpPr>
        <p:spPr>
          <a:xfrm>
            <a:off x="548640" y="2103120"/>
            <a:ext cx="11064240" cy="640080"/>
          </a:xfrm>
          <a:prstGeom prst="rect">
            <a:avLst>
              <a:gd name="adj" fmla="val 11429"/>
            </a:avLst>
          </a:prstGeom>
          <a:solidFill>
            <a:srgbClr val="E7EBF2"/>
          </a:solidFill>
          <a:ln w="12700">
            <a:solidFill>
              <a:srgbClr val="E7EBF2"/>
            </a:solidFill>
            <a:prstDash val="solid"/>
          </a:ln>
        </p:spPr>
      </p:sp>
      <p:sp>
        <p:nvSpPr>
          <p:cNvPr id="11" name="Shape 8"/>
          <p:cNvSpPr/>
          <p:nvPr/>
        </p:nvSpPr>
        <p:spPr>
          <a:xfrm>
            <a:off x="2540203" y="2103120"/>
            <a:ext cx="7877739" cy="640080"/>
          </a:xfrm>
          <a:prstGeom prst="rect">
            <a:avLst/>
          </a:prstGeom>
          <a:solidFill>
            <a:srgbClr val="E39B2D">
              <a:alpha val="45000"/>
            </a:srgbClr>
          </a:solidFill>
          <a:ln w="19050">
            <a:solidFill>
              <a:srgbClr val="E39B2D"/>
            </a:solidFill>
            <a:prstDash val="solid"/>
          </a:ln>
        </p:spPr>
      </p:sp>
      <p:sp>
        <p:nvSpPr>
          <p:cNvPr id="12" name="Shape 9"/>
          <p:cNvSpPr/>
          <p:nvPr/>
        </p:nvSpPr>
        <p:spPr>
          <a:xfrm>
            <a:off x="9400032" y="2103120"/>
            <a:ext cx="256032" cy="640080"/>
          </a:xfrm>
          <a:prstGeom prst="rect">
            <a:avLst/>
          </a:prstGeom>
          <a:solidFill>
            <a:srgbClr val="D55E00"/>
          </a:solidFill>
          <a:ln w="12700">
            <a:solidFill>
              <a:srgbClr val="D55E00"/>
            </a:solidFill>
            <a:prstDash val="solid"/>
          </a:ln>
        </p:spPr>
      </p:sp>
      <p:sp>
        <p:nvSpPr>
          <p:cNvPr id="13" name="Text 10"/>
          <p:cNvSpPr/>
          <p:nvPr/>
        </p:nvSpPr>
        <p:spPr>
          <a:xfrm>
            <a:off x="2540203" y="2788920"/>
            <a:ext cx="5486400" cy="365760"/>
          </a:xfrm>
          <a:prstGeom prst="rect">
            <a:avLst/>
          </a:prstGeom>
          <a:noFill/>
          <a:ln/>
        </p:spPr>
        <p:txBody>
          <a:bodyPr wrap="square" lIns="0" tIns="0" rIns="0" bIns="0" rtlCol="0" anchor="t"/>
          <a:lstStyle/>
          <a:p>
            <a:pPr algn="l" indent="0" marL="0">
              <a:lnSpc>
                <a:spcPct val="100000"/>
              </a:lnSpc>
              <a:buNone/>
            </a:pPr>
            <a:r>
              <a:rPr lang="en-US" sz="1400" dirty="0">
                <a:solidFill>
                  <a:srgbClr val="E39B2D"/>
                </a:solidFill>
                <a:latin typeface="Calibri" pitchFamily="34" charset="0"/>
                <a:ea typeface="Calibri" pitchFamily="34" charset="-122"/>
                <a:cs typeface="Calibri" pitchFamily="34" charset="-120"/>
              </a:rPr>
              <a:t>area xCOMET flags: </a:t>
            </a:r>
            <a:r>
              <a:rPr lang="en-US" sz="1400" b="1" dirty="0">
                <a:solidFill>
                  <a:srgbClr val="E39B2D"/>
                </a:solidFill>
                <a:latin typeface="Calibri" pitchFamily="34" charset="0"/>
                <a:ea typeface="Calibri" pitchFamily="34" charset="-122"/>
                <a:cs typeface="Calibri" pitchFamily="34" charset="-120"/>
              </a:rPr>
              <a:t>71.2%</a:t>
            </a:r>
            <a:r>
              <a:rPr lang="en-US" sz="1400" dirty="0">
                <a:solidFill>
                  <a:srgbClr val="E39B2D"/>
                </a:solidFill>
                <a:latin typeface="Calibri" pitchFamily="34" charset="0"/>
                <a:ea typeface="Calibri" pitchFamily="34" charset="-122"/>
                <a:cs typeface="Calibri" pitchFamily="34" charset="-120"/>
              </a:rPr>
              <a:t> of the sentence</a:t>
            </a:r>
            <a:endParaRPr lang="en-US" sz="1400" dirty="0"/>
          </a:p>
        </p:txBody>
      </p:sp>
      <p:sp>
        <p:nvSpPr>
          <p:cNvPr id="14" name="Text 11"/>
          <p:cNvSpPr/>
          <p:nvPr/>
        </p:nvSpPr>
        <p:spPr>
          <a:xfrm>
            <a:off x="6473952" y="1691640"/>
            <a:ext cx="3200400" cy="365760"/>
          </a:xfrm>
          <a:prstGeom prst="rect">
            <a:avLst/>
          </a:prstGeom>
          <a:noFill/>
          <a:ln/>
        </p:spPr>
        <p:txBody>
          <a:bodyPr wrap="square" lIns="0" tIns="0" rIns="0" bIns="0" rtlCol="0" anchor="t"/>
          <a:lstStyle/>
          <a:p>
            <a:pPr algn="r" indent="0" marL="0">
              <a:lnSpc>
                <a:spcPct val="100000"/>
              </a:lnSpc>
              <a:buNone/>
            </a:pPr>
            <a:r>
              <a:rPr lang="en-US" sz="1300" dirty="0">
                <a:solidFill>
                  <a:srgbClr val="D55E00"/>
                </a:solidFill>
                <a:latin typeface="Calibri" pitchFamily="34" charset="0"/>
                <a:ea typeface="Calibri" pitchFamily="34" charset="-122"/>
                <a:cs typeface="Calibri" pitchFamily="34" charset="-120"/>
              </a:rPr>
              <a:t>the actual wrong ending: ~</a:t>
            </a:r>
            <a:r>
              <a:rPr lang="en-US" sz="1300" b="1" dirty="0">
                <a:solidFill>
                  <a:srgbClr val="D55E00"/>
                </a:solidFill>
                <a:latin typeface="Calibri" pitchFamily="34" charset="0"/>
                <a:ea typeface="Calibri" pitchFamily="34" charset="-122"/>
                <a:cs typeface="Calibri" pitchFamily="34" charset="-120"/>
              </a:rPr>
              <a:t>3.3</a:t>
            </a:r>
            <a:r>
              <a:rPr lang="en-US" sz="1300" dirty="0">
                <a:solidFill>
                  <a:srgbClr val="D55E00"/>
                </a:solidFill>
                <a:latin typeface="Calibri" pitchFamily="34" charset="0"/>
                <a:ea typeface="Calibri" pitchFamily="34" charset="-122"/>
                <a:cs typeface="Calibri" pitchFamily="34" charset="-120"/>
              </a:rPr>
              <a:t> characters</a:t>
            </a:r>
            <a:endParaRPr lang="en-US" sz="1300" dirty="0"/>
          </a:p>
        </p:txBody>
      </p:sp>
      <p:sp>
        <p:nvSpPr>
          <p:cNvPr id="15" name="Shape 12"/>
          <p:cNvSpPr/>
          <p:nvPr/>
        </p:nvSpPr>
        <p:spPr>
          <a:xfrm>
            <a:off x="548640" y="3429000"/>
            <a:ext cx="3566160" cy="2057400"/>
          </a:xfrm>
          <a:prstGeom prst="roundRect">
            <a:avLst>
              <a:gd name="adj" fmla="val 3556"/>
            </a:avLst>
          </a:prstGeom>
          <a:solidFill>
            <a:srgbClr val="F2F4F8"/>
          </a:solidFill>
          <a:ln w="12700">
            <a:solidFill>
              <a:srgbClr val="F2F4F8"/>
            </a:solidFill>
            <a:prstDash val="solid"/>
          </a:ln>
        </p:spPr>
      </p:sp>
      <p:sp>
        <p:nvSpPr>
          <p:cNvPr id="16" name="Text 13"/>
          <p:cNvSpPr/>
          <p:nvPr/>
        </p:nvSpPr>
        <p:spPr>
          <a:xfrm>
            <a:off x="731520" y="3520440"/>
            <a:ext cx="3200400" cy="822960"/>
          </a:xfrm>
          <a:prstGeom prst="rect">
            <a:avLst/>
          </a:prstGeom>
          <a:noFill/>
          <a:ln/>
        </p:spPr>
        <p:txBody>
          <a:bodyPr wrap="square" lIns="0" tIns="0" rIns="0" bIns="0" rtlCol="0" anchor="t"/>
          <a:lstStyle/>
          <a:p>
            <a:pPr algn="l" indent="0" marL="0">
              <a:lnSpc>
                <a:spcPct val="100000"/>
              </a:lnSpc>
              <a:buNone/>
            </a:pPr>
            <a:r>
              <a:rPr lang="en-US" sz="4000" b="1" dirty="0">
                <a:solidFill>
                  <a:srgbClr val="1B2433"/>
                </a:solidFill>
                <a:latin typeface="Calibri" pitchFamily="34" charset="0"/>
                <a:ea typeface="Calibri" pitchFamily="34" charset="-122"/>
                <a:cs typeface="Calibri" pitchFamily="34" charset="-120"/>
              </a:rPr>
              <a:t>91.1%</a:t>
            </a:r>
            <a:endParaRPr lang="en-US" sz="4000" dirty="0"/>
          </a:p>
        </p:txBody>
      </p:sp>
      <p:sp>
        <p:nvSpPr>
          <p:cNvPr id="17" name="Text 14"/>
          <p:cNvSpPr/>
          <p:nvPr/>
        </p:nvSpPr>
        <p:spPr>
          <a:xfrm>
            <a:off x="731520" y="4389120"/>
            <a:ext cx="3200400" cy="100584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of items: the flagged area contains the ending</a:t>
            </a:r>
            <a:endParaRPr lang="en-US" sz="1400" dirty="0"/>
          </a:p>
        </p:txBody>
      </p:sp>
      <p:sp>
        <p:nvSpPr>
          <p:cNvPr id="18" name="Shape 15"/>
          <p:cNvSpPr/>
          <p:nvPr/>
        </p:nvSpPr>
        <p:spPr>
          <a:xfrm>
            <a:off x="4297680" y="3429000"/>
            <a:ext cx="3566160" cy="2057400"/>
          </a:xfrm>
          <a:prstGeom prst="roundRect">
            <a:avLst>
              <a:gd name="adj" fmla="val 3556"/>
            </a:avLst>
          </a:prstGeom>
          <a:solidFill>
            <a:srgbClr val="F2F4F8"/>
          </a:solidFill>
          <a:ln w="12700">
            <a:solidFill>
              <a:srgbClr val="F2F4F8"/>
            </a:solidFill>
            <a:prstDash val="solid"/>
          </a:ln>
        </p:spPr>
      </p:sp>
      <p:sp>
        <p:nvSpPr>
          <p:cNvPr id="19" name="Text 16"/>
          <p:cNvSpPr/>
          <p:nvPr/>
        </p:nvSpPr>
        <p:spPr>
          <a:xfrm>
            <a:off x="4480560" y="3520440"/>
            <a:ext cx="3200400" cy="822960"/>
          </a:xfrm>
          <a:prstGeom prst="rect">
            <a:avLst/>
          </a:prstGeom>
          <a:noFill/>
          <a:ln/>
        </p:spPr>
        <p:txBody>
          <a:bodyPr wrap="square" lIns="0" tIns="0" rIns="0" bIns="0" rtlCol="0" anchor="t"/>
          <a:lstStyle/>
          <a:p>
            <a:pPr algn="l" indent="0" marL="0">
              <a:lnSpc>
                <a:spcPct val="100000"/>
              </a:lnSpc>
              <a:buNone/>
            </a:pPr>
            <a:r>
              <a:rPr lang="en-US" sz="4000" b="1" dirty="0">
                <a:solidFill>
                  <a:srgbClr val="D55E00"/>
                </a:solidFill>
                <a:latin typeface="Calibri" pitchFamily="34" charset="0"/>
                <a:ea typeface="Calibri" pitchFamily="34" charset="-122"/>
                <a:cs typeface="Calibri" pitchFamily="34" charset="-120"/>
              </a:rPr>
              <a:t>9.4%</a:t>
            </a:r>
            <a:endParaRPr lang="en-US" sz="4000" dirty="0"/>
          </a:p>
        </p:txBody>
      </p:sp>
      <p:sp>
        <p:nvSpPr>
          <p:cNvPr id="20" name="Text 17"/>
          <p:cNvSpPr/>
          <p:nvPr/>
        </p:nvSpPr>
        <p:spPr>
          <a:xfrm>
            <a:off x="4480560" y="4389120"/>
            <a:ext cx="3200400" cy="100584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of items: flagged area actually matches the ending (≥ half overlap)</a:t>
            </a:r>
            <a:endParaRPr lang="en-US" sz="1400" dirty="0"/>
          </a:p>
        </p:txBody>
      </p:sp>
      <p:sp>
        <p:nvSpPr>
          <p:cNvPr id="21" name="Shape 18"/>
          <p:cNvSpPr/>
          <p:nvPr/>
        </p:nvSpPr>
        <p:spPr>
          <a:xfrm>
            <a:off x="8046720" y="3429000"/>
            <a:ext cx="3566160" cy="2057400"/>
          </a:xfrm>
          <a:prstGeom prst="roundRect">
            <a:avLst>
              <a:gd name="adj" fmla="val 3556"/>
            </a:avLst>
          </a:prstGeom>
          <a:solidFill>
            <a:srgbClr val="F2F4F8"/>
          </a:solidFill>
          <a:ln w="12700">
            <a:solidFill>
              <a:srgbClr val="F2F4F8"/>
            </a:solidFill>
            <a:prstDash val="solid"/>
          </a:ln>
        </p:spPr>
      </p:sp>
      <p:sp>
        <p:nvSpPr>
          <p:cNvPr id="22" name="Text 19"/>
          <p:cNvSpPr/>
          <p:nvPr/>
        </p:nvSpPr>
        <p:spPr>
          <a:xfrm>
            <a:off x="8229600" y="3520440"/>
            <a:ext cx="3200400" cy="822960"/>
          </a:xfrm>
          <a:prstGeom prst="rect">
            <a:avLst/>
          </a:prstGeom>
          <a:noFill/>
          <a:ln/>
        </p:spPr>
        <p:txBody>
          <a:bodyPr wrap="square" lIns="0" tIns="0" rIns="0" bIns="0" rtlCol="0" anchor="t"/>
          <a:lstStyle/>
          <a:p>
            <a:pPr algn="l" indent="0" marL="0">
              <a:lnSpc>
                <a:spcPct val="100000"/>
              </a:lnSpc>
              <a:buNone/>
            </a:pPr>
            <a:r>
              <a:rPr lang="en-US" sz="4000" b="1" dirty="0">
                <a:solidFill>
                  <a:srgbClr val="1B2433"/>
                </a:solidFill>
                <a:latin typeface="Calibri" pitchFamily="34" charset="0"/>
                <a:ea typeface="Calibri" pitchFamily="34" charset="-122"/>
                <a:cs typeface="Calibri" pitchFamily="34" charset="-120"/>
              </a:rPr>
              <a:t>72.9%</a:t>
            </a:r>
            <a:endParaRPr lang="en-US" sz="4000" dirty="0"/>
          </a:p>
        </p:txBody>
      </p:sp>
      <p:sp>
        <p:nvSpPr>
          <p:cNvPr id="23" name="Text 20"/>
          <p:cNvSpPr/>
          <p:nvPr/>
        </p:nvSpPr>
        <p:spPr>
          <a:xfrm>
            <a:off x="8229600" y="4389120"/>
            <a:ext cx="3200400" cy="1005840"/>
          </a:xfrm>
          <a:prstGeom prst="rect">
            <a:avLst/>
          </a:prstGeom>
          <a:noFill/>
          <a:ln/>
        </p:spPr>
        <p:txBody>
          <a:bodyPr wrap="square" lIns="0" tIns="0" rIns="0" bIns="0" rtlCol="0" anchor="t"/>
          <a:lstStyle/>
          <a:p>
            <a:pPr algn="l" indent="0" marL="0">
              <a:lnSpc>
                <a:spcPct val="100000"/>
              </a:lnSpc>
              <a:buNone/>
            </a:pPr>
            <a:r>
              <a:rPr lang="en-US" sz="1400" dirty="0">
                <a:solidFill>
                  <a:srgbClr val="1B2433"/>
                </a:solidFill>
                <a:latin typeface="Calibri" pitchFamily="34" charset="0"/>
                <a:ea typeface="Calibri" pitchFamily="34" charset="-122"/>
                <a:cs typeface="Calibri" pitchFamily="34" charset="-120"/>
              </a:rPr>
              <a:t>of correct, unchanged sentences also get flagged</a:t>
            </a:r>
            <a:endParaRPr lang="en-US" sz="1400" dirty="0"/>
          </a:p>
        </p:txBody>
      </p:sp>
      <p:sp>
        <p:nvSpPr>
          <p:cNvPr id="24" name="Shape 21"/>
          <p:cNvSpPr/>
          <p:nvPr/>
        </p:nvSpPr>
        <p:spPr>
          <a:xfrm>
            <a:off x="548640" y="5760720"/>
            <a:ext cx="11064240" cy="502920"/>
          </a:xfrm>
          <a:prstGeom prst="roundRect">
            <a:avLst>
              <a:gd name="adj" fmla="val 14545"/>
            </a:avLst>
          </a:prstGeom>
          <a:solidFill>
            <a:srgbClr val="FBEBD2"/>
          </a:solidFill>
          <a:ln w="12700">
            <a:solidFill>
              <a:srgbClr val="E39B2D"/>
            </a:solidFill>
            <a:prstDash val="solid"/>
          </a:ln>
        </p:spPr>
      </p:sp>
      <p:sp>
        <p:nvSpPr>
          <p:cNvPr id="25" name="Text 22"/>
          <p:cNvSpPr/>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xCOMET </a:t>
            </a:r>
            <a:r>
              <a:rPr lang="en-US" sz="1500" b="1" dirty="0">
                <a:solidFill>
                  <a:srgbClr val="1B2433"/>
                </a:solidFill>
                <a:latin typeface="Calibri" pitchFamily="34" charset="0"/>
                <a:ea typeface="Calibri" pitchFamily="34" charset="-122"/>
                <a:cs typeface="Calibri" pitchFamily="34" charset="-120"/>
              </a:rPr>
              <a:t>detects</a:t>
            </a:r>
            <a:r>
              <a:rPr lang="en-US" sz="1500" dirty="0">
                <a:solidFill>
                  <a:srgbClr val="1B2433"/>
                </a:solidFill>
                <a:latin typeface="Calibri" pitchFamily="34" charset="0"/>
                <a:ea typeface="Calibri" pitchFamily="34" charset="-122"/>
                <a:cs typeface="Calibri" pitchFamily="34" charset="-120"/>
              </a:rPr>
              <a:t> that something is wrong somewhere, but </a:t>
            </a:r>
            <a:r>
              <a:rPr lang="en-US" sz="1500" b="1" dirty="0">
                <a:solidFill>
                  <a:srgbClr val="1B2433"/>
                </a:solidFill>
                <a:latin typeface="Calibri" pitchFamily="34" charset="0"/>
                <a:ea typeface="Calibri" pitchFamily="34" charset="-122"/>
                <a:cs typeface="Calibri" pitchFamily="34" charset="-120"/>
              </a:rPr>
              <a:t>does not localise</a:t>
            </a:r>
            <a:r>
              <a:rPr lang="en-US" sz="1500" dirty="0">
                <a:solidFill>
                  <a:srgbClr val="1B2433"/>
                </a:solidFill>
                <a:latin typeface="Calibri" pitchFamily="34" charset="0"/>
                <a:ea typeface="Calibri" pitchFamily="34" charset="-122"/>
                <a:cs typeface="Calibri" pitchFamily="34" charset="-120"/>
              </a:rPr>
              <a:t> the error.</a:t>
            </a:r>
            <a:endParaRPr lang="en-US" sz="15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6</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Result 6: xCOMET rates the error as minor</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66</a:t>
            </a:r>
            <a:endParaRPr lang="en-US" sz="900" dirty="0"/>
          </a:p>
        </p:txBody>
      </p:sp>
      <p:sp>
        <p:nvSpPr>
          <p:cNvPr id="9" name="Text 6"/>
          <p:cNvSpPr/>
          <p:nvPr/>
        </p:nvSpPr>
        <p:spPr>
          <a:xfrm>
            <a:off x="548640" y="1645920"/>
            <a:ext cx="8046720" cy="365760"/>
          </a:xfrm>
          <a:prstGeom prst="rect">
            <a:avLst/>
          </a:prstGeom>
          <a:noFill/>
          <a:ln/>
        </p:spPr>
        <p:txBody>
          <a:bodyPr wrap="square" lIns="0" tIns="0" rIns="0" bIns="0" rtlCol="0" anchor="t"/>
          <a:lstStyle/>
          <a:p>
            <a:pPr algn="l" indent="0" marL="0">
              <a:lnSpc>
                <a:spcPct val="100000"/>
              </a:lnSpc>
              <a:buNone/>
            </a:pPr>
            <a:r>
              <a:rPr lang="en-US" sz="1400" b="1" dirty="0">
                <a:solidFill>
                  <a:srgbClr val="5B6577"/>
                </a:solidFill>
                <a:latin typeface="Calibri" pitchFamily="34" charset="0"/>
                <a:ea typeface="Calibri" pitchFamily="34" charset="-122"/>
                <a:cs typeface="Calibri" pitchFamily="34" charset="-120"/>
              </a:rPr>
              <a:t>When xCOMET flags the change, how often does it call it "critical"?  (same sentences)</a:t>
            </a:r>
            <a:endParaRPr lang="en-US" sz="1400" dirty="0"/>
          </a:p>
        </p:txBody>
      </p:sp>
      <p:sp>
        <p:nvSpPr>
          <p:cNvPr id="10" name="Shape 7"/>
          <p:cNvSpPr/>
          <p:nvPr/>
        </p:nvSpPr>
        <p:spPr>
          <a:xfrm>
            <a:off x="3657600" y="2240280"/>
            <a:ext cx="0" cy="2560320"/>
          </a:xfrm>
          <a:prstGeom prst="line">
            <a:avLst/>
          </a:prstGeom>
          <a:noFill/>
          <a:ln w="9525">
            <a:solidFill>
              <a:srgbClr val="D5DAE3"/>
            </a:solidFill>
            <a:prstDash val="solid"/>
          </a:ln>
        </p:spPr>
      </p:sp>
      <p:sp>
        <p:nvSpPr>
          <p:cNvPr id="11" name="Text 8"/>
          <p:cNvSpPr/>
          <p:nvPr/>
        </p:nvSpPr>
        <p:spPr>
          <a:xfrm>
            <a:off x="3291840" y="483717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0%</a:t>
            </a:r>
            <a:endParaRPr lang="en-US" sz="1100" dirty="0"/>
          </a:p>
        </p:txBody>
      </p:sp>
      <p:sp>
        <p:nvSpPr>
          <p:cNvPr id="12" name="Shape 9"/>
          <p:cNvSpPr/>
          <p:nvPr/>
        </p:nvSpPr>
        <p:spPr>
          <a:xfrm>
            <a:off x="4617720" y="2240280"/>
            <a:ext cx="0" cy="2560320"/>
          </a:xfrm>
          <a:prstGeom prst="line">
            <a:avLst/>
          </a:prstGeom>
          <a:noFill/>
          <a:ln w="9525">
            <a:solidFill>
              <a:srgbClr val="D5DAE3"/>
            </a:solidFill>
            <a:prstDash val="solid"/>
          </a:ln>
        </p:spPr>
      </p:sp>
      <p:sp>
        <p:nvSpPr>
          <p:cNvPr id="13" name="Text 10"/>
          <p:cNvSpPr/>
          <p:nvPr/>
        </p:nvSpPr>
        <p:spPr>
          <a:xfrm>
            <a:off x="4251960" y="483717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25%</a:t>
            </a:r>
            <a:endParaRPr lang="en-US" sz="1100" dirty="0"/>
          </a:p>
        </p:txBody>
      </p:sp>
      <p:sp>
        <p:nvSpPr>
          <p:cNvPr id="14" name="Shape 11"/>
          <p:cNvSpPr/>
          <p:nvPr/>
        </p:nvSpPr>
        <p:spPr>
          <a:xfrm>
            <a:off x="5577840" y="2240280"/>
            <a:ext cx="0" cy="2560320"/>
          </a:xfrm>
          <a:prstGeom prst="line">
            <a:avLst/>
          </a:prstGeom>
          <a:noFill/>
          <a:ln w="9525">
            <a:solidFill>
              <a:srgbClr val="D5DAE3"/>
            </a:solidFill>
            <a:prstDash val="solid"/>
          </a:ln>
        </p:spPr>
      </p:sp>
      <p:sp>
        <p:nvSpPr>
          <p:cNvPr id="15" name="Text 12"/>
          <p:cNvSpPr/>
          <p:nvPr/>
        </p:nvSpPr>
        <p:spPr>
          <a:xfrm>
            <a:off x="5212080" y="483717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50%</a:t>
            </a:r>
            <a:endParaRPr lang="en-US" sz="1100" dirty="0"/>
          </a:p>
        </p:txBody>
      </p:sp>
      <p:sp>
        <p:nvSpPr>
          <p:cNvPr id="16" name="Shape 13"/>
          <p:cNvSpPr/>
          <p:nvPr/>
        </p:nvSpPr>
        <p:spPr>
          <a:xfrm>
            <a:off x="6537960" y="2240280"/>
            <a:ext cx="0" cy="2560320"/>
          </a:xfrm>
          <a:prstGeom prst="line">
            <a:avLst/>
          </a:prstGeom>
          <a:noFill/>
          <a:ln w="9525">
            <a:solidFill>
              <a:srgbClr val="D5DAE3"/>
            </a:solidFill>
            <a:prstDash val="solid"/>
          </a:ln>
        </p:spPr>
      </p:sp>
      <p:sp>
        <p:nvSpPr>
          <p:cNvPr id="17" name="Text 14"/>
          <p:cNvSpPr/>
          <p:nvPr/>
        </p:nvSpPr>
        <p:spPr>
          <a:xfrm>
            <a:off x="6172200" y="483717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75%</a:t>
            </a:r>
            <a:endParaRPr lang="en-US" sz="1100" dirty="0"/>
          </a:p>
        </p:txBody>
      </p:sp>
      <p:sp>
        <p:nvSpPr>
          <p:cNvPr id="18" name="Shape 15"/>
          <p:cNvSpPr/>
          <p:nvPr/>
        </p:nvSpPr>
        <p:spPr>
          <a:xfrm>
            <a:off x="7498080" y="2240280"/>
            <a:ext cx="0" cy="2560320"/>
          </a:xfrm>
          <a:prstGeom prst="line">
            <a:avLst/>
          </a:prstGeom>
          <a:noFill/>
          <a:ln w="9525">
            <a:solidFill>
              <a:srgbClr val="D5DAE3"/>
            </a:solidFill>
            <a:prstDash val="solid"/>
          </a:ln>
        </p:spPr>
      </p:sp>
      <p:sp>
        <p:nvSpPr>
          <p:cNvPr id="19" name="Text 16"/>
          <p:cNvSpPr/>
          <p:nvPr/>
        </p:nvSpPr>
        <p:spPr>
          <a:xfrm>
            <a:off x="7132320" y="4837176"/>
            <a:ext cx="731520" cy="256032"/>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100%</a:t>
            </a:r>
            <a:endParaRPr lang="en-US" sz="1100" dirty="0"/>
          </a:p>
        </p:txBody>
      </p:sp>
      <p:sp>
        <p:nvSpPr>
          <p:cNvPr id="20" name="Text 17"/>
          <p:cNvSpPr/>
          <p:nvPr/>
        </p:nvSpPr>
        <p:spPr>
          <a:xfrm>
            <a:off x="548640" y="2240280"/>
            <a:ext cx="3017520" cy="853440"/>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Swapped person name</a:t>
            </a:r>
            <a:endParaRPr lang="en-US" sz="1300" dirty="0"/>
          </a:p>
          <a:p>
            <a:pPr algn="r" indent="0" marL="0">
              <a:buNone/>
            </a:pPr>
            <a:r>
              <a:rPr lang="en-US" sz="1000" dirty="0">
                <a:solidFill>
                  <a:srgbClr val="5B6577"/>
                </a:solidFill>
                <a:latin typeface="Calibri" pitchFamily="34" charset="0"/>
                <a:ea typeface="Calibri" pitchFamily="34" charset="-122"/>
                <a:cs typeface="Calibri" pitchFamily="34" charset="-120"/>
              </a:rPr>
              <a:t>a real, serious error</a:t>
            </a:r>
            <a:endParaRPr lang="en-US" sz="1300" dirty="0"/>
          </a:p>
        </p:txBody>
      </p:sp>
      <p:sp>
        <p:nvSpPr>
          <p:cNvPr id="21" name="Shape 18"/>
          <p:cNvSpPr/>
          <p:nvPr/>
        </p:nvSpPr>
        <p:spPr>
          <a:xfrm>
            <a:off x="3657600" y="2438400"/>
            <a:ext cx="2600005" cy="457200"/>
          </a:xfrm>
          <a:prstGeom prst="rect">
            <a:avLst/>
          </a:prstGeom>
          <a:solidFill>
            <a:srgbClr val="98A1B2"/>
          </a:solidFill>
          <a:ln w="12700">
            <a:solidFill>
              <a:srgbClr val="98A1B2"/>
            </a:solidFill>
            <a:prstDash val="solid"/>
          </a:ln>
        </p:spPr>
      </p:sp>
      <p:sp>
        <p:nvSpPr>
          <p:cNvPr id="22" name="Text 19"/>
          <p:cNvSpPr/>
          <p:nvPr/>
        </p:nvSpPr>
        <p:spPr>
          <a:xfrm>
            <a:off x="6321613" y="2511552"/>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67.7%</a:t>
            </a:r>
            <a:endParaRPr lang="en-US" sz="1300" dirty="0"/>
          </a:p>
        </p:txBody>
      </p:sp>
      <p:sp>
        <p:nvSpPr>
          <p:cNvPr id="23" name="Text 20"/>
          <p:cNvSpPr/>
          <p:nvPr/>
        </p:nvSpPr>
        <p:spPr>
          <a:xfrm>
            <a:off x="548640" y="3093720"/>
            <a:ext cx="3017520" cy="853440"/>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Duplicated word</a:t>
            </a:r>
            <a:endParaRPr lang="en-US" sz="1300" dirty="0"/>
          </a:p>
          <a:p>
            <a:pPr algn="r" indent="0" marL="0">
              <a:buNone/>
            </a:pPr>
            <a:r>
              <a:rPr lang="en-US" sz="1000" dirty="0">
                <a:solidFill>
                  <a:srgbClr val="5B6577"/>
                </a:solidFill>
                <a:latin typeface="Calibri" pitchFamily="34" charset="0"/>
                <a:ea typeface="Calibri" pitchFamily="34" charset="-122"/>
                <a:cs typeface="Calibri" pitchFamily="34" charset="-120"/>
              </a:rPr>
              <a:t>a textbook MINOR error</a:t>
            </a:r>
            <a:endParaRPr lang="en-US" sz="1300" dirty="0"/>
          </a:p>
        </p:txBody>
      </p:sp>
      <p:sp>
        <p:nvSpPr>
          <p:cNvPr id="24" name="Shape 21"/>
          <p:cNvSpPr/>
          <p:nvPr/>
        </p:nvSpPr>
        <p:spPr>
          <a:xfrm>
            <a:off x="3657600" y="3291840"/>
            <a:ext cx="2012412" cy="457200"/>
          </a:xfrm>
          <a:prstGeom prst="rect">
            <a:avLst/>
          </a:prstGeom>
          <a:solidFill>
            <a:srgbClr val="98A1B2"/>
          </a:solidFill>
          <a:ln w="12700">
            <a:solidFill>
              <a:srgbClr val="98A1B2"/>
            </a:solidFill>
            <a:prstDash val="solid"/>
          </a:ln>
        </p:spPr>
      </p:sp>
      <p:sp>
        <p:nvSpPr>
          <p:cNvPr id="25" name="Text 22"/>
          <p:cNvSpPr/>
          <p:nvPr/>
        </p:nvSpPr>
        <p:spPr>
          <a:xfrm>
            <a:off x="5734020" y="3364992"/>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52.4%</a:t>
            </a:r>
            <a:endParaRPr lang="en-US" sz="1300" dirty="0"/>
          </a:p>
        </p:txBody>
      </p:sp>
      <p:sp>
        <p:nvSpPr>
          <p:cNvPr id="26" name="Text 23"/>
          <p:cNvSpPr/>
          <p:nvPr/>
        </p:nvSpPr>
        <p:spPr>
          <a:xfrm>
            <a:off x="548640" y="3947160"/>
            <a:ext cx="3017520" cy="853440"/>
          </a:xfrm>
          <a:prstGeom prst="rect">
            <a:avLst/>
          </a:prstGeom>
          <a:noFill/>
          <a:ln/>
        </p:spPr>
        <p:txBody>
          <a:bodyPr wrap="square" lIns="0" tIns="0" rIns="0" bIns="0" rtlCol="0" anchor="ctr"/>
          <a:lstStyle/>
          <a:p>
            <a:pPr algn="r" indent="0" marL="0">
              <a:buNone/>
            </a:pPr>
            <a:r>
              <a:rPr lang="en-US" sz="1300" b="1" dirty="0">
                <a:solidFill>
                  <a:srgbClr val="1B2433"/>
                </a:solidFill>
                <a:latin typeface="Calibri" pitchFamily="34" charset="0"/>
                <a:ea typeface="Calibri" pitchFamily="34" charset="-122"/>
                <a:cs typeface="Calibri" pitchFamily="34" charset="-120"/>
              </a:rPr>
              <a:t>Wrong agreement ending</a:t>
            </a:r>
            <a:endParaRPr lang="en-US" sz="1300" dirty="0"/>
          </a:p>
          <a:p>
            <a:pPr algn="r" indent="0" marL="0">
              <a:buNone/>
            </a:pPr>
            <a:r>
              <a:rPr lang="en-US" sz="1000" dirty="0">
                <a:solidFill>
                  <a:srgbClr val="5B6577"/>
                </a:solidFill>
                <a:latin typeface="Calibri" pitchFamily="34" charset="0"/>
                <a:ea typeface="Calibri" pitchFamily="34" charset="-122"/>
                <a:cs typeface="Calibri" pitchFamily="34" charset="-120"/>
              </a:rPr>
              <a:t>e.g. person treated as non-person</a:t>
            </a:r>
            <a:endParaRPr lang="en-US" sz="1300" dirty="0"/>
          </a:p>
        </p:txBody>
      </p:sp>
      <p:sp>
        <p:nvSpPr>
          <p:cNvPr id="27" name="Shape 24"/>
          <p:cNvSpPr/>
          <p:nvPr/>
        </p:nvSpPr>
        <p:spPr>
          <a:xfrm>
            <a:off x="3657600" y="4145280"/>
            <a:ext cx="241950" cy="457200"/>
          </a:xfrm>
          <a:prstGeom prst="rect">
            <a:avLst/>
          </a:prstGeom>
          <a:solidFill>
            <a:srgbClr val="D55E00"/>
          </a:solidFill>
          <a:ln w="12700">
            <a:solidFill>
              <a:srgbClr val="D55E00"/>
            </a:solidFill>
            <a:prstDash val="solid"/>
          </a:ln>
        </p:spPr>
      </p:sp>
      <p:sp>
        <p:nvSpPr>
          <p:cNvPr id="28" name="Text 25"/>
          <p:cNvSpPr/>
          <p:nvPr/>
        </p:nvSpPr>
        <p:spPr>
          <a:xfrm>
            <a:off x="3963558" y="4218432"/>
            <a:ext cx="438912"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6.3%</a:t>
            </a:r>
            <a:endParaRPr lang="en-US" sz="1300" dirty="0"/>
          </a:p>
        </p:txBody>
      </p:sp>
      <p:sp>
        <p:nvSpPr>
          <p:cNvPr id="29" name="Shape 26"/>
          <p:cNvSpPr/>
          <p:nvPr/>
        </p:nvSpPr>
        <p:spPr>
          <a:xfrm>
            <a:off x="8732520" y="1691640"/>
            <a:ext cx="2880360" cy="3291840"/>
          </a:xfrm>
          <a:prstGeom prst="roundRect">
            <a:avLst>
              <a:gd name="adj" fmla="val 2540"/>
            </a:avLst>
          </a:prstGeom>
          <a:solidFill>
            <a:srgbClr val="F2F4F8"/>
          </a:solidFill>
          <a:ln w="12700">
            <a:solidFill>
              <a:srgbClr val="F2F4F8"/>
            </a:solidFill>
            <a:prstDash val="solid"/>
          </a:ln>
        </p:spPr>
      </p:sp>
      <p:sp>
        <p:nvSpPr>
          <p:cNvPr id="30" name="Text 27"/>
          <p:cNvSpPr/>
          <p:nvPr/>
        </p:nvSpPr>
        <p:spPr>
          <a:xfrm>
            <a:off x="8933688" y="1837944"/>
            <a:ext cx="24780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Why this is convincing</a:t>
            </a:r>
            <a:endParaRPr lang="en-US" sz="1700" dirty="0"/>
          </a:p>
        </p:txBody>
      </p:sp>
      <p:sp>
        <p:nvSpPr>
          <p:cNvPr id="31" name="Text 28"/>
          <p:cNvSpPr/>
          <p:nvPr/>
        </p:nvSpPr>
        <p:spPr>
          <a:xfrm>
            <a:off x="8933688" y="2249424"/>
            <a:ext cx="2478024" cy="2587752"/>
          </a:xfrm>
          <a:prstGeom prst="rect">
            <a:avLst/>
          </a:prstGeom>
          <a:noFill/>
          <a:ln/>
        </p:spPr>
        <p:txBody>
          <a:bodyPr wrap="square" lIns="0" tIns="0" rIns="0" bIns="0" rtlCol="0" anchor="t"/>
          <a:lstStyle/>
          <a:p>
            <a:pPr indent="0" marL="0">
              <a:spcAft>
                <a:spcPts val="500"/>
              </a:spcAft>
              <a:buNone/>
            </a:pPr>
            <a:r>
              <a:rPr lang="en-US" sz="1400" dirty="0">
                <a:solidFill>
                  <a:srgbClr val="1B2433"/>
                </a:solidFill>
                <a:latin typeface="Calibri" pitchFamily="34" charset="0"/>
                <a:ea typeface="Calibri" pitchFamily="34" charset="-122"/>
                <a:cs typeface="Calibri" pitchFamily="34" charset="-120"/>
              </a:rPr>
              <a:t>The comparison errors are placed in the </a:t>
            </a:r>
            <a:r>
              <a:rPr lang="en-US" sz="1400" b="1" dirty="0">
                <a:solidFill>
                  <a:srgbClr val="1B2433"/>
                </a:solidFill>
                <a:latin typeface="Calibri" pitchFamily="34" charset="0"/>
                <a:ea typeface="Calibri" pitchFamily="34" charset="-122"/>
                <a:cs typeface="Calibri" pitchFamily="34" charset="-120"/>
              </a:rPr>
              <a:t>same sentences</a:t>
            </a:r>
            <a:r>
              <a:rPr lang="en-US" sz="1400" dirty="0">
                <a:solidFill>
                  <a:srgbClr val="1B2433"/>
                </a:solidFill>
                <a:latin typeface="Calibri" pitchFamily="34" charset="0"/>
                <a:ea typeface="Calibri" pitchFamily="34" charset="-122"/>
                <a:cs typeface="Calibri" pitchFamily="34" charset="-120"/>
              </a:rPr>
              <a:t>, so "xCOMET is just weak on Tamil" cannot explain it.</a:t>
            </a:r>
            <a:endParaRPr lang="en-US" sz="1400" dirty="0"/>
          </a:p>
        </p:txBody>
      </p:sp>
      <p:sp>
        <p:nvSpPr>
          <p:cNvPr id="32" name="Shape 29"/>
          <p:cNvSpPr/>
          <p:nvPr/>
        </p:nvSpPr>
        <p:spPr>
          <a:xfrm>
            <a:off x="548640" y="5349240"/>
            <a:ext cx="11064240" cy="548640"/>
          </a:xfrm>
          <a:prstGeom prst="roundRect">
            <a:avLst>
              <a:gd name="adj" fmla="val 13333"/>
            </a:avLst>
          </a:prstGeom>
          <a:solidFill>
            <a:srgbClr val="FBEBD2"/>
          </a:solidFill>
          <a:ln w="12700">
            <a:solidFill>
              <a:srgbClr val="E39B2D"/>
            </a:solidFill>
            <a:prstDash val="solid"/>
          </a:ln>
        </p:spPr>
      </p:sp>
      <p:sp>
        <p:nvSpPr>
          <p:cNvPr id="33" name="Text 30"/>
          <p:cNvSpPr/>
          <p:nvPr/>
        </p:nvSpPr>
        <p:spPr>
          <a:xfrm>
            <a:off x="777240" y="5349240"/>
            <a:ext cx="10607040" cy="54864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A duplicated word is rated critical </a:t>
            </a:r>
            <a:r>
              <a:rPr lang="en-US" sz="1500" b="1" dirty="0">
                <a:solidFill>
                  <a:srgbClr val="1B2433"/>
                </a:solidFill>
                <a:latin typeface="Calibri" pitchFamily="34" charset="0"/>
                <a:ea typeface="Calibri" pitchFamily="34" charset="-122"/>
                <a:cs typeface="Calibri" pitchFamily="34" charset="-120"/>
              </a:rPr>
              <a:t>about 8× more often</a:t>
            </a:r>
            <a:r>
              <a:rPr lang="en-US" sz="1500" dirty="0">
                <a:solidFill>
                  <a:srgbClr val="1B2433"/>
                </a:solidFill>
                <a:latin typeface="Calibri" pitchFamily="34" charset="0"/>
                <a:ea typeface="Calibri" pitchFamily="34" charset="-122"/>
                <a:cs typeface="Calibri" pitchFamily="34" charset="-120"/>
              </a:rPr>
              <a:t> than a wrong agreement ending, which can put a person into the non-people class.</a:t>
            </a:r>
            <a:endParaRPr lang="en-US" sz="15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6</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METRICS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Why not just retrain the metric?</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67</a:t>
            </a:r>
            <a:endParaRPr lang="en-US" sz="900" dirty="0"/>
          </a:p>
        </p:txBody>
      </p:sp>
      <p:sp>
        <p:nvSpPr>
          <p:cNvPr id="9" name="Shape 6"/>
          <p:cNvSpPr/>
          <p:nvPr/>
        </p:nvSpPr>
        <p:spPr>
          <a:xfrm>
            <a:off x="548640" y="1737360"/>
            <a:ext cx="5394960" cy="2194560"/>
          </a:xfrm>
          <a:prstGeom prst="roundRect">
            <a:avLst>
              <a:gd name="adj" fmla="val 3333"/>
            </a:avLst>
          </a:prstGeom>
          <a:solidFill>
            <a:srgbClr val="DDF2EA"/>
          </a:solidFill>
          <a:ln w="12700">
            <a:solidFill>
              <a:srgbClr val="DDF2EA"/>
            </a:solidFill>
            <a:prstDash val="solid"/>
          </a:ln>
        </p:spPr>
      </p:sp>
      <p:sp>
        <p:nvSpPr>
          <p:cNvPr id="10" name="Text 7"/>
          <p:cNvSpPr/>
          <p:nvPr/>
        </p:nvSpPr>
        <p:spPr>
          <a:xfrm>
            <a:off x="749808" y="1883664"/>
            <a:ext cx="4992624" cy="411480"/>
          </a:xfrm>
          <a:prstGeom prst="rect">
            <a:avLst/>
          </a:prstGeom>
          <a:noFill/>
          <a:ln/>
        </p:spPr>
        <p:txBody>
          <a:bodyPr wrap="square" lIns="0" tIns="0" rIns="0" bIns="0" rtlCol="0" anchor="t"/>
          <a:lstStyle/>
          <a:p>
            <a:pPr indent="0" marL="0">
              <a:buNone/>
            </a:pPr>
            <a:r>
              <a:rPr lang="en-US" sz="1900" b="1" dirty="0">
                <a:solidFill>
                  <a:srgbClr val="1B2433"/>
                </a:solidFill>
                <a:latin typeface="Calibri" pitchFamily="34" charset="0"/>
                <a:ea typeface="Calibri" pitchFamily="34" charset="-122"/>
                <a:cs typeface="Calibri" pitchFamily="34" charset="-120"/>
              </a:rPr>
              <a:t>What earlier retraining did</a:t>
            </a:r>
            <a:endParaRPr lang="en-US" sz="1900" dirty="0"/>
          </a:p>
        </p:txBody>
      </p:sp>
      <p:sp>
        <p:nvSpPr>
          <p:cNvPr id="11" name="Text 8"/>
          <p:cNvSpPr/>
          <p:nvPr/>
        </p:nvSpPr>
        <p:spPr>
          <a:xfrm>
            <a:off x="749808" y="2295144"/>
            <a:ext cx="4992624" cy="1490472"/>
          </a:xfrm>
          <a:prstGeom prst="rect">
            <a:avLst/>
          </a:prstGeom>
          <a:noFill/>
          <a:ln/>
        </p:spPr>
        <p:txBody>
          <a:bodyPr wrap="square" lIns="0" tIns="0" rIns="0" bIns="0" rtlCol="0" anchor="t"/>
          <a:lstStyle/>
          <a:p>
            <a:pPr marL="228600" indent="-228600">
              <a:spcAft>
                <a:spcPts val="500"/>
              </a:spcAft>
              <a:buSzPct val="100000"/>
              <a:buChar char="•"/>
            </a:pPr>
            <a:r>
              <a:rPr lang="en-US" sz="1600" dirty="0">
                <a:solidFill>
                  <a:srgbClr val="1B2433"/>
                </a:solidFill>
                <a:latin typeface="Calibri" pitchFamily="34" charset="0"/>
                <a:ea typeface="Calibri" pitchFamily="34" charset="-122"/>
                <a:cs typeface="Calibri" pitchFamily="34" charset="-120"/>
              </a:rPr>
              <a:t>Showed </a:t>
            </a:r>
            <a:r>
              <a:rPr lang="en-US" sz="1600" b="1" dirty="0">
                <a:solidFill>
                  <a:srgbClr val="1B2433"/>
                </a:solidFill>
                <a:latin typeface="Calibri" pitchFamily="34" charset="0"/>
                <a:ea typeface="Calibri" pitchFamily="34" charset="-122"/>
                <a:cs typeface="Calibri" pitchFamily="34" charset="-120"/>
              </a:rPr>
              <a:t>how far</a:t>
            </a:r>
            <a:r>
              <a:rPr lang="en-US" sz="1600" dirty="0">
                <a:solidFill>
                  <a:srgbClr val="1B2433"/>
                </a:solidFill>
                <a:latin typeface="Calibri" pitchFamily="34" charset="0"/>
                <a:ea typeface="Calibri" pitchFamily="34" charset="-122"/>
                <a:cs typeface="Calibri" pitchFamily="34" charset="-120"/>
              </a:rPr>
              <a:t> retraining can close a blind spot, for features </a:t>
            </a:r>
            <a:r>
              <a:rPr lang="en-US" sz="1600" b="1" dirty="0">
                <a:solidFill>
                  <a:srgbClr val="1B2433"/>
                </a:solidFill>
                <a:latin typeface="Calibri" pitchFamily="34" charset="0"/>
                <a:ea typeface="Calibri" pitchFamily="34" charset="-122"/>
                <a:cs typeface="Calibri" pitchFamily="34" charset="-120"/>
              </a:rPr>
              <a:t>marked in the source</a:t>
            </a:r>
            <a:r>
              <a:rPr lang="en-US" sz="1600" dirty="0">
                <a:solidFill>
                  <a:srgbClr val="1B2433"/>
                </a:solidFill>
                <a:latin typeface="Calibri" pitchFamily="34" charset="0"/>
                <a:ea typeface="Calibri" pitchFamily="34" charset="-122"/>
                <a:cs typeface="Calibri" pitchFamily="34" charset="-120"/>
              </a:rPr>
              <a:t>.</a:t>
            </a:r>
            <a:endParaRPr lang="en-US" sz="1600" dirty="0"/>
          </a:p>
          <a:p>
            <a:pPr marL="228600" indent="-228600">
              <a:spcAft>
                <a:spcPts val="500"/>
              </a:spcAft>
              <a:buSzPct val="100000"/>
              <a:buChar char="•"/>
            </a:pPr>
            <a:r>
              <a:rPr lang="en-US" sz="1600" dirty="0">
                <a:solidFill>
                  <a:srgbClr val="1B2433"/>
                </a:solidFill>
                <a:latin typeface="Calibri" pitchFamily="34" charset="0"/>
                <a:ea typeface="Calibri" pitchFamily="34" charset="-122"/>
                <a:cs typeface="Calibri" pitchFamily="34" charset="-120"/>
              </a:rPr>
              <a:t>Training examples could be </a:t>
            </a:r>
            <a:r>
              <a:rPr lang="en-US" sz="1600" b="1" dirty="0">
                <a:solidFill>
                  <a:srgbClr val="1B2433"/>
                </a:solidFill>
                <a:latin typeface="Calibri" pitchFamily="34" charset="0"/>
                <a:ea typeface="Calibri" pitchFamily="34" charset="-122"/>
                <a:cs typeface="Calibri" pitchFamily="34" charset="-120"/>
              </a:rPr>
              <a:t>generated automatically</a:t>
            </a:r>
            <a:r>
              <a:rPr lang="en-US" sz="1600" dirty="0">
                <a:solidFill>
                  <a:srgbClr val="1B2433"/>
                </a:solidFill>
                <a:latin typeface="Calibri" pitchFamily="34" charset="0"/>
                <a:ea typeface="Calibri" pitchFamily="34" charset="-122"/>
                <a:cs typeface="Calibri" pitchFamily="34" charset="-120"/>
              </a:rPr>
              <a:t>: change the marked feature, and the right answer is known.</a:t>
            </a:r>
            <a:endParaRPr lang="en-US" sz="1600" dirty="0"/>
          </a:p>
        </p:txBody>
      </p:sp>
      <p:sp>
        <p:nvSpPr>
          <p:cNvPr id="12" name="Shape 9"/>
          <p:cNvSpPr/>
          <p:nvPr/>
        </p:nvSpPr>
        <p:spPr>
          <a:xfrm>
            <a:off x="6217920" y="1737360"/>
            <a:ext cx="5394960" cy="2194560"/>
          </a:xfrm>
          <a:prstGeom prst="roundRect">
            <a:avLst>
              <a:gd name="adj" fmla="val 3333"/>
            </a:avLst>
          </a:prstGeom>
          <a:solidFill>
            <a:srgbClr val="FBE5D6"/>
          </a:solidFill>
          <a:ln w="12700">
            <a:solidFill>
              <a:srgbClr val="FBE5D6"/>
            </a:solidFill>
            <a:prstDash val="solid"/>
          </a:ln>
        </p:spPr>
      </p:sp>
      <p:sp>
        <p:nvSpPr>
          <p:cNvPr id="13" name="Text 10"/>
          <p:cNvSpPr/>
          <p:nvPr/>
        </p:nvSpPr>
        <p:spPr>
          <a:xfrm>
            <a:off x="6419088" y="1883664"/>
            <a:ext cx="4992624" cy="411480"/>
          </a:xfrm>
          <a:prstGeom prst="rect">
            <a:avLst/>
          </a:prstGeom>
          <a:noFill/>
          <a:ln/>
        </p:spPr>
        <p:txBody>
          <a:bodyPr wrap="square" lIns="0" tIns="0" rIns="0" bIns="0" rtlCol="0" anchor="t"/>
          <a:lstStyle/>
          <a:p>
            <a:pPr indent="0" marL="0">
              <a:buNone/>
            </a:pPr>
            <a:r>
              <a:rPr lang="en-US" sz="1900" b="1" dirty="0">
                <a:solidFill>
                  <a:srgbClr val="1B2433"/>
                </a:solidFill>
                <a:latin typeface="Calibri" pitchFamily="34" charset="0"/>
                <a:ea typeface="Calibri" pitchFamily="34" charset="-122"/>
                <a:cs typeface="Calibri" pitchFamily="34" charset="-120"/>
              </a:rPr>
              <a:t>Why it is harder here</a:t>
            </a:r>
            <a:endParaRPr lang="en-US" sz="1900" dirty="0"/>
          </a:p>
        </p:txBody>
      </p:sp>
      <p:sp>
        <p:nvSpPr>
          <p:cNvPr id="14" name="Text 11"/>
          <p:cNvSpPr/>
          <p:nvPr/>
        </p:nvSpPr>
        <p:spPr>
          <a:xfrm>
            <a:off x="6419088" y="2295144"/>
            <a:ext cx="4992624" cy="1490472"/>
          </a:xfrm>
          <a:prstGeom prst="rect">
            <a:avLst/>
          </a:prstGeom>
          <a:noFill/>
          <a:ln/>
        </p:spPr>
        <p:txBody>
          <a:bodyPr wrap="square" lIns="0" tIns="0" rIns="0" bIns="0" rtlCol="0" anchor="t"/>
          <a:lstStyle/>
          <a:p>
            <a:pPr marL="228600" indent="-228600">
              <a:spcAft>
                <a:spcPts val="500"/>
              </a:spcAft>
              <a:buSzPct val="100000"/>
              <a:buChar char="•"/>
            </a:pPr>
            <a:r>
              <a:rPr lang="en-US" sz="1600" dirty="0">
                <a:solidFill>
                  <a:srgbClr val="1B2433"/>
                </a:solidFill>
                <a:latin typeface="Calibri" pitchFamily="34" charset="0"/>
                <a:ea typeface="Calibri" pitchFamily="34" charset="-122"/>
                <a:cs typeface="Calibri" pitchFamily="34" charset="-120"/>
              </a:rPr>
              <a:t>The source </a:t>
            </a:r>
            <a:r>
              <a:rPr lang="en-US" sz="1600" b="1" dirty="0">
                <a:solidFill>
                  <a:srgbClr val="1B2433"/>
                </a:solidFill>
                <a:latin typeface="Calibri" pitchFamily="34" charset="0"/>
                <a:ea typeface="Calibri" pitchFamily="34" charset="-122"/>
                <a:cs typeface="Calibri" pitchFamily="34" charset="-120"/>
              </a:rPr>
              <a:t>does not say</a:t>
            </a:r>
            <a:r>
              <a:rPr lang="en-US" sz="1600" dirty="0">
                <a:solidFill>
                  <a:srgbClr val="1B2433"/>
                </a:solidFill>
                <a:latin typeface="Calibri" pitchFamily="34" charset="0"/>
                <a:ea typeface="Calibri" pitchFamily="34" charset="-122"/>
                <a:cs typeface="Calibri" pitchFamily="34" charset="-120"/>
              </a:rPr>
              <a:t> the value.</a:t>
            </a:r>
            <a:endParaRPr lang="en-US" sz="1600" dirty="0"/>
          </a:p>
          <a:p>
            <a:pPr marL="228600" indent="-228600">
              <a:spcAft>
                <a:spcPts val="500"/>
              </a:spcAft>
              <a:buSzPct val="100000"/>
              <a:buChar char="•"/>
            </a:pPr>
            <a:r>
              <a:rPr lang="en-US" sz="1600" dirty="0">
                <a:solidFill>
                  <a:srgbClr val="1B2433"/>
                </a:solidFill>
                <a:latin typeface="Calibri" pitchFamily="34" charset="0"/>
                <a:ea typeface="Calibri" pitchFamily="34" charset="-122"/>
                <a:cs typeface="Calibri" pitchFamily="34" charset="-120"/>
              </a:rPr>
              <a:t>So the automatic recipe for making training examples </a:t>
            </a:r>
            <a:r>
              <a:rPr lang="en-US" sz="1600" b="1" dirty="0">
                <a:solidFill>
                  <a:srgbClr val="1B2433"/>
                </a:solidFill>
                <a:latin typeface="Calibri" pitchFamily="34" charset="0"/>
                <a:ea typeface="Calibri" pitchFamily="34" charset="-122"/>
                <a:cs typeface="Calibri" pitchFamily="34" charset="-120"/>
              </a:rPr>
              <a:t>does not apply</a:t>
            </a:r>
            <a:r>
              <a:rPr lang="en-US" sz="1600" dirty="0">
                <a:solidFill>
                  <a:srgbClr val="1B2433"/>
                </a:solidFill>
                <a:latin typeface="Calibri" pitchFamily="34" charset="0"/>
                <a:ea typeface="Calibri" pitchFamily="34" charset="-122"/>
                <a:cs typeface="Calibri" pitchFamily="34" charset="-120"/>
              </a:rPr>
              <a:t>.</a:t>
            </a:r>
            <a:endParaRPr lang="en-US" sz="1600" dirty="0"/>
          </a:p>
        </p:txBody>
      </p:sp>
      <p:sp>
        <p:nvSpPr>
          <p:cNvPr id="15" name="Shape 12"/>
          <p:cNvSpPr/>
          <p:nvPr/>
        </p:nvSpPr>
        <p:spPr>
          <a:xfrm>
            <a:off x="548640" y="4160520"/>
            <a:ext cx="11064240" cy="594360"/>
          </a:xfrm>
          <a:prstGeom prst="roundRect">
            <a:avLst>
              <a:gd name="adj" fmla="val 12308"/>
            </a:avLst>
          </a:prstGeom>
          <a:solidFill>
            <a:srgbClr val="FBEBD2"/>
          </a:solidFill>
          <a:ln w="12700">
            <a:solidFill>
              <a:srgbClr val="E39B2D"/>
            </a:solidFill>
            <a:prstDash val="solid"/>
          </a:ln>
        </p:spPr>
      </p:sp>
      <p:sp>
        <p:nvSpPr>
          <p:cNvPr id="16" name="Text 13"/>
          <p:cNvSpPr/>
          <p:nvPr/>
        </p:nvSpPr>
        <p:spPr>
          <a:xfrm>
            <a:off x="777240" y="4160520"/>
            <a:ext cx="10607040" cy="59436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Earlier retraining worked only when the English </a:t>
            </a:r>
            <a:r>
              <a:rPr lang="en-US" sz="1500" b="1" dirty="0">
                <a:solidFill>
                  <a:srgbClr val="1B2433"/>
                </a:solidFill>
                <a:latin typeface="Calibri" pitchFamily="34" charset="0"/>
                <a:ea typeface="Calibri" pitchFamily="34" charset="-122"/>
                <a:cs typeface="Calibri" pitchFamily="34" charset="-120"/>
              </a:rPr>
              <a:t>showed</a:t>
            </a:r>
            <a:r>
              <a:rPr lang="en-US" sz="1500" dirty="0">
                <a:solidFill>
                  <a:srgbClr val="1B2433"/>
                </a:solidFill>
                <a:latin typeface="Calibri" pitchFamily="34" charset="0"/>
                <a:ea typeface="Calibri" pitchFamily="34" charset="-122"/>
                <a:cs typeface="Calibri" pitchFamily="34" charset="-120"/>
              </a:rPr>
              <a:t> the feature (Amrhein &amp; Sennrich 2022; Singh et al. 2024). Here it does not.</a:t>
            </a:r>
            <a:endParaRPr lang="en-US" sz="15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286000"/>
            <a:ext cx="1371600" cy="1097280"/>
          </a:xfrm>
          <a:prstGeom prst="roundRect">
            <a:avLst>
              <a:gd name="adj" fmla="val 10000"/>
            </a:avLst>
          </a:prstGeom>
          <a:solidFill>
            <a:srgbClr val="14213D"/>
          </a:solidFill>
          <a:ln w="31750">
            <a:solidFill>
              <a:srgbClr val="E39B2D"/>
            </a:solidFill>
            <a:prstDash val="dash"/>
          </a:ln>
        </p:spPr>
      </p:sp>
      <p:sp>
        <p:nvSpPr>
          <p:cNvPr id="3" name="Text 1"/>
          <p:cNvSpPr/>
          <p:nvPr/>
        </p:nvSpPr>
        <p:spPr>
          <a:xfrm>
            <a:off x="822960" y="2286000"/>
            <a:ext cx="1371600" cy="1097280"/>
          </a:xfrm>
          <a:prstGeom prst="rect">
            <a:avLst/>
          </a:prstGeom>
          <a:noFill/>
          <a:ln/>
        </p:spPr>
        <p:txBody>
          <a:bodyPr wrap="square" lIns="0" tIns="0" rIns="0" bIns="0" rtlCol="0" anchor="ctr"/>
          <a:lstStyle/>
          <a:p>
            <a:pPr algn="ctr" indent="0" marL="0">
              <a:buNone/>
            </a:pPr>
            <a:r>
              <a:rPr lang="en-US" sz="4800" b="1" dirty="0">
                <a:solidFill>
                  <a:srgbClr val="E39B2D"/>
                </a:solidFill>
                <a:latin typeface="Calibri" pitchFamily="34" charset="0"/>
                <a:ea typeface="Calibri" pitchFamily="34" charset="-122"/>
                <a:cs typeface="Calibri" pitchFamily="34" charset="-120"/>
              </a:rPr>
              <a:t>7</a:t>
            </a:r>
            <a:endParaRPr lang="en-US" sz="4800" dirty="0"/>
          </a:p>
        </p:txBody>
      </p:sp>
      <p:sp>
        <p:nvSpPr>
          <p:cNvPr id="4" name="Text 2"/>
          <p:cNvSpPr/>
          <p:nvPr/>
        </p:nvSpPr>
        <p:spPr>
          <a:xfrm>
            <a:off x="2560320" y="1097280"/>
            <a:ext cx="9052560" cy="1965960"/>
          </a:xfrm>
          <a:prstGeom prst="rect">
            <a:avLst/>
          </a:prstGeom>
          <a:noFill/>
          <a:ln/>
        </p:spPr>
        <p:txBody>
          <a:bodyPr wrap="square" lIns="0" tIns="0" rIns="0" bIns="0" rtlCol="0" anchor="b"/>
          <a:lstStyle/>
          <a:p>
            <a:pPr indent="0" marL="0">
              <a:buNone/>
            </a:pPr>
            <a:r>
              <a:rPr lang="en-US" sz="3600" b="1" dirty="0">
                <a:solidFill>
                  <a:srgbClr val="FFFFFF"/>
                </a:solidFill>
                <a:latin typeface="Georgia" pitchFamily="34" charset="0"/>
                <a:ea typeface="Georgia" pitchFamily="34" charset="-122"/>
                <a:cs typeface="Georgia" pitchFamily="34" charset="-120"/>
              </a:rPr>
              <a:t>Results: what the systems do</a:t>
            </a:r>
            <a:endParaRPr lang="en-US" sz="3600" dirty="0"/>
          </a:p>
        </p:txBody>
      </p:sp>
      <p:sp>
        <p:nvSpPr>
          <p:cNvPr id="5" name="Text 3"/>
          <p:cNvSpPr/>
          <p:nvPr/>
        </p:nvSpPr>
        <p:spPr>
          <a:xfrm>
            <a:off x="2560320" y="3246120"/>
            <a:ext cx="9052560" cy="1280160"/>
          </a:xfrm>
          <a:prstGeom prst="rect">
            <a:avLst/>
          </a:prstGeom>
          <a:noFill/>
          <a:ln/>
        </p:spPr>
        <p:txBody>
          <a:bodyPr wrap="square" lIns="0" tIns="0" rIns="0" bIns="0" rtlCol="0" anchor="t"/>
          <a:lstStyle/>
          <a:p>
            <a:pPr indent="0" marL="0">
              <a:buNone/>
            </a:pPr>
            <a:r>
              <a:rPr lang="en-US" sz="1800" dirty="0">
                <a:solidFill>
                  <a:srgbClr val="C9D2E3"/>
                </a:solidFill>
                <a:latin typeface="Calibri" pitchFamily="34" charset="0"/>
                <a:ea typeface="Calibri" pitchFamily="34" charset="-122"/>
                <a:cs typeface="Calibri" pitchFamily="34" charset="-120"/>
              </a:rPr>
              <a:t>Four findings about how the 13 systems behave. These are provisional; the caveats are stated with them.</a:t>
            </a:r>
            <a:endParaRPr lang="en-US" sz="1800" dirty="0"/>
          </a:p>
        </p:txBody>
      </p:sp>
      <p:sp>
        <p:nvSpPr>
          <p:cNvPr id="6" name="Text 4"/>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7D8AA5"/>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7</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SYSTEMS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Result 7: can systems produce the form when told to?</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69</a:t>
            </a:r>
            <a:endParaRPr lang="en-US" sz="9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400800" cy="914400"/>
        </p:xfrm>
        <a:graphic>
          <a:graphicData uri="http://schemas.openxmlformats.org/drawingml/2006/table">
            <a:tbl>
              <a:tblPr/>
              <a:tblGrid>
                <a:gridCol w="2011680"/>
                <a:gridCol w="1463040"/>
                <a:gridCol w="1463040"/>
                <a:gridCol w="1463040"/>
              </a:tblGrid>
              <a:tr h="43891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System</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Slot</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Original instruction</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Fixed instruction</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r>
              <a:tr h="438912">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Gemma 3 27B</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gender</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80.0%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09E73"/>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Gemma 3 27B</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number</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b="1" dirty="0">
                          <a:solidFill>
                            <a:srgbClr val="009E73"/>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438912">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Qwen3 8B</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number</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35.0%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09E73"/>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Qwen3 32B</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gender</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65.0%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400" b="1" dirty="0">
                          <a:solidFill>
                            <a:srgbClr val="009E73"/>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438912">
                <a:tc>
                  <a:txBody>
                    <a:bodyPr/>
                    <a:lstStyle/>
                    <a:p>
                      <a:pPr algn="l" indent="0" marL="0">
                        <a:buNone/>
                      </a:pPr>
                      <a:r>
                        <a:rPr lang="en-US" sz="1400" dirty="0">
                          <a:solidFill>
                            <a:srgbClr val="1B2433"/>
                          </a:solidFill>
                          <a:latin typeface="Calibri" pitchFamily="34" charset="0"/>
                          <a:ea typeface="Calibri" pitchFamily="34" charset="-122"/>
                          <a:cs typeface="Calibri" pitchFamily="34" charset="-120"/>
                        </a:rPr>
                        <a:t>Gemma 3 12B</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rationality</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3"/>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10" name="Text 6"/>
          <p:cNvSpPr/>
          <p:nvPr/>
        </p:nvSpPr>
        <p:spPr>
          <a:xfrm>
            <a:off x="548640" y="4480560"/>
            <a:ext cx="6400800" cy="320040"/>
          </a:xfrm>
          <a:prstGeom prst="rect">
            <a:avLst/>
          </a:prstGeom>
          <a:noFill/>
          <a:ln/>
        </p:spPr>
        <p:txBody>
          <a:bodyPr wrap="square" lIns="0" tIns="0" rIns="0" bIns="0" rtlCol="0" anchor="t"/>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A few rows of the paper's Table 8 (accuracy in the instructed condition).</a:t>
            </a:r>
            <a:endParaRPr lang="en-US" sz="1300" dirty="0"/>
          </a:p>
        </p:txBody>
      </p:sp>
      <p:sp>
        <p:nvSpPr>
          <p:cNvPr id="11" name="Shape 7"/>
          <p:cNvSpPr/>
          <p:nvPr/>
        </p:nvSpPr>
        <p:spPr>
          <a:xfrm>
            <a:off x="7223760" y="1737360"/>
            <a:ext cx="4389120" cy="3017520"/>
          </a:xfrm>
          <a:prstGeom prst="roundRect">
            <a:avLst>
              <a:gd name="adj" fmla="val 2424"/>
            </a:avLst>
          </a:prstGeom>
          <a:solidFill>
            <a:srgbClr val="F2F4F8"/>
          </a:solidFill>
          <a:ln w="12700">
            <a:solidFill>
              <a:srgbClr val="F2F4F8"/>
            </a:solidFill>
            <a:prstDash val="solid"/>
          </a:ln>
        </p:spPr>
      </p:sp>
      <p:sp>
        <p:nvSpPr>
          <p:cNvPr id="12" name="Text 8"/>
          <p:cNvSpPr/>
          <p:nvPr/>
        </p:nvSpPr>
        <p:spPr>
          <a:xfrm>
            <a:off x="7424928" y="1883664"/>
            <a:ext cx="398678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What we learned</a:t>
            </a:r>
            <a:endParaRPr lang="en-US" sz="1700" dirty="0"/>
          </a:p>
        </p:txBody>
      </p:sp>
      <p:sp>
        <p:nvSpPr>
          <p:cNvPr id="13" name="Text 9"/>
          <p:cNvSpPr/>
          <p:nvPr/>
        </p:nvSpPr>
        <p:spPr>
          <a:xfrm>
            <a:off x="7424928" y="2295144"/>
            <a:ext cx="3986784" cy="2313432"/>
          </a:xfrm>
          <a:prstGeom prst="rect">
            <a:avLst/>
          </a:prstGeom>
          <a:noFill/>
          <a:ln/>
        </p:spPr>
        <p:txBody>
          <a:bodyPr wrap="square" lIns="0" tIns="0" rIns="0" bIns="0" rtlCol="0" anchor="t"/>
          <a:lstStyle/>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The flaw: it said "realising the rationality value </a:t>
            </a:r>
            <a:r>
              <a:rPr lang="en-US" sz="1400" b="1" dirty="0">
                <a:solidFill>
                  <a:srgbClr val="1B2433"/>
                </a:solidFill>
                <a:latin typeface="Calibri" pitchFamily="34" charset="0"/>
                <a:ea typeface="Calibri" pitchFamily="34" charset="-122"/>
                <a:cs typeface="Calibri" pitchFamily="34" charset="-120"/>
              </a:rPr>
              <a:t>'UYAR'</a:t>
            </a:r>
            <a:r>
              <a:rPr lang="en-US" sz="1400" dirty="0">
                <a:solidFill>
                  <a:srgbClr val="1B2433"/>
                </a:solidFill>
                <a:latin typeface="Calibri" pitchFamily="34" charset="0"/>
                <a:ea typeface="Calibri" pitchFamily="34" charset="-122"/>
                <a:cs typeface="Calibri" pitchFamily="34" charset="-120"/>
              </a:rPr>
              <a:t> on the verb": an </a:t>
            </a:r>
            <a:r>
              <a:rPr lang="en-US" sz="1400" b="1" dirty="0">
                <a:solidFill>
                  <a:srgbClr val="1B2433"/>
                </a:solidFill>
                <a:latin typeface="Calibri" pitchFamily="34" charset="0"/>
                <a:ea typeface="Calibri" pitchFamily="34" charset="-122"/>
                <a:cs typeface="Calibri" pitchFamily="34" charset="-120"/>
              </a:rPr>
              <a:t>internal label code</a:t>
            </a:r>
            <a:r>
              <a:rPr lang="en-US" sz="1400" dirty="0">
                <a:solidFill>
                  <a:srgbClr val="1B2433"/>
                </a:solidFill>
                <a:latin typeface="Calibri" pitchFamily="34" charset="0"/>
                <a:ea typeface="Calibri" pitchFamily="34" charset="-122"/>
                <a:cs typeface="Calibri" pitchFamily="34" charset="-120"/>
              </a:rPr>
              <a:t>, not the Tamil form.</a:t>
            </a:r>
            <a:endParaRPr lang="en-US" sz="1400" dirty="0"/>
          </a:p>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Fixing it moves accuracy by </a:t>
            </a:r>
            <a:r>
              <a:rPr lang="en-US" sz="1400" b="1" dirty="0">
                <a:solidFill>
                  <a:srgbClr val="1B2433"/>
                </a:solidFill>
                <a:latin typeface="Calibri" pitchFamily="34" charset="0"/>
                <a:ea typeface="Calibri" pitchFamily="34" charset="-122"/>
                <a:cs typeface="Calibri" pitchFamily="34" charset="-120"/>
              </a:rPr>
              <a:t>up to 75 points</a:t>
            </a:r>
            <a:r>
              <a:rPr lang="en-US" sz="1400" dirty="0">
                <a:solidFill>
                  <a:srgbClr val="1B2433"/>
                </a:solidFill>
                <a:latin typeface="Calibri" pitchFamily="34" charset="0"/>
                <a:ea typeface="Calibri" pitchFamily="34" charset="-122"/>
                <a:cs typeface="Calibri" pitchFamily="34" charset="-120"/>
              </a:rPr>
              <a:t>.</a:t>
            </a:r>
            <a:endParaRPr lang="en-US" sz="1400" dirty="0"/>
          </a:p>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Even fixed: </a:t>
            </a:r>
            <a:r>
              <a:rPr lang="en-US" sz="1400" b="1" dirty="0">
                <a:solidFill>
                  <a:srgbClr val="1B2433"/>
                </a:solidFill>
                <a:latin typeface="Calibri" pitchFamily="34" charset="0"/>
                <a:ea typeface="Calibri" pitchFamily="34" charset="-122"/>
                <a:cs typeface="Calibri" pitchFamily="34" charset="-120"/>
              </a:rPr>
              <a:t>6 of 11</a:t>
            </a:r>
            <a:r>
              <a:rPr lang="en-US" sz="1400" dirty="0">
                <a:solidFill>
                  <a:srgbClr val="1B2433"/>
                </a:solidFill>
                <a:latin typeface="Calibri" pitchFamily="34" charset="0"/>
                <a:ea typeface="Calibri" pitchFamily="34" charset="-122"/>
                <a:cs typeface="Calibri" pitchFamily="34" charset="-120"/>
              </a:rPr>
              <a:t> beat chance on gender, </a:t>
            </a:r>
            <a:r>
              <a:rPr lang="en-US" sz="1400" b="1" dirty="0">
                <a:solidFill>
                  <a:srgbClr val="1B2433"/>
                </a:solidFill>
                <a:latin typeface="Calibri" pitchFamily="34" charset="0"/>
                <a:ea typeface="Calibri" pitchFamily="34" charset="-122"/>
                <a:cs typeface="Calibri" pitchFamily="34" charset="-120"/>
              </a:rPr>
              <a:t>0 of 11</a:t>
            </a:r>
            <a:r>
              <a:rPr lang="en-US" sz="1400" dirty="0">
                <a:solidFill>
                  <a:srgbClr val="1B2433"/>
                </a:solidFill>
                <a:latin typeface="Calibri" pitchFamily="34" charset="0"/>
                <a:ea typeface="Calibri" pitchFamily="34" charset="-122"/>
                <a:cs typeface="Calibri" pitchFamily="34" charset="-120"/>
              </a:rPr>
              <a:t> on rationality (the 2 MT systems take no instructions).</a:t>
            </a:r>
            <a:endParaRPr lang="en-US" sz="1400" dirty="0"/>
          </a:p>
        </p:txBody>
      </p:sp>
      <p:sp>
        <p:nvSpPr>
          <p:cNvPr id="14" name="Shape 10"/>
          <p:cNvSpPr/>
          <p:nvPr/>
        </p:nvSpPr>
        <p:spPr>
          <a:xfrm>
            <a:off x="548640" y="5074920"/>
            <a:ext cx="11064240" cy="685800"/>
          </a:xfrm>
          <a:prstGeom prst="roundRect">
            <a:avLst>
              <a:gd name="adj" fmla="val 10667"/>
            </a:avLst>
          </a:prstGeom>
          <a:solidFill>
            <a:srgbClr val="FBEBD2"/>
          </a:solidFill>
          <a:ln w="12700">
            <a:solidFill>
              <a:srgbClr val="E39B2D"/>
            </a:solidFill>
            <a:prstDash val="solid"/>
          </a:ln>
        </p:spPr>
      </p:sp>
      <p:sp>
        <p:nvSpPr>
          <p:cNvPr id="15" name="Text 11"/>
          <p:cNvSpPr/>
          <p:nvPr/>
        </p:nvSpPr>
        <p:spPr>
          <a:xfrm>
            <a:off x="777240" y="5074920"/>
            <a:ext cx="10607040" cy="68580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If a system scores low on rationality, we </a:t>
            </a:r>
            <a:r>
              <a:rPr lang="en-US" sz="1500" b="1" dirty="0">
                <a:solidFill>
                  <a:srgbClr val="1B2433"/>
                </a:solidFill>
                <a:latin typeface="Calibri" pitchFamily="34" charset="0"/>
                <a:ea typeface="Calibri" pitchFamily="34" charset="-122"/>
                <a:cs typeface="Calibri" pitchFamily="34" charset="-120"/>
              </a:rPr>
              <a:t>cannot tell</a:t>
            </a:r>
            <a:r>
              <a:rPr lang="en-US" sz="1500" dirty="0">
                <a:solidFill>
                  <a:srgbClr val="1B2433"/>
                </a:solidFill>
                <a:latin typeface="Calibri" pitchFamily="34" charset="0"/>
                <a:ea typeface="Calibri" pitchFamily="34" charset="-122"/>
                <a:cs typeface="Calibri" pitchFamily="34" charset="-120"/>
              </a:rPr>
              <a:t> whether it chose wrongly or simply </a:t>
            </a:r>
            <a:r>
              <a:rPr lang="en-US" sz="1500" b="1" dirty="0">
                <a:solidFill>
                  <a:srgbClr val="1B2433"/>
                </a:solidFill>
                <a:latin typeface="Calibri" pitchFamily="34" charset="0"/>
                <a:ea typeface="Calibri" pitchFamily="34" charset="-122"/>
                <a:cs typeface="Calibri" pitchFamily="34" charset="-120"/>
              </a:rPr>
              <a:t>cannot write that form</a:t>
            </a:r>
            <a:r>
              <a:rPr lang="en-US" sz="1500" dirty="0">
                <a:solidFill>
                  <a:srgbClr val="1B2433"/>
                </a:solidFill>
                <a:latin typeface="Calibri" pitchFamily="34" charset="0"/>
                <a:ea typeface="Calibri" pitchFamily="34" charset="-122"/>
                <a:cs typeface="Calibri" pitchFamily="34" charset="-120"/>
              </a:rPr>
              <a:t> on request. Both instruction versions are reported.</a:t>
            </a:r>
            <a:endParaRPr lang="en-US" sz="15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7</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SYSTEMS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Result 8: context makes systems commit, not succeed</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70</a:t>
            </a:r>
            <a:endParaRPr lang="en-US" sz="900" dirty="0"/>
          </a:p>
        </p:txBody>
      </p:sp>
      <p:sp>
        <p:nvSpPr>
          <p:cNvPr id="9" name="Text 6"/>
          <p:cNvSpPr/>
          <p:nvPr/>
        </p:nvSpPr>
        <p:spPr>
          <a:xfrm>
            <a:off x="548640" y="1645920"/>
            <a:ext cx="9144000" cy="320040"/>
          </a:xfrm>
          <a:prstGeom prst="rect">
            <a:avLst/>
          </a:prstGeom>
          <a:noFill/>
          <a:ln/>
        </p:spPr>
        <p:txBody>
          <a:bodyPr wrap="square" lIns="0" tIns="0" rIns="0" bIns="0" rtlCol="0" anchor="t"/>
          <a:lstStyle/>
          <a:p>
            <a:pPr algn="l" indent="0" marL="0">
              <a:lnSpc>
                <a:spcPct val="100000"/>
              </a:lnSpc>
              <a:buNone/>
            </a:pPr>
            <a:r>
              <a:rPr lang="en-US" sz="1400" b="1" dirty="0">
                <a:solidFill>
                  <a:srgbClr val="5B6577"/>
                </a:solidFill>
                <a:latin typeface="Calibri" pitchFamily="34" charset="0"/>
                <a:ea typeface="Calibri" pitchFamily="34" charset="-122"/>
                <a:cs typeface="Calibri" pitchFamily="34" charset="-120"/>
              </a:rPr>
              <a:t>Rationality · commitment (share of items where a value was chosen), range across the 13 systems</a:t>
            </a:r>
            <a:endParaRPr lang="en-US" sz="1400" dirty="0"/>
          </a:p>
        </p:txBody>
      </p:sp>
      <p:sp>
        <p:nvSpPr>
          <p:cNvPr id="10" name="Text 7"/>
          <p:cNvSpPr/>
          <p:nvPr/>
        </p:nvSpPr>
        <p:spPr>
          <a:xfrm>
            <a:off x="548640" y="2011680"/>
            <a:ext cx="2377440" cy="457200"/>
          </a:xfrm>
          <a:prstGeom prst="rect">
            <a:avLst/>
          </a:prstGeom>
          <a:noFill/>
          <a:ln/>
        </p:spPr>
        <p:txBody>
          <a:bodyPr wrap="square" lIns="0" tIns="0" rIns="0" bIns="0" rtlCol="0" anchor="ctr"/>
          <a:lstStyle/>
          <a:p>
            <a:pPr algn="r" indent="0" marL="0">
              <a:lnSpc>
                <a:spcPct val="100000"/>
              </a:lnSpc>
              <a:buNone/>
            </a:pPr>
            <a:r>
              <a:rPr lang="en-US" sz="1400" b="1" dirty="0">
                <a:solidFill>
                  <a:srgbClr val="1B2433"/>
                </a:solidFill>
                <a:latin typeface="Calibri" pitchFamily="34" charset="0"/>
                <a:ea typeface="Calibri" pitchFamily="34" charset="-122"/>
                <a:cs typeface="Calibri" pitchFamily="34" charset="-120"/>
              </a:rPr>
              <a:t>In-sentence clue</a:t>
            </a:r>
            <a:endParaRPr lang="en-US" sz="1400" dirty="0"/>
          </a:p>
        </p:txBody>
      </p:sp>
      <p:sp>
        <p:nvSpPr>
          <p:cNvPr id="11" name="Shape 8"/>
          <p:cNvSpPr/>
          <p:nvPr/>
        </p:nvSpPr>
        <p:spPr>
          <a:xfrm>
            <a:off x="6561277" y="2103120"/>
            <a:ext cx="1745590" cy="274320"/>
          </a:xfrm>
          <a:prstGeom prst="rect">
            <a:avLst/>
          </a:prstGeom>
          <a:solidFill>
            <a:srgbClr val="009E73"/>
          </a:solidFill>
          <a:ln w="12700">
            <a:solidFill>
              <a:srgbClr val="009E73"/>
            </a:solidFill>
            <a:prstDash val="solid"/>
          </a:ln>
        </p:spPr>
      </p:sp>
      <p:sp>
        <p:nvSpPr>
          <p:cNvPr id="12" name="Text 9"/>
          <p:cNvSpPr/>
          <p:nvPr/>
        </p:nvSpPr>
        <p:spPr>
          <a:xfrm>
            <a:off x="8398307" y="2011680"/>
            <a:ext cx="1463040" cy="457200"/>
          </a:xfrm>
          <a:prstGeom prst="rect">
            <a:avLst/>
          </a:prstGeom>
          <a:noFill/>
          <a:ln/>
        </p:spPr>
        <p:txBody>
          <a:bodyPr wrap="square" lIns="0" tIns="0" rIns="0" bIns="0" rtlCol="0" anchor="ctr"/>
          <a:lstStyle/>
          <a:p>
            <a:pPr algn="l" indent="0" marL="0">
              <a:lnSpc>
                <a:spcPct val="100000"/>
              </a:lnSpc>
              <a:buNone/>
            </a:pPr>
            <a:r>
              <a:rPr lang="en-US" sz="1300" dirty="0">
                <a:solidFill>
                  <a:srgbClr val="1B2433"/>
                </a:solidFill>
                <a:latin typeface="Calibri" pitchFamily="34" charset="0"/>
                <a:ea typeface="Calibri" pitchFamily="34" charset="-122"/>
                <a:cs typeface="Calibri" pitchFamily="34" charset="-120"/>
              </a:rPr>
              <a:t>73.7–90.3%</a:t>
            </a:r>
            <a:endParaRPr lang="en-US" sz="1300" dirty="0"/>
          </a:p>
        </p:txBody>
      </p:sp>
      <p:sp>
        <p:nvSpPr>
          <p:cNvPr id="13" name="Text 10"/>
          <p:cNvSpPr/>
          <p:nvPr/>
        </p:nvSpPr>
        <p:spPr>
          <a:xfrm>
            <a:off x="548640" y="2560320"/>
            <a:ext cx="2377440" cy="457200"/>
          </a:xfrm>
          <a:prstGeom prst="rect">
            <a:avLst/>
          </a:prstGeom>
          <a:noFill/>
          <a:ln/>
        </p:spPr>
        <p:txBody>
          <a:bodyPr wrap="square" lIns="0" tIns="0" rIns="0" bIns="0" rtlCol="0" anchor="ctr"/>
          <a:lstStyle/>
          <a:p>
            <a:pPr algn="r" indent="0" marL="0">
              <a:lnSpc>
                <a:spcPct val="100000"/>
              </a:lnSpc>
              <a:buNone/>
            </a:pPr>
            <a:r>
              <a:rPr lang="en-US" sz="1400" b="1" dirty="0">
                <a:solidFill>
                  <a:srgbClr val="1B2433"/>
                </a:solidFill>
                <a:latin typeface="Calibri" pitchFamily="34" charset="0"/>
                <a:ea typeface="Calibri" pitchFamily="34" charset="-122"/>
                <a:cs typeface="Calibri" pitchFamily="34" charset="-120"/>
              </a:rPr>
              <a:t>Prior-sentence clue</a:t>
            </a:r>
            <a:endParaRPr lang="en-US" sz="1400" dirty="0"/>
          </a:p>
        </p:txBody>
      </p:sp>
      <p:sp>
        <p:nvSpPr>
          <p:cNvPr id="14" name="Shape 11"/>
          <p:cNvSpPr/>
          <p:nvPr/>
        </p:nvSpPr>
        <p:spPr>
          <a:xfrm>
            <a:off x="5772607" y="2651760"/>
            <a:ext cx="3554273" cy="274320"/>
          </a:xfrm>
          <a:prstGeom prst="rect">
            <a:avLst/>
          </a:prstGeom>
          <a:solidFill>
            <a:srgbClr val="0072B2"/>
          </a:solidFill>
          <a:ln w="12700">
            <a:solidFill>
              <a:srgbClr val="0072B2"/>
            </a:solidFill>
            <a:prstDash val="solid"/>
          </a:ln>
        </p:spPr>
      </p:sp>
      <p:sp>
        <p:nvSpPr>
          <p:cNvPr id="15" name="Text 12"/>
          <p:cNvSpPr/>
          <p:nvPr/>
        </p:nvSpPr>
        <p:spPr>
          <a:xfrm>
            <a:off x="9418320" y="2560320"/>
            <a:ext cx="1463040" cy="457200"/>
          </a:xfrm>
          <a:prstGeom prst="rect">
            <a:avLst/>
          </a:prstGeom>
          <a:noFill/>
          <a:ln/>
        </p:spPr>
        <p:txBody>
          <a:bodyPr wrap="square" lIns="0" tIns="0" rIns="0" bIns="0" rtlCol="0" anchor="ctr"/>
          <a:lstStyle/>
          <a:p>
            <a:pPr algn="l" indent="0" marL="0">
              <a:lnSpc>
                <a:spcPct val="100000"/>
              </a:lnSpc>
              <a:buNone/>
            </a:pPr>
            <a:r>
              <a:rPr lang="en-US" sz="1300" dirty="0">
                <a:solidFill>
                  <a:srgbClr val="1B2433"/>
                </a:solidFill>
                <a:latin typeface="Calibri" pitchFamily="34" charset="0"/>
                <a:ea typeface="Calibri" pitchFamily="34" charset="-122"/>
                <a:cs typeface="Calibri" pitchFamily="34" charset="-120"/>
              </a:rPr>
              <a:t>66.2–100.0%</a:t>
            </a:r>
            <a:endParaRPr lang="en-US" sz="1300" dirty="0"/>
          </a:p>
        </p:txBody>
      </p:sp>
      <p:sp>
        <p:nvSpPr>
          <p:cNvPr id="16" name="Shape 13"/>
          <p:cNvSpPr/>
          <p:nvPr/>
        </p:nvSpPr>
        <p:spPr>
          <a:xfrm>
            <a:off x="9784080" y="1627632"/>
            <a:ext cx="1828800" cy="347472"/>
          </a:xfrm>
          <a:prstGeom prst="roundRect">
            <a:avLst>
              <a:gd name="adj" fmla="val 21053"/>
            </a:avLst>
          </a:prstGeom>
          <a:solidFill>
            <a:srgbClr val="0072B2"/>
          </a:solidFill>
          <a:ln w="12700">
            <a:solidFill>
              <a:srgbClr val="0072B2"/>
            </a:solidFill>
            <a:prstDash val="solid"/>
          </a:ln>
        </p:spPr>
      </p:sp>
      <p:sp>
        <p:nvSpPr>
          <p:cNvPr id="17" name="Text 14"/>
          <p:cNvSpPr/>
          <p:nvPr/>
        </p:nvSpPr>
        <p:spPr>
          <a:xfrm>
            <a:off x="9784080" y="1627632"/>
            <a:ext cx="18288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rises on 12 of 13</a:t>
            </a:r>
            <a:endParaRPr lang="en-US" sz="1200" dirty="0"/>
          </a:p>
        </p:txBody>
      </p:sp>
      <p:sp>
        <p:nvSpPr>
          <p:cNvPr id="18" name="Text 15"/>
          <p:cNvSpPr/>
          <p:nvPr/>
        </p:nvSpPr>
        <p:spPr>
          <a:xfrm>
            <a:off x="548640" y="3291840"/>
            <a:ext cx="9144000" cy="320040"/>
          </a:xfrm>
          <a:prstGeom prst="rect">
            <a:avLst/>
          </a:prstGeom>
          <a:noFill/>
          <a:ln/>
        </p:spPr>
        <p:txBody>
          <a:bodyPr wrap="square" lIns="0" tIns="0" rIns="0" bIns="0" rtlCol="0" anchor="t"/>
          <a:lstStyle/>
          <a:p>
            <a:pPr algn="l" indent="0" marL="0">
              <a:lnSpc>
                <a:spcPct val="100000"/>
              </a:lnSpc>
              <a:buNone/>
            </a:pPr>
            <a:r>
              <a:rPr lang="en-US" sz="1400" b="1" dirty="0">
                <a:solidFill>
                  <a:srgbClr val="5B6577"/>
                </a:solidFill>
                <a:latin typeface="Calibri" pitchFamily="34" charset="0"/>
                <a:ea typeface="Calibri" pitchFamily="34" charset="-122"/>
                <a:cs typeface="Calibri" pitchFamily="34" charset="-120"/>
              </a:rPr>
              <a:t>Rationality · accuracy among committed items, range across the 13 systems</a:t>
            </a:r>
            <a:endParaRPr lang="en-US" sz="1400" dirty="0"/>
          </a:p>
        </p:txBody>
      </p:sp>
      <p:sp>
        <p:nvSpPr>
          <p:cNvPr id="19" name="Text 16"/>
          <p:cNvSpPr/>
          <p:nvPr/>
        </p:nvSpPr>
        <p:spPr>
          <a:xfrm>
            <a:off x="548640" y="3657600"/>
            <a:ext cx="2377440" cy="457200"/>
          </a:xfrm>
          <a:prstGeom prst="rect">
            <a:avLst/>
          </a:prstGeom>
          <a:noFill/>
          <a:ln/>
        </p:spPr>
        <p:txBody>
          <a:bodyPr wrap="square" lIns="0" tIns="0" rIns="0" bIns="0" rtlCol="0" anchor="ctr"/>
          <a:lstStyle/>
          <a:p>
            <a:pPr algn="r" indent="0" marL="0">
              <a:lnSpc>
                <a:spcPct val="100000"/>
              </a:lnSpc>
              <a:buNone/>
            </a:pPr>
            <a:r>
              <a:rPr lang="en-US" sz="1400" b="1" dirty="0">
                <a:solidFill>
                  <a:srgbClr val="1B2433"/>
                </a:solidFill>
                <a:latin typeface="Calibri" pitchFamily="34" charset="0"/>
                <a:ea typeface="Calibri" pitchFamily="34" charset="-122"/>
                <a:cs typeface="Calibri" pitchFamily="34" charset="-120"/>
              </a:rPr>
              <a:t>In-sentence clue</a:t>
            </a:r>
            <a:endParaRPr lang="en-US" sz="1400" dirty="0"/>
          </a:p>
        </p:txBody>
      </p:sp>
      <p:sp>
        <p:nvSpPr>
          <p:cNvPr id="20" name="Shape 17"/>
          <p:cNvSpPr/>
          <p:nvPr/>
        </p:nvSpPr>
        <p:spPr>
          <a:xfrm>
            <a:off x="8107070" y="3749040"/>
            <a:ext cx="1219810" cy="274320"/>
          </a:xfrm>
          <a:prstGeom prst="rect">
            <a:avLst/>
          </a:prstGeom>
          <a:solidFill>
            <a:srgbClr val="009E73"/>
          </a:solidFill>
          <a:ln w="12700">
            <a:solidFill>
              <a:srgbClr val="009E73"/>
            </a:solidFill>
            <a:prstDash val="solid"/>
          </a:ln>
        </p:spPr>
      </p:sp>
      <p:sp>
        <p:nvSpPr>
          <p:cNvPr id="21" name="Text 18"/>
          <p:cNvSpPr/>
          <p:nvPr/>
        </p:nvSpPr>
        <p:spPr>
          <a:xfrm>
            <a:off x="9418320" y="3657600"/>
            <a:ext cx="1463040" cy="457200"/>
          </a:xfrm>
          <a:prstGeom prst="rect">
            <a:avLst/>
          </a:prstGeom>
          <a:noFill/>
          <a:ln/>
        </p:spPr>
        <p:txBody>
          <a:bodyPr wrap="square" lIns="0" tIns="0" rIns="0" bIns="0" rtlCol="0" anchor="ctr"/>
          <a:lstStyle/>
          <a:p>
            <a:pPr algn="l" indent="0" marL="0">
              <a:lnSpc>
                <a:spcPct val="100000"/>
              </a:lnSpc>
              <a:buNone/>
            </a:pPr>
            <a:r>
              <a:rPr lang="en-US" sz="1300" dirty="0">
                <a:solidFill>
                  <a:srgbClr val="1B2433"/>
                </a:solidFill>
                <a:latin typeface="Calibri" pitchFamily="34" charset="0"/>
                <a:ea typeface="Calibri" pitchFamily="34" charset="-122"/>
                <a:cs typeface="Calibri" pitchFamily="34" charset="-120"/>
              </a:rPr>
              <a:t>88.4–100.0%</a:t>
            </a:r>
            <a:endParaRPr lang="en-US" sz="1300" dirty="0"/>
          </a:p>
        </p:txBody>
      </p:sp>
      <p:sp>
        <p:nvSpPr>
          <p:cNvPr id="22" name="Text 19"/>
          <p:cNvSpPr/>
          <p:nvPr/>
        </p:nvSpPr>
        <p:spPr>
          <a:xfrm>
            <a:off x="548640" y="4206240"/>
            <a:ext cx="2377440" cy="457200"/>
          </a:xfrm>
          <a:prstGeom prst="rect">
            <a:avLst/>
          </a:prstGeom>
          <a:noFill/>
          <a:ln/>
        </p:spPr>
        <p:txBody>
          <a:bodyPr wrap="square" lIns="0" tIns="0" rIns="0" bIns="0" rtlCol="0" anchor="ctr"/>
          <a:lstStyle/>
          <a:p>
            <a:pPr algn="r" indent="0" marL="0">
              <a:lnSpc>
                <a:spcPct val="100000"/>
              </a:lnSpc>
              <a:buNone/>
            </a:pPr>
            <a:r>
              <a:rPr lang="en-US" sz="1400" b="1" dirty="0">
                <a:solidFill>
                  <a:srgbClr val="1B2433"/>
                </a:solidFill>
                <a:latin typeface="Calibri" pitchFamily="34" charset="0"/>
                <a:ea typeface="Calibri" pitchFamily="34" charset="-122"/>
                <a:cs typeface="Calibri" pitchFamily="34" charset="-120"/>
              </a:rPr>
              <a:t>Prior-sentence clue</a:t>
            </a:r>
            <a:endParaRPr lang="en-US" sz="1400" dirty="0"/>
          </a:p>
        </p:txBody>
      </p:sp>
      <p:sp>
        <p:nvSpPr>
          <p:cNvPr id="23" name="Shape 20"/>
          <p:cNvSpPr/>
          <p:nvPr/>
        </p:nvSpPr>
        <p:spPr>
          <a:xfrm>
            <a:off x="4027018" y="4297680"/>
            <a:ext cx="4784598" cy="274320"/>
          </a:xfrm>
          <a:prstGeom prst="rect">
            <a:avLst/>
          </a:prstGeom>
          <a:solidFill>
            <a:srgbClr val="D55E00"/>
          </a:solidFill>
          <a:ln w="12700">
            <a:solidFill>
              <a:srgbClr val="D55E00"/>
            </a:solidFill>
            <a:prstDash val="solid"/>
          </a:ln>
        </p:spPr>
      </p:sp>
      <p:sp>
        <p:nvSpPr>
          <p:cNvPr id="24" name="Text 21"/>
          <p:cNvSpPr/>
          <p:nvPr/>
        </p:nvSpPr>
        <p:spPr>
          <a:xfrm>
            <a:off x="8903056" y="4206240"/>
            <a:ext cx="1463040" cy="457200"/>
          </a:xfrm>
          <a:prstGeom prst="rect">
            <a:avLst/>
          </a:prstGeom>
          <a:noFill/>
          <a:ln/>
        </p:spPr>
        <p:txBody>
          <a:bodyPr wrap="square" lIns="0" tIns="0" rIns="0" bIns="0" rtlCol="0" anchor="ctr"/>
          <a:lstStyle/>
          <a:p>
            <a:pPr algn="l" indent="0" marL="0">
              <a:lnSpc>
                <a:spcPct val="100000"/>
              </a:lnSpc>
              <a:buNone/>
            </a:pPr>
            <a:r>
              <a:rPr lang="en-US" sz="1300" dirty="0">
                <a:solidFill>
                  <a:srgbClr val="1B2433"/>
                </a:solidFill>
                <a:latin typeface="Calibri" pitchFamily="34" charset="0"/>
                <a:ea typeface="Calibri" pitchFamily="34" charset="-122"/>
                <a:cs typeface="Calibri" pitchFamily="34" charset="-120"/>
              </a:rPr>
              <a:t>49.6–95.1%</a:t>
            </a:r>
            <a:endParaRPr lang="en-US" sz="1300" dirty="0"/>
          </a:p>
        </p:txBody>
      </p:sp>
      <p:sp>
        <p:nvSpPr>
          <p:cNvPr id="25" name="Shape 22"/>
          <p:cNvSpPr/>
          <p:nvPr/>
        </p:nvSpPr>
        <p:spPr>
          <a:xfrm>
            <a:off x="9784080" y="3273552"/>
            <a:ext cx="1828800" cy="347472"/>
          </a:xfrm>
          <a:prstGeom prst="roundRect">
            <a:avLst>
              <a:gd name="adj" fmla="val 21053"/>
            </a:avLst>
          </a:prstGeom>
          <a:solidFill>
            <a:srgbClr val="D55E00"/>
          </a:solidFill>
          <a:ln w="12700">
            <a:solidFill>
              <a:srgbClr val="D55E00"/>
            </a:solidFill>
            <a:prstDash val="solid"/>
          </a:ln>
        </p:spPr>
      </p:sp>
      <p:sp>
        <p:nvSpPr>
          <p:cNvPr id="26" name="Text 23"/>
          <p:cNvSpPr/>
          <p:nvPr/>
        </p:nvSpPr>
        <p:spPr>
          <a:xfrm>
            <a:off x="9784080" y="3273552"/>
            <a:ext cx="18288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falls</a:t>
            </a:r>
            <a:endParaRPr lang="en-US" sz="1200" dirty="0"/>
          </a:p>
        </p:txBody>
      </p:sp>
      <p:sp>
        <p:nvSpPr>
          <p:cNvPr id="27" name="Shape 24"/>
          <p:cNvSpPr/>
          <p:nvPr/>
        </p:nvSpPr>
        <p:spPr>
          <a:xfrm>
            <a:off x="548640" y="5074920"/>
            <a:ext cx="11064240" cy="731520"/>
          </a:xfrm>
          <a:prstGeom prst="roundRect">
            <a:avLst>
              <a:gd name="adj" fmla="val 10000"/>
            </a:avLst>
          </a:prstGeom>
          <a:solidFill>
            <a:srgbClr val="FBEBD2"/>
          </a:solidFill>
          <a:ln w="12700">
            <a:solidFill>
              <a:srgbClr val="E39B2D"/>
            </a:solidFill>
            <a:prstDash val="solid"/>
          </a:ln>
        </p:spPr>
      </p:sp>
      <p:sp>
        <p:nvSpPr>
          <p:cNvPr id="28" name="Text 25"/>
          <p:cNvSpPr/>
          <p:nvPr/>
        </p:nvSpPr>
        <p:spPr>
          <a:xfrm>
            <a:off x="777240" y="5074920"/>
            <a:ext cx="10607040" cy="73152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The context sentence </a:t>
            </a:r>
            <a:r>
              <a:rPr lang="en-US" sz="1500" b="1" dirty="0">
                <a:solidFill>
                  <a:srgbClr val="1B2433"/>
                </a:solidFill>
                <a:latin typeface="Calibri" pitchFamily="34" charset="0"/>
                <a:ea typeface="Calibri" pitchFamily="34" charset="-122"/>
                <a:cs typeface="Calibri" pitchFamily="34" charset="-120"/>
              </a:rPr>
              <a:t>stops systems avoiding</a:t>
            </a:r>
            <a:r>
              <a:rPr lang="en-US" sz="1500" dirty="0">
                <a:solidFill>
                  <a:srgbClr val="1B2433"/>
                </a:solidFill>
                <a:latin typeface="Calibri" pitchFamily="34" charset="0"/>
                <a:ea typeface="Calibri" pitchFamily="34" charset="-122"/>
                <a:cs typeface="Calibri" pitchFamily="34" charset="-120"/>
              </a:rPr>
              <a:t> and makes them </a:t>
            </a:r>
            <a:r>
              <a:rPr lang="en-US" sz="1500" b="1" dirty="0">
                <a:solidFill>
                  <a:srgbClr val="1B2433"/>
                </a:solidFill>
                <a:latin typeface="Calibri" pitchFamily="34" charset="0"/>
                <a:ea typeface="Calibri" pitchFamily="34" charset="-122"/>
                <a:cs typeface="Calibri" pitchFamily="34" charset="-120"/>
              </a:rPr>
              <a:t>commit anyway</a:t>
            </a:r>
            <a:r>
              <a:rPr lang="en-US" sz="1500" dirty="0">
                <a:solidFill>
                  <a:srgbClr val="1B2433"/>
                </a:solidFill>
                <a:latin typeface="Calibri" pitchFamily="34" charset="0"/>
                <a:ea typeface="Calibri" pitchFamily="34" charset="-122"/>
                <a:cs typeface="Calibri" pitchFamily="34" charset="-120"/>
              </a:rPr>
              <a:t>, often wrongly. Holds across 4 model families and both MT systems. Caveat: one prompt only.</a:t>
            </a:r>
            <a:endParaRPr lang="en-US" sz="15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7</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SYSTEMS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What each system does with a prior-sentence clue</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71</a:t>
            </a:r>
            <a:endParaRPr lang="en-US" sz="900" dirty="0"/>
          </a:p>
        </p:txBody>
      </p:sp>
      <p:pic>
        <p:nvPicPr>
          <p:cNvPr id="9" name="Image 0" descr="fig2_outcomes.png">    </p:cNvPr>
          <p:cNvPicPr>
            <a:picLocks noChangeAspect="1"/>
          </p:cNvPicPr>
          <p:nvPr/>
        </p:nvPicPr>
        <p:blipFill>
          <a:blip r:embed="rId1"/>
          <a:stretch>
            <a:fillRect/>
          </a:stretch>
        </p:blipFill>
        <p:spPr>
          <a:xfrm>
            <a:off x="914400" y="1645920"/>
            <a:ext cx="10332720" cy="3840480"/>
          </a:xfrm>
          <a:prstGeom prst="rect">
            <a:avLst/>
          </a:prstGeom>
        </p:spPr>
      </p:pic>
      <p:sp>
        <p:nvSpPr>
          <p:cNvPr id="10" name="Text 6"/>
          <p:cNvSpPr/>
          <p:nvPr/>
        </p:nvSpPr>
        <p:spPr>
          <a:xfrm>
            <a:off x="548640" y="5486400"/>
            <a:ext cx="11064240" cy="320040"/>
          </a:xfrm>
          <a:prstGeom prst="rect">
            <a:avLst/>
          </a:prstGeom>
          <a:noFill/>
          <a:ln/>
        </p:spPr>
        <p:txBody>
          <a:bodyPr wrap="square" lIns="0" tIns="0" rIns="0" bIns="0" rtlCol="0" anchor="t"/>
          <a:lstStyle/>
          <a:p>
            <a:pPr algn="ctr" indent="0" marL="0">
              <a:lnSpc>
                <a:spcPct val="100000"/>
              </a:lnSpc>
              <a:buNone/>
            </a:pPr>
            <a:r>
              <a:rPr lang="en-US" sz="1200" dirty="0">
                <a:solidFill>
                  <a:srgbClr val="5B6577"/>
                </a:solidFill>
                <a:latin typeface="Calibri" pitchFamily="34" charset="0"/>
                <a:ea typeface="Calibri" pitchFamily="34" charset="-122"/>
                <a:cs typeface="Calibri" pitchFamily="34" charset="-120"/>
              </a:rPr>
              <a:t>G3 = Gemma 3 · G3n = Gemma 3n · IT2 = IndicTrans2 · Sarvam = Sarvam-Translate. Green = correct, orange = wrong, blue hatched = avoidant, grey dotted = unparsed.</a:t>
            </a:r>
            <a:endParaRPr lang="en-US" sz="1200" dirty="0"/>
          </a:p>
        </p:txBody>
      </p:sp>
      <p:sp>
        <p:nvSpPr>
          <p:cNvPr id="11" name="Shape 7"/>
          <p:cNvSpPr/>
          <p:nvPr/>
        </p:nvSpPr>
        <p:spPr>
          <a:xfrm>
            <a:off x="548640" y="5852160"/>
            <a:ext cx="11064240" cy="457200"/>
          </a:xfrm>
          <a:prstGeom prst="roundRect">
            <a:avLst>
              <a:gd name="adj" fmla="val 16000"/>
            </a:avLst>
          </a:prstGeom>
          <a:solidFill>
            <a:srgbClr val="FBEBD2"/>
          </a:solidFill>
          <a:ln w="12700">
            <a:solidFill>
              <a:srgbClr val="E39B2D"/>
            </a:solidFill>
            <a:prstDash val="solid"/>
          </a:ln>
        </p:spPr>
      </p:sp>
      <p:sp>
        <p:nvSpPr>
          <p:cNvPr id="12" name="Text 8"/>
          <p:cNvSpPr/>
          <p:nvPr/>
        </p:nvSpPr>
        <p:spPr>
          <a:xfrm>
            <a:off x="777240" y="5852160"/>
            <a:ext cx="10607040" cy="45720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Rationality: nearly everyone </a:t>
            </a:r>
            <a:r>
              <a:rPr lang="en-US" sz="1400" b="1" dirty="0">
                <a:solidFill>
                  <a:srgbClr val="1B2433"/>
                </a:solidFill>
                <a:latin typeface="Calibri" pitchFamily="34" charset="0"/>
                <a:ea typeface="Calibri" pitchFamily="34" charset="-122"/>
                <a:cs typeface="Calibri" pitchFamily="34" charset="-120"/>
              </a:rPr>
              <a:t>commits</a:t>
            </a:r>
            <a:r>
              <a:rPr lang="en-US" sz="1400" dirty="0">
                <a:solidFill>
                  <a:srgbClr val="1B2433"/>
                </a:solidFill>
                <a:latin typeface="Calibri" pitchFamily="34" charset="0"/>
                <a:ea typeface="Calibri" pitchFamily="34" charset="-122"/>
                <a:cs typeface="Calibri" pitchFamily="34" charset="-120"/>
              </a:rPr>
              <a:t>, often </a:t>
            </a:r>
            <a:r>
              <a:rPr lang="en-US" sz="1400" b="1" dirty="0">
                <a:solidFill>
                  <a:srgbClr val="1B2433"/>
                </a:solidFill>
                <a:latin typeface="Calibri" pitchFamily="34" charset="0"/>
                <a:ea typeface="Calibri" pitchFamily="34" charset="-122"/>
                <a:cs typeface="Calibri" pitchFamily="34" charset="-120"/>
              </a:rPr>
              <a:t>wrongly</a:t>
            </a:r>
            <a:r>
              <a:rPr lang="en-US" sz="1400" dirty="0">
                <a:solidFill>
                  <a:srgbClr val="1B2433"/>
                </a:solidFill>
                <a:latin typeface="Calibri" pitchFamily="34" charset="0"/>
                <a:ea typeface="Calibri" pitchFamily="34" charset="-122"/>
                <a:cs typeface="Calibri" pitchFamily="34" charset="-120"/>
              </a:rPr>
              <a:t>. Gender: much </a:t>
            </a:r>
            <a:r>
              <a:rPr lang="en-US" sz="1400" b="1" dirty="0">
                <a:solidFill>
                  <a:srgbClr val="1B2433"/>
                </a:solidFill>
                <a:latin typeface="Calibri" pitchFamily="34" charset="0"/>
                <a:ea typeface="Calibri" pitchFamily="34" charset="-122"/>
                <a:cs typeface="Calibri" pitchFamily="34" charset="-120"/>
              </a:rPr>
              <a:t>avoiding</a:t>
            </a:r>
            <a:r>
              <a:rPr lang="en-US" sz="1400" dirty="0">
                <a:solidFill>
                  <a:srgbClr val="1B2433"/>
                </a:solidFill>
                <a:latin typeface="Calibri" pitchFamily="34" charset="0"/>
                <a:ea typeface="Calibri" pitchFamily="34" charset="-122"/>
                <a:cs typeface="Calibri" pitchFamily="34" charset="-120"/>
              </a:rPr>
              <a:t> (blue), e.g. Llama 3.1 8B avoids most of the time.</a:t>
            </a:r>
            <a:endParaRPr lang="en-US"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7</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SYSTEMS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Commitment per system with a prior-sentence clue</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72</a:t>
            </a:r>
            <a:endParaRPr lang="en-US" sz="900" dirty="0"/>
          </a:p>
        </p:txBody>
      </p:sp>
      <p:pic>
        <p:nvPicPr>
          <p:cNvPr id="9" name="Image 0" descr="fig1_commitment.png">    </p:cNvPr>
          <p:cNvPicPr>
            <a:picLocks noChangeAspect="1"/>
          </p:cNvPicPr>
          <p:nvPr/>
        </p:nvPicPr>
        <p:blipFill>
          <a:blip r:embed="rId1"/>
          <a:stretch>
            <a:fillRect/>
          </a:stretch>
        </p:blipFill>
        <p:spPr>
          <a:xfrm>
            <a:off x="777240" y="1645920"/>
            <a:ext cx="10607040" cy="4279392"/>
          </a:xfrm>
          <a:prstGeom prst="rect">
            <a:avLst/>
          </a:prstGeom>
        </p:spPr>
      </p:pic>
      <p:sp>
        <p:nvSpPr>
          <p:cNvPr id="10" name="Text 6"/>
          <p:cNvSpPr/>
          <p:nvPr/>
        </p:nvSpPr>
        <p:spPr>
          <a:xfrm>
            <a:off x="548640" y="5989320"/>
            <a:ext cx="11064240" cy="320040"/>
          </a:xfrm>
          <a:prstGeom prst="rect">
            <a:avLst/>
          </a:prstGeom>
          <a:noFill/>
          <a:ln/>
        </p:spPr>
        <p:txBody>
          <a:bodyPr wrap="square" lIns="0" tIns="0" rIns="0" bIns="0" rtlCol="0" anchor="t"/>
          <a:lstStyle/>
          <a:p>
            <a:pPr algn="ctr" indent="0" marL="0">
              <a:lnSpc>
                <a:spcPct val="100000"/>
              </a:lnSpc>
              <a:buNone/>
            </a:pPr>
            <a:r>
              <a:rPr lang="en-US" sz="1200" dirty="0">
                <a:solidFill>
                  <a:srgbClr val="5B6577"/>
                </a:solidFill>
                <a:latin typeface="Calibri" pitchFamily="34" charset="0"/>
                <a:ea typeface="Calibri" pitchFamily="34" charset="-122"/>
                <a:cs typeface="Calibri" pitchFamily="34" charset="-120"/>
              </a:rPr>
              <a:t>G3n = Gemma 3n · IT2 = IndicTrans2 · Sarvam = Sarvam-Translate · "dedicated NMT" = the two dedicated machine-translation systems.</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7</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SYSTEMS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Result 9: when the clue is deleted</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73</a:t>
            </a:r>
            <a:endParaRPr lang="en-US" sz="900" dirty="0"/>
          </a:p>
        </p:txBody>
      </p:sp>
      <p:pic>
        <p:nvPicPr>
          <p:cNvPr id="9" name="Image 0" descr="fig3_c1c3_commit.png">    </p:cNvPr>
          <p:cNvPicPr>
            <a:picLocks noChangeAspect="1"/>
          </p:cNvPicPr>
          <p:nvPr/>
        </p:nvPicPr>
        <p:blipFill>
          <a:blip r:embed="rId1"/>
          <a:stretch>
            <a:fillRect/>
          </a:stretch>
        </p:blipFill>
        <p:spPr>
          <a:xfrm>
            <a:off x="548640" y="1691640"/>
            <a:ext cx="7132320" cy="2706624"/>
          </a:xfrm>
          <a:prstGeom prst="rect">
            <a:avLst/>
          </a:prstGeom>
        </p:spPr>
      </p:pic>
      <p:sp>
        <p:nvSpPr>
          <p:cNvPr id="10" name="Text 6"/>
          <p:cNvSpPr/>
          <p:nvPr/>
        </p:nvSpPr>
        <p:spPr>
          <a:xfrm>
            <a:off x="548640" y="4480560"/>
            <a:ext cx="7132320" cy="640080"/>
          </a:xfrm>
          <a:prstGeom prst="rect">
            <a:avLst/>
          </a:prstGeom>
          <a:noFill/>
          <a:ln/>
        </p:spPr>
        <p:txBody>
          <a:bodyPr wrap="square" lIns="0" tIns="0" rIns="0" bIns="0" rtlCol="0" anchor="t"/>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Each line is one system: commitment with the clue in the sentence (left end) and with no clue (right end). Solid = falls, dashed = does not fall.</a:t>
            </a:r>
            <a:endParaRPr lang="en-US" sz="1300" dirty="0"/>
          </a:p>
        </p:txBody>
      </p:sp>
      <p:sp>
        <p:nvSpPr>
          <p:cNvPr id="11" name="Shape 7"/>
          <p:cNvSpPr/>
          <p:nvPr/>
        </p:nvSpPr>
        <p:spPr>
          <a:xfrm>
            <a:off x="7863840" y="1737360"/>
            <a:ext cx="3749040" cy="1024128"/>
          </a:xfrm>
          <a:prstGeom prst="roundRect">
            <a:avLst>
              <a:gd name="adj" fmla="val 7143"/>
            </a:avLst>
          </a:prstGeom>
          <a:solidFill>
            <a:srgbClr val="F2F4F8"/>
          </a:solidFill>
          <a:ln w="12700">
            <a:solidFill>
              <a:srgbClr val="F2F4F8"/>
            </a:solidFill>
            <a:prstDash val="solid"/>
          </a:ln>
        </p:spPr>
      </p:sp>
      <p:sp>
        <p:nvSpPr>
          <p:cNvPr id="12" name="Text 8"/>
          <p:cNvSpPr/>
          <p:nvPr/>
        </p:nvSpPr>
        <p:spPr>
          <a:xfrm>
            <a:off x="8046720" y="1810512"/>
            <a:ext cx="1645920" cy="365760"/>
          </a:xfrm>
          <a:prstGeom prst="rect">
            <a:avLst/>
          </a:prstGeom>
          <a:noFill/>
          <a:ln/>
        </p:spPr>
        <p:txBody>
          <a:bodyPr wrap="square" lIns="0" tIns="0" rIns="0" bIns="0" rtlCol="0" anchor="t"/>
          <a:lstStyle/>
          <a:p>
            <a:pPr algn="l" indent="0" marL="0">
              <a:lnSpc>
                <a:spcPct val="100000"/>
              </a:lnSpc>
              <a:buNone/>
            </a:pPr>
            <a:r>
              <a:rPr lang="en-US" sz="1500" b="1" dirty="0">
                <a:solidFill>
                  <a:srgbClr val="1B2433"/>
                </a:solidFill>
                <a:latin typeface="Calibri" pitchFamily="34" charset="0"/>
                <a:ea typeface="Calibri" pitchFamily="34" charset="-122"/>
                <a:cs typeface="Calibri" pitchFamily="34" charset="-120"/>
              </a:rPr>
              <a:t>Gender</a:t>
            </a:r>
            <a:endParaRPr lang="en-US" sz="1500" dirty="0"/>
          </a:p>
        </p:txBody>
      </p:sp>
      <p:sp>
        <p:nvSpPr>
          <p:cNvPr id="13" name="Text 9"/>
          <p:cNvSpPr/>
          <p:nvPr/>
        </p:nvSpPr>
        <p:spPr>
          <a:xfrm>
            <a:off x="9692640" y="1783080"/>
            <a:ext cx="1828800" cy="411480"/>
          </a:xfrm>
          <a:prstGeom prst="rect">
            <a:avLst/>
          </a:prstGeom>
          <a:noFill/>
          <a:ln/>
        </p:spPr>
        <p:txBody>
          <a:bodyPr wrap="square" lIns="0" tIns="0" rIns="0" bIns="0" rtlCol="0" anchor="t"/>
          <a:lstStyle/>
          <a:p>
            <a:pPr algn="r" indent="0" marL="0">
              <a:lnSpc>
                <a:spcPct val="100000"/>
              </a:lnSpc>
              <a:buNone/>
            </a:pPr>
            <a:r>
              <a:rPr lang="en-US" sz="2000" b="1" dirty="0">
                <a:solidFill>
                  <a:srgbClr val="D55E00"/>
                </a:solidFill>
                <a:latin typeface="Calibri" pitchFamily="34" charset="0"/>
                <a:ea typeface="Calibri" pitchFamily="34" charset="-122"/>
                <a:cs typeface="Calibri" pitchFamily="34" charset="-120"/>
              </a:rPr>
              <a:t>13 of 13</a:t>
            </a:r>
            <a:endParaRPr lang="en-US" sz="2000" dirty="0"/>
          </a:p>
        </p:txBody>
      </p:sp>
      <p:sp>
        <p:nvSpPr>
          <p:cNvPr id="14" name="Text 10"/>
          <p:cNvSpPr/>
          <p:nvPr/>
        </p:nvSpPr>
        <p:spPr>
          <a:xfrm>
            <a:off x="8046720" y="2212848"/>
            <a:ext cx="3474720" cy="502920"/>
          </a:xfrm>
          <a:prstGeom prst="rect">
            <a:avLst/>
          </a:prstGeom>
          <a:noFill/>
          <a:ln/>
        </p:spPr>
        <p:txBody>
          <a:bodyPr wrap="square" lIns="0" tIns="0" rIns="0" bIns="0" rtlCol="0" anchor="t"/>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falls on every system (by 4.1–42.4 points)</a:t>
            </a:r>
            <a:endParaRPr lang="en-US" sz="1200" dirty="0"/>
          </a:p>
        </p:txBody>
      </p:sp>
      <p:sp>
        <p:nvSpPr>
          <p:cNvPr id="15" name="Shape 11"/>
          <p:cNvSpPr/>
          <p:nvPr/>
        </p:nvSpPr>
        <p:spPr>
          <a:xfrm>
            <a:off x="7863840" y="2880360"/>
            <a:ext cx="3749040" cy="1024128"/>
          </a:xfrm>
          <a:prstGeom prst="roundRect">
            <a:avLst>
              <a:gd name="adj" fmla="val 7143"/>
            </a:avLst>
          </a:prstGeom>
          <a:solidFill>
            <a:srgbClr val="F2F4F8"/>
          </a:solidFill>
          <a:ln w="12700">
            <a:solidFill>
              <a:srgbClr val="F2F4F8"/>
            </a:solidFill>
            <a:prstDash val="solid"/>
          </a:ln>
        </p:spPr>
      </p:sp>
      <p:sp>
        <p:nvSpPr>
          <p:cNvPr id="16" name="Text 12"/>
          <p:cNvSpPr/>
          <p:nvPr/>
        </p:nvSpPr>
        <p:spPr>
          <a:xfrm>
            <a:off x="8046720" y="2953512"/>
            <a:ext cx="1645920" cy="365760"/>
          </a:xfrm>
          <a:prstGeom prst="rect">
            <a:avLst/>
          </a:prstGeom>
          <a:noFill/>
          <a:ln/>
        </p:spPr>
        <p:txBody>
          <a:bodyPr wrap="square" lIns="0" tIns="0" rIns="0" bIns="0" rtlCol="0" anchor="t"/>
          <a:lstStyle/>
          <a:p>
            <a:pPr algn="l" indent="0" marL="0">
              <a:lnSpc>
                <a:spcPct val="100000"/>
              </a:lnSpc>
              <a:buNone/>
            </a:pPr>
            <a:r>
              <a:rPr lang="en-US" sz="1500" b="1" dirty="0">
                <a:solidFill>
                  <a:srgbClr val="1B2433"/>
                </a:solidFill>
                <a:latin typeface="Calibri" pitchFamily="34" charset="0"/>
                <a:ea typeface="Calibri" pitchFamily="34" charset="-122"/>
                <a:cs typeface="Calibri" pitchFamily="34" charset="-120"/>
              </a:rPr>
              <a:t>Rationality</a:t>
            </a:r>
            <a:endParaRPr lang="en-US" sz="1500" dirty="0"/>
          </a:p>
        </p:txBody>
      </p:sp>
      <p:sp>
        <p:nvSpPr>
          <p:cNvPr id="17" name="Text 13"/>
          <p:cNvSpPr/>
          <p:nvPr/>
        </p:nvSpPr>
        <p:spPr>
          <a:xfrm>
            <a:off x="9692640" y="2926080"/>
            <a:ext cx="1828800" cy="411480"/>
          </a:xfrm>
          <a:prstGeom prst="rect">
            <a:avLst/>
          </a:prstGeom>
          <a:noFill/>
          <a:ln/>
        </p:spPr>
        <p:txBody>
          <a:bodyPr wrap="square" lIns="0" tIns="0" rIns="0" bIns="0" rtlCol="0" anchor="t"/>
          <a:lstStyle/>
          <a:p>
            <a:pPr algn="r" indent="0" marL="0">
              <a:lnSpc>
                <a:spcPct val="100000"/>
              </a:lnSpc>
              <a:buNone/>
            </a:pPr>
            <a:r>
              <a:rPr lang="en-US" sz="2000" b="1" dirty="0">
                <a:solidFill>
                  <a:srgbClr val="009E73"/>
                </a:solidFill>
                <a:latin typeface="Calibri" pitchFamily="34" charset="0"/>
                <a:ea typeface="Calibri" pitchFamily="34" charset="-122"/>
                <a:cs typeface="Calibri" pitchFamily="34" charset="-120"/>
              </a:rPr>
              <a:t>0 of 13</a:t>
            </a:r>
            <a:endParaRPr lang="en-US" sz="2000" dirty="0"/>
          </a:p>
        </p:txBody>
      </p:sp>
      <p:sp>
        <p:nvSpPr>
          <p:cNvPr id="18" name="Text 14"/>
          <p:cNvSpPr/>
          <p:nvPr/>
        </p:nvSpPr>
        <p:spPr>
          <a:xfrm>
            <a:off x="8046720" y="3355848"/>
            <a:ext cx="3474720" cy="502920"/>
          </a:xfrm>
          <a:prstGeom prst="rect">
            <a:avLst/>
          </a:prstGeom>
          <a:noFill/>
          <a:ln/>
        </p:spPr>
        <p:txBody>
          <a:bodyPr wrap="square" lIns="0" tIns="0" rIns="0" bIns="0" rtlCol="0" anchor="t"/>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never falls: systems answer as confidently without a clue</a:t>
            </a:r>
            <a:endParaRPr lang="en-US" sz="1200" dirty="0"/>
          </a:p>
        </p:txBody>
      </p:sp>
      <p:sp>
        <p:nvSpPr>
          <p:cNvPr id="19" name="Shape 15"/>
          <p:cNvSpPr/>
          <p:nvPr/>
        </p:nvSpPr>
        <p:spPr>
          <a:xfrm>
            <a:off x="7863840" y="4023360"/>
            <a:ext cx="3749040" cy="1024128"/>
          </a:xfrm>
          <a:prstGeom prst="roundRect">
            <a:avLst>
              <a:gd name="adj" fmla="val 7143"/>
            </a:avLst>
          </a:prstGeom>
          <a:solidFill>
            <a:srgbClr val="F2F4F8"/>
          </a:solidFill>
          <a:ln w="12700">
            <a:solidFill>
              <a:srgbClr val="F2F4F8"/>
            </a:solidFill>
            <a:prstDash val="solid"/>
          </a:ln>
        </p:spPr>
      </p:sp>
      <p:sp>
        <p:nvSpPr>
          <p:cNvPr id="20" name="Text 16"/>
          <p:cNvSpPr/>
          <p:nvPr/>
        </p:nvSpPr>
        <p:spPr>
          <a:xfrm>
            <a:off x="8046720" y="4096512"/>
            <a:ext cx="1645920" cy="365760"/>
          </a:xfrm>
          <a:prstGeom prst="rect">
            <a:avLst/>
          </a:prstGeom>
          <a:noFill/>
          <a:ln/>
        </p:spPr>
        <p:txBody>
          <a:bodyPr wrap="square" lIns="0" tIns="0" rIns="0" bIns="0" rtlCol="0" anchor="t"/>
          <a:lstStyle/>
          <a:p>
            <a:pPr algn="l" indent="0" marL="0">
              <a:lnSpc>
                <a:spcPct val="100000"/>
              </a:lnSpc>
              <a:buNone/>
            </a:pPr>
            <a:r>
              <a:rPr lang="en-US" sz="1500" b="1" dirty="0">
                <a:solidFill>
                  <a:srgbClr val="1B2433"/>
                </a:solidFill>
                <a:latin typeface="Calibri" pitchFamily="34" charset="0"/>
                <a:ea typeface="Calibri" pitchFamily="34" charset="-122"/>
                <a:cs typeface="Calibri" pitchFamily="34" charset="-120"/>
              </a:rPr>
              <a:t>Number</a:t>
            </a:r>
            <a:endParaRPr lang="en-US" sz="1500" dirty="0"/>
          </a:p>
        </p:txBody>
      </p:sp>
      <p:sp>
        <p:nvSpPr>
          <p:cNvPr id="21" name="Text 17"/>
          <p:cNvSpPr/>
          <p:nvPr/>
        </p:nvSpPr>
        <p:spPr>
          <a:xfrm>
            <a:off x="9692640" y="4069080"/>
            <a:ext cx="1828800" cy="411480"/>
          </a:xfrm>
          <a:prstGeom prst="rect">
            <a:avLst/>
          </a:prstGeom>
          <a:noFill/>
          <a:ln/>
        </p:spPr>
        <p:txBody>
          <a:bodyPr wrap="square" lIns="0" tIns="0" rIns="0" bIns="0" rtlCol="0" anchor="t"/>
          <a:lstStyle/>
          <a:p>
            <a:pPr algn="r" indent="0" marL="0">
              <a:lnSpc>
                <a:spcPct val="100000"/>
              </a:lnSpc>
              <a:buNone/>
            </a:pPr>
            <a:r>
              <a:rPr lang="en-US" sz="2000" b="1" dirty="0">
                <a:solidFill>
                  <a:srgbClr val="98A1B2"/>
                </a:solidFill>
                <a:latin typeface="Calibri" pitchFamily="34" charset="0"/>
                <a:ea typeface="Calibri" pitchFamily="34" charset="-122"/>
                <a:cs typeface="Calibri" pitchFamily="34" charset="-120"/>
              </a:rPr>
              <a:t>5 of 13</a:t>
            </a:r>
            <a:endParaRPr lang="en-US" sz="2000" dirty="0"/>
          </a:p>
        </p:txBody>
      </p:sp>
      <p:sp>
        <p:nvSpPr>
          <p:cNvPr id="22" name="Text 18"/>
          <p:cNvSpPr/>
          <p:nvPr/>
        </p:nvSpPr>
        <p:spPr>
          <a:xfrm>
            <a:off x="8046720" y="4498848"/>
            <a:ext cx="3474720" cy="502920"/>
          </a:xfrm>
          <a:prstGeom prst="rect">
            <a:avLst/>
          </a:prstGeom>
          <a:noFill/>
          <a:ln/>
        </p:spPr>
        <p:txBody>
          <a:bodyPr wrap="square" lIns="0" tIns="0" rIns="0" bIns="0" rtlCol="0" anchor="t"/>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not interpreted (checker issue in this slot)</a:t>
            </a:r>
            <a:endParaRPr lang="en-US" sz="1200" dirty="0"/>
          </a:p>
        </p:txBody>
      </p:sp>
      <p:sp>
        <p:nvSpPr>
          <p:cNvPr id="23" name="Shape 19"/>
          <p:cNvSpPr/>
          <p:nvPr/>
        </p:nvSpPr>
        <p:spPr>
          <a:xfrm>
            <a:off x="548640" y="5349240"/>
            <a:ext cx="11064240" cy="548640"/>
          </a:xfrm>
          <a:prstGeom prst="roundRect">
            <a:avLst>
              <a:gd name="adj" fmla="val 13333"/>
            </a:avLst>
          </a:prstGeom>
          <a:solidFill>
            <a:srgbClr val="FBEBD2"/>
          </a:solidFill>
          <a:ln w="12700">
            <a:solidFill>
              <a:srgbClr val="E39B2D"/>
            </a:solidFill>
            <a:prstDash val="solid"/>
          </a:ln>
        </p:spPr>
      </p:sp>
      <p:sp>
        <p:nvSpPr>
          <p:cNvPr id="24" name="Text 20"/>
          <p:cNvSpPr/>
          <p:nvPr/>
        </p:nvSpPr>
        <p:spPr>
          <a:xfrm>
            <a:off x="777240" y="5349240"/>
            <a:ext cx="10607040" cy="54864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Without a clue, systems </a:t>
            </a:r>
            <a:r>
              <a:rPr lang="en-US" sz="1500" b="1" dirty="0">
                <a:solidFill>
                  <a:srgbClr val="1B2433"/>
                </a:solidFill>
                <a:latin typeface="Calibri" pitchFamily="34" charset="0"/>
                <a:ea typeface="Calibri" pitchFamily="34" charset="-122"/>
                <a:cs typeface="Calibri" pitchFamily="34" charset="-120"/>
              </a:rPr>
              <a:t>avoid</a:t>
            </a:r>
            <a:r>
              <a:rPr lang="en-US" sz="1500" dirty="0">
                <a:solidFill>
                  <a:srgbClr val="1B2433"/>
                </a:solidFill>
                <a:latin typeface="Calibri" pitchFamily="34" charset="0"/>
                <a:ea typeface="Calibri" pitchFamily="34" charset="-122"/>
                <a:cs typeface="Calibri" pitchFamily="34" charset="-120"/>
              </a:rPr>
              <a:t> in gender, but </a:t>
            </a:r>
            <a:r>
              <a:rPr lang="en-US" sz="1500" b="1" dirty="0">
                <a:solidFill>
                  <a:srgbClr val="1B2433"/>
                </a:solidFill>
                <a:latin typeface="Calibri" pitchFamily="34" charset="0"/>
                <a:ea typeface="Calibri" pitchFamily="34" charset="-122"/>
                <a:cs typeface="Calibri" pitchFamily="34" charset="-120"/>
              </a:rPr>
              <a:t>keep choosing</a:t>
            </a:r>
            <a:r>
              <a:rPr lang="en-US" sz="1500" dirty="0">
                <a:solidFill>
                  <a:srgbClr val="1B2433"/>
                </a:solidFill>
                <a:latin typeface="Calibri" pitchFamily="34" charset="0"/>
                <a:ea typeface="Calibri" pitchFamily="34" charset="-122"/>
                <a:cs typeface="Calibri" pitchFamily="34" charset="-120"/>
              </a:rPr>
              <a:t> in rationality. So what do they choose? Next slide.</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7</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SYSTEMS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Result 10: with no clue, every system picks "people"</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74</a:t>
            </a:r>
            <a:endParaRPr lang="en-US" sz="900" dirty="0"/>
          </a:p>
        </p:txBody>
      </p:sp>
      <p:sp>
        <p:nvSpPr>
          <p:cNvPr id="9" name="Text 6"/>
          <p:cNvSpPr/>
          <p:nvPr/>
        </p:nvSpPr>
        <p:spPr>
          <a:xfrm>
            <a:off x="548640" y="1645920"/>
            <a:ext cx="9326880" cy="320040"/>
          </a:xfrm>
          <a:prstGeom prst="rect">
            <a:avLst/>
          </a:prstGeom>
          <a:noFill/>
          <a:ln/>
        </p:spPr>
        <p:txBody>
          <a:bodyPr wrap="square" lIns="0" tIns="0" rIns="0" bIns="0" rtlCol="0" anchor="t"/>
          <a:lstStyle/>
          <a:p>
            <a:pPr algn="l" indent="0" marL="0">
              <a:lnSpc>
                <a:spcPct val="100000"/>
              </a:lnSpc>
              <a:buNone/>
            </a:pPr>
            <a:r>
              <a:rPr lang="en-US" sz="1400" b="1" dirty="0">
                <a:solidFill>
                  <a:srgbClr val="5B6577"/>
                </a:solidFill>
                <a:latin typeface="Calibri" pitchFamily="34" charset="0"/>
                <a:ea typeface="Calibri" pitchFamily="34" charset="-122"/>
                <a:cs typeface="Calibri" pitchFamily="34" charset="-120"/>
              </a:rPr>
              <a:t>Cue-free rationality: share of committed outputs using the people form (உயர்திணை)</a:t>
            </a:r>
            <a:endParaRPr lang="en-US" sz="1400" dirty="0"/>
          </a:p>
        </p:txBody>
      </p:sp>
      <p:sp>
        <p:nvSpPr>
          <p:cNvPr id="10" name="Shape 7"/>
          <p:cNvSpPr/>
          <p:nvPr/>
        </p:nvSpPr>
        <p:spPr>
          <a:xfrm>
            <a:off x="4919929" y="2103120"/>
            <a:ext cx="2214585" cy="3200400"/>
          </a:xfrm>
          <a:prstGeom prst="rect">
            <a:avLst/>
          </a:prstGeom>
          <a:solidFill>
            <a:srgbClr val="FBEBD2"/>
          </a:solidFill>
          <a:ln w="12700">
            <a:solidFill>
              <a:srgbClr val="E39B2D"/>
            </a:solidFill>
            <a:prstDash val="dash"/>
          </a:ln>
        </p:spPr>
      </p:sp>
      <p:sp>
        <p:nvSpPr>
          <p:cNvPr id="11" name="Text 8"/>
          <p:cNvSpPr/>
          <p:nvPr/>
        </p:nvSpPr>
        <p:spPr>
          <a:xfrm>
            <a:off x="4919929" y="5349240"/>
            <a:ext cx="2214585" cy="320040"/>
          </a:xfrm>
          <a:prstGeom prst="rect">
            <a:avLst/>
          </a:prstGeom>
          <a:noFill/>
          <a:ln/>
        </p:spPr>
        <p:txBody>
          <a:bodyPr wrap="square" lIns="0" tIns="0" rIns="0" bIns="0" rtlCol="0" anchor="t"/>
          <a:lstStyle/>
          <a:p>
            <a:pPr algn="ctr" indent="0" marL="0">
              <a:lnSpc>
                <a:spcPct val="100000"/>
              </a:lnSpc>
              <a:buNone/>
            </a:pPr>
            <a:r>
              <a:rPr lang="en-US" sz="1200" b="1" dirty="0">
                <a:solidFill>
                  <a:srgbClr val="E39B2D"/>
                </a:solidFill>
                <a:latin typeface="Calibri" pitchFamily="34" charset="0"/>
                <a:ea typeface="Calibri" pitchFamily="34" charset="-122"/>
                <a:cs typeface="Calibri" pitchFamily="34" charset="-120"/>
              </a:rPr>
              <a:t>ordinary Tamil text: 34.5–69.6%</a:t>
            </a:r>
            <a:endParaRPr lang="en-US" sz="1200" dirty="0"/>
          </a:p>
        </p:txBody>
      </p:sp>
      <p:sp>
        <p:nvSpPr>
          <p:cNvPr id="12" name="Text 9"/>
          <p:cNvSpPr/>
          <p:nvPr/>
        </p:nvSpPr>
        <p:spPr>
          <a:xfrm>
            <a:off x="548640" y="2103120"/>
            <a:ext cx="2103120" cy="245059"/>
          </a:xfrm>
          <a:prstGeom prst="rect">
            <a:avLst/>
          </a:prstGeom>
          <a:noFill/>
          <a:ln/>
        </p:spPr>
        <p:txBody>
          <a:bodyPr wrap="square" lIns="0" tIns="0" rIns="0" bIns="0" rtlCol="0" anchor="ctr"/>
          <a:lstStyle/>
          <a:p>
            <a:pPr algn="r" indent="0" marL="0">
              <a:lnSpc>
                <a:spcPct val="100000"/>
              </a:lnSpc>
              <a:buNone/>
            </a:pPr>
            <a:r>
              <a:rPr lang="en-US" sz="1100" dirty="0">
                <a:solidFill>
                  <a:srgbClr val="1B2433"/>
                </a:solidFill>
                <a:latin typeface="Calibri" pitchFamily="34" charset="0"/>
                <a:ea typeface="Calibri" pitchFamily="34" charset="-122"/>
                <a:cs typeface="Calibri" pitchFamily="34" charset="-120"/>
              </a:rPr>
              <a:t>Gemma 3 1B</a:t>
            </a:r>
            <a:endParaRPr lang="en-US" sz="1100" dirty="0"/>
          </a:p>
        </p:txBody>
      </p:sp>
      <p:sp>
        <p:nvSpPr>
          <p:cNvPr id="13" name="Shape 10"/>
          <p:cNvSpPr/>
          <p:nvPr/>
        </p:nvSpPr>
        <p:spPr>
          <a:xfrm>
            <a:off x="2743200" y="2148840"/>
            <a:ext cx="6063295" cy="155448"/>
          </a:xfrm>
          <a:prstGeom prst="rect">
            <a:avLst/>
          </a:prstGeom>
          <a:solidFill>
            <a:srgbClr val="009E73"/>
          </a:solidFill>
          <a:ln w="12700">
            <a:solidFill>
              <a:srgbClr val="009E73"/>
            </a:solidFill>
            <a:prstDash val="solid"/>
          </a:ln>
        </p:spPr>
      </p:sp>
      <p:sp>
        <p:nvSpPr>
          <p:cNvPr id="14" name="Text 11"/>
          <p:cNvSpPr/>
          <p:nvPr/>
        </p:nvSpPr>
        <p:spPr>
          <a:xfrm>
            <a:off x="8861359" y="2103120"/>
            <a:ext cx="731520" cy="245059"/>
          </a:xfrm>
          <a:prstGeom prst="rect">
            <a:avLst/>
          </a:prstGeom>
          <a:noFill/>
          <a:ln/>
        </p:spPr>
        <p:txBody>
          <a:bodyPr wrap="square" lIns="0" tIns="0" rIns="0" bIns="0" rtlCol="0" anchor="ctr"/>
          <a:lstStyle/>
          <a:p>
            <a:pPr algn="l" indent="0" marL="0">
              <a:lnSpc>
                <a:spcPct val="100000"/>
              </a:lnSpc>
              <a:buNone/>
            </a:pPr>
            <a:r>
              <a:rPr lang="en-US" sz="1000" b="1" dirty="0">
                <a:solidFill>
                  <a:srgbClr val="1B2433"/>
                </a:solidFill>
                <a:latin typeface="Calibri" pitchFamily="34" charset="0"/>
                <a:ea typeface="Calibri" pitchFamily="34" charset="-122"/>
                <a:cs typeface="Calibri" pitchFamily="34" charset="-120"/>
              </a:rPr>
              <a:t>96.1%</a:t>
            </a:r>
            <a:endParaRPr lang="en-US" sz="1000" dirty="0"/>
          </a:p>
        </p:txBody>
      </p:sp>
      <p:sp>
        <p:nvSpPr>
          <p:cNvPr id="15" name="Text 12"/>
          <p:cNvSpPr/>
          <p:nvPr/>
        </p:nvSpPr>
        <p:spPr>
          <a:xfrm>
            <a:off x="548640" y="2348179"/>
            <a:ext cx="2103120" cy="245059"/>
          </a:xfrm>
          <a:prstGeom prst="rect">
            <a:avLst/>
          </a:prstGeom>
          <a:noFill/>
          <a:ln/>
        </p:spPr>
        <p:txBody>
          <a:bodyPr wrap="square" lIns="0" tIns="0" rIns="0" bIns="0" rtlCol="0" anchor="ctr"/>
          <a:lstStyle/>
          <a:p>
            <a:pPr algn="r" indent="0" marL="0">
              <a:lnSpc>
                <a:spcPct val="100000"/>
              </a:lnSpc>
              <a:buNone/>
            </a:pPr>
            <a:r>
              <a:rPr lang="en-US" sz="1100" dirty="0">
                <a:solidFill>
                  <a:srgbClr val="1B2433"/>
                </a:solidFill>
                <a:latin typeface="Calibri" pitchFamily="34" charset="0"/>
                <a:ea typeface="Calibri" pitchFamily="34" charset="-122"/>
                <a:cs typeface="Calibri" pitchFamily="34" charset="-120"/>
              </a:rPr>
              <a:t>Gemma 3 4B</a:t>
            </a:r>
            <a:endParaRPr lang="en-US" sz="1100" dirty="0"/>
          </a:p>
        </p:txBody>
      </p:sp>
      <p:sp>
        <p:nvSpPr>
          <p:cNvPr id="16" name="Shape 13"/>
          <p:cNvSpPr/>
          <p:nvPr/>
        </p:nvSpPr>
        <p:spPr>
          <a:xfrm>
            <a:off x="2743200" y="2393899"/>
            <a:ext cx="6265194" cy="155448"/>
          </a:xfrm>
          <a:prstGeom prst="rect">
            <a:avLst/>
          </a:prstGeom>
          <a:solidFill>
            <a:srgbClr val="009E73"/>
          </a:solidFill>
          <a:ln w="12700">
            <a:solidFill>
              <a:srgbClr val="009E73"/>
            </a:solidFill>
            <a:prstDash val="solid"/>
          </a:ln>
        </p:spPr>
      </p:sp>
      <p:sp>
        <p:nvSpPr>
          <p:cNvPr id="17" name="Text 14"/>
          <p:cNvSpPr/>
          <p:nvPr/>
        </p:nvSpPr>
        <p:spPr>
          <a:xfrm>
            <a:off x="9063258" y="2348179"/>
            <a:ext cx="731520" cy="245059"/>
          </a:xfrm>
          <a:prstGeom prst="rect">
            <a:avLst/>
          </a:prstGeom>
          <a:noFill/>
          <a:ln/>
        </p:spPr>
        <p:txBody>
          <a:bodyPr wrap="square" lIns="0" tIns="0" rIns="0" bIns="0" rtlCol="0" anchor="ctr"/>
          <a:lstStyle/>
          <a:p>
            <a:pPr algn="l" indent="0" marL="0">
              <a:lnSpc>
                <a:spcPct val="100000"/>
              </a:lnSpc>
              <a:buNone/>
            </a:pPr>
            <a:r>
              <a:rPr lang="en-US" sz="1000" b="1" dirty="0">
                <a:solidFill>
                  <a:srgbClr val="1B2433"/>
                </a:solidFill>
                <a:latin typeface="Calibri" pitchFamily="34" charset="0"/>
                <a:ea typeface="Calibri" pitchFamily="34" charset="-122"/>
                <a:cs typeface="Calibri" pitchFamily="34" charset="-120"/>
              </a:rPr>
              <a:t>99.3%</a:t>
            </a:r>
            <a:endParaRPr lang="en-US" sz="1000" dirty="0"/>
          </a:p>
        </p:txBody>
      </p:sp>
      <p:sp>
        <p:nvSpPr>
          <p:cNvPr id="18" name="Text 15"/>
          <p:cNvSpPr/>
          <p:nvPr/>
        </p:nvSpPr>
        <p:spPr>
          <a:xfrm>
            <a:off x="548640" y="2593238"/>
            <a:ext cx="2103120" cy="245059"/>
          </a:xfrm>
          <a:prstGeom prst="rect">
            <a:avLst/>
          </a:prstGeom>
          <a:noFill/>
          <a:ln/>
        </p:spPr>
        <p:txBody>
          <a:bodyPr wrap="square" lIns="0" tIns="0" rIns="0" bIns="0" rtlCol="0" anchor="ctr"/>
          <a:lstStyle/>
          <a:p>
            <a:pPr algn="r" indent="0" marL="0">
              <a:lnSpc>
                <a:spcPct val="100000"/>
              </a:lnSpc>
              <a:buNone/>
            </a:pPr>
            <a:r>
              <a:rPr lang="en-US" sz="1100" dirty="0">
                <a:solidFill>
                  <a:srgbClr val="1B2433"/>
                </a:solidFill>
                <a:latin typeface="Calibri" pitchFamily="34" charset="0"/>
                <a:ea typeface="Calibri" pitchFamily="34" charset="-122"/>
                <a:cs typeface="Calibri" pitchFamily="34" charset="-120"/>
              </a:rPr>
              <a:t>Gemma 3 12B</a:t>
            </a:r>
            <a:endParaRPr lang="en-US" sz="1100" dirty="0"/>
          </a:p>
        </p:txBody>
      </p:sp>
      <p:sp>
        <p:nvSpPr>
          <p:cNvPr id="19" name="Shape 16"/>
          <p:cNvSpPr/>
          <p:nvPr/>
        </p:nvSpPr>
        <p:spPr>
          <a:xfrm>
            <a:off x="2743200" y="2638958"/>
            <a:ext cx="6309360" cy="155448"/>
          </a:xfrm>
          <a:prstGeom prst="rect">
            <a:avLst/>
          </a:prstGeom>
          <a:solidFill>
            <a:srgbClr val="009E73"/>
          </a:solidFill>
          <a:ln w="12700">
            <a:solidFill>
              <a:srgbClr val="009E73"/>
            </a:solidFill>
            <a:prstDash val="solid"/>
          </a:ln>
        </p:spPr>
      </p:sp>
      <p:sp>
        <p:nvSpPr>
          <p:cNvPr id="20" name="Text 17"/>
          <p:cNvSpPr/>
          <p:nvPr/>
        </p:nvSpPr>
        <p:spPr>
          <a:xfrm>
            <a:off x="9107424" y="2593238"/>
            <a:ext cx="731520" cy="245059"/>
          </a:xfrm>
          <a:prstGeom prst="rect">
            <a:avLst/>
          </a:prstGeom>
          <a:noFill/>
          <a:ln/>
        </p:spPr>
        <p:txBody>
          <a:bodyPr wrap="square" lIns="0" tIns="0" rIns="0" bIns="0" rtlCol="0" anchor="ctr"/>
          <a:lstStyle/>
          <a:p>
            <a:pPr algn="l" indent="0" marL="0">
              <a:lnSpc>
                <a:spcPct val="100000"/>
              </a:lnSpc>
              <a:buNone/>
            </a:pPr>
            <a:r>
              <a:rPr lang="en-US" sz="1000" b="1" dirty="0">
                <a:solidFill>
                  <a:srgbClr val="1B2433"/>
                </a:solidFill>
                <a:latin typeface="Calibri" pitchFamily="34" charset="0"/>
                <a:ea typeface="Calibri" pitchFamily="34" charset="-122"/>
                <a:cs typeface="Calibri" pitchFamily="34" charset="-120"/>
              </a:rPr>
              <a:t>100.0%</a:t>
            </a:r>
            <a:endParaRPr lang="en-US" sz="1000" dirty="0"/>
          </a:p>
        </p:txBody>
      </p:sp>
      <p:sp>
        <p:nvSpPr>
          <p:cNvPr id="21" name="Text 18"/>
          <p:cNvSpPr/>
          <p:nvPr/>
        </p:nvSpPr>
        <p:spPr>
          <a:xfrm>
            <a:off x="548640" y="2838298"/>
            <a:ext cx="2103120" cy="245059"/>
          </a:xfrm>
          <a:prstGeom prst="rect">
            <a:avLst/>
          </a:prstGeom>
          <a:noFill/>
          <a:ln/>
        </p:spPr>
        <p:txBody>
          <a:bodyPr wrap="square" lIns="0" tIns="0" rIns="0" bIns="0" rtlCol="0" anchor="ctr"/>
          <a:lstStyle/>
          <a:p>
            <a:pPr algn="r" indent="0" marL="0">
              <a:lnSpc>
                <a:spcPct val="100000"/>
              </a:lnSpc>
              <a:buNone/>
            </a:pPr>
            <a:r>
              <a:rPr lang="en-US" sz="1100" dirty="0">
                <a:solidFill>
                  <a:srgbClr val="1B2433"/>
                </a:solidFill>
                <a:latin typeface="Calibri" pitchFamily="34" charset="0"/>
                <a:ea typeface="Calibri" pitchFamily="34" charset="-122"/>
                <a:cs typeface="Calibri" pitchFamily="34" charset="-120"/>
              </a:rPr>
              <a:t>Gemma 3 27B</a:t>
            </a:r>
            <a:endParaRPr lang="en-US" sz="1100" dirty="0"/>
          </a:p>
        </p:txBody>
      </p:sp>
      <p:sp>
        <p:nvSpPr>
          <p:cNvPr id="22" name="Shape 19"/>
          <p:cNvSpPr/>
          <p:nvPr/>
        </p:nvSpPr>
        <p:spPr>
          <a:xfrm>
            <a:off x="2743200" y="2884018"/>
            <a:ext cx="6309360" cy="155448"/>
          </a:xfrm>
          <a:prstGeom prst="rect">
            <a:avLst/>
          </a:prstGeom>
          <a:solidFill>
            <a:srgbClr val="009E73"/>
          </a:solidFill>
          <a:ln w="12700">
            <a:solidFill>
              <a:srgbClr val="009E73"/>
            </a:solidFill>
            <a:prstDash val="solid"/>
          </a:ln>
        </p:spPr>
      </p:sp>
      <p:sp>
        <p:nvSpPr>
          <p:cNvPr id="23" name="Text 20"/>
          <p:cNvSpPr/>
          <p:nvPr/>
        </p:nvSpPr>
        <p:spPr>
          <a:xfrm>
            <a:off x="9107424" y="2838298"/>
            <a:ext cx="731520" cy="245059"/>
          </a:xfrm>
          <a:prstGeom prst="rect">
            <a:avLst/>
          </a:prstGeom>
          <a:noFill/>
          <a:ln/>
        </p:spPr>
        <p:txBody>
          <a:bodyPr wrap="square" lIns="0" tIns="0" rIns="0" bIns="0" rtlCol="0" anchor="ctr"/>
          <a:lstStyle/>
          <a:p>
            <a:pPr algn="l" indent="0" marL="0">
              <a:lnSpc>
                <a:spcPct val="100000"/>
              </a:lnSpc>
              <a:buNone/>
            </a:pPr>
            <a:r>
              <a:rPr lang="en-US" sz="1000" b="1" dirty="0">
                <a:solidFill>
                  <a:srgbClr val="1B2433"/>
                </a:solidFill>
                <a:latin typeface="Calibri" pitchFamily="34" charset="0"/>
                <a:ea typeface="Calibri" pitchFamily="34" charset="-122"/>
                <a:cs typeface="Calibri" pitchFamily="34" charset="-120"/>
              </a:rPr>
              <a:t>100.0%</a:t>
            </a:r>
            <a:endParaRPr lang="en-US" sz="1000" dirty="0"/>
          </a:p>
        </p:txBody>
      </p:sp>
      <p:sp>
        <p:nvSpPr>
          <p:cNvPr id="24" name="Text 21"/>
          <p:cNvSpPr/>
          <p:nvPr/>
        </p:nvSpPr>
        <p:spPr>
          <a:xfrm>
            <a:off x="548640" y="3083357"/>
            <a:ext cx="2103120" cy="245059"/>
          </a:xfrm>
          <a:prstGeom prst="rect">
            <a:avLst/>
          </a:prstGeom>
          <a:noFill/>
          <a:ln/>
        </p:spPr>
        <p:txBody>
          <a:bodyPr wrap="square" lIns="0" tIns="0" rIns="0" bIns="0" rtlCol="0" anchor="ctr"/>
          <a:lstStyle/>
          <a:p>
            <a:pPr algn="r" indent="0" marL="0">
              <a:lnSpc>
                <a:spcPct val="100000"/>
              </a:lnSpc>
              <a:buNone/>
            </a:pPr>
            <a:r>
              <a:rPr lang="en-US" sz="1100" dirty="0">
                <a:solidFill>
                  <a:srgbClr val="1B2433"/>
                </a:solidFill>
                <a:latin typeface="Calibri" pitchFamily="34" charset="0"/>
                <a:ea typeface="Calibri" pitchFamily="34" charset="-122"/>
                <a:cs typeface="Calibri" pitchFamily="34" charset="-120"/>
              </a:rPr>
              <a:t>Gemma 3n E2B</a:t>
            </a:r>
            <a:endParaRPr lang="en-US" sz="1100" dirty="0"/>
          </a:p>
        </p:txBody>
      </p:sp>
      <p:sp>
        <p:nvSpPr>
          <p:cNvPr id="25" name="Shape 22"/>
          <p:cNvSpPr/>
          <p:nvPr/>
        </p:nvSpPr>
        <p:spPr>
          <a:xfrm>
            <a:off x="2743200" y="3129077"/>
            <a:ext cx="6309360" cy="155448"/>
          </a:xfrm>
          <a:prstGeom prst="rect">
            <a:avLst/>
          </a:prstGeom>
          <a:solidFill>
            <a:srgbClr val="009E73"/>
          </a:solidFill>
          <a:ln w="12700">
            <a:solidFill>
              <a:srgbClr val="009E73"/>
            </a:solidFill>
            <a:prstDash val="solid"/>
          </a:ln>
        </p:spPr>
      </p:sp>
      <p:sp>
        <p:nvSpPr>
          <p:cNvPr id="26" name="Text 23"/>
          <p:cNvSpPr/>
          <p:nvPr/>
        </p:nvSpPr>
        <p:spPr>
          <a:xfrm>
            <a:off x="9107424" y="3083357"/>
            <a:ext cx="731520" cy="245059"/>
          </a:xfrm>
          <a:prstGeom prst="rect">
            <a:avLst/>
          </a:prstGeom>
          <a:noFill/>
          <a:ln/>
        </p:spPr>
        <p:txBody>
          <a:bodyPr wrap="square" lIns="0" tIns="0" rIns="0" bIns="0" rtlCol="0" anchor="ctr"/>
          <a:lstStyle/>
          <a:p>
            <a:pPr algn="l" indent="0" marL="0">
              <a:lnSpc>
                <a:spcPct val="100000"/>
              </a:lnSpc>
              <a:buNone/>
            </a:pPr>
            <a:r>
              <a:rPr lang="en-US" sz="1000" b="1" dirty="0">
                <a:solidFill>
                  <a:srgbClr val="1B2433"/>
                </a:solidFill>
                <a:latin typeface="Calibri" pitchFamily="34" charset="0"/>
                <a:ea typeface="Calibri" pitchFamily="34" charset="-122"/>
                <a:cs typeface="Calibri" pitchFamily="34" charset="-120"/>
              </a:rPr>
              <a:t>100.0%</a:t>
            </a:r>
            <a:endParaRPr lang="en-US" sz="1000" dirty="0"/>
          </a:p>
        </p:txBody>
      </p:sp>
      <p:sp>
        <p:nvSpPr>
          <p:cNvPr id="27" name="Text 24"/>
          <p:cNvSpPr/>
          <p:nvPr/>
        </p:nvSpPr>
        <p:spPr>
          <a:xfrm>
            <a:off x="548640" y="3328416"/>
            <a:ext cx="2103120" cy="245059"/>
          </a:xfrm>
          <a:prstGeom prst="rect">
            <a:avLst/>
          </a:prstGeom>
          <a:noFill/>
          <a:ln/>
        </p:spPr>
        <p:txBody>
          <a:bodyPr wrap="square" lIns="0" tIns="0" rIns="0" bIns="0" rtlCol="0" anchor="ctr"/>
          <a:lstStyle/>
          <a:p>
            <a:pPr algn="r" indent="0" marL="0">
              <a:lnSpc>
                <a:spcPct val="100000"/>
              </a:lnSpc>
              <a:buNone/>
            </a:pPr>
            <a:r>
              <a:rPr lang="en-US" sz="1100" dirty="0">
                <a:solidFill>
                  <a:srgbClr val="1B2433"/>
                </a:solidFill>
                <a:latin typeface="Calibri" pitchFamily="34" charset="0"/>
                <a:ea typeface="Calibri" pitchFamily="34" charset="-122"/>
                <a:cs typeface="Calibri" pitchFamily="34" charset="-120"/>
              </a:rPr>
              <a:t>Gemma 3n E4B</a:t>
            </a:r>
            <a:endParaRPr lang="en-US" sz="1100" dirty="0"/>
          </a:p>
        </p:txBody>
      </p:sp>
      <p:sp>
        <p:nvSpPr>
          <p:cNvPr id="28" name="Shape 25"/>
          <p:cNvSpPr/>
          <p:nvPr/>
        </p:nvSpPr>
        <p:spPr>
          <a:xfrm>
            <a:off x="2743200" y="3374136"/>
            <a:ext cx="6309360" cy="155448"/>
          </a:xfrm>
          <a:prstGeom prst="rect">
            <a:avLst/>
          </a:prstGeom>
          <a:solidFill>
            <a:srgbClr val="009E73"/>
          </a:solidFill>
          <a:ln w="12700">
            <a:solidFill>
              <a:srgbClr val="009E73"/>
            </a:solidFill>
            <a:prstDash val="solid"/>
          </a:ln>
        </p:spPr>
      </p:sp>
      <p:sp>
        <p:nvSpPr>
          <p:cNvPr id="29" name="Text 26"/>
          <p:cNvSpPr/>
          <p:nvPr/>
        </p:nvSpPr>
        <p:spPr>
          <a:xfrm>
            <a:off x="9107424" y="3328416"/>
            <a:ext cx="731520" cy="245059"/>
          </a:xfrm>
          <a:prstGeom prst="rect">
            <a:avLst/>
          </a:prstGeom>
          <a:noFill/>
          <a:ln/>
        </p:spPr>
        <p:txBody>
          <a:bodyPr wrap="square" lIns="0" tIns="0" rIns="0" bIns="0" rtlCol="0" anchor="ctr"/>
          <a:lstStyle/>
          <a:p>
            <a:pPr algn="l" indent="0" marL="0">
              <a:lnSpc>
                <a:spcPct val="100000"/>
              </a:lnSpc>
              <a:buNone/>
            </a:pPr>
            <a:r>
              <a:rPr lang="en-US" sz="1000" b="1" dirty="0">
                <a:solidFill>
                  <a:srgbClr val="1B2433"/>
                </a:solidFill>
                <a:latin typeface="Calibri" pitchFamily="34" charset="0"/>
                <a:ea typeface="Calibri" pitchFamily="34" charset="-122"/>
                <a:cs typeface="Calibri" pitchFamily="34" charset="-120"/>
              </a:rPr>
              <a:t>100.0%</a:t>
            </a:r>
            <a:endParaRPr lang="en-US" sz="1000" dirty="0"/>
          </a:p>
        </p:txBody>
      </p:sp>
      <p:sp>
        <p:nvSpPr>
          <p:cNvPr id="30" name="Text 27"/>
          <p:cNvSpPr/>
          <p:nvPr/>
        </p:nvSpPr>
        <p:spPr>
          <a:xfrm>
            <a:off x="548640" y="3573475"/>
            <a:ext cx="2103120" cy="245059"/>
          </a:xfrm>
          <a:prstGeom prst="rect">
            <a:avLst/>
          </a:prstGeom>
          <a:noFill/>
          <a:ln/>
        </p:spPr>
        <p:txBody>
          <a:bodyPr wrap="square" lIns="0" tIns="0" rIns="0" bIns="0" rtlCol="0" anchor="ctr"/>
          <a:lstStyle/>
          <a:p>
            <a:pPr algn="r" indent="0" marL="0">
              <a:lnSpc>
                <a:spcPct val="100000"/>
              </a:lnSpc>
              <a:buNone/>
            </a:pPr>
            <a:r>
              <a:rPr lang="en-US" sz="1100" dirty="0">
                <a:solidFill>
                  <a:srgbClr val="1B2433"/>
                </a:solidFill>
                <a:latin typeface="Calibri" pitchFamily="34" charset="0"/>
                <a:ea typeface="Calibri" pitchFamily="34" charset="-122"/>
                <a:cs typeface="Calibri" pitchFamily="34" charset="-120"/>
              </a:rPr>
              <a:t>Qwen3 8B</a:t>
            </a:r>
            <a:endParaRPr lang="en-US" sz="1100" dirty="0"/>
          </a:p>
        </p:txBody>
      </p:sp>
      <p:sp>
        <p:nvSpPr>
          <p:cNvPr id="31" name="Shape 28"/>
          <p:cNvSpPr/>
          <p:nvPr/>
        </p:nvSpPr>
        <p:spPr>
          <a:xfrm>
            <a:off x="2743200" y="3619195"/>
            <a:ext cx="6176863" cy="155448"/>
          </a:xfrm>
          <a:prstGeom prst="rect">
            <a:avLst/>
          </a:prstGeom>
          <a:solidFill>
            <a:srgbClr val="009E73"/>
          </a:solidFill>
          <a:ln w="12700">
            <a:solidFill>
              <a:srgbClr val="009E73"/>
            </a:solidFill>
            <a:prstDash val="solid"/>
          </a:ln>
        </p:spPr>
      </p:sp>
      <p:sp>
        <p:nvSpPr>
          <p:cNvPr id="32" name="Text 29"/>
          <p:cNvSpPr/>
          <p:nvPr/>
        </p:nvSpPr>
        <p:spPr>
          <a:xfrm>
            <a:off x="8974927" y="3573475"/>
            <a:ext cx="731520" cy="245059"/>
          </a:xfrm>
          <a:prstGeom prst="rect">
            <a:avLst/>
          </a:prstGeom>
          <a:noFill/>
          <a:ln/>
        </p:spPr>
        <p:txBody>
          <a:bodyPr wrap="square" lIns="0" tIns="0" rIns="0" bIns="0" rtlCol="0" anchor="ctr"/>
          <a:lstStyle/>
          <a:p>
            <a:pPr algn="l" indent="0" marL="0">
              <a:lnSpc>
                <a:spcPct val="100000"/>
              </a:lnSpc>
              <a:buNone/>
            </a:pPr>
            <a:r>
              <a:rPr lang="en-US" sz="1000" b="1" dirty="0">
                <a:solidFill>
                  <a:srgbClr val="1B2433"/>
                </a:solidFill>
                <a:latin typeface="Calibri" pitchFamily="34" charset="0"/>
                <a:ea typeface="Calibri" pitchFamily="34" charset="-122"/>
                <a:cs typeface="Calibri" pitchFamily="34" charset="-120"/>
              </a:rPr>
              <a:t>97.9%</a:t>
            </a:r>
            <a:endParaRPr lang="en-US" sz="1000" dirty="0"/>
          </a:p>
        </p:txBody>
      </p:sp>
      <p:sp>
        <p:nvSpPr>
          <p:cNvPr id="33" name="Text 30"/>
          <p:cNvSpPr/>
          <p:nvPr/>
        </p:nvSpPr>
        <p:spPr>
          <a:xfrm>
            <a:off x="548640" y="3818534"/>
            <a:ext cx="2103120" cy="245059"/>
          </a:xfrm>
          <a:prstGeom prst="rect">
            <a:avLst/>
          </a:prstGeom>
          <a:noFill/>
          <a:ln/>
        </p:spPr>
        <p:txBody>
          <a:bodyPr wrap="square" lIns="0" tIns="0" rIns="0" bIns="0" rtlCol="0" anchor="ctr"/>
          <a:lstStyle/>
          <a:p>
            <a:pPr algn="r" indent="0" marL="0">
              <a:lnSpc>
                <a:spcPct val="100000"/>
              </a:lnSpc>
              <a:buNone/>
            </a:pPr>
            <a:r>
              <a:rPr lang="en-US" sz="1100" dirty="0">
                <a:solidFill>
                  <a:srgbClr val="1B2433"/>
                </a:solidFill>
                <a:latin typeface="Calibri" pitchFamily="34" charset="0"/>
                <a:ea typeface="Calibri" pitchFamily="34" charset="-122"/>
                <a:cs typeface="Calibri" pitchFamily="34" charset="-120"/>
              </a:rPr>
              <a:t>Qwen3 14B</a:t>
            </a:r>
            <a:endParaRPr lang="en-US" sz="1100" dirty="0"/>
          </a:p>
        </p:txBody>
      </p:sp>
      <p:sp>
        <p:nvSpPr>
          <p:cNvPr id="34" name="Shape 31"/>
          <p:cNvSpPr/>
          <p:nvPr/>
        </p:nvSpPr>
        <p:spPr>
          <a:xfrm>
            <a:off x="2743200" y="3864254"/>
            <a:ext cx="6309360" cy="155448"/>
          </a:xfrm>
          <a:prstGeom prst="rect">
            <a:avLst/>
          </a:prstGeom>
          <a:solidFill>
            <a:srgbClr val="009E73"/>
          </a:solidFill>
          <a:ln w="12700">
            <a:solidFill>
              <a:srgbClr val="009E73"/>
            </a:solidFill>
            <a:prstDash val="solid"/>
          </a:ln>
        </p:spPr>
      </p:sp>
      <p:sp>
        <p:nvSpPr>
          <p:cNvPr id="35" name="Text 32"/>
          <p:cNvSpPr/>
          <p:nvPr/>
        </p:nvSpPr>
        <p:spPr>
          <a:xfrm>
            <a:off x="9107424" y="3818534"/>
            <a:ext cx="731520" cy="245059"/>
          </a:xfrm>
          <a:prstGeom prst="rect">
            <a:avLst/>
          </a:prstGeom>
          <a:noFill/>
          <a:ln/>
        </p:spPr>
        <p:txBody>
          <a:bodyPr wrap="square" lIns="0" tIns="0" rIns="0" bIns="0" rtlCol="0" anchor="ctr"/>
          <a:lstStyle/>
          <a:p>
            <a:pPr algn="l" indent="0" marL="0">
              <a:lnSpc>
                <a:spcPct val="100000"/>
              </a:lnSpc>
              <a:buNone/>
            </a:pPr>
            <a:r>
              <a:rPr lang="en-US" sz="1000" b="1" dirty="0">
                <a:solidFill>
                  <a:srgbClr val="1B2433"/>
                </a:solidFill>
                <a:latin typeface="Calibri" pitchFamily="34" charset="0"/>
                <a:ea typeface="Calibri" pitchFamily="34" charset="-122"/>
                <a:cs typeface="Calibri" pitchFamily="34" charset="-120"/>
              </a:rPr>
              <a:t>100.0%</a:t>
            </a:r>
            <a:endParaRPr lang="en-US" sz="1000" dirty="0"/>
          </a:p>
        </p:txBody>
      </p:sp>
      <p:sp>
        <p:nvSpPr>
          <p:cNvPr id="36" name="Text 33"/>
          <p:cNvSpPr/>
          <p:nvPr/>
        </p:nvSpPr>
        <p:spPr>
          <a:xfrm>
            <a:off x="548640" y="4063594"/>
            <a:ext cx="2103120" cy="245059"/>
          </a:xfrm>
          <a:prstGeom prst="rect">
            <a:avLst/>
          </a:prstGeom>
          <a:noFill/>
          <a:ln/>
        </p:spPr>
        <p:txBody>
          <a:bodyPr wrap="square" lIns="0" tIns="0" rIns="0" bIns="0" rtlCol="0" anchor="ctr"/>
          <a:lstStyle/>
          <a:p>
            <a:pPr algn="r" indent="0" marL="0">
              <a:lnSpc>
                <a:spcPct val="100000"/>
              </a:lnSpc>
              <a:buNone/>
            </a:pPr>
            <a:r>
              <a:rPr lang="en-US" sz="1100" dirty="0">
                <a:solidFill>
                  <a:srgbClr val="1B2433"/>
                </a:solidFill>
                <a:latin typeface="Calibri" pitchFamily="34" charset="0"/>
                <a:ea typeface="Calibri" pitchFamily="34" charset="-122"/>
                <a:cs typeface="Calibri" pitchFamily="34" charset="-120"/>
              </a:rPr>
              <a:t>Qwen3 32B</a:t>
            </a:r>
            <a:endParaRPr lang="en-US" sz="1100" dirty="0"/>
          </a:p>
        </p:txBody>
      </p:sp>
      <p:sp>
        <p:nvSpPr>
          <p:cNvPr id="37" name="Shape 34"/>
          <p:cNvSpPr/>
          <p:nvPr/>
        </p:nvSpPr>
        <p:spPr>
          <a:xfrm>
            <a:off x="2743200" y="4109314"/>
            <a:ext cx="6309360" cy="155448"/>
          </a:xfrm>
          <a:prstGeom prst="rect">
            <a:avLst/>
          </a:prstGeom>
          <a:solidFill>
            <a:srgbClr val="009E73"/>
          </a:solidFill>
          <a:ln w="12700">
            <a:solidFill>
              <a:srgbClr val="009E73"/>
            </a:solidFill>
            <a:prstDash val="solid"/>
          </a:ln>
        </p:spPr>
      </p:sp>
      <p:sp>
        <p:nvSpPr>
          <p:cNvPr id="38" name="Text 35"/>
          <p:cNvSpPr/>
          <p:nvPr/>
        </p:nvSpPr>
        <p:spPr>
          <a:xfrm>
            <a:off x="9107424" y="4063594"/>
            <a:ext cx="731520" cy="245059"/>
          </a:xfrm>
          <a:prstGeom prst="rect">
            <a:avLst/>
          </a:prstGeom>
          <a:noFill/>
          <a:ln/>
        </p:spPr>
        <p:txBody>
          <a:bodyPr wrap="square" lIns="0" tIns="0" rIns="0" bIns="0" rtlCol="0" anchor="ctr"/>
          <a:lstStyle/>
          <a:p>
            <a:pPr algn="l" indent="0" marL="0">
              <a:lnSpc>
                <a:spcPct val="100000"/>
              </a:lnSpc>
              <a:buNone/>
            </a:pPr>
            <a:r>
              <a:rPr lang="en-US" sz="1000" b="1" dirty="0">
                <a:solidFill>
                  <a:srgbClr val="1B2433"/>
                </a:solidFill>
                <a:latin typeface="Calibri" pitchFamily="34" charset="0"/>
                <a:ea typeface="Calibri" pitchFamily="34" charset="-122"/>
                <a:cs typeface="Calibri" pitchFamily="34" charset="-120"/>
              </a:rPr>
              <a:t>100.0%</a:t>
            </a:r>
            <a:endParaRPr lang="en-US" sz="1000" dirty="0"/>
          </a:p>
        </p:txBody>
      </p:sp>
      <p:sp>
        <p:nvSpPr>
          <p:cNvPr id="39" name="Text 36"/>
          <p:cNvSpPr/>
          <p:nvPr/>
        </p:nvSpPr>
        <p:spPr>
          <a:xfrm>
            <a:off x="548640" y="4308653"/>
            <a:ext cx="2103120" cy="245059"/>
          </a:xfrm>
          <a:prstGeom prst="rect">
            <a:avLst/>
          </a:prstGeom>
          <a:noFill/>
          <a:ln/>
        </p:spPr>
        <p:txBody>
          <a:bodyPr wrap="square" lIns="0" tIns="0" rIns="0" bIns="0" rtlCol="0" anchor="ctr"/>
          <a:lstStyle/>
          <a:p>
            <a:pPr algn="r" indent="0" marL="0">
              <a:lnSpc>
                <a:spcPct val="100000"/>
              </a:lnSpc>
              <a:buNone/>
            </a:pPr>
            <a:r>
              <a:rPr lang="en-US" sz="1100" dirty="0">
                <a:solidFill>
                  <a:srgbClr val="1B2433"/>
                </a:solidFill>
                <a:latin typeface="Calibri" pitchFamily="34" charset="0"/>
                <a:ea typeface="Calibri" pitchFamily="34" charset="-122"/>
                <a:cs typeface="Calibri" pitchFamily="34" charset="-120"/>
              </a:rPr>
              <a:t>Llama 3.1 8B</a:t>
            </a:r>
            <a:endParaRPr lang="en-US" sz="1100" dirty="0"/>
          </a:p>
        </p:txBody>
      </p:sp>
      <p:sp>
        <p:nvSpPr>
          <p:cNvPr id="40" name="Shape 37"/>
          <p:cNvSpPr/>
          <p:nvPr/>
        </p:nvSpPr>
        <p:spPr>
          <a:xfrm>
            <a:off x="2743200" y="4354373"/>
            <a:ext cx="6309360" cy="155448"/>
          </a:xfrm>
          <a:prstGeom prst="rect">
            <a:avLst/>
          </a:prstGeom>
          <a:solidFill>
            <a:srgbClr val="009E73"/>
          </a:solidFill>
          <a:ln w="12700">
            <a:solidFill>
              <a:srgbClr val="009E73"/>
            </a:solidFill>
            <a:prstDash val="solid"/>
          </a:ln>
        </p:spPr>
      </p:sp>
      <p:sp>
        <p:nvSpPr>
          <p:cNvPr id="41" name="Text 38"/>
          <p:cNvSpPr/>
          <p:nvPr/>
        </p:nvSpPr>
        <p:spPr>
          <a:xfrm>
            <a:off x="9107424" y="4308653"/>
            <a:ext cx="731520" cy="245059"/>
          </a:xfrm>
          <a:prstGeom prst="rect">
            <a:avLst/>
          </a:prstGeom>
          <a:noFill/>
          <a:ln/>
        </p:spPr>
        <p:txBody>
          <a:bodyPr wrap="square" lIns="0" tIns="0" rIns="0" bIns="0" rtlCol="0" anchor="ctr"/>
          <a:lstStyle/>
          <a:p>
            <a:pPr algn="l" indent="0" marL="0">
              <a:lnSpc>
                <a:spcPct val="100000"/>
              </a:lnSpc>
              <a:buNone/>
            </a:pPr>
            <a:r>
              <a:rPr lang="en-US" sz="1000" b="1" dirty="0">
                <a:solidFill>
                  <a:srgbClr val="1B2433"/>
                </a:solidFill>
                <a:latin typeface="Calibri" pitchFamily="34" charset="0"/>
                <a:ea typeface="Calibri" pitchFamily="34" charset="-122"/>
                <a:cs typeface="Calibri" pitchFamily="34" charset="-120"/>
              </a:rPr>
              <a:t>100.0%</a:t>
            </a:r>
            <a:endParaRPr lang="en-US" sz="1000" dirty="0"/>
          </a:p>
        </p:txBody>
      </p:sp>
      <p:sp>
        <p:nvSpPr>
          <p:cNvPr id="42" name="Text 39"/>
          <p:cNvSpPr/>
          <p:nvPr/>
        </p:nvSpPr>
        <p:spPr>
          <a:xfrm>
            <a:off x="548640" y="4553712"/>
            <a:ext cx="2103120" cy="245059"/>
          </a:xfrm>
          <a:prstGeom prst="rect">
            <a:avLst/>
          </a:prstGeom>
          <a:noFill/>
          <a:ln/>
        </p:spPr>
        <p:txBody>
          <a:bodyPr wrap="square" lIns="0" tIns="0" rIns="0" bIns="0" rtlCol="0" anchor="ctr"/>
          <a:lstStyle/>
          <a:p>
            <a:pPr algn="r" indent="0" marL="0">
              <a:lnSpc>
                <a:spcPct val="100000"/>
              </a:lnSpc>
              <a:buNone/>
            </a:pPr>
            <a:r>
              <a:rPr lang="en-US" sz="1100" dirty="0">
                <a:solidFill>
                  <a:srgbClr val="1B2433"/>
                </a:solidFill>
                <a:latin typeface="Calibri" pitchFamily="34" charset="0"/>
                <a:ea typeface="Calibri" pitchFamily="34" charset="-122"/>
                <a:cs typeface="Calibri" pitchFamily="34" charset="-120"/>
              </a:rPr>
              <a:t>Sarvam-Translate</a:t>
            </a:r>
            <a:endParaRPr lang="en-US" sz="1100" dirty="0"/>
          </a:p>
        </p:txBody>
      </p:sp>
      <p:sp>
        <p:nvSpPr>
          <p:cNvPr id="43" name="Shape 40"/>
          <p:cNvSpPr/>
          <p:nvPr/>
        </p:nvSpPr>
        <p:spPr>
          <a:xfrm>
            <a:off x="2743200" y="4599432"/>
            <a:ext cx="6265194" cy="155448"/>
          </a:xfrm>
          <a:prstGeom prst="rect">
            <a:avLst/>
          </a:prstGeom>
          <a:solidFill>
            <a:srgbClr val="009E73"/>
          </a:solidFill>
          <a:ln w="12700">
            <a:solidFill>
              <a:srgbClr val="009E73"/>
            </a:solidFill>
            <a:prstDash val="solid"/>
          </a:ln>
        </p:spPr>
      </p:sp>
      <p:sp>
        <p:nvSpPr>
          <p:cNvPr id="44" name="Text 41"/>
          <p:cNvSpPr/>
          <p:nvPr/>
        </p:nvSpPr>
        <p:spPr>
          <a:xfrm>
            <a:off x="9063258" y="4553712"/>
            <a:ext cx="731520" cy="245059"/>
          </a:xfrm>
          <a:prstGeom prst="rect">
            <a:avLst/>
          </a:prstGeom>
          <a:noFill/>
          <a:ln/>
        </p:spPr>
        <p:txBody>
          <a:bodyPr wrap="square" lIns="0" tIns="0" rIns="0" bIns="0" rtlCol="0" anchor="ctr"/>
          <a:lstStyle/>
          <a:p>
            <a:pPr algn="l" indent="0" marL="0">
              <a:lnSpc>
                <a:spcPct val="100000"/>
              </a:lnSpc>
              <a:buNone/>
            </a:pPr>
            <a:r>
              <a:rPr lang="en-US" sz="1000" b="1" dirty="0">
                <a:solidFill>
                  <a:srgbClr val="1B2433"/>
                </a:solidFill>
                <a:latin typeface="Calibri" pitchFamily="34" charset="0"/>
                <a:ea typeface="Calibri" pitchFamily="34" charset="-122"/>
                <a:cs typeface="Calibri" pitchFamily="34" charset="-120"/>
              </a:rPr>
              <a:t>99.3%</a:t>
            </a:r>
            <a:endParaRPr lang="en-US" sz="1000" dirty="0"/>
          </a:p>
        </p:txBody>
      </p:sp>
      <p:sp>
        <p:nvSpPr>
          <p:cNvPr id="45" name="Text 42"/>
          <p:cNvSpPr/>
          <p:nvPr/>
        </p:nvSpPr>
        <p:spPr>
          <a:xfrm>
            <a:off x="548640" y="4798771"/>
            <a:ext cx="2103120" cy="245059"/>
          </a:xfrm>
          <a:prstGeom prst="rect">
            <a:avLst/>
          </a:prstGeom>
          <a:noFill/>
          <a:ln/>
        </p:spPr>
        <p:txBody>
          <a:bodyPr wrap="square" lIns="0" tIns="0" rIns="0" bIns="0" rtlCol="0" anchor="ctr"/>
          <a:lstStyle/>
          <a:p>
            <a:pPr algn="r" indent="0" marL="0">
              <a:lnSpc>
                <a:spcPct val="100000"/>
              </a:lnSpc>
              <a:buNone/>
            </a:pPr>
            <a:r>
              <a:rPr lang="en-US" sz="1100" dirty="0">
                <a:solidFill>
                  <a:srgbClr val="1B2433"/>
                </a:solidFill>
                <a:latin typeface="Calibri" pitchFamily="34" charset="0"/>
                <a:ea typeface="Calibri" pitchFamily="34" charset="-122"/>
                <a:cs typeface="Calibri" pitchFamily="34" charset="-120"/>
              </a:rPr>
              <a:t>NLLB-200 3.3B</a:t>
            </a:r>
            <a:endParaRPr lang="en-US" sz="1100" dirty="0"/>
          </a:p>
        </p:txBody>
      </p:sp>
      <p:sp>
        <p:nvSpPr>
          <p:cNvPr id="46" name="Shape 43"/>
          <p:cNvSpPr/>
          <p:nvPr/>
        </p:nvSpPr>
        <p:spPr>
          <a:xfrm>
            <a:off x="2743200" y="4844491"/>
            <a:ext cx="6088532" cy="155448"/>
          </a:xfrm>
          <a:prstGeom prst="rect">
            <a:avLst/>
          </a:prstGeom>
          <a:solidFill>
            <a:srgbClr val="009E73"/>
          </a:solidFill>
          <a:ln w="12700">
            <a:solidFill>
              <a:srgbClr val="009E73"/>
            </a:solidFill>
            <a:prstDash val="solid"/>
          </a:ln>
        </p:spPr>
      </p:sp>
      <p:sp>
        <p:nvSpPr>
          <p:cNvPr id="47" name="Text 44"/>
          <p:cNvSpPr/>
          <p:nvPr/>
        </p:nvSpPr>
        <p:spPr>
          <a:xfrm>
            <a:off x="8886596" y="4798771"/>
            <a:ext cx="731520" cy="245059"/>
          </a:xfrm>
          <a:prstGeom prst="rect">
            <a:avLst/>
          </a:prstGeom>
          <a:noFill/>
          <a:ln/>
        </p:spPr>
        <p:txBody>
          <a:bodyPr wrap="square" lIns="0" tIns="0" rIns="0" bIns="0" rtlCol="0" anchor="ctr"/>
          <a:lstStyle/>
          <a:p>
            <a:pPr algn="l" indent="0" marL="0">
              <a:lnSpc>
                <a:spcPct val="100000"/>
              </a:lnSpc>
              <a:buNone/>
            </a:pPr>
            <a:r>
              <a:rPr lang="en-US" sz="1000" b="1" dirty="0">
                <a:solidFill>
                  <a:srgbClr val="1B2433"/>
                </a:solidFill>
                <a:latin typeface="Calibri" pitchFamily="34" charset="0"/>
                <a:ea typeface="Calibri" pitchFamily="34" charset="-122"/>
                <a:cs typeface="Calibri" pitchFamily="34" charset="-120"/>
              </a:rPr>
              <a:t>96.5%</a:t>
            </a:r>
            <a:endParaRPr lang="en-US" sz="1000" dirty="0"/>
          </a:p>
        </p:txBody>
      </p:sp>
      <p:sp>
        <p:nvSpPr>
          <p:cNvPr id="48" name="Text 45"/>
          <p:cNvSpPr/>
          <p:nvPr/>
        </p:nvSpPr>
        <p:spPr>
          <a:xfrm>
            <a:off x="548640" y="5043830"/>
            <a:ext cx="2103120" cy="245059"/>
          </a:xfrm>
          <a:prstGeom prst="rect">
            <a:avLst/>
          </a:prstGeom>
          <a:noFill/>
          <a:ln/>
        </p:spPr>
        <p:txBody>
          <a:bodyPr wrap="square" lIns="0" tIns="0" rIns="0" bIns="0" rtlCol="0" anchor="ctr"/>
          <a:lstStyle/>
          <a:p>
            <a:pPr algn="r" indent="0" marL="0">
              <a:lnSpc>
                <a:spcPct val="100000"/>
              </a:lnSpc>
              <a:buNone/>
            </a:pPr>
            <a:r>
              <a:rPr lang="en-US" sz="1100" dirty="0">
                <a:solidFill>
                  <a:srgbClr val="1B2433"/>
                </a:solidFill>
                <a:latin typeface="Calibri" pitchFamily="34" charset="0"/>
                <a:ea typeface="Calibri" pitchFamily="34" charset="-122"/>
                <a:cs typeface="Calibri" pitchFamily="34" charset="-120"/>
              </a:rPr>
              <a:t>IndicTrans2 1B</a:t>
            </a:r>
            <a:endParaRPr lang="en-US" sz="1100" dirty="0"/>
          </a:p>
        </p:txBody>
      </p:sp>
      <p:sp>
        <p:nvSpPr>
          <p:cNvPr id="49" name="Shape 46"/>
          <p:cNvSpPr/>
          <p:nvPr/>
        </p:nvSpPr>
        <p:spPr>
          <a:xfrm>
            <a:off x="2743200" y="5089550"/>
            <a:ext cx="6221029" cy="155448"/>
          </a:xfrm>
          <a:prstGeom prst="rect">
            <a:avLst/>
          </a:prstGeom>
          <a:solidFill>
            <a:srgbClr val="009E73"/>
          </a:solidFill>
          <a:ln w="12700">
            <a:solidFill>
              <a:srgbClr val="009E73"/>
            </a:solidFill>
            <a:prstDash val="solid"/>
          </a:ln>
        </p:spPr>
      </p:sp>
      <p:sp>
        <p:nvSpPr>
          <p:cNvPr id="50" name="Text 47"/>
          <p:cNvSpPr/>
          <p:nvPr/>
        </p:nvSpPr>
        <p:spPr>
          <a:xfrm>
            <a:off x="9019093" y="5043830"/>
            <a:ext cx="731520" cy="245059"/>
          </a:xfrm>
          <a:prstGeom prst="rect">
            <a:avLst/>
          </a:prstGeom>
          <a:noFill/>
          <a:ln/>
        </p:spPr>
        <p:txBody>
          <a:bodyPr wrap="square" lIns="0" tIns="0" rIns="0" bIns="0" rtlCol="0" anchor="ctr"/>
          <a:lstStyle/>
          <a:p>
            <a:pPr algn="l" indent="0" marL="0">
              <a:lnSpc>
                <a:spcPct val="100000"/>
              </a:lnSpc>
              <a:buNone/>
            </a:pPr>
            <a:r>
              <a:rPr lang="en-US" sz="1000" b="1" dirty="0">
                <a:solidFill>
                  <a:srgbClr val="1B2433"/>
                </a:solidFill>
                <a:latin typeface="Calibri" pitchFamily="34" charset="0"/>
                <a:ea typeface="Calibri" pitchFamily="34" charset="-122"/>
                <a:cs typeface="Calibri" pitchFamily="34" charset="-120"/>
              </a:rPr>
              <a:t>98.6%</a:t>
            </a:r>
            <a:endParaRPr lang="en-US" sz="1000" dirty="0"/>
          </a:p>
        </p:txBody>
      </p:sp>
      <p:sp>
        <p:nvSpPr>
          <p:cNvPr id="51" name="Shape 48"/>
          <p:cNvSpPr/>
          <p:nvPr/>
        </p:nvSpPr>
        <p:spPr>
          <a:xfrm>
            <a:off x="10058400" y="1691640"/>
            <a:ext cx="1554480" cy="4023360"/>
          </a:xfrm>
          <a:prstGeom prst="roundRect">
            <a:avLst>
              <a:gd name="adj" fmla="val 4706"/>
            </a:avLst>
          </a:prstGeom>
          <a:solidFill>
            <a:srgbClr val="F2F4F8"/>
          </a:solidFill>
          <a:ln w="12700">
            <a:solidFill>
              <a:srgbClr val="F2F4F8"/>
            </a:solidFill>
            <a:prstDash val="solid"/>
          </a:ln>
        </p:spPr>
      </p:sp>
      <p:sp>
        <p:nvSpPr>
          <p:cNvPr id="52" name="Text 49"/>
          <p:cNvSpPr/>
          <p:nvPr/>
        </p:nvSpPr>
        <p:spPr>
          <a:xfrm>
            <a:off x="10259568" y="1837944"/>
            <a:ext cx="1152144" cy="411480"/>
          </a:xfrm>
          <a:prstGeom prst="rect">
            <a:avLst/>
          </a:prstGeom>
          <a:noFill/>
          <a:ln/>
        </p:spPr>
        <p:txBody>
          <a:bodyPr wrap="square" lIns="0" tIns="0" rIns="0" bIns="0" rtlCol="0" anchor="t"/>
          <a:lstStyle/>
          <a:p>
            <a:pPr indent="0" marL="0">
              <a:buNone/>
            </a:pPr>
            <a:r>
              <a:rPr lang="en-US" sz="1500" b="1" dirty="0">
                <a:solidFill>
                  <a:srgbClr val="1B2433"/>
                </a:solidFill>
                <a:latin typeface="Calibri" pitchFamily="34" charset="0"/>
                <a:ea typeface="Calibri" pitchFamily="34" charset="-122"/>
                <a:cs typeface="Calibri" pitchFamily="34" charset="-120"/>
              </a:rPr>
              <a:t>Gender</a:t>
            </a:r>
            <a:endParaRPr lang="en-US" sz="1500" dirty="0"/>
          </a:p>
        </p:txBody>
      </p:sp>
      <p:sp>
        <p:nvSpPr>
          <p:cNvPr id="53" name="Text 50"/>
          <p:cNvSpPr/>
          <p:nvPr/>
        </p:nvSpPr>
        <p:spPr>
          <a:xfrm>
            <a:off x="10259568" y="2249424"/>
            <a:ext cx="1152144" cy="3319272"/>
          </a:xfrm>
          <a:prstGeom prst="rect">
            <a:avLst/>
          </a:prstGeom>
          <a:noFill/>
          <a:ln/>
        </p:spPr>
        <p:txBody>
          <a:bodyPr wrap="square" lIns="0" tIns="0" rIns="0" bIns="0" rtlCol="0" anchor="t"/>
          <a:lstStyle/>
          <a:p>
            <a:pPr indent="0" marL="0">
              <a:spcAft>
                <a:spcPts val="500"/>
              </a:spcAft>
              <a:buNone/>
            </a:pPr>
            <a:r>
              <a:rPr lang="en-US" sz="1200" dirty="0">
                <a:solidFill>
                  <a:srgbClr val="1B2433"/>
                </a:solidFill>
                <a:latin typeface="Calibri" pitchFamily="34" charset="0"/>
                <a:ea typeface="Calibri" pitchFamily="34" charset="-122"/>
                <a:cs typeface="Calibri" pitchFamily="34" charset="-120"/>
              </a:rPr>
              <a:t>Among systems with enough data: </a:t>
            </a:r>
            <a:r>
              <a:rPr lang="en-US" sz="1200" b="1" dirty="0">
                <a:solidFill>
                  <a:srgbClr val="1B2433"/>
                </a:solidFill>
                <a:latin typeface="Calibri" pitchFamily="34" charset="0"/>
                <a:ea typeface="Calibri" pitchFamily="34" charset="-122"/>
                <a:cs typeface="Calibri" pitchFamily="34" charset="-120"/>
              </a:rPr>
              <a:t>5</a:t>
            </a:r>
            <a:r>
              <a:rPr lang="en-US" sz="1200" dirty="0">
                <a:solidFill>
                  <a:srgbClr val="1B2433"/>
                </a:solidFill>
                <a:latin typeface="Calibri" pitchFamily="34" charset="0"/>
                <a:ea typeface="Calibri" pitchFamily="34" charset="-122"/>
                <a:cs typeface="Calibri" pitchFamily="34" charset="-120"/>
              </a:rPr>
              <a:t> default to masculine, </a:t>
            </a:r>
            <a:r>
              <a:rPr lang="en-US" sz="1200" b="1" dirty="0">
                <a:solidFill>
                  <a:srgbClr val="1B2433"/>
                </a:solidFill>
                <a:latin typeface="Calibri" pitchFamily="34" charset="0"/>
                <a:ea typeface="Calibri" pitchFamily="34" charset="-122"/>
                <a:cs typeface="Calibri" pitchFamily="34" charset="-120"/>
              </a:rPr>
              <a:t>3</a:t>
            </a:r>
            <a:r>
              <a:rPr lang="en-US" sz="1200" dirty="0">
                <a:solidFill>
                  <a:srgbClr val="1B2433"/>
                </a:solidFill>
                <a:latin typeface="Calibri" pitchFamily="34" charset="0"/>
                <a:ea typeface="Calibri" pitchFamily="34" charset="-122"/>
                <a:cs typeface="Calibri" pitchFamily="34" charset="-120"/>
              </a:rPr>
              <a:t> to feminine.</a:t>
            </a:r>
            <a:endParaRPr lang="en-US" sz="1200" dirty="0"/>
          </a:p>
        </p:txBody>
      </p:sp>
      <p:sp>
        <p:nvSpPr>
          <p:cNvPr id="54" name="Shape 51"/>
          <p:cNvSpPr/>
          <p:nvPr/>
        </p:nvSpPr>
        <p:spPr>
          <a:xfrm>
            <a:off x="548640" y="5760720"/>
            <a:ext cx="11064240" cy="548640"/>
          </a:xfrm>
          <a:prstGeom prst="roundRect">
            <a:avLst>
              <a:gd name="adj" fmla="val 13333"/>
            </a:avLst>
          </a:prstGeom>
          <a:solidFill>
            <a:srgbClr val="FBEBD2"/>
          </a:solidFill>
          <a:ln w="12700">
            <a:solidFill>
              <a:srgbClr val="E39B2D"/>
            </a:solidFill>
            <a:prstDash val="solid"/>
          </a:ln>
        </p:spPr>
      </p:sp>
      <p:sp>
        <p:nvSpPr>
          <p:cNvPr id="55" name="Text 52"/>
          <p:cNvSpPr/>
          <p:nvPr/>
        </p:nvSpPr>
        <p:spPr>
          <a:xfrm>
            <a:off x="777240" y="5760720"/>
            <a:ext cx="10607040" cy="54864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The systems share a strong default toward </a:t>
            </a:r>
            <a:r>
              <a:rPr lang="en-US" sz="1500" b="1" dirty="0">
                <a:solidFill>
                  <a:srgbClr val="1B2433"/>
                </a:solidFill>
                <a:latin typeface="Calibri" pitchFamily="34" charset="0"/>
                <a:ea typeface="Calibri" pitchFamily="34" charset="-122"/>
                <a:cs typeface="Calibri" pitchFamily="34" charset="-120"/>
              </a:rPr>
              <a:t>"people"</a:t>
            </a:r>
            <a:r>
              <a:rPr lang="en-US" sz="1500" dirty="0">
                <a:solidFill>
                  <a:srgbClr val="1B2433"/>
                </a:solidFill>
                <a:latin typeface="Calibri" pitchFamily="34" charset="0"/>
                <a:ea typeface="Calibri" pitchFamily="34" charset="-122"/>
                <a:cs typeface="Calibri" pitchFamily="34" charset="-120"/>
              </a:rPr>
              <a:t>, far stronger than in ordinary Tamil text. Why is unknown: no system's training data was measured.</a:t>
            </a:r>
            <a:endParaRPr lang="en-US" sz="15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7</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RESULTS: SYSTEMS</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What we do NOT claim about the systems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75</a:t>
            </a:r>
            <a:endParaRPr lang="en-US" sz="900" dirty="0"/>
          </a:p>
        </p:txBody>
      </p:sp>
      <p:sp>
        <p:nvSpPr>
          <p:cNvPr id="9" name="Shape 6"/>
          <p:cNvSpPr/>
          <p:nvPr/>
        </p:nvSpPr>
        <p:spPr>
          <a:xfrm>
            <a:off x="548640" y="1737360"/>
            <a:ext cx="3566160" cy="2103120"/>
          </a:xfrm>
          <a:prstGeom prst="roundRect">
            <a:avLst>
              <a:gd name="adj" fmla="val 3478"/>
            </a:avLst>
          </a:prstGeom>
          <a:solidFill>
            <a:srgbClr val="FBE5D6"/>
          </a:solidFill>
          <a:ln w="12700">
            <a:solidFill>
              <a:srgbClr val="FBE5D6"/>
            </a:solidFill>
            <a:prstDash val="solid"/>
          </a:ln>
        </p:spPr>
      </p:sp>
      <p:sp>
        <p:nvSpPr>
          <p:cNvPr id="10" name="Text 7"/>
          <p:cNvSpPr/>
          <p:nvPr/>
        </p:nvSpPr>
        <p:spPr>
          <a:xfrm>
            <a:off x="749808" y="1883664"/>
            <a:ext cx="3163824" cy="411480"/>
          </a:xfrm>
          <a:prstGeom prst="rect">
            <a:avLst/>
          </a:prstGeom>
          <a:noFill/>
          <a:ln/>
        </p:spPr>
        <p:txBody>
          <a:bodyPr wrap="square" lIns="0" tIns="0" rIns="0" bIns="0" rtlCol="0" anchor="t"/>
          <a:lstStyle/>
          <a:p>
            <a:pPr indent="0" marL="0">
              <a:buNone/>
            </a:pPr>
            <a:r>
              <a:rPr lang="en-US" sz="1700" b="1" dirty="0">
                <a:solidFill>
                  <a:srgbClr val="D55E00"/>
                </a:solidFill>
                <a:latin typeface="Calibri" pitchFamily="34" charset="0"/>
                <a:ea typeface="Calibri" pitchFamily="34" charset="-122"/>
                <a:cs typeface="Calibri" pitchFamily="34" charset="-120"/>
              </a:rPr>
              <a:t>No comparison between slots</a:t>
            </a:r>
            <a:endParaRPr lang="en-US" sz="1700" dirty="0"/>
          </a:p>
        </p:txBody>
      </p:sp>
      <p:sp>
        <p:nvSpPr>
          <p:cNvPr id="11" name="Text 8"/>
          <p:cNvSpPr/>
          <p:nvPr/>
        </p:nvSpPr>
        <p:spPr>
          <a:xfrm>
            <a:off x="749808" y="2295144"/>
            <a:ext cx="3163824" cy="1399032"/>
          </a:xfrm>
          <a:prstGeom prst="rect">
            <a:avLst/>
          </a:prstGeom>
          <a:noFill/>
          <a:ln/>
        </p:spPr>
        <p:txBody>
          <a:bodyPr wrap="square" lIns="0" tIns="0" rIns="0" bIns="0" rtlCol="0" anchor="t"/>
          <a:lstStyle/>
          <a:p>
            <a:pPr marL="228600" indent="-228600">
              <a:spcAft>
                <a:spcPts val="500"/>
              </a:spcAft>
              <a:buSzPct val="100000"/>
              <a:buChar char="•"/>
            </a:pPr>
            <a:r>
              <a:rPr lang="en-US" sz="1500" dirty="0">
                <a:solidFill>
                  <a:srgbClr val="1B2433"/>
                </a:solidFill>
                <a:latin typeface="Calibri" pitchFamily="34" charset="0"/>
                <a:ea typeface="Calibri" pitchFamily="34" charset="-122"/>
                <a:cs typeface="Calibri" pitchFamily="34" charset="-120"/>
              </a:rPr>
              <a:t>The number control does not work on these items: accuracy </a:t>
            </a:r>
            <a:r>
              <a:rPr lang="en-US" sz="1500" b="1" dirty="0">
                <a:solidFill>
                  <a:srgbClr val="1B2433"/>
                </a:solidFill>
                <a:latin typeface="Calibri" pitchFamily="34" charset="0"/>
                <a:ea typeface="Calibri" pitchFamily="34" charset="-122"/>
                <a:cs typeface="Calibri" pitchFamily="34" charset="-120"/>
              </a:rPr>
              <a:t>46.9–86.7%</a:t>
            </a:r>
            <a:r>
              <a:rPr lang="en-US" sz="1500" dirty="0">
                <a:solidFill>
                  <a:srgbClr val="1B2433"/>
                </a:solidFill>
                <a:latin typeface="Calibri" pitchFamily="34" charset="0"/>
                <a:ea typeface="Calibri" pitchFamily="34" charset="-122"/>
                <a:cs typeface="Calibri" pitchFamily="34" charset="-120"/>
              </a:rPr>
              <a:t> vs chance 50%.</a:t>
            </a:r>
            <a:endParaRPr lang="en-US" sz="1500" dirty="0"/>
          </a:p>
          <a:p>
            <a:pPr marL="228600" indent="-228600">
              <a:spcAft>
                <a:spcPts val="500"/>
              </a:spcAft>
              <a:buSzPct val="100000"/>
              <a:buChar char="•"/>
            </a:pPr>
            <a:r>
              <a:rPr lang="en-US" sz="1500" dirty="0">
                <a:solidFill>
                  <a:srgbClr val="1B2433"/>
                </a:solidFill>
                <a:latin typeface="Calibri" pitchFamily="34" charset="0"/>
                <a:ea typeface="Calibri" pitchFamily="34" charset="-122"/>
                <a:cs typeface="Calibri" pitchFamily="34" charset="-120"/>
              </a:rPr>
              <a:t>The analyser reads some number gold unevenly.</a:t>
            </a:r>
            <a:endParaRPr lang="en-US" sz="1500" dirty="0"/>
          </a:p>
        </p:txBody>
      </p:sp>
      <p:sp>
        <p:nvSpPr>
          <p:cNvPr id="12" name="Shape 9"/>
          <p:cNvSpPr/>
          <p:nvPr/>
        </p:nvSpPr>
        <p:spPr>
          <a:xfrm>
            <a:off x="4297680" y="1737360"/>
            <a:ext cx="3566160" cy="2103120"/>
          </a:xfrm>
          <a:prstGeom prst="roundRect">
            <a:avLst>
              <a:gd name="adj" fmla="val 3478"/>
            </a:avLst>
          </a:prstGeom>
          <a:solidFill>
            <a:srgbClr val="FBE5D6"/>
          </a:solidFill>
          <a:ln w="12700">
            <a:solidFill>
              <a:srgbClr val="FBE5D6"/>
            </a:solidFill>
            <a:prstDash val="solid"/>
          </a:ln>
        </p:spPr>
      </p:sp>
      <p:sp>
        <p:nvSpPr>
          <p:cNvPr id="13" name="Text 10"/>
          <p:cNvSpPr/>
          <p:nvPr/>
        </p:nvSpPr>
        <p:spPr>
          <a:xfrm>
            <a:off x="4498848" y="1883664"/>
            <a:ext cx="3163824" cy="411480"/>
          </a:xfrm>
          <a:prstGeom prst="rect">
            <a:avLst/>
          </a:prstGeom>
          <a:noFill/>
          <a:ln/>
        </p:spPr>
        <p:txBody>
          <a:bodyPr wrap="square" lIns="0" tIns="0" rIns="0" bIns="0" rtlCol="0" anchor="t"/>
          <a:lstStyle/>
          <a:p>
            <a:pPr indent="0" marL="0">
              <a:buNone/>
            </a:pPr>
            <a:r>
              <a:rPr lang="en-US" sz="1700" b="1" dirty="0">
                <a:solidFill>
                  <a:srgbClr val="D55E00"/>
                </a:solidFill>
                <a:latin typeface="Calibri" pitchFamily="34" charset="0"/>
                <a:ea typeface="Calibri" pitchFamily="34" charset="-122"/>
                <a:cs typeface="Calibri" pitchFamily="34" charset="-120"/>
              </a:rPr>
              <a:t>Gender: no direction</a:t>
            </a:r>
            <a:endParaRPr lang="en-US" sz="1700" dirty="0"/>
          </a:p>
        </p:txBody>
      </p:sp>
      <p:sp>
        <p:nvSpPr>
          <p:cNvPr id="14" name="Text 11"/>
          <p:cNvSpPr/>
          <p:nvPr/>
        </p:nvSpPr>
        <p:spPr>
          <a:xfrm>
            <a:off x="4498848" y="2295144"/>
            <a:ext cx="3163824" cy="139903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Between the two clue positions, gender shows </a:t>
            </a:r>
            <a:r>
              <a:rPr lang="en-US" sz="1500" b="1" dirty="0">
                <a:solidFill>
                  <a:srgbClr val="1B2433"/>
                </a:solidFill>
                <a:latin typeface="Calibri" pitchFamily="34" charset="0"/>
                <a:ea typeface="Calibri" pitchFamily="34" charset="-122"/>
                <a:cs typeface="Calibri" pitchFamily="34" charset="-120"/>
              </a:rPr>
              <a:t>no reliable direction</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
        <p:nvSpPr>
          <p:cNvPr id="15" name="Shape 12"/>
          <p:cNvSpPr/>
          <p:nvPr/>
        </p:nvSpPr>
        <p:spPr>
          <a:xfrm>
            <a:off x="8046720" y="1737360"/>
            <a:ext cx="3566160" cy="2103120"/>
          </a:xfrm>
          <a:prstGeom prst="roundRect">
            <a:avLst>
              <a:gd name="adj" fmla="val 3478"/>
            </a:avLst>
          </a:prstGeom>
          <a:solidFill>
            <a:srgbClr val="FBE5D6"/>
          </a:solidFill>
          <a:ln w="12700">
            <a:solidFill>
              <a:srgbClr val="FBE5D6"/>
            </a:solidFill>
            <a:prstDash val="solid"/>
          </a:ln>
        </p:spPr>
      </p:sp>
      <p:sp>
        <p:nvSpPr>
          <p:cNvPr id="16" name="Text 13"/>
          <p:cNvSpPr/>
          <p:nvPr/>
        </p:nvSpPr>
        <p:spPr>
          <a:xfrm>
            <a:off x="8247888" y="1883664"/>
            <a:ext cx="3163824" cy="411480"/>
          </a:xfrm>
          <a:prstGeom prst="rect">
            <a:avLst/>
          </a:prstGeom>
          <a:noFill/>
          <a:ln/>
        </p:spPr>
        <p:txBody>
          <a:bodyPr wrap="square" lIns="0" tIns="0" rIns="0" bIns="0" rtlCol="0" anchor="t"/>
          <a:lstStyle/>
          <a:p>
            <a:pPr indent="0" marL="0">
              <a:buNone/>
            </a:pPr>
            <a:r>
              <a:rPr lang="en-US" sz="1700" b="1" dirty="0">
                <a:solidFill>
                  <a:srgbClr val="D55E00"/>
                </a:solidFill>
                <a:latin typeface="Calibri" pitchFamily="34" charset="0"/>
                <a:ea typeface="Calibri" pitchFamily="34" charset="-122"/>
                <a:cs typeface="Calibri" pitchFamily="34" charset="-120"/>
              </a:rPr>
              <a:t>One prompt only</a:t>
            </a:r>
            <a:endParaRPr lang="en-US" sz="1700" dirty="0"/>
          </a:p>
        </p:txBody>
      </p:sp>
      <p:sp>
        <p:nvSpPr>
          <p:cNvPr id="17" name="Text 14"/>
          <p:cNvSpPr/>
          <p:nvPr/>
        </p:nvSpPr>
        <p:spPr>
          <a:xfrm>
            <a:off x="8247888" y="2295144"/>
            <a:ext cx="3163824" cy="139903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The prior-sentence condition used </a:t>
            </a:r>
            <a:r>
              <a:rPr lang="en-US" sz="1500" b="1" dirty="0">
                <a:solidFill>
                  <a:srgbClr val="1B2433"/>
                </a:solidFill>
                <a:latin typeface="Calibri" pitchFamily="34" charset="0"/>
                <a:ea typeface="Calibri" pitchFamily="34" charset="-122"/>
                <a:cs typeface="Calibri" pitchFamily="34" charset="-120"/>
              </a:rPr>
              <a:t>one</a:t>
            </a:r>
            <a:r>
              <a:rPr lang="en-US" sz="1500" dirty="0">
                <a:solidFill>
                  <a:srgbClr val="1B2433"/>
                </a:solidFill>
                <a:latin typeface="Calibri" pitchFamily="34" charset="0"/>
                <a:ea typeface="Calibri" pitchFamily="34" charset="-122"/>
                <a:cs typeface="Calibri" pitchFamily="34" charset="-120"/>
              </a:rPr>
              <a:t> prompt, so clue position and prompt wording </a:t>
            </a:r>
            <a:r>
              <a:rPr lang="en-US" sz="1500" b="1" dirty="0">
                <a:solidFill>
                  <a:srgbClr val="1B2433"/>
                </a:solidFill>
                <a:latin typeface="Calibri" pitchFamily="34" charset="0"/>
                <a:ea typeface="Calibri" pitchFamily="34" charset="-122"/>
                <a:cs typeface="Calibri" pitchFamily="34" charset="-120"/>
              </a:rPr>
              <a:t>cannot be separated</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
        <p:nvSpPr>
          <p:cNvPr id="18" name="Shape 15"/>
          <p:cNvSpPr/>
          <p:nvPr/>
        </p:nvSpPr>
        <p:spPr>
          <a:xfrm>
            <a:off x="548640" y="4114800"/>
            <a:ext cx="11064240" cy="548640"/>
          </a:xfrm>
          <a:prstGeom prst="roundRect">
            <a:avLst>
              <a:gd name="adj" fmla="val 13333"/>
            </a:avLst>
          </a:prstGeom>
          <a:solidFill>
            <a:srgbClr val="FBEBD2"/>
          </a:solidFill>
          <a:ln w="12700">
            <a:solidFill>
              <a:srgbClr val="E39B2D"/>
            </a:solidFill>
            <a:prstDash val="solid"/>
          </a:ln>
        </p:spPr>
      </p:sp>
      <p:sp>
        <p:nvSpPr>
          <p:cNvPr id="19" name="Text 16"/>
          <p:cNvSpPr/>
          <p:nvPr/>
        </p:nvSpPr>
        <p:spPr>
          <a:xfrm>
            <a:off x="777240" y="4114800"/>
            <a:ext cx="10607040" cy="54864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That is why the paper calls this section </a:t>
            </a:r>
            <a:r>
              <a:rPr lang="en-US" sz="1500" b="1" dirty="0">
                <a:solidFill>
                  <a:srgbClr val="1B2433"/>
                </a:solidFill>
                <a:latin typeface="Calibri" pitchFamily="34" charset="0"/>
                <a:ea typeface="Calibri" pitchFamily="34" charset="-122"/>
                <a:cs typeface="Calibri" pitchFamily="34" charset="-120"/>
              </a:rPr>
              <a:t>"Model Behaviour, Provisionally"</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286000"/>
            <a:ext cx="1371600" cy="1097280"/>
          </a:xfrm>
          <a:prstGeom prst="roundRect">
            <a:avLst>
              <a:gd name="adj" fmla="val 10000"/>
            </a:avLst>
          </a:prstGeom>
          <a:solidFill>
            <a:srgbClr val="14213D"/>
          </a:solidFill>
          <a:ln w="31750">
            <a:solidFill>
              <a:srgbClr val="E39B2D"/>
            </a:solidFill>
            <a:prstDash val="dash"/>
          </a:ln>
        </p:spPr>
      </p:sp>
      <p:sp>
        <p:nvSpPr>
          <p:cNvPr id="3" name="Text 1"/>
          <p:cNvSpPr/>
          <p:nvPr/>
        </p:nvSpPr>
        <p:spPr>
          <a:xfrm>
            <a:off x="822960" y="2286000"/>
            <a:ext cx="1371600" cy="1097280"/>
          </a:xfrm>
          <a:prstGeom prst="rect">
            <a:avLst/>
          </a:prstGeom>
          <a:noFill/>
          <a:ln/>
        </p:spPr>
        <p:txBody>
          <a:bodyPr wrap="square" lIns="0" tIns="0" rIns="0" bIns="0" rtlCol="0" anchor="ctr"/>
          <a:lstStyle/>
          <a:p>
            <a:pPr algn="ctr" indent="0" marL="0">
              <a:buNone/>
            </a:pPr>
            <a:r>
              <a:rPr lang="en-US" sz="4800" b="1" dirty="0">
                <a:solidFill>
                  <a:srgbClr val="E39B2D"/>
                </a:solidFill>
                <a:latin typeface="Calibri" pitchFamily="34" charset="0"/>
                <a:ea typeface="Calibri" pitchFamily="34" charset="-122"/>
                <a:cs typeface="Calibri" pitchFamily="34" charset="-120"/>
              </a:rPr>
              <a:t>8</a:t>
            </a:r>
            <a:endParaRPr lang="en-US" sz="4800" dirty="0"/>
          </a:p>
        </p:txBody>
      </p:sp>
      <p:sp>
        <p:nvSpPr>
          <p:cNvPr id="4" name="Text 2"/>
          <p:cNvSpPr/>
          <p:nvPr/>
        </p:nvSpPr>
        <p:spPr>
          <a:xfrm>
            <a:off x="2560320" y="1097280"/>
            <a:ext cx="9052560" cy="1965960"/>
          </a:xfrm>
          <a:prstGeom prst="rect">
            <a:avLst/>
          </a:prstGeom>
          <a:noFill/>
          <a:ln/>
        </p:spPr>
        <p:txBody>
          <a:bodyPr wrap="square" lIns="0" tIns="0" rIns="0" bIns="0" rtlCol="0" anchor="b"/>
          <a:lstStyle/>
          <a:p>
            <a:pPr indent="0" marL="0">
              <a:buNone/>
            </a:pPr>
            <a:r>
              <a:rPr lang="en-US" sz="3600" b="1" dirty="0">
                <a:solidFill>
                  <a:srgbClr val="FFFFFF"/>
                </a:solidFill>
                <a:latin typeface="Georgia" pitchFamily="34" charset="0"/>
                <a:ea typeface="Georgia" pitchFamily="34" charset="-122"/>
                <a:cs typeface="Georgia" pitchFamily="34" charset="-120"/>
              </a:rPr>
              <a:t>Inside one model: where is the decision made?</a:t>
            </a:r>
            <a:endParaRPr lang="en-US" sz="3600" dirty="0"/>
          </a:p>
        </p:txBody>
      </p:sp>
      <p:sp>
        <p:nvSpPr>
          <p:cNvPr id="5" name="Text 3"/>
          <p:cNvSpPr/>
          <p:nvPr/>
        </p:nvSpPr>
        <p:spPr>
          <a:xfrm>
            <a:off x="2560320" y="3246120"/>
            <a:ext cx="9052560" cy="1280160"/>
          </a:xfrm>
          <a:prstGeom prst="rect">
            <a:avLst/>
          </a:prstGeom>
          <a:noFill/>
          <a:ln/>
        </p:spPr>
        <p:txBody>
          <a:bodyPr wrap="square" lIns="0" tIns="0" rIns="0" bIns="0" rtlCol="0" anchor="t"/>
          <a:lstStyle/>
          <a:p>
            <a:pPr indent="0" marL="0">
              <a:buNone/>
            </a:pPr>
            <a:r>
              <a:rPr lang="en-US" sz="1800" dirty="0">
                <a:solidFill>
                  <a:srgbClr val="C9D2E3"/>
                </a:solidFill>
                <a:latin typeface="Calibri" pitchFamily="34" charset="0"/>
                <a:ea typeface="Calibri" pitchFamily="34" charset="-122"/>
                <a:cs typeface="Calibri" pitchFamily="34" charset="-120"/>
              </a:rPr>
              <a:t>A pre-registered experiment on gemma-3-4b-pt, reported together with the part that failed.</a:t>
            </a:r>
            <a:endParaRPr lang="en-US" sz="1800" dirty="0"/>
          </a:p>
        </p:txBody>
      </p:sp>
      <p:sp>
        <p:nvSpPr>
          <p:cNvPr id="6" name="Text 4"/>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7D8AA5"/>
                </a:solidFill>
                <a:latin typeface="Calibri" pitchFamily="34" charset="0"/>
                <a:ea typeface="Calibri" pitchFamily="34" charset="-122"/>
                <a:cs typeface="Calibri"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8</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INSIDE A MODEL</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First, what "depth" inside a model means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77</a:t>
            </a:r>
            <a:endParaRPr lang="en-US" sz="900" dirty="0"/>
          </a:p>
        </p:txBody>
      </p:sp>
      <p:sp>
        <p:nvSpPr>
          <p:cNvPr id="9" name="Text 6"/>
          <p:cNvSpPr/>
          <p:nvPr/>
        </p:nvSpPr>
        <p:spPr>
          <a:xfrm>
            <a:off x="548640" y="2240280"/>
            <a:ext cx="1371600" cy="365760"/>
          </a:xfrm>
          <a:prstGeom prst="rect">
            <a:avLst/>
          </a:prstGeom>
          <a:noFill/>
          <a:ln/>
        </p:spPr>
        <p:txBody>
          <a:bodyPr wrap="square" lIns="0" tIns="0" rIns="0" bIns="0" rtlCol="0" anchor="t"/>
          <a:lstStyle/>
          <a:p>
            <a:pPr algn="l" indent="0" marL="0">
              <a:lnSpc>
                <a:spcPct val="100000"/>
              </a:lnSpc>
              <a:buNone/>
            </a:pPr>
            <a:r>
              <a:rPr lang="en-US" sz="1300" dirty="0">
                <a:solidFill>
                  <a:srgbClr val="5B6577"/>
                </a:solidFill>
                <a:latin typeface="Calibri" pitchFamily="34" charset="0"/>
                <a:ea typeface="Calibri" pitchFamily="34" charset="-122"/>
                <a:cs typeface="Calibri" pitchFamily="34" charset="-120"/>
              </a:rPr>
              <a:t>input text</a:t>
            </a:r>
            <a:endParaRPr lang="en-US" sz="1300" dirty="0"/>
          </a:p>
        </p:txBody>
      </p:sp>
      <p:sp>
        <p:nvSpPr>
          <p:cNvPr id="10" name="Shape 7"/>
          <p:cNvSpPr/>
          <p:nvPr/>
        </p:nvSpPr>
        <p:spPr>
          <a:xfrm>
            <a:off x="1691640" y="2697480"/>
            <a:ext cx="795528" cy="1097280"/>
          </a:xfrm>
          <a:prstGeom prst="roundRect">
            <a:avLst>
              <a:gd name="adj" fmla="val 6897"/>
            </a:avLst>
          </a:prstGeom>
          <a:solidFill>
            <a:srgbClr val="E7EBF2"/>
          </a:solidFill>
          <a:ln w="12700">
            <a:solidFill>
              <a:srgbClr val="D5DAE3"/>
            </a:solidFill>
            <a:prstDash val="solid"/>
          </a:ln>
        </p:spPr>
      </p:sp>
      <p:sp>
        <p:nvSpPr>
          <p:cNvPr id="11" name="Shape 8"/>
          <p:cNvSpPr/>
          <p:nvPr/>
        </p:nvSpPr>
        <p:spPr>
          <a:xfrm>
            <a:off x="2487168" y="3246120"/>
            <a:ext cx="164592" cy="0"/>
          </a:xfrm>
          <a:prstGeom prst="line">
            <a:avLst/>
          </a:prstGeom>
          <a:noFill/>
          <a:ln w="15875">
            <a:solidFill>
              <a:srgbClr val="5B6577"/>
            </a:solidFill>
            <a:prstDash val="solid"/>
            <a:tailEnd type="triangle"/>
          </a:ln>
        </p:spPr>
      </p:sp>
      <p:sp>
        <p:nvSpPr>
          <p:cNvPr id="12" name="Shape 9"/>
          <p:cNvSpPr/>
          <p:nvPr/>
        </p:nvSpPr>
        <p:spPr>
          <a:xfrm>
            <a:off x="2651760" y="2697480"/>
            <a:ext cx="795528" cy="1097280"/>
          </a:xfrm>
          <a:prstGeom prst="roundRect">
            <a:avLst>
              <a:gd name="adj" fmla="val 6897"/>
            </a:avLst>
          </a:prstGeom>
          <a:solidFill>
            <a:srgbClr val="E7EBF2"/>
          </a:solidFill>
          <a:ln w="12700">
            <a:solidFill>
              <a:srgbClr val="D5DAE3"/>
            </a:solidFill>
            <a:prstDash val="solid"/>
          </a:ln>
        </p:spPr>
      </p:sp>
      <p:sp>
        <p:nvSpPr>
          <p:cNvPr id="13" name="Shape 10"/>
          <p:cNvSpPr/>
          <p:nvPr/>
        </p:nvSpPr>
        <p:spPr>
          <a:xfrm>
            <a:off x="3447288" y="3246120"/>
            <a:ext cx="164592" cy="0"/>
          </a:xfrm>
          <a:prstGeom prst="line">
            <a:avLst/>
          </a:prstGeom>
          <a:noFill/>
          <a:ln w="15875">
            <a:solidFill>
              <a:srgbClr val="5B6577"/>
            </a:solidFill>
            <a:prstDash val="solid"/>
            <a:tailEnd type="triangle"/>
          </a:ln>
        </p:spPr>
      </p:sp>
      <p:sp>
        <p:nvSpPr>
          <p:cNvPr id="14" name="Shape 11"/>
          <p:cNvSpPr/>
          <p:nvPr/>
        </p:nvSpPr>
        <p:spPr>
          <a:xfrm>
            <a:off x="3611880" y="2697480"/>
            <a:ext cx="795528" cy="1097280"/>
          </a:xfrm>
          <a:prstGeom prst="roundRect">
            <a:avLst>
              <a:gd name="adj" fmla="val 6897"/>
            </a:avLst>
          </a:prstGeom>
          <a:solidFill>
            <a:srgbClr val="E7EBF2"/>
          </a:solidFill>
          <a:ln w="12700">
            <a:solidFill>
              <a:srgbClr val="D5DAE3"/>
            </a:solidFill>
            <a:prstDash val="solid"/>
          </a:ln>
        </p:spPr>
      </p:sp>
      <p:sp>
        <p:nvSpPr>
          <p:cNvPr id="15" name="Shape 12"/>
          <p:cNvSpPr/>
          <p:nvPr/>
        </p:nvSpPr>
        <p:spPr>
          <a:xfrm>
            <a:off x="4407408" y="3246120"/>
            <a:ext cx="164592" cy="0"/>
          </a:xfrm>
          <a:prstGeom prst="line">
            <a:avLst/>
          </a:prstGeom>
          <a:noFill/>
          <a:ln w="15875">
            <a:solidFill>
              <a:srgbClr val="5B6577"/>
            </a:solidFill>
            <a:prstDash val="solid"/>
            <a:tailEnd type="triangle"/>
          </a:ln>
        </p:spPr>
      </p:sp>
      <p:sp>
        <p:nvSpPr>
          <p:cNvPr id="16" name="Shape 13"/>
          <p:cNvSpPr/>
          <p:nvPr/>
        </p:nvSpPr>
        <p:spPr>
          <a:xfrm>
            <a:off x="4572000" y="2697480"/>
            <a:ext cx="795528" cy="1097280"/>
          </a:xfrm>
          <a:prstGeom prst="roundRect">
            <a:avLst>
              <a:gd name="adj" fmla="val 6897"/>
            </a:avLst>
          </a:prstGeom>
          <a:solidFill>
            <a:srgbClr val="E7EBF2"/>
          </a:solidFill>
          <a:ln w="12700">
            <a:solidFill>
              <a:srgbClr val="D5DAE3"/>
            </a:solidFill>
            <a:prstDash val="solid"/>
          </a:ln>
        </p:spPr>
      </p:sp>
      <p:sp>
        <p:nvSpPr>
          <p:cNvPr id="17" name="Shape 14"/>
          <p:cNvSpPr/>
          <p:nvPr/>
        </p:nvSpPr>
        <p:spPr>
          <a:xfrm>
            <a:off x="5367528" y="3246120"/>
            <a:ext cx="164592" cy="0"/>
          </a:xfrm>
          <a:prstGeom prst="line">
            <a:avLst/>
          </a:prstGeom>
          <a:noFill/>
          <a:ln w="15875">
            <a:solidFill>
              <a:srgbClr val="5B6577"/>
            </a:solidFill>
            <a:prstDash val="solid"/>
            <a:tailEnd type="triangle"/>
          </a:ln>
        </p:spPr>
      </p:sp>
      <p:sp>
        <p:nvSpPr>
          <p:cNvPr id="18" name="Shape 15"/>
          <p:cNvSpPr/>
          <p:nvPr/>
        </p:nvSpPr>
        <p:spPr>
          <a:xfrm>
            <a:off x="5532120" y="2697480"/>
            <a:ext cx="795528" cy="1097280"/>
          </a:xfrm>
          <a:prstGeom prst="roundRect">
            <a:avLst>
              <a:gd name="adj" fmla="val 6897"/>
            </a:avLst>
          </a:prstGeom>
          <a:solidFill>
            <a:srgbClr val="E7EBF2"/>
          </a:solidFill>
          <a:ln w="12700">
            <a:solidFill>
              <a:srgbClr val="D5DAE3"/>
            </a:solidFill>
            <a:prstDash val="solid"/>
          </a:ln>
        </p:spPr>
      </p:sp>
      <p:sp>
        <p:nvSpPr>
          <p:cNvPr id="19" name="Shape 16"/>
          <p:cNvSpPr/>
          <p:nvPr/>
        </p:nvSpPr>
        <p:spPr>
          <a:xfrm>
            <a:off x="6327648" y="3246120"/>
            <a:ext cx="164592" cy="0"/>
          </a:xfrm>
          <a:prstGeom prst="line">
            <a:avLst/>
          </a:prstGeom>
          <a:noFill/>
          <a:ln w="15875">
            <a:solidFill>
              <a:srgbClr val="5B6577"/>
            </a:solidFill>
            <a:prstDash val="solid"/>
            <a:tailEnd type="triangle"/>
          </a:ln>
        </p:spPr>
      </p:sp>
      <p:sp>
        <p:nvSpPr>
          <p:cNvPr id="20" name="Shape 17"/>
          <p:cNvSpPr/>
          <p:nvPr/>
        </p:nvSpPr>
        <p:spPr>
          <a:xfrm>
            <a:off x="6492240" y="2697480"/>
            <a:ext cx="795528" cy="1097280"/>
          </a:xfrm>
          <a:prstGeom prst="roundRect">
            <a:avLst>
              <a:gd name="adj" fmla="val 6897"/>
            </a:avLst>
          </a:prstGeom>
          <a:solidFill>
            <a:srgbClr val="DFE9F5"/>
          </a:solidFill>
          <a:ln w="12700">
            <a:solidFill>
              <a:srgbClr val="D5DAE3"/>
            </a:solidFill>
            <a:prstDash val="solid"/>
          </a:ln>
        </p:spPr>
      </p:sp>
      <p:sp>
        <p:nvSpPr>
          <p:cNvPr id="21" name="Shape 18"/>
          <p:cNvSpPr/>
          <p:nvPr/>
        </p:nvSpPr>
        <p:spPr>
          <a:xfrm>
            <a:off x="7287768" y="3246120"/>
            <a:ext cx="164592" cy="0"/>
          </a:xfrm>
          <a:prstGeom prst="line">
            <a:avLst/>
          </a:prstGeom>
          <a:noFill/>
          <a:ln w="15875">
            <a:solidFill>
              <a:srgbClr val="5B6577"/>
            </a:solidFill>
            <a:prstDash val="solid"/>
            <a:tailEnd type="triangle"/>
          </a:ln>
        </p:spPr>
      </p:sp>
      <p:sp>
        <p:nvSpPr>
          <p:cNvPr id="22" name="Shape 19"/>
          <p:cNvSpPr/>
          <p:nvPr/>
        </p:nvSpPr>
        <p:spPr>
          <a:xfrm>
            <a:off x="7452360" y="2697480"/>
            <a:ext cx="795528" cy="1097280"/>
          </a:xfrm>
          <a:prstGeom prst="roundRect">
            <a:avLst>
              <a:gd name="adj" fmla="val 6897"/>
            </a:avLst>
          </a:prstGeom>
          <a:solidFill>
            <a:srgbClr val="DFE9F5"/>
          </a:solidFill>
          <a:ln w="12700">
            <a:solidFill>
              <a:srgbClr val="D5DAE3"/>
            </a:solidFill>
            <a:prstDash val="solid"/>
          </a:ln>
        </p:spPr>
      </p:sp>
      <p:sp>
        <p:nvSpPr>
          <p:cNvPr id="23" name="Shape 20"/>
          <p:cNvSpPr/>
          <p:nvPr/>
        </p:nvSpPr>
        <p:spPr>
          <a:xfrm>
            <a:off x="8247888" y="3246120"/>
            <a:ext cx="164592" cy="0"/>
          </a:xfrm>
          <a:prstGeom prst="line">
            <a:avLst/>
          </a:prstGeom>
          <a:noFill/>
          <a:ln w="15875">
            <a:solidFill>
              <a:srgbClr val="5B6577"/>
            </a:solidFill>
            <a:prstDash val="solid"/>
            <a:tailEnd type="triangle"/>
          </a:ln>
        </p:spPr>
      </p:sp>
      <p:sp>
        <p:nvSpPr>
          <p:cNvPr id="24" name="Shape 21"/>
          <p:cNvSpPr/>
          <p:nvPr/>
        </p:nvSpPr>
        <p:spPr>
          <a:xfrm>
            <a:off x="8412480" y="2697480"/>
            <a:ext cx="795528" cy="1097280"/>
          </a:xfrm>
          <a:prstGeom prst="roundRect">
            <a:avLst>
              <a:gd name="adj" fmla="val 6897"/>
            </a:avLst>
          </a:prstGeom>
          <a:solidFill>
            <a:srgbClr val="DFE9F5"/>
          </a:solidFill>
          <a:ln w="12700">
            <a:solidFill>
              <a:srgbClr val="D5DAE3"/>
            </a:solidFill>
            <a:prstDash val="solid"/>
          </a:ln>
        </p:spPr>
      </p:sp>
      <p:sp>
        <p:nvSpPr>
          <p:cNvPr id="25" name="Shape 22"/>
          <p:cNvSpPr/>
          <p:nvPr/>
        </p:nvSpPr>
        <p:spPr>
          <a:xfrm>
            <a:off x="9208008" y="3246120"/>
            <a:ext cx="164592" cy="0"/>
          </a:xfrm>
          <a:prstGeom prst="line">
            <a:avLst/>
          </a:prstGeom>
          <a:noFill/>
          <a:ln w="15875">
            <a:solidFill>
              <a:srgbClr val="5B6577"/>
            </a:solidFill>
            <a:prstDash val="solid"/>
            <a:tailEnd type="triangle"/>
          </a:ln>
        </p:spPr>
      </p:sp>
      <p:sp>
        <p:nvSpPr>
          <p:cNvPr id="26" name="Shape 23"/>
          <p:cNvSpPr/>
          <p:nvPr/>
        </p:nvSpPr>
        <p:spPr>
          <a:xfrm>
            <a:off x="9372600" y="2697480"/>
            <a:ext cx="795528" cy="1097280"/>
          </a:xfrm>
          <a:prstGeom prst="roundRect">
            <a:avLst>
              <a:gd name="adj" fmla="val 6897"/>
            </a:avLst>
          </a:prstGeom>
          <a:solidFill>
            <a:srgbClr val="DFE9F5"/>
          </a:solidFill>
          <a:ln w="12700">
            <a:solidFill>
              <a:srgbClr val="D5DAE3"/>
            </a:solidFill>
            <a:prstDash val="solid"/>
          </a:ln>
        </p:spPr>
      </p:sp>
      <p:sp>
        <p:nvSpPr>
          <p:cNvPr id="27" name="Shape 24"/>
          <p:cNvSpPr/>
          <p:nvPr/>
        </p:nvSpPr>
        <p:spPr>
          <a:xfrm>
            <a:off x="10168128" y="3246120"/>
            <a:ext cx="164592" cy="0"/>
          </a:xfrm>
          <a:prstGeom prst="line">
            <a:avLst/>
          </a:prstGeom>
          <a:noFill/>
          <a:ln w="15875">
            <a:solidFill>
              <a:srgbClr val="5B6577"/>
            </a:solidFill>
            <a:prstDash val="solid"/>
            <a:tailEnd type="triangle"/>
          </a:ln>
        </p:spPr>
      </p:sp>
      <p:sp>
        <p:nvSpPr>
          <p:cNvPr id="28" name="Shape 25"/>
          <p:cNvSpPr/>
          <p:nvPr/>
        </p:nvSpPr>
        <p:spPr>
          <a:xfrm>
            <a:off x="10332720" y="2697480"/>
            <a:ext cx="795528" cy="1097280"/>
          </a:xfrm>
          <a:prstGeom prst="roundRect">
            <a:avLst>
              <a:gd name="adj" fmla="val 6897"/>
            </a:avLst>
          </a:prstGeom>
          <a:solidFill>
            <a:srgbClr val="DFE9F5"/>
          </a:solidFill>
          <a:ln w="12700">
            <a:solidFill>
              <a:srgbClr val="D5DAE3"/>
            </a:solidFill>
            <a:prstDash val="solid"/>
          </a:ln>
        </p:spPr>
      </p:sp>
      <p:sp>
        <p:nvSpPr>
          <p:cNvPr id="29" name="Shape 26"/>
          <p:cNvSpPr/>
          <p:nvPr/>
        </p:nvSpPr>
        <p:spPr>
          <a:xfrm>
            <a:off x="822960" y="3246120"/>
            <a:ext cx="822960" cy="0"/>
          </a:xfrm>
          <a:prstGeom prst="line">
            <a:avLst/>
          </a:prstGeom>
          <a:noFill/>
          <a:ln w="25400">
            <a:solidFill>
              <a:srgbClr val="1B2433"/>
            </a:solidFill>
            <a:prstDash val="solid"/>
            <a:tailEnd type="triangle"/>
          </a:ln>
        </p:spPr>
      </p:sp>
      <p:sp>
        <p:nvSpPr>
          <p:cNvPr id="30" name="Text 27"/>
          <p:cNvSpPr/>
          <p:nvPr/>
        </p:nvSpPr>
        <p:spPr>
          <a:xfrm>
            <a:off x="10561320" y="2240280"/>
            <a:ext cx="1097280" cy="365760"/>
          </a:xfrm>
          <a:prstGeom prst="rect">
            <a:avLst/>
          </a:prstGeom>
          <a:noFill/>
          <a:ln/>
        </p:spPr>
        <p:txBody>
          <a:bodyPr wrap="square" lIns="0" tIns="0" rIns="0" bIns="0" rtlCol="0" anchor="t"/>
          <a:lstStyle/>
          <a:p>
            <a:pPr algn="r" indent="0" marL="0">
              <a:lnSpc>
                <a:spcPct val="100000"/>
              </a:lnSpc>
              <a:buNone/>
            </a:pPr>
            <a:r>
              <a:rPr lang="en-US" sz="1300" dirty="0">
                <a:solidFill>
                  <a:srgbClr val="5B6577"/>
                </a:solidFill>
                <a:latin typeface="Calibri" pitchFamily="34" charset="0"/>
                <a:ea typeface="Calibri" pitchFamily="34" charset="-122"/>
                <a:cs typeface="Calibri" pitchFamily="34" charset="-120"/>
              </a:rPr>
              <a:t>output</a:t>
            </a:r>
            <a:endParaRPr lang="en-US" sz="1300" dirty="0"/>
          </a:p>
        </p:txBody>
      </p:sp>
      <p:sp>
        <p:nvSpPr>
          <p:cNvPr id="31" name="Shape 28"/>
          <p:cNvSpPr/>
          <p:nvPr/>
        </p:nvSpPr>
        <p:spPr>
          <a:xfrm>
            <a:off x="11155680" y="3246120"/>
            <a:ext cx="457200" cy="0"/>
          </a:xfrm>
          <a:prstGeom prst="line">
            <a:avLst/>
          </a:prstGeom>
          <a:noFill/>
          <a:ln w="25400">
            <a:solidFill>
              <a:srgbClr val="1B2433"/>
            </a:solidFill>
            <a:prstDash val="solid"/>
            <a:tailEnd type="triangle"/>
          </a:ln>
        </p:spPr>
      </p:sp>
      <p:sp>
        <p:nvSpPr>
          <p:cNvPr id="32" name="Shape 29"/>
          <p:cNvSpPr/>
          <p:nvPr/>
        </p:nvSpPr>
        <p:spPr>
          <a:xfrm>
            <a:off x="1691640" y="4160520"/>
            <a:ext cx="9299448" cy="0"/>
          </a:xfrm>
          <a:prstGeom prst="line">
            <a:avLst/>
          </a:prstGeom>
          <a:noFill/>
          <a:ln w="19050">
            <a:solidFill>
              <a:srgbClr val="1B2433"/>
            </a:solidFill>
            <a:prstDash val="solid"/>
            <a:tailEnd type="triangle"/>
          </a:ln>
        </p:spPr>
      </p:sp>
      <p:sp>
        <p:nvSpPr>
          <p:cNvPr id="33" name="Text 30"/>
          <p:cNvSpPr/>
          <p:nvPr/>
        </p:nvSpPr>
        <p:spPr>
          <a:xfrm>
            <a:off x="777240" y="4251960"/>
            <a:ext cx="1828800" cy="320040"/>
          </a:xfrm>
          <a:prstGeom prst="rect">
            <a:avLst/>
          </a:prstGeom>
          <a:noFill/>
          <a:ln/>
        </p:spPr>
        <p:txBody>
          <a:bodyPr wrap="square" lIns="0" tIns="0" rIns="0" bIns="0" rtlCol="0" anchor="t"/>
          <a:lstStyle/>
          <a:p>
            <a:pPr algn="ctr" indent="0" marL="0">
              <a:lnSpc>
                <a:spcPct val="100000"/>
              </a:lnSpc>
              <a:buNone/>
            </a:pPr>
            <a:r>
              <a:rPr lang="en-US" sz="1300" b="1" dirty="0">
                <a:solidFill>
                  <a:srgbClr val="1B2433"/>
                </a:solidFill>
                <a:latin typeface="Calibri" pitchFamily="34" charset="0"/>
                <a:ea typeface="Calibri" pitchFamily="34" charset="-122"/>
                <a:cs typeface="Calibri" pitchFamily="34" charset="-120"/>
              </a:rPr>
              <a:t>0 (first layer)</a:t>
            </a:r>
            <a:endParaRPr lang="en-US" sz="1300" dirty="0"/>
          </a:p>
        </p:txBody>
      </p:sp>
      <p:sp>
        <p:nvSpPr>
          <p:cNvPr id="34" name="Text 31"/>
          <p:cNvSpPr/>
          <p:nvPr/>
        </p:nvSpPr>
        <p:spPr>
          <a:xfrm>
            <a:off x="5349240" y="4251960"/>
            <a:ext cx="1828800" cy="320040"/>
          </a:xfrm>
          <a:prstGeom prst="rect">
            <a:avLst/>
          </a:prstGeom>
          <a:noFill/>
          <a:ln/>
        </p:spPr>
        <p:txBody>
          <a:bodyPr wrap="square" lIns="0" tIns="0" rIns="0" bIns="0" rtlCol="0" anchor="t"/>
          <a:lstStyle/>
          <a:p>
            <a:pPr algn="ctr" indent="0" marL="0">
              <a:lnSpc>
                <a:spcPct val="100000"/>
              </a:lnSpc>
              <a:buNone/>
            </a:pPr>
            <a:r>
              <a:rPr lang="en-US" sz="1300" b="1" dirty="0">
                <a:solidFill>
                  <a:srgbClr val="1B2433"/>
                </a:solidFill>
                <a:latin typeface="Calibri" pitchFamily="34" charset="0"/>
                <a:ea typeface="Calibri" pitchFamily="34" charset="-122"/>
                <a:cs typeface="Calibri" pitchFamily="34" charset="-120"/>
              </a:rPr>
              <a:t>0.5 (halfway)</a:t>
            </a:r>
            <a:endParaRPr lang="en-US" sz="1300" dirty="0"/>
          </a:p>
        </p:txBody>
      </p:sp>
      <p:sp>
        <p:nvSpPr>
          <p:cNvPr id="35" name="Text 32"/>
          <p:cNvSpPr/>
          <p:nvPr/>
        </p:nvSpPr>
        <p:spPr>
          <a:xfrm>
            <a:off x="9921240" y="4251960"/>
            <a:ext cx="1828800" cy="320040"/>
          </a:xfrm>
          <a:prstGeom prst="rect">
            <a:avLst/>
          </a:prstGeom>
          <a:noFill/>
          <a:ln/>
        </p:spPr>
        <p:txBody>
          <a:bodyPr wrap="square" lIns="0" tIns="0" rIns="0" bIns="0" rtlCol="0" anchor="t"/>
          <a:lstStyle/>
          <a:p>
            <a:pPr algn="ctr" indent="0" marL="0">
              <a:lnSpc>
                <a:spcPct val="100000"/>
              </a:lnSpc>
              <a:buNone/>
            </a:pPr>
            <a:r>
              <a:rPr lang="en-US" sz="1300" b="1" dirty="0">
                <a:solidFill>
                  <a:srgbClr val="1B2433"/>
                </a:solidFill>
                <a:latin typeface="Calibri" pitchFamily="34" charset="0"/>
                <a:ea typeface="Calibri" pitchFamily="34" charset="-122"/>
                <a:cs typeface="Calibri" pitchFamily="34" charset="-120"/>
              </a:rPr>
              <a:t>1 (last layer)</a:t>
            </a:r>
            <a:endParaRPr lang="en-US" sz="1300" dirty="0"/>
          </a:p>
        </p:txBody>
      </p:sp>
      <p:sp>
        <p:nvSpPr>
          <p:cNvPr id="36" name="Text 33"/>
          <p:cNvSpPr/>
          <p:nvPr/>
        </p:nvSpPr>
        <p:spPr>
          <a:xfrm>
            <a:off x="4937760" y="4617720"/>
            <a:ext cx="2743200" cy="320040"/>
          </a:xfrm>
          <a:prstGeom prst="rect">
            <a:avLst/>
          </a:prstGeom>
          <a:noFill/>
          <a:ln/>
        </p:spPr>
        <p:txBody>
          <a:bodyPr wrap="square" lIns="0" tIns="0" rIns="0" bIns="0" rtlCol="0" anchor="t"/>
          <a:lstStyle/>
          <a:p>
            <a:pPr algn="ctr" indent="0" marL="0">
              <a:lnSpc>
                <a:spcPct val="100000"/>
              </a:lnSpc>
              <a:buNone/>
            </a:pPr>
            <a:r>
              <a:rPr lang="en-US" sz="1200" dirty="0">
                <a:solidFill>
                  <a:srgbClr val="5B6577"/>
                </a:solidFill>
                <a:latin typeface="Calibri" pitchFamily="34" charset="0"/>
                <a:ea typeface="Calibri" pitchFamily="34" charset="-122"/>
                <a:cs typeface="Calibri" pitchFamily="34" charset="-120"/>
              </a:rPr>
              <a:t>normalised depth</a:t>
            </a:r>
            <a:endParaRPr lang="en-US" sz="1200" dirty="0"/>
          </a:p>
        </p:txBody>
      </p:sp>
      <p:sp>
        <p:nvSpPr>
          <p:cNvPr id="37" name="Shape 34"/>
          <p:cNvSpPr/>
          <p:nvPr/>
        </p:nvSpPr>
        <p:spPr>
          <a:xfrm>
            <a:off x="548640" y="5120640"/>
            <a:ext cx="11064240" cy="777240"/>
          </a:xfrm>
          <a:prstGeom prst="roundRect">
            <a:avLst>
              <a:gd name="adj" fmla="val 9412"/>
            </a:avLst>
          </a:prstGeom>
          <a:solidFill>
            <a:srgbClr val="FBEBD2"/>
          </a:solidFill>
          <a:ln w="12700">
            <a:solidFill>
              <a:srgbClr val="E39B2D"/>
            </a:solidFill>
            <a:prstDash val="solid"/>
          </a:ln>
        </p:spPr>
      </p:sp>
      <p:sp>
        <p:nvSpPr>
          <p:cNvPr id="38" name="Text 35"/>
          <p:cNvSpPr/>
          <p:nvPr/>
        </p:nvSpPr>
        <p:spPr>
          <a:xfrm>
            <a:off x="777240" y="5120640"/>
            <a:ext cx="10607040" cy="77724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Why ask?</a:t>
            </a:r>
            <a:r>
              <a:rPr lang="en-US" sz="1500" dirty="0">
                <a:solidFill>
                  <a:srgbClr val="1B2433"/>
                </a:solidFill>
                <a:latin typeface="Calibri" pitchFamily="34" charset="0"/>
                <a:ea typeface="Calibri" pitchFamily="34" charset="-122"/>
                <a:cs typeface="Calibri" pitchFamily="34" charset="-120"/>
              </a:rPr>
              <a:t> A reference-free metric cannot see a distinction the English does not mark. Does the </a:t>
            </a:r>
            <a:r>
              <a:rPr lang="en-US" sz="1500" b="1" dirty="0">
                <a:solidFill>
                  <a:srgbClr val="1B2433"/>
                </a:solidFill>
                <a:latin typeface="Calibri" pitchFamily="34" charset="0"/>
                <a:ea typeface="Calibri" pitchFamily="34" charset="-122"/>
                <a:cs typeface="Calibri" pitchFamily="34" charset="-120"/>
              </a:rPr>
              <a:t>model itself</a:t>
            </a:r>
            <a:r>
              <a:rPr lang="en-US" sz="1500" dirty="0">
                <a:solidFill>
                  <a:srgbClr val="1B2433"/>
                </a:solidFill>
                <a:latin typeface="Calibri" pitchFamily="34" charset="0"/>
                <a:ea typeface="Calibri" pitchFamily="34" charset="-122"/>
                <a:cs typeface="Calibri" pitchFamily="34" charset="-120"/>
              </a:rPr>
              <a:t> also settle it late? Model studied: </a:t>
            </a:r>
            <a:r>
              <a:rPr lang="en-US" sz="1500" b="1" dirty="0">
                <a:solidFill>
                  <a:srgbClr val="1B2433"/>
                </a:solidFill>
                <a:latin typeface="Calibri" pitchFamily="34" charset="0"/>
                <a:ea typeface="Calibri" pitchFamily="34" charset="-122"/>
                <a:cs typeface="Calibri" pitchFamily="34" charset="-120"/>
              </a:rPr>
              <a:t>gemma-3-4b-pt</a:t>
            </a:r>
            <a:r>
              <a:rPr lang="en-US" sz="1500" dirty="0">
                <a:solidFill>
                  <a:srgbClr val="1B2433"/>
                </a:solidFill>
                <a:latin typeface="Calibri" pitchFamily="34" charset="0"/>
                <a:ea typeface="Calibri" pitchFamily="34" charset="-122"/>
                <a:cs typeface="Calibri" pitchFamily="34" charset="-120"/>
              </a:rPr>
              <a:t> (Gemma 3 4B, before chat training).</a:t>
            </a:r>
            <a:endParaRPr lang="en-US" sz="15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8</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INSIDE A MODEL</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Activation patching, in simple words</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78</a:t>
            </a:r>
            <a:endParaRPr lang="en-US" sz="900" dirty="0"/>
          </a:p>
        </p:txBody>
      </p:sp>
      <p:sp>
        <p:nvSpPr>
          <p:cNvPr id="9" name="Text 6"/>
          <p:cNvSpPr/>
          <p:nvPr/>
        </p:nvSpPr>
        <p:spPr>
          <a:xfrm>
            <a:off x="548640" y="1783080"/>
            <a:ext cx="2194560" cy="640080"/>
          </a:xfrm>
          <a:prstGeom prst="rect">
            <a:avLst/>
          </a:prstGeom>
          <a:noFill/>
          <a:ln/>
        </p:spPr>
        <p:txBody>
          <a:bodyPr wrap="square" lIns="0" tIns="0" rIns="0" bIns="0" rtlCol="0" anchor="ctr"/>
          <a:lstStyle/>
          <a:p>
            <a:pPr algn="l" indent="0" marL="0">
              <a:lnSpc>
                <a:spcPct val="100000"/>
              </a:lnSpc>
              <a:buNone/>
            </a:pPr>
            <a:r>
              <a:rPr lang="en-US" sz="1400" b="1" dirty="0">
                <a:solidFill>
                  <a:srgbClr val="009E73"/>
                </a:solidFill>
                <a:latin typeface="Calibri" pitchFamily="34" charset="0"/>
                <a:ea typeface="Calibri" pitchFamily="34" charset="-122"/>
                <a:cs typeface="Calibri" pitchFamily="34" charset="-120"/>
              </a:rPr>
              <a:t>"The students came"</a:t>
            </a:r>
            <a:endParaRPr lang="en-US" sz="1400" dirty="0"/>
          </a:p>
        </p:txBody>
      </p:sp>
      <p:sp>
        <p:nvSpPr>
          <p:cNvPr id="10" name="Shape 7"/>
          <p:cNvSpPr/>
          <p:nvPr/>
        </p:nvSpPr>
        <p:spPr>
          <a:xfrm>
            <a:off x="2834640" y="1856232"/>
            <a:ext cx="713232" cy="502920"/>
          </a:xfrm>
          <a:prstGeom prst="roundRect">
            <a:avLst>
              <a:gd name="adj" fmla="val 9091"/>
            </a:avLst>
          </a:prstGeom>
          <a:solidFill>
            <a:srgbClr val="E7EBF2"/>
          </a:solidFill>
          <a:ln w="12700">
            <a:solidFill>
              <a:srgbClr val="D5DAE3"/>
            </a:solidFill>
            <a:prstDash val="solid"/>
          </a:ln>
        </p:spPr>
      </p:sp>
      <p:sp>
        <p:nvSpPr>
          <p:cNvPr id="11" name="Shape 8"/>
          <p:cNvSpPr/>
          <p:nvPr/>
        </p:nvSpPr>
        <p:spPr>
          <a:xfrm>
            <a:off x="3703320" y="1856232"/>
            <a:ext cx="713232" cy="502920"/>
          </a:xfrm>
          <a:prstGeom prst="roundRect">
            <a:avLst>
              <a:gd name="adj" fmla="val 9091"/>
            </a:avLst>
          </a:prstGeom>
          <a:solidFill>
            <a:srgbClr val="E7EBF2"/>
          </a:solidFill>
          <a:ln w="12700">
            <a:solidFill>
              <a:srgbClr val="D5DAE3"/>
            </a:solidFill>
            <a:prstDash val="solid"/>
          </a:ln>
        </p:spPr>
      </p:sp>
      <p:sp>
        <p:nvSpPr>
          <p:cNvPr id="12" name="Shape 9"/>
          <p:cNvSpPr/>
          <p:nvPr/>
        </p:nvSpPr>
        <p:spPr>
          <a:xfrm>
            <a:off x="4572000" y="1856232"/>
            <a:ext cx="713232" cy="502920"/>
          </a:xfrm>
          <a:prstGeom prst="roundRect">
            <a:avLst>
              <a:gd name="adj" fmla="val 9091"/>
            </a:avLst>
          </a:prstGeom>
          <a:solidFill>
            <a:srgbClr val="E7EBF2"/>
          </a:solidFill>
          <a:ln w="12700">
            <a:solidFill>
              <a:srgbClr val="D5DAE3"/>
            </a:solidFill>
            <a:prstDash val="solid"/>
          </a:ln>
        </p:spPr>
      </p:sp>
      <p:sp>
        <p:nvSpPr>
          <p:cNvPr id="13" name="Shape 10"/>
          <p:cNvSpPr/>
          <p:nvPr/>
        </p:nvSpPr>
        <p:spPr>
          <a:xfrm>
            <a:off x="5440680" y="1856232"/>
            <a:ext cx="713232" cy="502920"/>
          </a:xfrm>
          <a:prstGeom prst="roundRect">
            <a:avLst>
              <a:gd name="adj" fmla="val 9091"/>
            </a:avLst>
          </a:prstGeom>
          <a:solidFill>
            <a:srgbClr val="E7EBF2"/>
          </a:solidFill>
          <a:ln w="12700">
            <a:solidFill>
              <a:srgbClr val="D5DAE3"/>
            </a:solidFill>
            <a:prstDash val="solid"/>
          </a:ln>
        </p:spPr>
      </p:sp>
      <p:sp>
        <p:nvSpPr>
          <p:cNvPr id="14" name="Shape 11"/>
          <p:cNvSpPr/>
          <p:nvPr/>
        </p:nvSpPr>
        <p:spPr>
          <a:xfrm>
            <a:off x="6309360" y="1856232"/>
            <a:ext cx="713232" cy="502920"/>
          </a:xfrm>
          <a:prstGeom prst="roundRect">
            <a:avLst>
              <a:gd name="adj" fmla="val 9091"/>
            </a:avLst>
          </a:prstGeom>
          <a:solidFill>
            <a:srgbClr val="E7EBF2"/>
          </a:solidFill>
          <a:ln w="12700">
            <a:solidFill>
              <a:srgbClr val="D5DAE3"/>
            </a:solidFill>
            <a:prstDash val="solid"/>
          </a:ln>
        </p:spPr>
      </p:sp>
      <p:sp>
        <p:nvSpPr>
          <p:cNvPr id="15" name="Shape 12"/>
          <p:cNvSpPr/>
          <p:nvPr/>
        </p:nvSpPr>
        <p:spPr>
          <a:xfrm>
            <a:off x="7178040" y="1856232"/>
            <a:ext cx="713232" cy="502920"/>
          </a:xfrm>
          <a:prstGeom prst="roundRect">
            <a:avLst>
              <a:gd name="adj" fmla="val 9091"/>
            </a:avLst>
          </a:prstGeom>
          <a:solidFill>
            <a:srgbClr val="FBEBD2"/>
          </a:solidFill>
          <a:ln w="25400">
            <a:solidFill>
              <a:srgbClr val="E39B2D"/>
            </a:solidFill>
            <a:prstDash val="solid"/>
          </a:ln>
        </p:spPr>
      </p:sp>
      <p:sp>
        <p:nvSpPr>
          <p:cNvPr id="16" name="Shape 13"/>
          <p:cNvSpPr/>
          <p:nvPr/>
        </p:nvSpPr>
        <p:spPr>
          <a:xfrm>
            <a:off x="8046720" y="1856232"/>
            <a:ext cx="713232" cy="502920"/>
          </a:xfrm>
          <a:prstGeom prst="roundRect">
            <a:avLst>
              <a:gd name="adj" fmla="val 9091"/>
            </a:avLst>
          </a:prstGeom>
          <a:solidFill>
            <a:srgbClr val="E7EBF2"/>
          </a:solidFill>
          <a:ln w="12700">
            <a:solidFill>
              <a:srgbClr val="D5DAE3"/>
            </a:solidFill>
            <a:prstDash val="solid"/>
          </a:ln>
        </p:spPr>
      </p:sp>
      <p:sp>
        <p:nvSpPr>
          <p:cNvPr id="17" name="Shape 14"/>
          <p:cNvSpPr/>
          <p:nvPr/>
        </p:nvSpPr>
        <p:spPr>
          <a:xfrm>
            <a:off x="8915400" y="1856232"/>
            <a:ext cx="713232" cy="502920"/>
          </a:xfrm>
          <a:prstGeom prst="roundRect">
            <a:avLst>
              <a:gd name="adj" fmla="val 9091"/>
            </a:avLst>
          </a:prstGeom>
          <a:solidFill>
            <a:srgbClr val="E7EBF2"/>
          </a:solidFill>
          <a:ln w="12700">
            <a:solidFill>
              <a:srgbClr val="D5DAE3"/>
            </a:solidFill>
            <a:prstDash val="solid"/>
          </a:ln>
        </p:spPr>
      </p:sp>
      <p:sp>
        <p:nvSpPr>
          <p:cNvPr id="18" name="Shape 15"/>
          <p:cNvSpPr/>
          <p:nvPr/>
        </p:nvSpPr>
        <p:spPr>
          <a:xfrm>
            <a:off x="9784080" y="2103120"/>
            <a:ext cx="457200" cy="0"/>
          </a:xfrm>
          <a:prstGeom prst="line">
            <a:avLst/>
          </a:prstGeom>
          <a:noFill/>
          <a:ln w="25400">
            <a:solidFill>
              <a:srgbClr val="1B2433"/>
            </a:solidFill>
            <a:prstDash val="solid"/>
            <a:tailEnd type="triangle"/>
          </a:ln>
        </p:spPr>
      </p:sp>
      <p:sp>
        <p:nvSpPr>
          <p:cNvPr id="19" name="Text 16"/>
          <p:cNvSpPr/>
          <p:nvPr/>
        </p:nvSpPr>
        <p:spPr>
          <a:xfrm>
            <a:off x="10332720" y="1783080"/>
            <a:ext cx="1325880" cy="640080"/>
          </a:xfrm>
          <a:prstGeom prst="rect">
            <a:avLst/>
          </a:prstGeom>
          <a:noFill/>
          <a:ln/>
        </p:spPr>
        <p:txBody>
          <a:bodyPr wrap="square" lIns="0" tIns="0" rIns="0" bIns="0" rtlCol="0" anchor="ctr"/>
          <a:lstStyle/>
          <a:p>
            <a:pPr algn="l" indent="0" marL="0">
              <a:lnSpc>
                <a:spcPct val="100000"/>
              </a:lnSpc>
              <a:buNone/>
            </a:pPr>
            <a:r>
              <a:rPr lang="en-US" sz="1500" b="1" dirty="0">
                <a:solidFill>
                  <a:srgbClr val="1B2433"/>
                </a:solidFill>
                <a:latin typeface="Calibri" pitchFamily="34" charset="0"/>
                <a:ea typeface="Calibri" pitchFamily="34" charset="-122"/>
                <a:cs typeface="Calibri" pitchFamily="34" charset="-120"/>
              </a:rPr>
              <a:t>people</a:t>
            </a:r>
            <a:endParaRPr lang="en-US" sz="1500" dirty="0"/>
          </a:p>
        </p:txBody>
      </p:sp>
      <p:sp>
        <p:nvSpPr>
          <p:cNvPr id="20" name="Text 17"/>
          <p:cNvSpPr/>
          <p:nvPr/>
        </p:nvSpPr>
        <p:spPr>
          <a:xfrm>
            <a:off x="548640" y="3063240"/>
            <a:ext cx="2194560" cy="640080"/>
          </a:xfrm>
          <a:prstGeom prst="rect">
            <a:avLst/>
          </a:prstGeom>
          <a:noFill/>
          <a:ln/>
        </p:spPr>
        <p:txBody>
          <a:bodyPr wrap="square" lIns="0" tIns="0" rIns="0" bIns="0" rtlCol="0" anchor="ctr"/>
          <a:lstStyle/>
          <a:p>
            <a:pPr algn="l" indent="0" marL="0">
              <a:lnSpc>
                <a:spcPct val="100000"/>
              </a:lnSpc>
              <a:buNone/>
            </a:pPr>
            <a:r>
              <a:rPr lang="en-US" sz="1400" b="1" dirty="0">
                <a:solidFill>
                  <a:srgbClr val="0072B2"/>
                </a:solidFill>
                <a:latin typeface="Calibri" pitchFamily="34" charset="0"/>
                <a:ea typeface="Calibri" pitchFamily="34" charset="-122"/>
                <a:cs typeface="Calibri" pitchFamily="34" charset="-120"/>
              </a:rPr>
              <a:t>"The dogs came"</a:t>
            </a:r>
            <a:endParaRPr lang="en-US" sz="1400" dirty="0"/>
          </a:p>
        </p:txBody>
      </p:sp>
      <p:sp>
        <p:nvSpPr>
          <p:cNvPr id="21" name="Shape 18"/>
          <p:cNvSpPr/>
          <p:nvPr/>
        </p:nvSpPr>
        <p:spPr>
          <a:xfrm>
            <a:off x="2834640" y="3136392"/>
            <a:ext cx="713232" cy="502920"/>
          </a:xfrm>
          <a:prstGeom prst="roundRect">
            <a:avLst>
              <a:gd name="adj" fmla="val 9091"/>
            </a:avLst>
          </a:prstGeom>
          <a:solidFill>
            <a:srgbClr val="E7EBF2"/>
          </a:solidFill>
          <a:ln w="12700">
            <a:solidFill>
              <a:srgbClr val="D5DAE3"/>
            </a:solidFill>
            <a:prstDash val="solid"/>
          </a:ln>
        </p:spPr>
      </p:sp>
      <p:sp>
        <p:nvSpPr>
          <p:cNvPr id="22" name="Shape 19"/>
          <p:cNvSpPr/>
          <p:nvPr/>
        </p:nvSpPr>
        <p:spPr>
          <a:xfrm>
            <a:off x="3703320" y="3136392"/>
            <a:ext cx="713232" cy="502920"/>
          </a:xfrm>
          <a:prstGeom prst="roundRect">
            <a:avLst>
              <a:gd name="adj" fmla="val 9091"/>
            </a:avLst>
          </a:prstGeom>
          <a:solidFill>
            <a:srgbClr val="E7EBF2"/>
          </a:solidFill>
          <a:ln w="12700">
            <a:solidFill>
              <a:srgbClr val="D5DAE3"/>
            </a:solidFill>
            <a:prstDash val="solid"/>
          </a:ln>
        </p:spPr>
      </p:sp>
      <p:sp>
        <p:nvSpPr>
          <p:cNvPr id="23" name="Shape 20"/>
          <p:cNvSpPr/>
          <p:nvPr/>
        </p:nvSpPr>
        <p:spPr>
          <a:xfrm>
            <a:off x="4572000" y="3136392"/>
            <a:ext cx="713232" cy="502920"/>
          </a:xfrm>
          <a:prstGeom prst="roundRect">
            <a:avLst>
              <a:gd name="adj" fmla="val 9091"/>
            </a:avLst>
          </a:prstGeom>
          <a:solidFill>
            <a:srgbClr val="E7EBF2"/>
          </a:solidFill>
          <a:ln w="12700">
            <a:solidFill>
              <a:srgbClr val="D5DAE3"/>
            </a:solidFill>
            <a:prstDash val="solid"/>
          </a:ln>
        </p:spPr>
      </p:sp>
      <p:sp>
        <p:nvSpPr>
          <p:cNvPr id="24" name="Shape 21"/>
          <p:cNvSpPr/>
          <p:nvPr/>
        </p:nvSpPr>
        <p:spPr>
          <a:xfrm>
            <a:off x="5440680" y="3136392"/>
            <a:ext cx="713232" cy="502920"/>
          </a:xfrm>
          <a:prstGeom prst="roundRect">
            <a:avLst>
              <a:gd name="adj" fmla="val 9091"/>
            </a:avLst>
          </a:prstGeom>
          <a:solidFill>
            <a:srgbClr val="E7EBF2"/>
          </a:solidFill>
          <a:ln w="12700">
            <a:solidFill>
              <a:srgbClr val="D5DAE3"/>
            </a:solidFill>
            <a:prstDash val="solid"/>
          </a:ln>
        </p:spPr>
      </p:sp>
      <p:sp>
        <p:nvSpPr>
          <p:cNvPr id="25" name="Shape 22"/>
          <p:cNvSpPr/>
          <p:nvPr/>
        </p:nvSpPr>
        <p:spPr>
          <a:xfrm>
            <a:off x="6309360" y="3136392"/>
            <a:ext cx="713232" cy="502920"/>
          </a:xfrm>
          <a:prstGeom prst="roundRect">
            <a:avLst>
              <a:gd name="adj" fmla="val 9091"/>
            </a:avLst>
          </a:prstGeom>
          <a:solidFill>
            <a:srgbClr val="E7EBF2"/>
          </a:solidFill>
          <a:ln w="12700">
            <a:solidFill>
              <a:srgbClr val="D5DAE3"/>
            </a:solidFill>
            <a:prstDash val="solid"/>
          </a:ln>
        </p:spPr>
      </p:sp>
      <p:sp>
        <p:nvSpPr>
          <p:cNvPr id="26" name="Shape 23"/>
          <p:cNvSpPr/>
          <p:nvPr/>
        </p:nvSpPr>
        <p:spPr>
          <a:xfrm>
            <a:off x="7178040" y="3136392"/>
            <a:ext cx="713232" cy="502920"/>
          </a:xfrm>
          <a:prstGeom prst="roundRect">
            <a:avLst>
              <a:gd name="adj" fmla="val 9091"/>
            </a:avLst>
          </a:prstGeom>
          <a:solidFill>
            <a:srgbClr val="FBEBD2"/>
          </a:solidFill>
          <a:ln w="25400">
            <a:solidFill>
              <a:srgbClr val="E39B2D"/>
            </a:solidFill>
            <a:prstDash val="solid"/>
          </a:ln>
        </p:spPr>
      </p:sp>
      <p:sp>
        <p:nvSpPr>
          <p:cNvPr id="27" name="Shape 24"/>
          <p:cNvSpPr/>
          <p:nvPr/>
        </p:nvSpPr>
        <p:spPr>
          <a:xfrm>
            <a:off x="8046720" y="3136392"/>
            <a:ext cx="713232" cy="502920"/>
          </a:xfrm>
          <a:prstGeom prst="roundRect">
            <a:avLst>
              <a:gd name="adj" fmla="val 9091"/>
            </a:avLst>
          </a:prstGeom>
          <a:solidFill>
            <a:srgbClr val="E7EBF2"/>
          </a:solidFill>
          <a:ln w="12700">
            <a:solidFill>
              <a:srgbClr val="D5DAE3"/>
            </a:solidFill>
            <a:prstDash val="solid"/>
          </a:ln>
        </p:spPr>
      </p:sp>
      <p:sp>
        <p:nvSpPr>
          <p:cNvPr id="28" name="Shape 25"/>
          <p:cNvSpPr/>
          <p:nvPr/>
        </p:nvSpPr>
        <p:spPr>
          <a:xfrm>
            <a:off x="8915400" y="3136392"/>
            <a:ext cx="713232" cy="502920"/>
          </a:xfrm>
          <a:prstGeom prst="roundRect">
            <a:avLst>
              <a:gd name="adj" fmla="val 9091"/>
            </a:avLst>
          </a:prstGeom>
          <a:solidFill>
            <a:srgbClr val="E7EBF2"/>
          </a:solidFill>
          <a:ln w="12700">
            <a:solidFill>
              <a:srgbClr val="D5DAE3"/>
            </a:solidFill>
            <a:prstDash val="solid"/>
          </a:ln>
        </p:spPr>
      </p:sp>
      <p:sp>
        <p:nvSpPr>
          <p:cNvPr id="29" name="Shape 26"/>
          <p:cNvSpPr/>
          <p:nvPr/>
        </p:nvSpPr>
        <p:spPr>
          <a:xfrm>
            <a:off x="9784080" y="3383280"/>
            <a:ext cx="457200" cy="0"/>
          </a:xfrm>
          <a:prstGeom prst="line">
            <a:avLst/>
          </a:prstGeom>
          <a:noFill/>
          <a:ln w="25400">
            <a:solidFill>
              <a:srgbClr val="1B2433"/>
            </a:solidFill>
            <a:prstDash val="solid"/>
            <a:tailEnd type="triangle"/>
          </a:ln>
        </p:spPr>
      </p:sp>
      <p:sp>
        <p:nvSpPr>
          <p:cNvPr id="30" name="Text 27"/>
          <p:cNvSpPr/>
          <p:nvPr/>
        </p:nvSpPr>
        <p:spPr>
          <a:xfrm>
            <a:off x="10332720" y="3063240"/>
            <a:ext cx="1325880" cy="640080"/>
          </a:xfrm>
          <a:prstGeom prst="rect">
            <a:avLst/>
          </a:prstGeom>
          <a:noFill/>
          <a:ln/>
        </p:spPr>
        <p:txBody>
          <a:bodyPr wrap="square" lIns="0" tIns="0" rIns="0" bIns="0" rtlCol="0" anchor="ctr"/>
          <a:lstStyle/>
          <a:p>
            <a:pPr algn="l" indent="0" marL="0">
              <a:lnSpc>
                <a:spcPct val="100000"/>
              </a:lnSpc>
              <a:buNone/>
            </a:pPr>
            <a:r>
              <a:rPr lang="en-US" sz="1500" b="1" dirty="0">
                <a:solidFill>
                  <a:srgbClr val="1B2433"/>
                </a:solidFill>
                <a:latin typeface="Calibri" pitchFamily="34" charset="0"/>
                <a:ea typeface="Calibri" pitchFamily="34" charset="-122"/>
                <a:cs typeface="Calibri" pitchFamily="34" charset="-120"/>
              </a:rPr>
              <a:t>non-people</a:t>
            </a:r>
            <a:endParaRPr lang="en-US" sz="1500" dirty="0"/>
          </a:p>
        </p:txBody>
      </p:sp>
      <p:sp>
        <p:nvSpPr>
          <p:cNvPr id="31" name="Shape 28"/>
          <p:cNvSpPr/>
          <p:nvPr/>
        </p:nvSpPr>
        <p:spPr>
          <a:xfrm>
            <a:off x="7534656" y="2423160"/>
            <a:ext cx="0" cy="685800"/>
          </a:xfrm>
          <a:prstGeom prst="line">
            <a:avLst/>
          </a:prstGeom>
          <a:noFill/>
          <a:ln w="38100">
            <a:solidFill>
              <a:srgbClr val="E39B2D"/>
            </a:solidFill>
            <a:prstDash val="solid"/>
            <a:tailEnd type="triangle"/>
          </a:ln>
        </p:spPr>
      </p:sp>
      <p:sp>
        <p:nvSpPr>
          <p:cNvPr id="32" name="Text 29"/>
          <p:cNvSpPr/>
          <p:nvPr/>
        </p:nvSpPr>
        <p:spPr>
          <a:xfrm>
            <a:off x="7818120" y="2487168"/>
            <a:ext cx="3017520" cy="548640"/>
          </a:xfrm>
          <a:prstGeom prst="rect">
            <a:avLst/>
          </a:prstGeom>
          <a:noFill/>
          <a:ln/>
        </p:spPr>
        <p:txBody>
          <a:bodyPr wrap="square" lIns="0" tIns="0" rIns="0" bIns="0" rtlCol="0" anchor="t"/>
          <a:lstStyle/>
          <a:p>
            <a:pPr algn="l" indent="0" marL="0">
              <a:lnSpc>
                <a:spcPct val="100000"/>
              </a:lnSpc>
              <a:buNone/>
            </a:pPr>
            <a:r>
              <a:rPr lang="en-US" sz="1200" b="1" dirty="0">
                <a:solidFill>
                  <a:srgbClr val="E39B2D"/>
                </a:solidFill>
                <a:latin typeface="Calibri" pitchFamily="34" charset="0"/>
                <a:ea typeface="Calibri" pitchFamily="34" charset="-122"/>
                <a:cs typeface="Calibri" pitchFamily="34" charset="-120"/>
              </a:rPr>
              <a:t>paste this layer's state from the "students" run into the "dogs" run</a:t>
            </a:r>
            <a:endParaRPr lang="en-US" sz="1200" dirty="0"/>
          </a:p>
        </p:txBody>
      </p:sp>
      <p:sp>
        <p:nvSpPr>
          <p:cNvPr id="33" name="Text 30"/>
          <p:cNvSpPr/>
          <p:nvPr/>
        </p:nvSpPr>
        <p:spPr>
          <a:xfrm>
            <a:off x="548640" y="4069080"/>
            <a:ext cx="11064240" cy="2011680"/>
          </a:xfrm>
          <a:prstGeom prst="rect">
            <a:avLst/>
          </a:prstGeom>
          <a:noFill/>
          <a:ln/>
        </p:spPr>
        <p:txBody>
          <a:bodyPr wrap="square" lIns="0" tIns="0" rIns="0" bIns="0" rtlCol="0" anchor="t"/>
          <a:lstStyle/>
          <a:p>
            <a:pPr marL="228600" indent="-228600">
              <a:lnSpc>
                <a:spcPct val="105000"/>
              </a:lnSpc>
              <a:spcAft>
                <a:spcPts val="800"/>
              </a:spcAft>
              <a:buSzPct val="100000"/>
              <a:buChar char="•"/>
            </a:pPr>
            <a:r>
              <a:rPr lang="en-US" sz="1600" dirty="0">
                <a:solidFill>
                  <a:srgbClr val="1B2433"/>
                </a:solidFill>
                <a:latin typeface="Calibri" pitchFamily="34" charset="0"/>
                <a:ea typeface="Calibri" pitchFamily="34" charset="-122"/>
                <a:cs typeface="Calibri" pitchFamily="34" charset="-120"/>
              </a:rPr>
              <a:t>If the "dogs" run now produces the </a:t>
            </a:r>
            <a:r>
              <a:rPr lang="en-US" sz="1600" b="1" dirty="0">
                <a:solidFill>
                  <a:srgbClr val="1B2433"/>
                </a:solidFill>
                <a:latin typeface="Calibri" pitchFamily="34" charset="0"/>
                <a:ea typeface="Calibri" pitchFamily="34" charset="-122"/>
                <a:cs typeface="Calibri" pitchFamily="34" charset="-120"/>
              </a:rPr>
              <a:t>people</a:t>
            </a:r>
            <a:r>
              <a:rPr lang="en-US" sz="1600" dirty="0">
                <a:solidFill>
                  <a:srgbClr val="1B2433"/>
                </a:solidFill>
                <a:latin typeface="Calibri" pitchFamily="34" charset="0"/>
                <a:ea typeface="Calibri" pitchFamily="34" charset="-122"/>
                <a:cs typeface="Calibri" pitchFamily="34" charset="-120"/>
              </a:rPr>
              <a:t> ending, that layer </a:t>
            </a:r>
            <a:r>
              <a:rPr lang="en-US" sz="1600" b="1" dirty="0">
                <a:solidFill>
                  <a:srgbClr val="1B2433"/>
                </a:solidFill>
                <a:latin typeface="Calibri" pitchFamily="34" charset="0"/>
                <a:ea typeface="Calibri" pitchFamily="34" charset="-122"/>
                <a:cs typeface="Calibri" pitchFamily="34" charset="-120"/>
              </a:rPr>
              <a:t>already carried the decision</a:t>
            </a:r>
            <a:r>
              <a:rPr lang="en-US" sz="1600" dirty="0">
                <a:solidFill>
                  <a:srgbClr val="1B2433"/>
                </a:solidFill>
                <a:latin typeface="Calibri" pitchFamily="34" charset="0"/>
                <a:ea typeface="Calibri" pitchFamily="34" charset="-122"/>
                <a:cs typeface="Calibri" pitchFamily="34" charset="-120"/>
              </a:rPr>
              <a:t>.</a:t>
            </a:r>
            <a:endParaRPr lang="en-US" sz="1600" dirty="0"/>
          </a:p>
          <a:p>
            <a:pPr marL="228600" indent="-228600">
              <a:lnSpc>
                <a:spcPct val="105000"/>
              </a:lnSpc>
              <a:spcAft>
                <a:spcPts val="800"/>
              </a:spcAft>
              <a:buSzPct val="100000"/>
              <a:buChar char="•"/>
            </a:pPr>
            <a:r>
              <a:rPr lang="en-US" sz="1600" dirty="0">
                <a:solidFill>
                  <a:srgbClr val="1B2433"/>
                </a:solidFill>
                <a:latin typeface="Calibri" pitchFamily="34" charset="0"/>
                <a:ea typeface="Calibri" pitchFamily="34" charset="-122"/>
                <a:cs typeface="Calibri" pitchFamily="34" charset="-120"/>
              </a:rPr>
              <a:t>Repeat at </a:t>
            </a:r>
            <a:r>
              <a:rPr lang="en-US" sz="1600" b="1" dirty="0">
                <a:solidFill>
                  <a:srgbClr val="1B2433"/>
                </a:solidFill>
                <a:latin typeface="Calibri" pitchFamily="34" charset="0"/>
                <a:ea typeface="Calibri" pitchFamily="34" charset="-122"/>
                <a:cs typeface="Calibri" pitchFamily="34" charset="-120"/>
              </a:rPr>
              <a:t>every depth</a:t>
            </a:r>
            <a:r>
              <a:rPr lang="en-US" sz="1600" dirty="0">
                <a:solidFill>
                  <a:srgbClr val="1B2433"/>
                </a:solidFill>
                <a:latin typeface="Calibri" pitchFamily="34" charset="0"/>
                <a:ea typeface="Calibri" pitchFamily="34" charset="-122"/>
                <a:cs typeface="Calibri" pitchFamily="34" charset="-120"/>
              </a:rPr>
              <a:t>, in </a:t>
            </a:r>
            <a:r>
              <a:rPr lang="en-US" sz="1600" b="1" dirty="0">
                <a:solidFill>
                  <a:srgbClr val="1B2433"/>
                </a:solidFill>
                <a:latin typeface="Calibri" pitchFamily="34" charset="0"/>
                <a:ea typeface="Calibri" pitchFamily="34" charset="-122"/>
                <a:cs typeface="Calibri" pitchFamily="34" charset="-120"/>
              </a:rPr>
              <a:t>both directions</a:t>
            </a:r>
            <a:r>
              <a:rPr lang="en-US" sz="1600" dirty="0">
                <a:solidFill>
                  <a:srgbClr val="1B2433"/>
                </a:solidFill>
                <a:latin typeface="Calibri" pitchFamily="34" charset="0"/>
                <a:ea typeface="Calibri" pitchFamily="34" charset="-122"/>
                <a:cs typeface="Calibri" pitchFamily="34" charset="-120"/>
              </a:rPr>
              <a:t> (students→dogs and dogs→students).</a:t>
            </a:r>
            <a:endParaRPr lang="en-US" sz="1600" dirty="0"/>
          </a:p>
          <a:p>
            <a:pPr marL="228600" indent="-228600">
              <a:lnSpc>
                <a:spcPct val="105000"/>
              </a:lnSpc>
              <a:spcAft>
                <a:spcPts val="800"/>
              </a:spcAft>
              <a:buSzPct val="100000"/>
              <a:buChar char="•"/>
            </a:pPr>
            <a:r>
              <a:rPr lang="en-US" sz="1600" b="1" dirty="0">
                <a:solidFill>
                  <a:srgbClr val="1B2433"/>
                </a:solidFill>
                <a:latin typeface="Calibri" pitchFamily="34" charset="0"/>
                <a:ea typeface="Calibri" pitchFamily="34" charset="-122"/>
                <a:cs typeface="Calibri" pitchFamily="34" charset="-120"/>
              </a:rPr>
              <a:t>Onset</a:t>
            </a:r>
            <a:r>
              <a:rPr lang="en-US" sz="1600" dirty="0">
                <a:solidFill>
                  <a:srgbClr val="1B2433"/>
                </a:solidFill>
                <a:latin typeface="Calibri" pitchFamily="34" charset="0"/>
                <a:ea typeface="Calibri" pitchFamily="34" charset="-122"/>
                <a:cs typeface="Calibri" pitchFamily="34" charset="-120"/>
              </a:rPr>
              <a:t> = the first layer where pasting moves the answer </a:t>
            </a:r>
            <a:r>
              <a:rPr lang="en-US" sz="1600" b="1" dirty="0">
                <a:solidFill>
                  <a:srgbClr val="1B2433"/>
                </a:solidFill>
                <a:latin typeface="Calibri" pitchFamily="34" charset="0"/>
                <a:ea typeface="Calibri" pitchFamily="34" charset="-122"/>
                <a:cs typeface="Calibri" pitchFamily="34" charset="-120"/>
              </a:rPr>
              <a:t>at least halfway</a:t>
            </a:r>
            <a:r>
              <a:rPr lang="en-US" sz="1600" dirty="0">
                <a:solidFill>
                  <a:srgbClr val="1B2433"/>
                </a:solidFill>
                <a:latin typeface="Calibri" pitchFamily="34" charset="0"/>
                <a:ea typeface="Calibri" pitchFamily="34" charset="-122"/>
                <a:cs typeface="Calibri" pitchFamily="34" charset="-120"/>
              </a:rPr>
              <a:t> towards the other answer, and keeps doing so at every later layer.</a:t>
            </a:r>
            <a:endParaRPr lang="en-US" sz="16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8</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INSIDE A MODEL</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Result 11: rationality is settled much later than number</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79</a:t>
            </a:r>
            <a:endParaRPr lang="en-US" sz="900" dirty="0"/>
          </a:p>
        </p:txBody>
      </p:sp>
      <p:sp>
        <p:nvSpPr>
          <p:cNvPr id="9" name="Shape 6"/>
          <p:cNvSpPr/>
          <p:nvPr/>
        </p:nvSpPr>
        <p:spPr>
          <a:xfrm>
            <a:off x="1097280" y="3749040"/>
            <a:ext cx="9692640" cy="0"/>
          </a:xfrm>
          <a:prstGeom prst="line">
            <a:avLst/>
          </a:prstGeom>
          <a:noFill/>
          <a:ln w="25400">
            <a:solidFill>
              <a:srgbClr val="1B2433"/>
            </a:solidFill>
            <a:prstDash val="solid"/>
          </a:ln>
        </p:spPr>
      </p:sp>
      <p:sp>
        <p:nvSpPr>
          <p:cNvPr id="10" name="Shape 7"/>
          <p:cNvSpPr/>
          <p:nvPr/>
        </p:nvSpPr>
        <p:spPr>
          <a:xfrm>
            <a:off x="1097280" y="3675888"/>
            <a:ext cx="0" cy="146304"/>
          </a:xfrm>
          <a:prstGeom prst="line">
            <a:avLst/>
          </a:prstGeom>
          <a:noFill/>
          <a:ln w="15875">
            <a:solidFill>
              <a:srgbClr val="1B2433"/>
            </a:solidFill>
            <a:prstDash val="solid"/>
          </a:ln>
        </p:spPr>
      </p:sp>
      <p:sp>
        <p:nvSpPr>
          <p:cNvPr id="11" name="Text 8"/>
          <p:cNvSpPr/>
          <p:nvPr/>
        </p:nvSpPr>
        <p:spPr>
          <a:xfrm>
            <a:off x="731520" y="3858768"/>
            <a:ext cx="731520" cy="274320"/>
          </a:xfrm>
          <a:prstGeom prst="rect">
            <a:avLst/>
          </a:prstGeom>
          <a:noFill/>
          <a:ln/>
        </p:spPr>
        <p:txBody>
          <a:bodyPr wrap="square" lIns="0" tIns="0" rIns="0" bIns="0" rtlCol="0" anchor="t"/>
          <a:lstStyle/>
          <a:p>
            <a:pPr algn="ctr" indent="0" marL="0">
              <a:lnSpc>
                <a:spcPct val="100000"/>
              </a:lnSpc>
              <a:buNone/>
            </a:pPr>
            <a:r>
              <a:rPr lang="en-US" sz="1100" dirty="0">
                <a:solidFill>
                  <a:srgbClr val="5B6577"/>
                </a:solidFill>
                <a:latin typeface="Calibri" pitchFamily="34" charset="0"/>
                <a:ea typeface="Calibri" pitchFamily="34" charset="-122"/>
                <a:cs typeface="Calibri" pitchFamily="34" charset="-120"/>
              </a:rPr>
              <a:t>0.00</a:t>
            </a:r>
            <a:endParaRPr lang="en-US" sz="1100" dirty="0"/>
          </a:p>
        </p:txBody>
      </p:sp>
      <p:sp>
        <p:nvSpPr>
          <p:cNvPr id="12" name="Shape 9"/>
          <p:cNvSpPr/>
          <p:nvPr/>
        </p:nvSpPr>
        <p:spPr>
          <a:xfrm>
            <a:off x="3520440" y="3675888"/>
            <a:ext cx="0" cy="146304"/>
          </a:xfrm>
          <a:prstGeom prst="line">
            <a:avLst/>
          </a:prstGeom>
          <a:noFill/>
          <a:ln w="15875">
            <a:solidFill>
              <a:srgbClr val="1B2433"/>
            </a:solidFill>
            <a:prstDash val="solid"/>
          </a:ln>
        </p:spPr>
      </p:sp>
      <p:sp>
        <p:nvSpPr>
          <p:cNvPr id="13" name="Text 10"/>
          <p:cNvSpPr/>
          <p:nvPr/>
        </p:nvSpPr>
        <p:spPr>
          <a:xfrm>
            <a:off x="3154680" y="3858768"/>
            <a:ext cx="731520" cy="274320"/>
          </a:xfrm>
          <a:prstGeom prst="rect">
            <a:avLst/>
          </a:prstGeom>
          <a:noFill/>
          <a:ln/>
        </p:spPr>
        <p:txBody>
          <a:bodyPr wrap="square" lIns="0" tIns="0" rIns="0" bIns="0" rtlCol="0" anchor="t"/>
          <a:lstStyle/>
          <a:p>
            <a:pPr algn="ctr" indent="0" marL="0">
              <a:lnSpc>
                <a:spcPct val="100000"/>
              </a:lnSpc>
              <a:buNone/>
            </a:pPr>
            <a:r>
              <a:rPr lang="en-US" sz="1100" dirty="0">
                <a:solidFill>
                  <a:srgbClr val="5B6577"/>
                </a:solidFill>
                <a:latin typeface="Calibri" pitchFamily="34" charset="0"/>
                <a:ea typeface="Calibri" pitchFamily="34" charset="-122"/>
                <a:cs typeface="Calibri" pitchFamily="34" charset="-120"/>
              </a:rPr>
              <a:t>0.25</a:t>
            </a:r>
            <a:endParaRPr lang="en-US" sz="1100" dirty="0"/>
          </a:p>
        </p:txBody>
      </p:sp>
      <p:sp>
        <p:nvSpPr>
          <p:cNvPr id="14" name="Shape 11"/>
          <p:cNvSpPr/>
          <p:nvPr/>
        </p:nvSpPr>
        <p:spPr>
          <a:xfrm>
            <a:off x="5943600" y="3675888"/>
            <a:ext cx="0" cy="146304"/>
          </a:xfrm>
          <a:prstGeom prst="line">
            <a:avLst/>
          </a:prstGeom>
          <a:noFill/>
          <a:ln w="15875">
            <a:solidFill>
              <a:srgbClr val="1B2433"/>
            </a:solidFill>
            <a:prstDash val="solid"/>
          </a:ln>
        </p:spPr>
      </p:sp>
      <p:sp>
        <p:nvSpPr>
          <p:cNvPr id="15" name="Text 12"/>
          <p:cNvSpPr/>
          <p:nvPr/>
        </p:nvSpPr>
        <p:spPr>
          <a:xfrm>
            <a:off x="5577840" y="3858768"/>
            <a:ext cx="731520" cy="274320"/>
          </a:xfrm>
          <a:prstGeom prst="rect">
            <a:avLst/>
          </a:prstGeom>
          <a:noFill/>
          <a:ln/>
        </p:spPr>
        <p:txBody>
          <a:bodyPr wrap="square" lIns="0" tIns="0" rIns="0" bIns="0" rtlCol="0" anchor="t"/>
          <a:lstStyle/>
          <a:p>
            <a:pPr algn="ctr" indent="0" marL="0">
              <a:lnSpc>
                <a:spcPct val="100000"/>
              </a:lnSpc>
              <a:buNone/>
            </a:pPr>
            <a:r>
              <a:rPr lang="en-US" sz="1100" dirty="0">
                <a:solidFill>
                  <a:srgbClr val="5B6577"/>
                </a:solidFill>
                <a:latin typeface="Calibri" pitchFamily="34" charset="0"/>
                <a:ea typeface="Calibri" pitchFamily="34" charset="-122"/>
                <a:cs typeface="Calibri" pitchFamily="34" charset="-120"/>
              </a:rPr>
              <a:t>0.50</a:t>
            </a:r>
            <a:endParaRPr lang="en-US" sz="1100" dirty="0"/>
          </a:p>
        </p:txBody>
      </p:sp>
      <p:sp>
        <p:nvSpPr>
          <p:cNvPr id="16" name="Shape 13"/>
          <p:cNvSpPr/>
          <p:nvPr/>
        </p:nvSpPr>
        <p:spPr>
          <a:xfrm>
            <a:off x="8366760" y="3675888"/>
            <a:ext cx="0" cy="146304"/>
          </a:xfrm>
          <a:prstGeom prst="line">
            <a:avLst/>
          </a:prstGeom>
          <a:noFill/>
          <a:ln w="15875">
            <a:solidFill>
              <a:srgbClr val="1B2433"/>
            </a:solidFill>
            <a:prstDash val="solid"/>
          </a:ln>
        </p:spPr>
      </p:sp>
      <p:sp>
        <p:nvSpPr>
          <p:cNvPr id="17" name="Text 14"/>
          <p:cNvSpPr/>
          <p:nvPr/>
        </p:nvSpPr>
        <p:spPr>
          <a:xfrm>
            <a:off x="8001000" y="3858768"/>
            <a:ext cx="731520" cy="274320"/>
          </a:xfrm>
          <a:prstGeom prst="rect">
            <a:avLst/>
          </a:prstGeom>
          <a:noFill/>
          <a:ln/>
        </p:spPr>
        <p:txBody>
          <a:bodyPr wrap="square" lIns="0" tIns="0" rIns="0" bIns="0" rtlCol="0" anchor="t"/>
          <a:lstStyle/>
          <a:p>
            <a:pPr algn="ctr" indent="0" marL="0">
              <a:lnSpc>
                <a:spcPct val="100000"/>
              </a:lnSpc>
              <a:buNone/>
            </a:pPr>
            <a:r>
              <a:rPr lang="en-US" sz="1100" dirty="0">
                <a:solidFill>
                  <a:srgbClr val="5B6577"/>
                </a:solidFill>
                <a:latin typeface="Calibri" pitchFamily="34" charset="0"/>
                <a:ea typeface="Calibri" pitchFamily="34" charset="-122"/>
                <a:cs typeface="Calibri" pitchFamily="34" charset="-120"/>
              </a:rPr>
              <a:t>0.75</a:t>
            </a:r>
            <a:endParaRPr lang="en-US" sz="1100" dirty="0"/>
          </a:p>
        </p:txBody>
      </p:sp>
      <p:sp>
        <p:nvSpPr>
          <p:cNvPr id="18" name="Shape 15"/>
          <p:cNvSpPr/>
          <p:nvPr/>
        </p:nvSpPr>
        <p:spPr>
          <a:xfrm>
            <a:off x="10789920" y="3675888"/>
            <a:ext cx="0" cy="146304"/>
          </a:xfrm>
          <a:prstGeom prst="line">
            <a:avLst/>
          </a:prstGeom>
          <a:noFill/>
          <a:ln w="15875">
            <a:solidFill>
              <a:srgbClr val="1B2433"/>
            </a:solidFill>
            <a:prstDash val="solid"/>
          </a:ln>
        </p:spPr>
      </p:sp>
      <p:sp>
        <p:nvSpPr>
          <p:cNvPr id="19" name="Text 16"/>
          <p:cNvSpPr/>
          <p:nvPr/>
        </p:nvSpPr>
        <p:spPr>
          <a:xfrm>
            <a:off x="10424160" y="3858768"/>
            <a:ext cx="731520" cy="274320"/>
          </a:xfrm>
          <a:prstGeom prst="rect">
            <a:avLst/>
          </a:prstGeom>
          <a:noFill/>
          <a:ln/>
        </p:spPr>
        <p:txBody>
          <a:bodyPr wrap="square" lIns="0" tIns="0" rIns="0" bIns="0" rtlCol="0" anchor="t"/>
          <a:lstStyle/>
          <a:p>
            <a:pPr algn="ctr" indent="0" marL="0">
              <a:lnSpc>
                <a:spcPct val="100000"/>
              </a:lnSpc>
              <a:buNone/>
            </a:pPr>
            <a:r>
              <a:rPr lang="en-US" sz="1100" dirty="0">
                <a:solidFill>
                  <a:srgbClr val="5B6577"/>
                </a:solidFill>
                <a:latin typeface="Calibri" pitchFamily="34" charset="0"/>
                <a:ea typeface="Calibri" pitchFamily="34" charset="-122"/>
                <a:cs typeface="Calibri" pitchFamily="34" charset="-120"/>
              </a:rPr>
              <a:t>1.00</a:t>
            </a:r>
            <a:endParaRPr lang="en-US" sz="1100" dirty="0"/>
          </a:p>
        </p:txBody>
      </p:sp>
      <p:sp>
        <p:nvSpPr>
          <p:cNvPr id="20" name="Text 17"/>
          <p:cNvSpPr/>
          <p:nvPr/>
        </p:nvSpPr>
        <p:spPr>
          <a:xfrm>
            <a:off x="4005072" y="4133088"/>
            <a:ext cx="3877056" cy="274320"/>
          </a:xfrm>
          <a:prstGeom prst="rect">
            <a:avLst/>
          </a:prstGeom>
          <a:noFill/>
          <a:ln/>
        </p:spPr>
        <p:txBody>
          <a:bodyPr wrap="square" lIns="0" tIns="0" rIns="0" bIns="0" rtlCol="0" anchor="t"/>
          <a:lstStyle/>
          <a:p>
            <a:pPr algn="ctr" indent="0" marL="0">
              <a:lnSpc>
                <a:spcPct val="100000"/>
              </a:lnSpc>
              <a:buNone/>
            </a:pPr>
            <a:r>
              <a:rPr lang="en-US" sz="1200" dirty="0">
                <a:solidFill>
                  <a:srgbClr val="5B6577"/>
                </a:solidFill>
                <a:latin typeface="Calibri" pitchFamily="34" charset="0"/>
                <a:ea typeface="Calibri" pitchFamily="34" charset="-122"/>
                <a:cs typeface="Calibri" pitchFamily="34" charset="-120"/>
              </a:rPr>
              <a:t>normalised depth  (0 = first layer, 1 = last layer)</a:t>
            </a:r>
            <a:endParaRPr lang="en-US" sz="1200" dirty="0"/>
          </a:p>
        </p:txBody>
      </p:sp>
      <p:sp>
        <p:nvSpPr>
          <p:cNvPr id="21" name="Shape 18"/>
          <p:cNvSpPr/>
          <p:nvPr/>
        </p:nvSpPr>
        <p:spPr>
          <a:xfrm>
            <a:off x="6428232" y="2103120"/>
            <a:ext cx="339242" cy="0"/>
          </a:xfrm>
          <a:prstGeom prst="line">
            <a:avLst/>
          </a:prstGeom>
          <a:noFill/>
          <a:ln w="50800">
            <a:solidFill>
              <a:srgbClr val="0072B2"/>
            </a:solidFill>
            <a:prstDash val="solid"/>
          </a:ln>
        </p:spPr>
      </p:sp>
      <p:sp>
        <p:nvSpPr>
          <p:cNvPr id="22" name="Shape 19"/>
          <p:cNvSpPr/>
          <p:nvPr/>
        </p:nvSpPr>
        <p:spPr>
          <a:xfrm>
            <a:off x="6406835" y="1975104"/>
            <a:ext cx="256032" cy="256032"/>
          </a:xfrm>
          <a:prstGeom prst="ellipse">
            <a:avLst/>
          </a:prstGeom>
          <a:solidFill>
            <a:srgbClr val="0072B2"/>
          </a:solidFill>
          <a:ln w="12700">
            <a:solidFill>
              <a:srgbClr val="FFFFFF"/>
            </a:solidFill>
            <a:prstDash val="solid"/>
          </a:ln>
        </p:spPr>
      </p:sp>
      <p:sp>
        <p:nvSpPr>
          <p:cNvPr id="23" name="Text 20"/>
          <p:cNvSpPr/>
          <p:nvPr/>
        </p:nvSpPr>
        <p:spPr>
          <a:xfrm>
            <a:off x="1139891" y="1938528"/>
            <a:ext cx="4663440" cy="347472"/>
          </a:xfrm>
          <a:prstGeom prst="rect">
            <a:avLst/>
          </a:prstGeom>
          <a:noFill/>
          <a:ln/>
        </p:spPr>
        <p:txBody>
          <a:bodyPr wrap="square" lIns="0" tIns="0" rIns="0" bIns="0" rtlCol="0" anchor="t"/>
          <a:lstStyle/>
          <a:p>
            <a:pPr algn="r" indent="0" marL="0">
              <a:lnSpc>
                <a:spcPct val="100000"/>
              </a:lnSpc>
              <a:buNone/>
            </a:pPr>
            <a:r>
              <a:rPr lang="en-US" sz="1500" b="1" dirty="0">
                <a:solidFill>
                  <a:srgbClr val="0072B2"/>
                </a:solidFill>
              </a:rPr>
              <a:t>number 0.561</a:t>
            </a:r>
            <a:r>
              <a:rPr lang="en-US" sz="1200" dirty="0">
                <a:solidFill>
                  <a:srgbClr val="5B6577"/>
                </a:solidFill>
              </a:rPr>
              <a:t>  marked in English</a:t>
            </a:r>
            <a:endParaRPr lang="en-US" sz="1500" dirty="0"/>
          </a:p>
        </p:txBody>
      </p:sp>
      <p:sp>
        <p:nvSpPr>
          <p:cNvPr id="24" name="Shape 21"/>
          <p:cNvSpPr/>
          <p:nvPr/>
        </p:nvSpPr>
        <p:spPr>
          <a:xfrm>
            <a:off x="7979054" y="2697480"/>
            <a:ext cx="1482974" cy="0"/>
          </a:xfrm>
          <a:prstGeom prst="line">
            <a:avLst/>
          </a:prstGeom>
          <a:noFill/>
          <a:ln w="50800">
            <a:solidFill>
              <a:srgbClr val="D55E00"/>
            </a:solidFill>
            <a:prstDash val="solid"/>
          </a:ln>
        </p:spPr>
      </p:sp>
      <p:sp>
        <p:nvSpPr>
          <p:cNvPr id="25" name="Shape 22"/>
          <p:cNvSpPr/>
          <p:nvPr/>
        </p:nvSpPr>
        <p:spPr>
          <a:xfrm>
            <a:off x="8054584" y="2569464"/>
            <a:ext cx="256032" cy="256032"/>
          </a:xfrm>
          <a:prstGeom prst="ellipse">
            <a:avLst/>
          </a:prstGeom>
          <a:solidFill>
            <a:srgbClr val="D55E00"/>
          </a:solidFill>
          <a:ln w="12700">
            <a:solidFill>
              <a:srgbClr val="FFFFFF"/>
            </a:solidFill>
            <a:prstDash val="solid"/>
          </a:ln>
        </p:spPr>
      </p:sp>
      <p:sp>
        <p:nvSpPr>
          <p:cNvPr id="26" name="Text 23"/>
          <p:cNvSpPr/>
          <p:nvPr/>
        </p:nvSpPr>
        <p:spPr>
          <a:xfrm>
            <a:off x="2787640" y="2532888"/>
            <a:ext cx="4663440" cy="347472"/>
          </a:xfrm>
          <a:prstGeom prst="rect">
            <a:avLst/>
          </a:prstGeom>
          <a:noFill/>
          <a:ln/>
        </p:spPr>
        <p:txBody>
          <a:bodyPr wrap="square" lIns="0" tIns="0" rIns="0" bIns="0" rtlCol="0" anchor="t"/>
          <a:lstStyle/>
          <a:p>
            <a:pPr algn="r" indent="0" marL="0">
              <a:lnSpc>
                <a:spcPct val="100000"/>
              </a:lnSpc>
              <a:buNone/>
            </a:pPr>
            <a:r>
              <a:rPr lang="en-US" sz="1500" b="1" dirty="0">
                <a:solidFill>
                  <a:srgbClr val="D55E00"/>
                </a:solidFill>
              </a:rPr>
              <a:t>gender 0.731</a:t>
            </a:r>
            <a:r>
              <a:rPr lang="en-US" sz="1200" dirty="0">
                <a:solidFill>
                  <a:srgbClr val="5B6577"/>
                </a:solidFill>
              </a:rPr>
              <a:t>  marked only by names</a:t>
            </a:r>
            <a:endParaRPr lang="en-US" sz="1500" dirty="0"/>
          </a:p>
        </p:txBody>
      </p:sp>
      <p:sp>
        <p:nvSpPr>
          <p:cNvPr id="27" name="Shape 24"/>
          <p:cNvSpPr/>
          <p:nvPr/>
        </p:nvSpPr>
        <p:spPr>
          <a:xfrm>
            <a:off x="9607418" y="3291840"/>
            <a:ext cx="126004" cy="0"/>
          </a:xfrm>
          <a:prstGeom prst="line">
            <a:avLst/>
          </a:prstGeom>
          <a:noFill/>
          <a:ln w="50800">
            <a:solidFill>
              <a:srgbClr val="009E73"/>
            </a:solidFill>
            <a:prstDash val="solid"/>
          </a:ln>
        </p:spPr>
      </p:sp>
      <p:sp>
        <p:nvSpPr>
          <p:cNvPr id="28" name="Shape 25"/>
          <p:cNvSpPr/>
          <p:nvPr/>
        </p:nvSpPr>
        <p:spPr>
          <a:xfrm>
            <a:off x="9576328" y="3163824"/>
            <a:ext cx="256032" cy="256032"/>
          </a:xfrm>
          <a:prstGeom prst="ellipse">
            <a:avLst/>
          </a:prstGeom>
          <a:solidFill>
            <a:srgbClr val="009E73"/>
          </a:solidFill>
          <a:ln w="12700">
            <a:solidFill>
              <a:srgbClr val="FFFFFF"/>
            </a:solidFill>
            <a:prstDash val="solid"/>
          </a:ln>
        </p:spPr>
      </p:sp>
      <p:sp>
        <p:nvSpPr>
          <p:cNvPr id="29" name="Text 26"/>
          <p:cNvSpPr/>
          <p:nvPr/>
        </p:nvSpPr>
        <p:spPr>
          <a:xfrm>
            <a:off x="4309384" y="3127248"/>
            <a:ext cx="4663440" cy="347472"/>
          </a:xfrm>
          <a:prstGeom prst="rect">
            <a:avLst/>
          </a:prstGeom>
          <a:noFill/>
          <a:ln/>
        </p:spPr>
        <p:txBody>
          <a:bodyPr wrap="square" lIns="0" tIns="0" rIns="0" bIns="0" rtlCol="0" anchor="t"/>
          <a:lstStyle/>
          <a:p>
            <a:pPr algn="r" indent="0" marL="0">
              <a:lnSpc>
                <a:spcPct val="100000"/>
              </a:lnSpc>
              <a:buNone/>
            </a:pPr>
            <a:r>
              <a:rPr lang="en-US" sz="1500" b="1" dirty="0">
                <a:solidFill>
                  <a:srgbClr val="009E73"/>
                </a:solidFill>
              </a:rPr>
              <a:t>rationality 0.888</a:t>
            </a:r>
            <a:r>
              <a:rPr lang="en-US" sz="1200" dirty="0">
                <a:solidFill>
                  <a:srgbClr val="5B6577"/>
                </a:solidFill>
              </a:rPr>
              <a:t>  not marked in English</a:t>
            </a:r>
            <a:endParaRPr lang="en-US" sz="15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48640" y="4572000"/>
          <a:ext cx="6949440" cy="914400"/>
        </p:xfrm>
        <a:graphic>
          <a:graphicData uri="http://schemas.openxmlformats.org/drawingml/2006/table">
            <a:tbl>
              <a:tblPr/>
              <a:tblGrid>
                <a:gridCol w="2651760"/>
                <a:gridCol w="2011680"/>
                <a:gridCol w="2286000"/>
              </a:tblGrid>
              <a:tr h="329184">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Slot</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Marked in English?</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Onset depth (95% interval)</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r>
              <a:tr h="329184">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number (control)</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3"/>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3"/>
                          </a:solidFill>
                          <a:latin typeface="Calibri" pitchFamily="34" charset="0"/>
                          <a:ea typeface="Calibri" pitchFamily="34" charset="-122"/>
                          <a:cs typeface="Calibri" pitchFamily="34" charset="-120"/>
                        </a:rPr>
                        <a:t>0.561 (0.550–0.585)</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gender</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300" dirty="0">
                          <a:solidFill>
                            <a:srgbClr val="1B2433"/>
                          </a:solidFill>
                          <a:latin typeface="Calibri" pitchFamily="34" charset="0"/>
                          <a:ea typeface="Calibri" pitchFamily="34" charset="-122"/>
                          <a:cs typeface="Calibri" pitchFamily="34" charset="-120"/>
                        </a:rPr>
                        <a:t>no (only via names)</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300" dirty="0">
                          <a:solidFill>
                            <a:srgbClr val="1B2433"/>
                          </a:solidFill>
                          <a:latin typeface="Calibri" pitchFamily="34" charset="0"/>
                          <a:ea typeface="Calibri" pitchFamily="34" charset="-122"/>
                          <a:cs typeface="Calibri" pitchFamily="34" charset="-120"/>
                        </a:rPr>
                        <a:t>0.731 (0.710–0.863)</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r h="329184">
                <a:tc>
                  <a:txBody>
                    <a:bodyPr/>
                    <a:lstStyle/>
                    <a:p>
                      <a:pPr algn="l" indent="0" marL="0">
                        <a:buNone/>
                      </a:pPr>
                      <a:r>
                        <a:rPr lang="en-US" sz="1300" dirty="0">
                          <a:solidFill>
                            <a:srgbClr val="1B2433"/>
                          </a:solidFill>
                          <a:latin typeface="Calibri" pitchFamily="34" charset="0"/>
                          <a:ea typeface="Calibri" pitchFamily="34" charset="-122"/>
                          <a:cs typeface="Calibri" pitchFamily="34" charset="-120"/>
                        </a:rPr>
                        <a:t>rationality</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3"/>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3"/>
                          </a:solidFill>
                          <a:latin typeface="Calibri" pitchFamily="34" charset="0"/>
                          <a:ea typeface="Calibri" pitchFamily="34" charset="-122"/>
                          <a:cs typeface="Calibri" pitchFamily="34" charset="-120"/>
                        </a:rPr>
                        <a:t>0.888 (0.878–0.891)</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29184">
                <a:tc>
                  <a:txBody>
                    <a:bodyPr/>
                    <a:lstStyle/>
                    <a:p>
                      <a:pPr algn="l" indent="0" marL="0">
                        <a:buNone/>
                      </a:pPr>
                      <a:r>
                        <a:rPr lang="en-US" sz="1300" b="1" dirty="0">
                          <a:solidFill>
                            <a:srgbClr val="1B2433"/>
                          </a:solidFill>
                          <a:latin typeface="Calibri" pitchFamily="34" charset="0"/>
                          <a:ea typeface="Calibri" pitchFamily="34" charset="-122"/>
                          <a:cs typeface="Calibri" pitchFamily="34" charset="-120"/>
                        </a:rPr>
                        <a:t>gap: rationality − number</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c>
                  <a:txBody>
                    <a:bodyPr/>
                    <a:lstStyle/>
                    <a:p>
                      <a:pPr algn="ctr" indent="0" marL="0">
                        <a:buNone/>
                      </a:pPr>
                      <a:r>
                        <a:rPr lang="en-US" sz="1300" b="1" dirty="0">
                          <a:solidFill>
                            <a:srgbClr val="1B2433"/>
                          </a:solidFill>
                          <a:latin typeface="Calibri" pitchFamily="34" charset="0"/>
                          <a:ea typeface="Calibri" pitchFamily="34" charset="-122"/>
                          <a:cs typeface="Calibri" pitchFamily="34" charset="-120"/>
                        </a:rPr>
                        <a:t>0.327 (0.301–0.339)</a:t>
                      </a:r>
                      <a:endParaRPr lang="en-US" sz="13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2F4F8"/>
                    </a:solidFill>
                  </a:tcPr>
                </a:tc>
              </a:tr>
            </a:tbl>
          </a:graphicData>
        </a:graphic>
      </p:graphicFrame>
      <p:sp>
        <p:nvSpPr>
          <p:cNvPr id="31" name="Shape 27"/>
          <p:cNvSpPr/>
          <p:nvPr/>
        </p:nvSpPr>
        <p:spPr>
          <a:xfrm>
            <a:off x="7772400" y="4572000"/>
            <a:ext cx="3840480" cy="1737360"/>
          </a:xfrm>
          <a:prstGeom prst="roundRect">
            <a:avLst>
              <a:gd name="adj" fmla="val 4211"/>
            </a:avLst>
          </a:prstGeom>
          <a:solidFill>
            <a:srgbClr val="DDF2EA"/>
          </a:solidFill>
          <a:ln w="12700">
            <a:solidFill>
              <a:srgbClr val="DDF2EA"/>
            </a:solidFill>
            <a:prstDash val="solid"/>
          </a:ln>
        </p:spPr>
      </p:sp>
      <p:sp>
        <p:nvSpPr>
          <p:cNvPr id="32" name="Text 28"/>
          <p:cNvSpPr/>
          <p:nvPr/>
        </p:nvSpPr>
        <p:spPr>
          <a:xfrm>
            <a:off x="7973568" y="4718304"/>
            <a:ext cx="3438144" cy="411480"/>
          </a:xfrm>
          <a:prstGeom prst="rect">
            <a:avLst/>
          </a:prstGeom>
          <a:noFill/>
          <a:ln/>
        </p:spPr>
        <p:txBody>
          <a:bodyPr wrap="square" lIns="0" tIns="0" rIns="0" bIns="0" rtlCol="0" anchor="t"/>
          <a:lstStyle/>
          <a:p>
            <a:pPr indent="0" marL="0">
              <a:buNone/>
            </a:pPr>
            <a:r>
              <a:rPr lang="en-US" sz="1500" b="1" dirty="0">
                <a:solidFill>
                  <a:srgbClr val="1B2433"/>
                </a:solidFill>
                <a:latin typeface="Calibri" pitchFamily="34" charset="0"/>
                <a:ea typeface="Calibri" pitchFamily="34" charset="-122"/>
                <a:cs typeface="Calibri" pitchFamily="34" charset="-120"/>
              </a:rPr>
              <a:t>Checks passed</a:t>
            </a:r>
            <a:endParaRPr lang="en-US" sz="1500" dirty="0"/>
          </a:p>
        </p:txBody>
      </p:sp>
      <p:sp>
        <p:nvSpPr>
          <p:cNvPr id="33" name="Text 29"/>
          <p:cNvSpPr/>
          <p:nvPr/>
        </p:nvSpPr>
        <p:spPr>
          <a:xfrm>
            <a:off x="7973568" y="5129784"/>
            <a:ext cx="3438144" cy="1033272"/>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1B2433"/>
                </a:solidFill>
                <a:latin typeface="Calibri" pitchFamily="34" charset="0"/>
                <a:ea typeface="Calibri" pitchFamily="34" charset="-122"/>
                <a:cs typeface="Calibri" pitchFamily="34" charset="-120"/>
              </a:rPr>
              <a:t>The gap is clearly above zero and above the </a:t>
            </a:r>
            <a:r>
              <a:rPr lang="en-US" sz="1300" b="1" dirty="0">
                <a:solidFill>
                  <a:srgbClr val="1B2433"/>
                </a:solidFill>
                <a:latin typeface="Calibri" pitchFamily="34" charset="0"/>
                <a:ea typeface="Calibri" pitchFamily="34" charset="-122"/>
                <a:cs typeface="Calibri" pitchFamily="34" charset="-120"/>
              </a:rPr>
              <a:t>0.200</a:t>
            </a:r>
            <a:r>
              <a:rPr lang="en-US" sz="1300" dirty="0">
                <a:solidFill>
                  <a:srgbClr val="1B2433"/>
                </a:solidFill>
                <a:latin typeface="Calibri" pitchFamily="34" charset="0"/>
                <a:ea typeface="Calibri" pitchFamily="34" charset="-122"/>
                <a:cs typeface="Calibri" pitchFamily="34" charset="-120"/>
              </a:rPr>
              <a:t> minimum set in advance.</a:t>
            </a:r>
            <a:endParaRPr lang="en-US" sz="1300" dirty="0"/>
          </a:p>
          <a:p>
            <a:pPr marL="228600" indent="-228600">
              <a:spcAft>
                <a:spcPts val="500"/>
              </a:spcAft>
              <a:buSzPct val="100000"/>
              <a:buChar char="•"/>
            </a:pPr>
            <a:r>
              <a:rPr lang="en-US" sz="1300" dirty="0">
                <a:solidFill>
                  <a:srgbClr val="1B2433"/>
                </a:solidFill>
                <a:latin typeface="Calibri" pitchFamily="34" charset="0"/>
                <a:ea typeface="Calibri" pitchFamily="34" charset="-122"/>
                <a:cs typeface="Calibri" pitchFamily="34" charset="-120"/>
              </a:rPr>
              <a:t>Both directions agree; the number control works (</a:t>
            </a:r>
            <a:r>
              <a:rPr lang="en-US" sz="1300" b="1" dirty="0">
                <a:solidFill>
                  <a:srgbClr val="1B2433"/>
                </a:solidFill>
                <a:latin typeface="Calibri" pitchFamily="34" charset="0"/>
                <a:ea typeface="Calibri" pitchFamily="34" charset="-122"/>
                <a:cs typeface="Calibri" pitchFamily="34" charset="-120"/>
              </a:rPr>
              <a:t>0.992</a:t>
            </a:r>
            <a:r>
              <a:rPr lang="en-US" sz="1300" dirty="0">
                <a:solidFill>
                  <a:srgbClr val="1B2433"/>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8</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INSIDE A MODEL</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What failed: the probe study, reported anyway</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80</a:t>
            </a:r>
            <a:endParaRPr lang="en-US" sz="900" dirty="0"/>
          </a:p>
        </p:txBody>
      </p:sp>
      <p:sp>
        <p:nvSpPr>
          <p:cNvPr id="9" name="Shape 6"/>
          <p:cNvSpPr/>
          <p:nvPr/>
        </p:nvSpPr>
        <p:spPr>
          <a:xfrm>
            <a:off x="548640" y="1737360"/>
            <a:ext cx="5394960" cy="2011680"/>
          </a:xfrm>
          <a:prstGeom prst="roundRect">
            <a:avLst>
              <a:gd name="adj" fmla="val 3636"/>
            </a:avLst>
          </a:prstGeom>
          <a:solidFill>
            <a:srgbClr val="F2F4F8"/>
          </a:solidFill>
          <a:ln w="12700">
            <a:solidFill>
              <a:srgbClr val="F2F4F8"/>
            </a:solidFill>
            <a:prstDash val="solid"/>
          </a:ln>
        </p:spPr>
      </p:sp>
      <p:sp>
        <p:nvSpPr>
          <p:cNvPr id="10" name="Text 7"/>
          <p:cNvSpPr/>
          <p:nvPr/>
        </p:nvSpPr>
        <p:spPr>
          <a:xfrm>
            <a:off x="749808" y="1883664"/>
            <a:ext cx="49926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What a probe is</a:t>
            </a:r>
            <a:endParaRPr lang="en-US" sz="1700" dirty="0"/>
          </a:p>
        </p:txBody>
      </p:sp>
      <p:sp>
        <p:nvSpPr>
          <p:cNvPr id="11" name="Text 8"/>
          <p:cNvSpPr/>
          <p:nvPr/>
        </p:nvSpPr>
        <p:spPr>
          <a:xfrm>
            <a:off x="749808" y="2295144"/>
            <a:ext cx="4992624" cy="130759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A small classifier trained to </a:t>
            </a:r>
            <a:r>
              <a:rPr lang="en-US" sz="1500" b="1" dirty="0">
                <a:solidFill>
                  <a:srgbClr val="1B2433"/>
                </a:solidFill>
                <a:latin typeface="Calibri" pitchFamily="34" charset="0"/>
                <a:ea typeface="Calibri" pitchFamily="34" charset="-122"/>
                <a:cs typeface="Calibri" pitchFamily="34" charset="-120"/>
              </a:rPr>
              <a:t>read a feature</a:t>
            </a:r>
            <a:r>
              <a:rPr lang="en-US" sz="1500" dirty="0">
                <a:solidFill>
                  <a:srgbClr val="1B2433"/>
                </a:solidFill>
                <a:latin typeface="Calibri" pitchFamily="34" charset="0"/>
                <a:ea typeface="Calibri" pitchFamily="34" charset="-122"/>
                <a:cs typeface="Calibri" pitchFamily="34" charset="-120"/>
              </a:rPr>
              <a:t> (e.g. rationality) straight from a layer's internal state.</a:t>
            </a:r>
            <a:endParaRPr lang="en-US" sz="1500" dirty="0"/>
          </a:p>
        </p:txBody>
      </p:sp>
      <p:sp>
        <p:nvSpPr>
          <p:cNvPr id="12" name="Shape 9"/>
          <p:cNvSpPr/>
          <p:nvPr/>
        </p:nvSpPr>
        <p:spPr>
          <a:xfrm>
            <a:off x="10847070" y="2432304"/>
            <a:ext cx="0" cy="1408176"/>
          </a:xfrm>
          <a:prstGeom prst="line">
            <a:avLst/>
          </a:prstGeom>
          <a:noFill/>
          <a:ln w="19050">
            <a:solidFill>
              <a:srgbClr val="D55E00"/>
            </a:solidFill>
            <a:prstDash val="dash"/>
          </a:ln>
        </p:spPr>
      </p:sp>
      <p:sp>
        <p:nvSpPr>
          <p:cNvPr id="13" name="Text 10"/>
          <p:cNvSpPr/>
          <p:nvPr/>
        </p:nvSpPr>
        <p:spPr>
          <a:xfrm>
            <a:off x="9384030" y="2121408"/>
            <a:ext cx="2926080" cy="274320"/>
          </a:xfrm>
          <a:prstGeom prst="rect">
            <a:avLst/>
          </a:prstGeom>
          <a:noFill/>
          <a:ln/>
        </p:spPr>
        <p:txBody>
          <a:bodyPr wrap="square" lIns="0" tIns="0" rIns="0" bIns="0" rtlCol="0" anchor="ctr"/>
          <a:lstStyle/>
          <a:p>
            <a:pPr algn="ctr" indent="0" marL="0">
              <a:buNone/>
            </a:pPr>
            <a:r>
              <a:rPr lang="en-US" sz="1200" b="1" dirty="0">
                <a:solidFill>
                  <a:srgbClr val="D55E00"/>
                </a:solidFill>
                <a:latin typeface="Calibri" pitchFamily="34" charset="0"/>
                <a:ea typeface="Calibri" pitchFamily="34" charset="-122"/>
                <a:cs typeface="Calibri" pitchFamily="34" charset="-120"/>
              </a:rPr>
              <a:t>required: +0.75</a:t>
            </a:r>
            <a:endParaRPr lang="en-US" sz="1200" dirty="0"/>
          </a:p>
        </p:txBody>
      </p:sp>
      <p:sp>
        <p:nvSpPr>
          <p:cNvPr id="14" name="Text 11"/>
          <p:cNvSpPr/>
          <p:nvPr/>
        </p:nvSpPr>
        <p:spPr>
          <a:xfrm>
            <a:off x="6217920" y="2542032"/>
            <a:ext cx="1280160" cy="432816"/>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rationality</a:t>
            </a:r>
            <a:endParaRPr lang="en-US" sz="1300" dirty="0"/>
          </a:p>
        </p:txBody>
      </p:sp>
      <p:sp>
        <p:nvSpPr>
          <p:cNvPr id="15" name="Shape 12"/>
          <p:cNvSpPr/>
          <p:nvPr/>
        </p:nvSpPr>
        <p:spPr>
          <a:xfrm>
            <a:off x="7589520" y="2624267"/>
            <a:ext cx="1259586" cy="268346"/>
          </a:xfrm>
          <a:prstGeom prst="rect">
            <a:avLst/>
          </a:prstGeom>
          <a:solidFill>
            <a:srgbClr val="98A1B2"/>
          </a:solidFill>
          <a:ln w="12700">
            <a:solidFill>
              <a:srgbClr val="98A1B2"/>
            </a:solidFill>
            <a:prstDash val="solid"/>
          </a:ln>
        </p:spPr>
      </p:sp>
      <p:sp>
        <p:nvSpPr>
          <p:cNvPr id="16" name="Text 13"/>
          <p:cNvSpPr/>
          <p:nvPr/>
        </p:nvSpPr>
        <p:spPr>
          <a:xfrm>
            <a:off x="8913114" y="2602992"/>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+0.29</a:t>
            </a:r>
            <a:endParaRPr lang="en-US" sz="1300" dirty="0"/>
          </a:p>
        </p:txBody>
      </p:sp>
      <p:sp>
        <p:nvSpPr>
          <p:cNvPr id="17" name="Text 14"/>
          <p:cNvSpPr/>
          <p:nvPr/>
        </p:nvSpPr>
        <p:spPr>
          <a:xfrm>
            <a:off x="6217920" y="2974848"/>
            <a:ext cx="1280160" cy="432816"/>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number</a:t>
            </a:r>
            <a:endParaRPr lang="en-US" sz="1300" dirty="0"/>
          </a:p>
        </p:txBody>
      </p:sp>
      <p:sp>
        <p:nvSpPr>
          <p:cNvPr id="18" name="Shape 15"/>
          <p:cNvSpPr/>
          <p:nvPr/>
        </p:nvSpPr>
        <p:spPr>
          <a:xfrm>
            <a:off x="7589520" y="3057083"/>
            <a:ext cx="781812" cy="268346"/>
          </a:xfrm>
          <a:prstGeom prst="rect">
            <a:avLst/>
          </a:prstGeom>
          <a:solidFill>
            <a:srgbClr val="98A1B2"/>
          </a:solidFill>
          <a:ln w="12700">
            <a:solidFill>
              <a:srgbClr val="98A1B2"/>
            </a:solidFill>
            <a:prstDash val="solid"/>
          </a:ln>
        </p:spPr>
      </p:sp>
      <p:sp>
        <p:nvSpPr>
          <p:cNvPr id="19" name="Text 16"/>
          <p:cNvSpPr/>
          <p:nvPr/>
        </p:nvSpPr>
        <p:spPr>
          <a:xfrm>
            <a:off x="8435340" y="3035808"/>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+0.18</a:t>
            </a:r>
            <a:endParaRPr lang="en-US" sz="1300" dirty="0"/>
          </a:p>
        </p:txBody>
      </p:sp>
      <p:sp>
        <p:nvSpPr>
          <p:cNvPr id="20" name="Text 17"/>
          <p:cNvSpPr/>
          <p:nvPr/>
        </p:nvSpPr>
        <p:spPr>
          <a:xfrm>
            <a:off x="6217920" y="3407664"/>
            <a:ext cx="1280160" cy="432816"/>
          </a:xfrm>
          <a:prstGeom prst="rect">
            <a:avLst/>
          </a:prstGeom>
          <a:noFill/>
          <a:ln/>
        </p:spPr>
        <p:txBody>
          <a:bodyPr wrap="square" lIns="0" tIns="0" rIns="0" bIns="0" rtlCol="0" anchor="ctr"/>
          <a:lstStyle/>
          <a:p>
            <a:pPr algn="r" indent="0" marL="0">
              <a:buNone/>
            </a:pPr>
            <a:r>
              <a:rPr lang="en-US" sz="1300" dirty="0">
                <a:solidFill>
                  <a:srgbClr val="1B2433"/>
                </a:solidFill>
                <a:latin typeface="Calibri" pitchFamily="34" charset="0"/>
                <a:ea typeface="Calibri" pitchFamily="34" charset="-122"/>
                <a:cs typeface="Calibri" pitchFamily="34" charset="-120"/>
              </a:rPr>
              <a:t>gender</a:t>
            </a:r>
            <a:endParaRPr lang="en-US" sz="1300" dirty="0"/>
          </a:p>
        </p:txBody>
      </p:sp>
      <p:sp>
        <p:nvSpPr>
          <p:cNvPr id="21" name="Shape 18"/>
          <p:cNvSpPr/>
          <p:nvPr/>
        </p:nvSpPr>
        <p:spPr>
          <a:xfrm>
            <a:off x="7589520" y="3489899"/>
            <a:ext cx="86868" cy="268346"/>
          </a:xfrm>
          <a:prstGeom prst="rect">
            <a:avLst/>
          </a:prstGeom>
          <a:solidFill>
            <a:srgbClr val="98A1B2"/>
          </a:solidFill>
          <a:ln w="12700">
            <a:solidFill>
              <a:srgbClr val="98A1B2"/>
            </a:solidFill>
            <a:prstDash val="solid"/>
          </a:ln>
        </p:spPr>
      </p:sp>
      <p:sp>
        <p:nvSpPr>
          <p:cNvPr id="22" name="Text 19"/>
          <p:cNvSpPr/>
          <p:nvPr/>
        </p:nvSpPr>
        <p:spPr>
          <a:xfrm>
            <a:off x="7740396" y="3468624"/>
            <a:ext cx="525780" cy="310896"/>
          </a:xfrm>
          <a:prstGeom prst="rect">
            <a:avLst/>
          </a:prstGeom>
          <a:solidFill>
            <a:srgbClr val="FFFFFF"/>
          </a:solidFill>
          <a:ln/>
        </p:spPr>
        <p:txBody>
          <a:bodyPr wrap="square" lIns="0" tIns="25400" rIns="25400" bIns="0" rtlCol="0" anchor="ctr"/>
          <a:lstStyle/>
          <a:p>
            <a:pPr algn="l" indent="0" marL="0">
              <a:buNone/>
            </a:pPr>
            <a:r>
              <a:rPr lang="en-US" sz="1300" b="1" dirty="0">
                <a:solidFill>
                  <a:srgbClr val="1B2433"/>
                </a:solidFill>
                <a:latin typeface="Calibri" pitchFamily="34" charset="0"/>
                <a:ea typeface="Calibri" pitchFamily="34" charset="-122"/>
                <a:cs typeface="Calibri" pitchFamily="34" charset="-120"/>
              </a:rPr>
              <a:t>+0.02</a:t>
            </a:r>
            <a:endParaRPr lang="en-US" sz="1300" dirty="0"/>
          </a:p>
        </p:txBody>
      </p:sp>
      <p:sp>
        <p:nvSpPr>
          <p:cNvPr id="23" name="Text 20"/>
          <p:cNvSpPr/>
          <p:nvPr/>
        </p:nvSpPr>
        <p:spPr>
          <a:xfrm>
            <a:off x="6217920" y="1572768"/>
            <a:ext cx="5394960" cy="502920"/>
          </a:xfrm>
          <a:prstGeom prst="rect">
            <a:avLst/>
          </a:prstGeom>
          <a:noFill/>
          <a:ln/>
        </p:spPr>
        <p:txBody>
          <a:bodyPr wrap="square" lIns="0" tIns="0" rIns="0" bIns="0" rtlCol="0" anchor="t"/>
          <a:lstStyle/>
          <a:p>
            <a:pPr algn="l" indent="0" marL="0">
              <a:lnSpc>
                <a:spcPct val="100000"/>
              </a:lnSpc>
              <a:buNone/>
            </a:pPr>
            <a:r>
              <a:rPr lang="en-US" sz="1200" b="1" dirty="0">
                <a:solidFill>
                  <a:srgbClr val="5B6577"/>
                </a:solidFill>
                <a:latin typeface="Calibri" pitchFamily="34" charset="0"/>
                <a:ea typeface="Calibri" pitchFamily="34" charset="-122"/>
                <a:cs typeface="Calibri" pitchFamily="34" charset="-120"/>
              </a:rPr>
              <a:t>How much better the probe did than a simple word-based baseline (AUC gain; AUC 0.5 = guessing, 1.0 = perfect)</a:t>
            </a:r>
            <a:endParaRPr lang="en-US" sz="1200" dirty="0"/>
          </a:p>
        </p:txBody>
      </p:sp>
      <p:sp>
        <p:nvSpPr>
          <p:cNvPr id="24" name="Shape 21"/>
          <p:cNvSpPr/>
          <p:nvPr/>
        </p:nvSpPr>
        <p:spPr>
          <a:xfrm>
            <a:off x="548640" y="3977640"/>
            <a:ext cx="5394960" cy="1645920"/>
          </a:xfrm>
          <a:prstGeom prst="roundRect">
            <a:avLst>
              <a:gd name="adj" fmla="val 4444"/>
            </a:avLst>
          </a:prstGeom>
          <a:solidFill>
            <a:srgbClr val="DDF2EA"/>
          </a:solidFill>
          <a:ln w="12700">
            <a:solidFill>
              <a:srgbClr val="DDF2EA"/>
            </a:solidFill>
            <a:prstDash val="solid"/>
          </a:ln>
        </p:spPr>
      </p:sp>
      <p:sp>
        <p:nvSpPr>
          <p:cNvPr id="25" name="Text 22"/>
          <p:cNvSpPr/>
          <p:nvPr/>
        </p:nvSpPr>
        <p:spPr>
          <a:xfrm>
            <a:off x="749808" y="4123944"/>
            <a:ext cx="49926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Why the main result still stands</a:t>
            </a:r>
            <a:endParaRPr lang="en-US" sz="1700" dirty="0"/>
          </a:p>
        </p:txBody>
      </p:sp>
      <p:sp>
        <p:nvSpPr>
          <p:cNvPr id="26" name="Text 23"/>
          <p:cNvSpPr/>
          <p:nvPr/>
        </p:nvSpPr>
        <p:spPr>
          <a:xfrm>
            <a:off x="749808" y="4535424"/>
            <a:ext cx="4992624" cy="941832"/>
          </a:xfrm>
          <a:prstGeom prst="rect">
            <a:avLst/>
          </a:prstGeom>
          <a:noFill/>
          <a:ln/>
        </p:spPr>
        <p:txBody>
          <a:bodyPr wrap="square" lIns="0" tIns="0" rIns="0" bIns="0" rtlCol="0" anchor="t"/>
          <a:lstStyle/>
          <a:p>
            <a:pPr indent="0" marL="0">
              <a:spcAft>
                <a:spcPts val="500"/>
              </a:spcAft>
              <a:buNone/>
            </a:pPr>
            <a:r>
              <a:rPr lang="en-US" sz="1400" dirty="0">
                <a:solidFill>
                  <a:srgbClr val="1B2433"/>
                </a:solidFill>
                <a:latin typeface="Calibri" pitchFamily="34" charset="0"/>
                <a:ea typeface="Calibri" pitchFamily="34" charset="-122"/>
                <a:cs typeface="Calibri" pitchFamily="34" charset="-120"/>
              </a:rPr>
              <a:t>The frozen plan made </a:t>
            </a:r>
            <a:r>
              <a:rPr lang="en-US" sz="1400" b="1" dirty="0">
                <a:solidFill>
                  <a:srgbClr val="1B2433"/>
                </a:solidFill>
                <a:latin typeface="Calibri" pitchFamily="34" charset="0"/>
                <a:ea typeface="Calibri" pitchFamily="34" charset="-122"/>
                <a:cs typeface="Calibri" pitchFamily="34" charset="-120"/>
              </a:rPr>
              <a:t>patching the primary</a:t>
            </a:r>
            <a:r>
              <a:rPr lang="en-US" sz="1400" dirty="0">
                <a:solidFill>
                  <a:srgbClr val="1B2433"/>
                </a:solidFill>
                <a:latin typeface="Calibri" pitchFamily="34" charset="0"/>
                <a:ea typeface="Calibri" pitchFamily="34" charset="-122"/>
                <a:cs typeface="Calibri" pitchFamily="34" charset="-120"/>
              </a:rPr>
              <a:t> method and the probe secondary. Patching shows </a:t>
            </a:r>
            <a:r>
              <a:rPr lang="en-US" sz="1400" b="1" dirty="0">
                <a:solidFill>
                  <a:srgbClr val="1B2433"/>
                </a:solidFill>
                <a:latin typeface="Calibri" pitchFamily="34" charset="0"/>
                <a:ea typeface="Calibri" pitchFamily="34" charset="-122"/>
                <a:cs typeface="Calibri" pitchFamily="34" charset="-120"/>
              </a:rPr>
              <a:t>where</a:t>
            </a:r>
            <a:r>
              <a:rPr lang="en-US" sz="1400" dirty="0">
                <a:solidFill>
                  <a:srgbClr val="1B2433"/>
                </a:solidFill>
                <a:latin typeface="Calibri" pitchFamily="34" charset="0"/>
                <a:ea typeface="Calibri" pitchFamily="34" charset="-122"/>
                <a:cs typeface="Calibri" pitchFamily="34" charset="-120"/>
              </a:rPr>
              <a:t> the decision is causally fixed.</a:t>
            </a:r>
            <a:endParaRPr lang="en-US" sz="1400" dirty="0"/>
          </a:p>
        </p:txBody>
      </p:sp>
      <p:sp>
        <p:nvSpPr>
          <p:cNvPr id="27" name="Shape 24"/>
          <p:cNvSpPr/>
          <p:nvPr/>
        </p:nvSpPr>
        <p:spPr>
          <a:xfrm>
            <a:off x="6217920" y="3977640"/>
            <a:ext cx="5394960" cy="1645920"/>
          </a:xfrm>
          <a:prstGeom prst="roundRect">
            <a:avLst>
              <a:gd name="adj" fmla="val 4444"/>
            </a:avLst>
          </a:prstGeom>
          <a:solidFill>
            <a:srgbClr val="FBE5D6"/>
          </a:solidFill>
          <a:ln w="12700">
            <a:solidFill>
              <a:srgbClr val="FBE5D6"/>
            </a:solidFill>
            <a:prstDash val="solid"/>
          </a:ln>
        </p:spPr>
      </p:sp>
      <p:sp>
        <p:nvSpPr>
          <p:cNvPr id="28" name="Text 25"/>
          <p:cNvSpPr/>
          <p:nvPr/>
        </p:nvSpPr>
        <p:spPr>
          <a:xfrm>
            <a:off x="6419088" y="4123944"/>
            <a:ext cx="49926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What the failure costs</a:t>
            </a:r>
            <a:endParaRPr lang="en-US" sz="1700" dirty="0"/>
          </a:p>
        </p:txBody>
      </p:sp>
      <p:sp>
        <p:nvSpPr>
          <p:cNvPr id="29" name="Text 26"/>
          <p:cNvSpPr/>
          <p:nvPr/>
        </p:nvSpPr>
        <p:spPr>
          <a:xfrm>
            <a:off x="6419088" y="4535424"/>
            <a:ext cx="4992624" cy="941832"/>
          </a:xfrm>
          <a:prstGeom prst="rect">
            <a:avLst/>
          </a:prstGeom>
          <a:noFill/>
          <a:ln/>
        </p:spPr>
        <p:txBody>
          <a:bodyPr wrap="square" lIns="0" tIns="0" rIns="0" bIns="0" rtlCol="0" anchor="t"/>
          <a:lstStyle/>
          <a:p>
            <a:pPr indent="0" marL="0">
              <a:spcAft>
                <a:spcPts val="500"/>
              </a:spcAft>
              <a:buNone/>
            </a:pPr>
            <a:r>
              <a:rPr lang="en-US" sz="1400" dirty="0">
                <a:solidFill>
                  <a:srgbClr val="1B2433"/>
                </a:solidFill>
                <a:latin typeface="Calibri" pitchFamily="34" charset="0"/>
                <a:ea typeface="Calibri" pitchFamily="34" charset="-122"/>
                <a:cs typeface="Calibri" pitchFamily="34" charset="-120"/>
              </a:rPr>
              <a:t>No claim about </a:t>
            </a:r>
            <a:r>
              <a:rPr lang="en-US" sz="1400" b="1" dirty="0">
                <a:solidFill>
                  <a:srgbClr val="1B2433"/>
                </a:solidFill>
                <a:latin typeface="Calibri" pitchFamily="34" charset="0"/>
                <a:ea typeface="Calibri" pitchFamily="34" charset="-122"/>
                <a:cs typeface="Calibri" pitchFamily="34" charset="-120"/>
              </a:rPr>
              <a:t>when</a:t>
            </a:r>
            <a:r>
              <a:rPr lang="en-US" sz="1400" dirty="0">
                <a:solidFill>
                  <a:srgbClr val="1B2433"/>
                </a:solidFill>
                <a:latin typeface="Calibri" pitchFamily="34" charset="0"/>
                <a:ea typeface="Calibri" pitchFamily="34" charset="-122"/>
                <a:cs typeface="Calibri" pitchFamily="34" charset="-120"/>
              </a:rPr>
              <a:t> the feature becomes readable. A further test that could tell "not there yet" from "there but hidden" was </a:t>
            </a:r>
            <a:r>
              <a:rPr lang="en-US" sz="1400" b="1" dirty="0">
                <a:solidFill>
                  <a:srgbClr val="1B2433"/>
                </a:solidFill>
                <a:latin typeface="Calibri" pitchFamily="34" charset="0"/>
                <a:ea typeface="Calibri" pitchFamily="34" charset="-122"/>
                <a:cs typeface="Calibri" pitchFamily="34" charset="-120"/>
              </a:rPr>
              <a:t>not run</a:t>
            </a:r>
            <a:r>
              <a:rPr lang="en-US" sz="1400" dirty="0">
                <a:solidFill>
                  <a:srgbClr val="1B2433"/>
                </a:solidFill>
                <a:latin typeface="Calibri" pitchFamily="34" charset="0"/>
                <a:ea typeface="Calibri" pitchFamily="34" charset="-122"/>
                <a:cs typeface="Calibri" pitchFamily="34" charset="-120"/>
              </a:rPr>
              <a:t>.</a:t>
            </a:r>
            <a:endParaRPr lang="en-US" sz="1400" dirty="0"/>
          </a:p>
        </p:txBody>
      </p:sp>
      <p:sp>
        <p:nvSpPr>
          <p:cNvPr id="30" name="Shape 27"/>
          <p:cNvSpPr/>
          <p:nvPr/>
        </p:nvSpPr>
        <p:spPr>
          <a:xfrm>
            <a:off x="548640" y="5806440"/>
            <a:ext cx="11064240" cy="502920"/>
          </a:xfrm>
          <a:prstGeom prst="roundRect">
            <a:avLst>
              <a:gd name="adj" fmla="val 14545"/>
            </a:avLst>
          </a:prstGeom>
          <a:solidFill>
            <a:srgbClr val="FBEBD2"/>
          </a:solidFill>
          <a:ln w="12700">
            <a:solidFill>
              <a:srgbClr val="E39B2D"/>
            </a:solidFill>
            <a:prstDash val="solid"/>
          </a:ln>
        </p:spPr>
      </p:sp>
      <p:sp>
        <p:nvSpPr>
          <p:cNvPr id="31" name="Text 28"/>
          <p:cNvSpPr/>
          <p:nvPr/>
        </p:nvSpPr>
        <p:spPr>
          <a:xfrm>
            <a:off x="777240" y="5806440"/>
            <a:ext cx="10607040" cy="50292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The probe missed the bar we set in advance, so we </a:t>
            </a:r>
            <a:r>
              <a:rPr lang="en-US" sz="1500" b="1" dirty="0">
                <a:solidFill>
                  <a:srgbClr val="1B2433"/>
                </a:solidFill>
                <a:latin typeface="Calibri" pitchFamily="34" charset="0"/>
                <a:ea typeface="Calibri" pitchFamily="34" charset="-122"/>
                <a:cs typeface="Calibri" pitchFamily="34" charset="-120"/>
              </a:rPr>
              <a:t>dropped it instead of lowering the bar</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286000"/>
            <a:ext cx="1371600" cy="1097280"/>
          </a:xfrm>
          <a:prstGeom prst="roundRect">
            <a:avLst>
              <a:gd name="adj" fmla="val 10000"/>
            </a:avLst>
          </a:prstGeom>
          <a:solidFill>
            <a:srgbClr val="14213D"/>
          </a:solidFill>
          <a:ln w="31750">
            <a:solidFill>
              <a:srgbClr val="E39B2D"/>
            </a:solidFill>
            <a:prstDash val="dash"/>
          </a:ln>
        </p:spPr>
      </p:sp>
      <p:sp>
        <p:nvSpPr>
          <p:cNvPr id="3" name="Text 1"/>
          <p:cNvSpPr/>
          <p:nvPr/>
        </p:nvSpPr>
        <p:spPr>
          <a:xfrm>
            <a:off x="822960" y="2286000"/>
            <a:ext cx="1371600" cy="1097280"/>
          </a:xfrm>
          <a:prstGeom prst="rect">
            <a:avLst/>
          </a:prstGeom>
          <a:noFill/>
          <a:ln/>
        </p:spPr>
        <p:txBody>
          <a:bodyPr wrap="square" lIns="0" tIns="0" rIns="0" bIns="0" rtlCol="0" anchor="ctr"/>
          <a:lstStyle/>
          <a:p>
            <a:pPr algn="ctr" indent="0" marL="0">
              <a:buNone/>
            </a:pPr>
            <a:r>
              <a:rPr lang="en-US" sz="4800" b="1" dirty="0">
                <a:solidFill>
                  <a:srgbClr val="E39B2D"/>
                </a:solidFill>
                <a:latin typeface="Calibri" pitchFamily="34" charset="0"/>
                <a:ea typeface="Calibri" pitchFamily="34" charset="-122"/>
                <a:cs typeface="Calibri" pitchFamily="34" charset="-120"/>
              </a:rPr>
              <a:t>9</a:t>
            </a:r>
            <a:endParaRPr lang="en-US" sz="4800" dirty="0"/>
          </a:p>
        </p:txBody>
      </p:sp>
      <p:sp>
        <p:nvSpPr>
          <p:cNvPr id="4" name="Text 2"/>
          <p:cNvSpPr/>
          <p:nvPr/>
        </p:nvSpPr>
        <p:spPr>
          <a:xfrm>
            <a:off x="2560320" y="1097280"/>
            <a:ext cx="9052560" cy="1965960"/>
          </a:xfrm>
          <a:prstGeom prst="rect">
            <a:avLst/>
          </a:prstGeom>
          <a:noFill/>
          <a:ln/>
        </p:spPr>
        <p:txBody>
          <a:bodyPr wrap="square" lIns="0" tIns="0" rIns="0" bIns="0" rtlCol="0" anchor="b"/>
          <a:lstStyle/>
          <a:p>
            <a:pPr indent="0" marL="0">
              <a:buNone/>
            </a:pPr>
            <a:r>
              <a:rPr lang="en-US" sz="3600" b="1" dirty="0">
                <a:solidFill>
                  <a:srgbClr val="FFFFFF"/>
                </a:solidFill>
                <a:latin typeface="Georgia" pitchFamily="34" charset="0"/>
                <a:ea typeface="Georgia" pitchFamily="34" charset="-122"/>
                <a:cs typeface="Georgia" pitchFamily="34" charset="-120"/>
              </a:rPr>
              <a:t>A mistake we caught in our own first release</a:t>
            </a:r>
            <a:endParaRPr lang="en-US" sz="3600" dirty="0"/>
          </a:p>
        </p:txBody>
      </p:sp>
      <p:sp>
        <p:nvSpPr>
          <p:cNvPr id="5" name="Text 3"/>
          <p:cNvSpPr/>
          <p:nvPr/>
        </p:nvSpPr>
        <p:spPr>
          <a:xfrm>
            <a:off x="2560320" y="3246120"/>
            <a:ext cx="9052560" cy="1280160"/>
          </a:xfrm>
          <a:prstGeom prst="rect">
            <a:avLst/>
          </a:prstGeom>
          <a:noFill/>
          <a:ln/>
        </p:spPr>
        <p:txBody>
          <a:bodyPr wrap="square" lIns="0" tIns="0" rIns="0" bIns="0" rtlCol="0" anchor="t"/>
          <a:lstStyle/>
          <a:p>
            <a:pPr indent="0" marL="0">
              <a:buNone/>
            </a:pPr>
            <a:r>
              <a:rPr lang="en-US" sz="1800" dirty="0">
                <a:solidFill>
                  <a:srgbClr val="C9D2E3"/>
                </a:solidFill>
                <a:latin typeface="Calibri" pitchFamily="34" charset="0"/>
                <a:ea typeface="Calibri" pitchFamily="34" charset="-122"/>
                <a:cs typeface="Calibri" pitchFamily="34" charset="-120"/>
              </a:rPr>
              <a:t>A clean, quotable result that turned out to be built into the test items. We retracted it.</a:t>
            </a:r>
            <a:endParaRPr lang="en-US" sz="1800" dirty="0"/>
          </a:p>
        </p:txBody>
      </p:sp>
      <p:sp>
        <p:nvSpPr>
          <p:cNvPr id="6" name="Text 4"/>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7D8AA5"/>
                </a:solidFill>
                <a:latin typeface="Calibri" pitchFamily="34" charset="0"/>
                <a:ea typeface="Calibri" pitchFamily="34" charset="-122"/>
                <a:cs typeface="Calibri"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9</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A MISTAKE WE CAUGHT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The claim we retracted: it did not just weaken, it reversed</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82</a:t>
            </a:r>
            <a:endParaRPr lang="en-US" sz="900" dirty="0"/>
          </a:p>
        </p:txBody>
      </p:sp>
      <p:sp>
        <p:nvSpPr>
          <p:cNvPr id="9" name="Text 6"/>
          <p:cNvSpPr/>
          <p:nvPr/>
        </p:nvSpPr>
        <p:spPr>
          <a:xfrm>
            <a:off x="548640" y="1645920"/>
            <a:ext cx="7315200" cy="320040"/>
          </a:xfrm>
          <a:prstGeom prst="rect">
            <a:avLst/>
          </a:prstGeom>
          <a:noFill/>
          <a:ln/>
        </p:spPr>
        <p:txBody>
          <a:bodyPr wrap="square" lIns="0" tIns="0" rIns="0" bIns="0" rtlCol="0" anchor="t"/>
          <a:lstStyle/>
          <a:p>
            <a:pPr algn="l" indent="0" marL="0">
              <a:lnSpc>
                <a:spcPct val="100000"/>
              </a:lnSpc>
              <a:buNone/>
            </a:pPr>
            <a:r>
              <a:rPr lang="en-US" sz="1300" b="1" dirty="0">
                <a:solidFill>
                  <a:srgbClr val="5B6577"/>
                </a:solidFill>
                <a:latin typeface="Calibri" pitchFamily="34" charset="0"/>
                <a:ea typeface="Calibri" pitchFamily="34" charset="-122"/>
                <a:cs typeface="Calibri" pitchFamily="34" charset="-120"/>
              </a:rPr>
              <a:t>Prior-sentence gender commitment (%)</a:t>
            </a:r>
            <a:endParaRPr lang="en-US" sz="1300" dirty="0"/>
          </a:p>
        </p:txBody>
      </p:sp>
      <p:sp>
        <p:nvSpPr>
          <p:cNvPr id="10" name="Text 7"/>
          <p:cNvSpPr/>
          <p:nvPr/>
        </p:nvSpPr>
        <p:spPr>
          <a:xfrm>
            <a:off x="548640" y="2011680"/>
            <a:ext cx="2103120" cy="301752"/>
          </a:xfrm>
          <a:prstGeom prst="rect">
            <a:avLst/>
          </a:prstGeom>
          <a:noFill/>
          <a:ln/>
        </p:spPr>
        <p:txBody>
          <a:bodyPr wrap="square" lIns="0" tIns="0" rIns="0" bIns="0" rtlCol="0" anchor="ctr"/>
          <a:lstStyle/>
          <a:p>
            <a:pPr algn="r" indent="0" marL="0">
              <a:lnSpc>
                <a:spcPct val="100000"/>
              </a:lnSpc>
              <a:buNone/>
            </a:pPr>
            <a:r>
              <a:rPr lang="en-US" sz="1200" dirty="0">
                <a:solidFill>
                  <a:srgbClr val="1B2433"/>
                </a:solidFill>
                <a:latin typeface="Calibri" pitchFamily="34" charset="0"/>
                <a:ea typeface="Calibri" pitchFamily="34" charset="-122"/>
                <a:cs typeface="Calibri" pitchFamily="34" charset="-120"/>
              </a:rPr>
              <a:t>Sarvam-Translate</a:t>
            </a:r>
            <a:endParaRPr lang="en-US" sz="1200" dirty="0"/>
          </a:p>
        </p:txBody>
      </p:sp>
      <p:sp>
        <p:nvSpPr>
          <p:cNvPr id="11" name="Shape 8"/>
          <p:cNvSpPr/>
          <p:nvPr/>
        </p:nvSpPr>
        <p:spPr>
          <a:xfrm>
            <a:off x="2743200" y="2048256"/>
            <a:ext cx="18288" cy="100584"/>
          </a:xfrm>
          <a:prstGeom prst="rect">
            <a:avLst/>
          </a:prstGeom>
          <a:solidFill>
            <a:srgbClr val="98A1B2"/>
          </a:solidFill>
          <a:ln w="12700">
            <a:solidFill>
              <a:srgbClr val="98A1B2"/>
            </a:solidFill>
            <a:prstDash val="solid"/>
          </a:ln>
        </p:spPr>
      </p:sp>
      <p:sp>
        <p:nvSpPr>
          <p:cNvPr id="12" name="Shape 9"/>
          <p:cNvSpPr/>
          <p:nvPr/>
        </p:nvSpPr>
        <p:spPr>
          <a:xfrm>
            <a:off x="2743200" y="2157984"/>
            <a:ext cx="4956780" cy="118872"/>
          </a:xfrm>
          <a:prstGeom prst="rect">
            <a:avLst/>
          </a:prstGeom>
          <a:solidFill>
            <a:srgbClr val="1F3057"/>
          </a:solidFill>
          <a:ln w="12700">
            <a:solidFill>
              <a:srgbClr val="1F3057"/>
            </a:solidFill>
            <a:prstDash val="solid"/>
          </a:ln>
        </p:spPr>
      </p:sp>
      <p:sp>
        <p:nvSpPr>
          <p:cNvPr id="13" name="Text 10"/>
          <p:cNvSpPr/>
          <p:nvPr/>
        </p:nvSpPr>
        <p:spPr>
          <a:xfrm>
            <a:off x="7745700" y="2084832"/>
            <a:ext cx="548640" cy="228600"/>
          </a:xfrm>
          <a:prstGeom prst="rect">
            <a:avLst/>
          </a:prstGeom>
          <a:noFill/>
          <a:ln/>
        </p:spPr>
        <p:txBody>
          <a:bodyPr wrap="square" lIns="0" tIns="0" rIns="0" bIns="0" rtlCol="0" anchor="t"/>
          <a:lstStyle/>
          <a:p>
            <a:pPr algn="l" indent="0" marL="0">
              <a:lnSpc>
                <a:spcPct val="100000"/>
              </a:lnSpc>
              <a:buNone/>
            </a:pPr>
            <a:r>
              <a:rPr lang="en-US" sz="1100" b="1" dirty="0">
                <a:solidFill>
                  <a:srgbClr val="1B2433"/>
                </a:solidFill>
                <a:latin typeface="Calibri" pitchFamily="34" charset="0"/>
                <a:ea typeface="Calibri" pitchFamily="34" charset="-122"/>
                <a:cs typeface="Calibri" pitchFamily="34" charset="-120"/>
              </a:rPr>
              <a:t>96.8</a:t>
            </a:r>
            <a:endParaRPr lang="en-US" sz="1100" dirty="0"/>
          </a:p>
        </p:txBody>
      </p:sp>
      <p:sp>
        <p:nvSpPr>
          <p:cNvPr id="14" name="Text 11"/>
          <p:cNvSpPr/>
          <p:nvPr/>
        </p:nvSpPr>
        <p:spPr>
          <a:xfrm>
            <a:off x="548640" y="2313432"/>
            <a:ext cx="2103120" cy="301752"/>
          </a:xfrm>
          <a:prstGeom prst="rect">
            <a:avLst/>
          </a:prstGeom>
          <a:noFill/>
          <a:ln/>
        </p:spPr>
        <p:txBody>
          <a:bodyPr wrap="square" lIns="0" tIns="0" rIns="0" bIns="0" rtlCol="0" anchor="ctr"/>
          <a:lstStyle/>
          <a:p>
            <a:pPr algn="r" indent="0" marL="0">
              <a:lnSpc>
                <a:spcPct val="100000"/>
              </a:lnSpc>
              <a:buNone/>
            </a:pPr>
            <a:r>
              <a:rPr lang="en-US" sz="1200" dirty="0">
                <a:solidFill>
                  <a:srgbClr val="1B2433"/>
                </a:solidFill>
                <a:latin typeface="Calibri" pitchFamily="34" charset="0"/>
                <a:ea typeface="Calibri" pitchFamily="34" charset="-122"/>
                <a:cs typeface="Calibri" pitchFamily="34" charset="-120"/>
              </a:rPr>
              <a:t>Gemma 3 27B</a:t>
            </a:r>
            <a:endParaRPr lang="en-US" sz="1200" dirty="0"/>
          </a:p>
        </p:txBody>
      </p:sp>
      <p:sp>
        <p:nvSpPr>
          <p:cNvPr id="15" name="Shape 12"/>
          <p:cNvSpPr/>
          <p:nvPr/>
        </p:nvSpPr>
        <p:spPr>
          <a:xfrm>
            <a:off x="2743200" y="2350008"/>
            <a:ext cx="18288" cy="100584"/>
          </a:xfrm>
          <a:prstGeom prst="rect">
            <a:avLst/>
          </a:prstGeom>
          <a:solidFill>
            <a:srgbClr val="98A1B2"/>
          </a:solidFill>
          <a:ln w="12700">
            <a:solidFill>
              <a:srgbClr val="98A1B2"/>
            </a:solidFill>
            <a:prstDash val="solid"/>
          </a:ln>
        </p:spPr>
      </p:sp>
      <p:sp>
        <p:nvSpPr>
          <p:cNvPr id="16" name="Shape 13"/>
          <p:cNvSpPr/>
          <p:nvPr/>
        </p:nvSpPr>
        <p:spPr>
          <a:xfrm>
            <a:off x="2743200" y="2459736"/>
            <a:ext cx="4772436" cy="118872"/>
          </a:xfrm>
          <a:prstGeom prst="rect">
            <a:avLst/>
          </a:prstGeom>
          <a:solidFill>
            <a:srgbClr val="1F3057"/>
          </a:solidFill>
          <a:ln w="12700">
            <a:solidFill>
              <a:srgbClr val="1F3057"/>
            </a:solidFill>
            <a:prstDash val="solid"/>
          </a:ln>
        </p:spPr>
      </p:sp>
      <p:sp>
        <p:nvSpPr>
          <p:cNvPr id="17" name="Text 14"/>
          <p:cNvSpPr/>
          <p:nvPr/>
        </p:nvSpPr>
        <p:spPr>
          <a:xfrm>
            <a:off x="7561356" y="2386584"/>
            <a:ext cx="548640" cy="228600"/>
          </a:xfrm>
          <a:prstGeom prst="rect">
            <a:avLst/>
          </a:prstGeom>
          <a:noFill/>
          <a:ln/>
        </p:spPr>
        <p:txBody>
          <a:bodyPr wrap="square" lIns="0" tIns="0" rIns="0" bIns="0" rtlCol="0" anchor="t"/>
          <a:lstStyle/>
          <a:p>
            <a:pPr algn="l" indent="0" marL="0">
              <a:lnSpc>
                <a:spcPct val="100000"/>
              </a:lnSpc>
              <a:buNone/>
            </a:pPr>
            <a:r>
              <a:rPr lang="en-US" sz="1100" b="1" dirty="0">
                <a:solidFill>
                  <a:srgbClr val="1B2433"/>
                </a:solidFill>
                <a:latin typeface="Calibri" pitchFamily="34" charset="0"/>
                <a:ea typeface="Calibri" pitchFamily="34" charset="-122"/>
                <a:cs typeface="Calibri" pitchFamily="34" charset="-120"/>
              </a:rPr>
              <a:t>93.2</a:t>
            </a:r>
            <a:endParaRPr lang="en-US" sz="1100" dirty="0"/>
          </a:p>
        </p:txBody>
      </p:sp>
      <p:sp>
        <p:nvSpPr>
          <p:cNvPr id="18" name="Text 15"/>
          <p:cNvSpPr/>
          <p:nvPr/>
        </p:nvSpPr>
        <p:spPr>
          <a:xfrm>
            <a:off x="548640" y="2615184"/>
            <a:ext cx="2103120" cy="301752"/>
          </a:xfrm>
          <a:prstGeom prst="rect">
            <a:avLst/>
          </a:prstGeom>
          <a:noFill/>
          <a:ln/>
        </p:spPr>
        <p:txBody>
          <a:bodyPr wrap="square" lIns="0" tIns="0" rIns="0" bIns="0" rtlCol="0" anchor="ctr"/>
          <a:lstStyle/>
          <a:p>
            <a:pPr algn="r" indent="0" marL="0">
              <a:lnSpc>
                <a:spcPct val="100000"/>
              </a:lnSpc>
              <a:buNone/>
            </a:pPr>
            <a:r>
              <a:rPr lang="en-US" sz="1200" dirty="0">
                <a:solidFill>
                  <a:srgbClr val="1B2433"/>
                </a:solidFill>
                <a:latin typeface="Calibri" pitchFamily="34" charset="0"/>
                <a:ea typeface="Calibri" pitchFamily="34" charset="-122"/>
                <a:cs typeface="Calibri" pitchFamily="34" charset="-120"/>
              </a:rPr>
              <a:t>Qwen3 14B</a:t>
            </a:r>
            <a:endParaRPr lang="en-US" sz="1200" dirty="0"/>
          </a:p>
        </p:txBody>
      </p:sp>
      <p:sp>
        <p:nvSpPr>
          <p:cNvPr id="19" name="Shape 16"/>
          <p:cNvSpPr/>
          <p:nvPr/>
        </p:nvSpPr>
        <p:spPr>
          <a:xfrm>
            <a:off x="2743200" y="2651760"/>
            <a:ext cx="20483" cy="100584"/>
          </a:xfrm>
          <a:prstGeom prst="rect">
            <a:avLst/>
          </a:prstGeom>
          <a:solidFill>
            <a:srgbClr val="98A1B2"/>
          </a:solidFill>
          <a:ln w="12700">
            <a:solidFill>
              <a:srgbClr val="98A1B2"/>
            </a:solidFill>
            <a:prstDash val="solid"/>
          </a:ln>
        </p:spPr>
      </p:sp>
      <p:sp>
        <p:nvSpPr>
          <p:cNvPr id="20" name="Shape 17"/>
          <p:cNvSpPr/>
          <p:nvPr/>
        </p:nvSpPr>
        <p:spPr>
          <a:xfrm>
            <a:off x="2743200" y="2761488"/>
            <a:ext cx="4726351" cy="118872"/>
          </a:xfrm>
          <a:prstGeom prst="rect">
            <a:avLst/>
          </a:prstGeom>
          <a:solidFill>
            <a:srgbClr val="1F3057"/>
          </a:solidFill>
          <a:ln w="12700">
            <a:solidFill>
              <a:srgbClr val="1F3057"/>
            </a:solidFill>
            <a:prstDash val="solid"/>
          </a:ln>
        </p:spPr>
      </p:sp>
      <p:sp>
        <p:nvSpPr>
          <p:cNvPr id="21" name="Text 18"/>
          <p:cNvSpPr/>
          <p:nvPr/>
        </p:nvSpPr>
        <p:spPr>
          <a:xfrm>
            <a:off x="7515271" y="2688336"/>
            <a:ext cx="548640" cy="228600"/>
          </a:xfrm>
          <a:prstGeom prst="rect">
            <a:avLst/>
          </a:prstGeom>
          <a:noFill/>
          <a:ln/>
        </p:spPr>
        <p:txBody>
          <a:bodyPr wrap="square" lIns="0" tIns="0" rIns="0" bIns="0" rtlCol="0" anchor="t"/>
          <a:lstStyle/>
          <a:p>
            <a:pPr algn="l" indent="0" marL="0">
              <a:lnSpc>
                <a:spcPct val="100000"/>
              </a:lnSpc>
              <a:buNone/>
            </a:pPr>
            <a:r>
              <a:rPr lang="en-US" sz="1100" b="1" dirty="0">
                <a:solidFill>
                  <a:srgbClr val="1B2433"/>
                </a:solidFill>
                <a:latin typeface="Calibri" pitchFamily="34" charset="0"/>
                <a:ea typeface="Calibri" pitchFamily="34" charset="-122"/>
                <a:cs typeface="Calibri" pitchFamily="34" charset="-120"/>
              </a:rPr>
              <a:t>92.3</a:t>
            </a:r>
            <a:endParaRPr lang="en-US" sz="1100" dirty="0"/>
          </a:p>
        </p:txBody>
      </p:sp>
      <p:sp>
        <p:nvSpPr>
          <p:cNvPr id="22" name="Text 19"/>
          <p:cNvSpPr/>
          <p:nvPr/>
        </p:nvSpPr>
        <p:spPr>
          <a:xfrm>
            <a:off x="548640" y="2916936"/>
            <a:ext cx="2103120" cy="301752"/>
          </a:xfrm>
          <a:prstGeom prst="rect">
            <a:avLst/>
          </a:prstGeom>
          <a:noFill/>
          <a:ln/>
        </p:spPr>
        <p:txBody>
          <a:bodyPr wrap="square" lIns="0" tIns="0" rIns="0" bIns="0" rtlCol="0" anchor="ctr"/>
          <a:lstStyle/>
          <a:p>
            <a:pPr algn="r" indent="0" marL="0">
              <a:lnSpc>
                <a:spcPct val="100000"/>
              </a:lnSpc>
              <a:buNone/>
            </a:pPr>
            <a:r>
              <a:rPr lang="en-US" sz="1200" dirty="0">
                <a:solidFill>
                  <a:srgbClr val="1B2433"/>
                </a:solidFill>
                <a:latin typeface="Calibri" pitchFamily="34" charset="0"/>
                <a:ea typeface="Calibri" pitchFamily="34" charset="-122"/>
                <a:cs typeface="Calibri" pitchFamily="34" charset="-120"/>
              </a:rPr>
              <a:t>Gemma 3 12B</a:t>
            </a:r>
            <a:endParaRPr lang="en-US" sz="1200" dirty="0"/>
          </a:p>
        </p:txBody>
      </p:sp>
      <p:sp>
        <p:nvSpPr>
          <p:cNvPr id="23" name="Shape 20"/>
          <p:cNvSpPr/>
          <p:nvPr/>
        </p:nvSpPr>
        <p:spPr>
          <a:xfrm>
            <a:off x="2743200" y="2953512"/>
            <a:ext cx="18288" cy="100584"/>
          </a:xfrm>
          <a:prstGeom prst="rect">
            <a:avLst/>
          </a:prstGeom>
          <a:solidFill>
            <a:srgbClr val="98A1B2"/>
          </a:solidFill>
          <a:ln w="12700">
            <a:solidFill>
              <a:srgbClr val="98A1B2"/>
            </a:solidFill>
            <a:prstDash val="solid"/>
          </a:ln>
        </p:spPr>
      </p:sp>
      <p:sp>
        <p:nvSpPr>
          <p:cNvPr id="24" name="Shape 21"/>
          <p:cNvSpPr/>
          <p:nvPr/>
        </p:nvSpPr>
        <p:spPr>
          <a:xfrm>
            <a:off x="2743200" y="3063240"/>
            <a:ext cx="4424233" cy="118872"/>
          </a:xfrm>
          <a:prstGeom prst="rect">
            <a:avLst/>
          </a:prstGeom>
          <a:solidFill>
            <a:srgbClr val="1F3057"/>
          </a:solidFill>
          <a:ln w="12700">
            <a:solidFill>
              <a:srgbClr val="1F3057"/>
            </a:solidFill>
            <a:prstDash val="solid"/>
          </a:ln>
        </p:spPr>
      </p:sp>
      <p:sp>
        <p:nvSpPr>
          <p:cNvPr id="25" name="Text 22"/>
          <p:cNvSpPr/>
          <p:nvPr/>
        </p:nvSpPr>
        <p:spPr>
          <a:xfrm>
            <a:off x="7213153" y="2990088"/>
            <a:ext cx="548640" cy="228600"/>
          </a:xfrm>
          <a:prstGeom prst="rect">
            <a:avLst/>
          </a:prstGeom>
          <a:noFill/>
          <a:ln/>
        </p:spPr>
        <p:txBody>
          <a:bodyPr wrap="square" lIns="0" tIns="0" rIns="0" bIns="0" rtlCol="0" anchor="t"/>
          <a:lstStyle/>
          <a:p>
            <a:pPr algn="l" indent="0" marL="0">
              <a:lnSpc>
                <a:spcPct val="100000"/>
              </a:lnSpc>
              <a:buNone/>
            </a:pPr>
            <a:r>
              <a:rPr lang="en-US" sz="1100" b="1" dirty="0">
                <a:solidFill>
                  <a:srgbClr val="1B2433"/>
                </a:solidFill>
                <a:latin typeface="Calibri" pitchFamily="34" charset="0"/>
                <a:ea typeface="Calibri" pitchFamily="34" charset="-122"/>
                <a:cs typeface="Calibri" pitchFamily="34" charset="-120"/>
              </a:rPr>
              <a:t>86.4</a:t>
            </a:r>
            <a:endParaRPr lang="en-US" sz="1100" dirty="0"/>
          </a:p>
        </p:txBody>
      </p:sp>
      <p:sp>
        <p:nvSpPr>
          <p:cNvPr id="26" name="Text 23"/>
          <p:cNvSpPr/>
          <p:nvPr/>
        </p:nvSpPr>
        <p:spPr>
          <a:xfrm>
            <a:off x="548640" y="3218688"/>
            <a:ext cx="2103120" cy="301752"/>
          </a:xfrm>
          <a:prstGeom prst="rect">
            <a:avLst/>
          </a:prstGeom>
          <a:noFill/>
          <a:ln/>
        </p:spPr>
        <p:txBody>
          <a:bodyPr wrap="square" lIns="0" tIns="0" rIns="0" bIns="0" rtlCol="0" anchor="ctr"/>
          <a:lstStyle/>
          <a:p>
            <a:pPr algn="r" indent="0" marL="0">
              <a:lnSpc>
                <a:spcPct val="100000"/>
              </a:lnSpc>
              <a:buNone/>
            </a:pPr>
            <a:r>
              <a:rPr lang="en-US" sz="1200" dirty="0">
                <a:solidFill>
                  <a:srgbClr val="1B2433"/>
                </a:solidFill>
                <a:latin typeface="Calibri" pitchFamily="34" charset="0"/>
                <a:ea typeface="Calibri" pitchFamily="34" charset="-122"/>
                <a:cs typeface="Calibri" pitchFamily="34" charset="-120"/>
              </a:rPr>
              <a:t>Gemma 3n E4B</a:t>
            </a:r>
            <a:endParaRPr lang="en-US" sz="1200" dirty="0"/>
          </a:p>
        </p:txBody>
      </p:sp>
      <p:sp>
        <p:nvSpPr>
          <p:cNvPr id="27" name="Text 24"/>
          <p:cNvSpPr/>
          <p:nvPr/>
        </p:nvSpPr>
        <p:spPr>
          <a:xfrm>
            <a:off x="2743200" y="3200400"/>
            <a:ext cx="2011680" cy="164592"/>
          </a:xfrm>
          <a:prstGeom prst="rect">
            <a:avLst/>
          </a:prstGeom>
          <a:noFill/>
          <a:ln/>
        </p:spPr>
        <p:txBody>
          <a:bodyPr wrap="square" lIns="0" tIns="0" rIns="0" bIns="0" rtlCol="0" anchor="t"/>
          <a:lstStyle/>
          <a:p>
            <a:pPr algn="l" indent="0" marL="0">
              <a:lnSpc>
                <a:spcPct val="100000"/>
              </a:lnSpc>
              <a:buNone/>
            </a:pPr>
            <a:r>
              <a:rPr lang="en-US" sz="900" i="1" dirty="0">
                <a:solidFill>
                  <a:srgbClr val="5B6577"/>
                </a:solidFill>
                <a:latin typeface="Calibri" pitchFamily="34" charset="0"/>
                <a:ea typeface="Calibri" pitchFamily="34" charset="-122"/>
                <a:cs typeface="Calibri" pitchFamily="34" charset="-120"/>
              </a:rPr>
              <a:t>first release: not run</a:t>
            </a:r>
            <a:endParaRPr lang="en-US" sz="900" dirty="0"/>
          </a:p>
        </p:txBody>
      </p:sp>
      <p:sp>
        <p:nvSpPr>
          <p:cNvPr id="28" name="Shape 25"/>
          <p:cNvSpPr/>
          <p:nvPr/>
        </p:nvSpPr>
        <p:spPr>
          <a:xfrm>
            <a:off x="2743200" y="3364992"/>
            <a:ext cx="4004340" cy="118872"/>
          </a:xfrm>
          <a:prstGeom prst="rect">
            <a:avLst/>
          </a:prstGeom>
          <a:solidFill>
            <a:srgbClr val="1F3057"/>
          </a:solidFill>
          <a:ln w="12700">
            <a:solidFill>
              <a:srgbClr val="1F3057"/>
            </a:solidFill>
            <a:prstDash val="solid"/>
          </a:ln>
        </p:spPr>
      </p:sp>
      <p:sp>
        <p:nvSpPr>
          <p:cNvPr id="29" name="Text 26"/>
          <p:cNvSpPr/>
          <p:nvPr/>
        </p:nvSpPr>
        <p:spPr>
          <a:xfrm>
            <a:off x="6793260" y="3291840"/>
            <a:ext cx="548640" cy="228600"/>
          </a:xfrm>
          <a:prstGeom prst="rect">
            <a:avLst/>
          </a:prstGeom>
          <a:noFill/>
          <a:ln/>
        </p:spPr>
        <p:txBody>
          <a:bodyPr wrap="square" lIns="0" tIns="0" rIns="0" bIns="0" rtlCol="0" anchor="t"/>
          <a:lstStyle/>
          <a:p>
            <a:pPr algn="l" indent="0" marL="0">
              <a:lnSpc>
                <a:spcPct val="100000"/>
              </a:lnSpc>
              <a:buNone/>
            </a:pPr>
            <a:r>
              <a:rPr lang="en-US" sz="1100" b="1" dirty="0">
                <a:solidFill>
                  <a:srgbClr val="1B2433"/>
                </a:solidFill>
                <a:latin typeface="Calibri" pitchFamily="34" charset="0"/>
                <a:ea typeface="Calibri" pitchFamily="34" charset="-122"/>
                <a:cs typeface="Calibri" pitchFamily="34" charset="-120"/>
              </a:rPr>
              <a:t>78.2</a:t>
            </a:r>
            <a:endParaRPr lang="en-US" sz="1100" dirty="0"/>
          </a:p>
        </p:txBody>
      </p:sp>
      <p:sp>
        <p:nvSpPr>
          <p:cNvPr id="30" name="Text 27"/>
          <p:cNvSpPr/>
          <p:nvPr/>
        </p:nvSpPr>
        <p:spPr>
          <a:xfrm>
            <a:off x="548640" y="3520440"/>
            <a:ext cx="2103120" cy="301752"/>
          </a:xfrm>
          <a:prstGeom prst="rect">
            <a:avLst/>
          </a:prstGeom>
          <a:noFill/>
          <a:ln/>
        </p:spPr>
        <p:txBody>
          <a:bodyPr wrap="square" lIns="0" tIns="0" rIns="0" bIns="0" rtlCol="0" anchor="ctr"/>
          <a:lstStyle/>
          <a:p>
            <a:pPr algn="r" indent="0" marL="0">
              <a:lnSpc>
                <a:spcPct val="100000"/>
              </a:lnSpc>
              <a:buNone/>
            </a:pPr>
            <a:r>
              <a:rPr lang="en-US" sz="1200" dirty="0">
                <a:solidFill>
                  <a:srgbClr val="1B2433"/>
                </a:solidFill>
                <a:latin typeface="Calibri" pitchFamily="34" charset="0"/>
                <a:ea typeface="Calibri" pitchFamily="34" charset="-122"/>
                <a:cs typeface="Calibri" pitchFamily="34" charset="-120"/>
              </a:rPr>
              <a:t>Gemma 3 1B</a:t>
            </a:r>
            <a:endParaRPr lang="en-US" sz="1200" dirty="0"/>
          </a:p>
        </p:txBody>
      </p:sp>
      <p:sp>
        <p:nvSpPr>
          <p:cNvPr id="31" name="Shape 28"/>
          <p:cNvSpPr/>
          <p:nvPr/>
        </p:nvSpPr>
        <p:spPr>
          <a:xfrm>
            <a:off x="2743200" y="3557016"/>
            <a:ext cx="2652492" cy="100584"/>
          </a:xfrm>
          <a:prstGeom prst="rect">
            <a:avLst/>
          </a:prstGeom>
          <a:solidFill>
            <a:srgbClr val="98A1B2"/>
          </a:solidFill>
          <a:ln w="12700">
            <a:solidFill>
              <a:srgbClr val="98A1B2"/>
            </a:solidFill>
            <a:prstDash val="solid"/>
          </a:ln>
        </p:spPr>
      </p:sp>
      <p:sp>
        <p:nvSpPr>
          <p:cNvPr id="32" name="Shape 29"/>
          <p:cNvSpPr/>
          <p:nvPr/>
        </p:nvSpPr>
        <p:spPr>
          <a:xfrm>
            <a:off x="2743200" y="3666744"/>
            <a:ext cx="3860963" cy="118872"/>
          </a:xfrm>
          <a:prstGeom prst="rect">
            <a:avLst/>
          </a:prstGeom>
          <a:solidFill>
            <a:srgbClr val="1F3057"/>
          </a:solidFill>
          <a:ln w="12700">
            <a:solidFill>
              <a:srgbClr val="1F3057"/>
            </a:solidFill>
            <a:prstDash val="solid"/>
          </a:ln>
        </p:spPr>
      </p:sp>
      <p:sp>
        <p:nvSpPr>
          <p:cNvPr id="33" name="Text 30"/>
          <p:cNvSpPr/>
          <p:nvPr/>
        </p:nvSpPr>
        <p:spPr>
          <a:xfrm>
            <a:off x="6649883" y="3593592"/>
            <a:ext cx="548640" cy="228600"/>
          </a:xfrm>
          <a:prstGeom prst="rect">
            <a:avLst/>
          </a:prstGeom>
          <a:noFill/>
          <a:ln/>
        </p:spPr>
        <p:txBody>
          <a:bodyPr wrap="square" lIns="0" tIns="0" rIns="0" bIns="0" rtlCol="0" anchor="t"/>
          <a:lstStyle/>
          <a:p>
            <a:pPr algn="l" indent="0" marL="0">
              <a:lnSpc>
                <a:spcPct val="100000"/>
              </a:lnSpc>
              <a:buNone/>
            </a:pPr>
            <a:r>
              <a:rPr lang="en-US" sz="1100" b="1" dirty="0">
                <a:solidFill>
                  <a:srgbClr val="1B2433"/>
                </a:solidFill>
                <a:latin typeface="Calibri" pitchFamily="34" charset="0"/>
                <a:ea typeface="Calibri" pitchFamily="34" charset="-122"/>
                <a:cs typeface="Calibri" pitchFamily="34" charset="-120"/>
              </a:rPr>
              <a:t>75.4</a:t>
            </a:r>
            <a:endParaRPr lang="en-US" sz="1100" dirty="0"/>
          </a:p>
        </p:txBody>
      </p:sp>
      <p:sp>
        <p:nvSpPr>
          <p:cNvPr id="34" name="Text 31"/>
          <p:cNvSpPr/>
          <p:nvPr/>
        </p:nvSpPr>
        <p:spPr>
          <a:xfrm>
            <a:off x="548640" y="3822192"/>
            <a:ext cx="2103120" cy="301752"/>
          </a:xfrm>
          <a:prstGeom prst="rect">
            <a:avLst/>
          </a:prstGeom>
          <a:noFill/>
          <a:ln/>
        </p:spPr>
        <p:txBody>
          <a:bodyPr wrap="square" lIns="0" tIns="0" rIns="0" bIns="0" rtlCol="0" anchor="ctr"/>
          <a:lstStyle/>
          <a:p>
            <a:pPr algn="r" indent="0" marL="0">
              <a:lnSpc>
                <a:spcPct val="100000"/>
              </a:lnSpc>
              <a:buNone/>
            </a:pPr>
            <a:r>
              <a:rPr lang="en-US" sz="1200" dirty="0">
                <a:solidFill>
                  <a:srgbClr val="1B2433"/>
                </a:solidFill>
                <a:latin typeface="Calibri" pitchFamily="34" charset="0"/>
                <a:ea typeface="Calibri" pitchFamily="34" charset="-122"/>
                <a:cs typeface="Calibri" pitchFamily="34" charset="-120"/>
              </a:rPr>
              <a:t>Qwen3 8B</a:t>
            </a:r>
            <a:endParaRPr lang="en-US" sz="1200" dirty="0"/>
          </a:p>
        </p:txBody>
      </p:sp>
      <p:sp>
        <p:nvSpPr>
          <p:cNvPr id="35" name="Shape 32"/>
          <p:cNvSpPr/>
          <p:nvPr/>
        </p:nvSpPr>
        <p:spPr>
          <a:xfrm>
            <a:off x="2743200" y="3858768"/>
            <a:ext cx="117775" cy="100584"/>
          </a:xfrm>
          <a:prstGeom prst="rect">
            <a:avLst/>
          </a:prstGeom>
          <a:solidFill>
            <a:srgbClr val="98A1B2"/>
          </a:solidFill>
          <a:ln w="12700">
            <a:solidFill>
              <a:srgbClr val="98A1B2"/>
            </a:solidFill>
            <a:prstDash val="solid"/>
          </a:ln>
        </p:spPr>
      </p:sp>
      <p:sp>
        <p:nvSpPr>
          <p:cNvPr id="36" name="Shape 33"/>
          <p:cNvSpPr/>
          <p:nvPr/>
        </p:nvSpPr>
        <p:spPr>
          <a:xfrm>
            <a:off x="2743200" y="3968496"/>
            <a:ext cx="3819997" cy="118872"/>
          </a:xfrm>
          <a:prstGeom prst="rect">
            <a:avLst/>
          </a:prstGeom>
          <a:solidFill>
            <a:srgbClr val="1F3057"/>
          </a:solidFill>
          <a:ln w="12700">
            <a:solidFill>
              <a:srgbClr val="1F3057"/>
            </a:solidFill>
            <a:prstDash val="solid"/>
          </a:ln>
        </p:spPr>
      </p:sp>
      <p:sp>
        <p:nvSpPr>
          <p:cNvPr id="37" name="Text 34"/>
          <p:cNvSpPr/>
          <p:nvPr/>
        </p:nvSpPr>
        <p:spPr>
          <a:xfrm>
            <a:off x="6608917" y="3895344"/>
            <a:ext cx="548640" cy="228600"/>
          </a:xfrm>
          <a:prstGeom prst="rect">
            <a:avLst/>
          </a:prstGeom>
          <a:noFill/>
          <a:ln/>
        </p:spPr>
        <p:txBody>
          <a:bodyPr wrap="square" lIns="0" tIns="0" rIns="0" bIns="0" rtlCol="0" anchor="t"/>
          <a:lstStyle/>
          <a:p>
            <a:pPr algn="l" indent="0" marL="0">
              <a:lnSpc>
                <a:spcPct val="100000"/>
              </a:lnSpc>
              <a:buNone/>
            </a:pPr>
            <a:r>
              <a:rPr lang="en-US" sz="1100" b="1" dirty="0">
                <a:solidFill>
                  <a:srgbClr val="1B2433"/>
                </a:solidFill>
                <a:latin typeface="Calibri" pitchFamily="34" charset="0"/>
                <a:ea typeface="Calibri" pitchFamily="34" charset="-122"/>
                <a:cs typeface="Calibri" pitchFamily="34" charset="-120"/>
              </a:rPr>
              <a:t>74.6</a:t>
            </a:r>
            <a:endParaRPr lang="en-US" sz="1100" dirty="0"/>
          </a:p>
        </p:txBody>
      </p:sp>
      <p:sp>
        <p:nvSpPr>
          <p:cNvPr id="38" name="Text 35"/>
          <p:cNvSpPr/>
          <p:nvPr/>
        </p:nvSpPr>
        <p:spPr>
          <a:xfrm>
            <a:off x="548640" y="4123944"/>
            <a:ext cx="2103120" cy="301752"/>
          </a:xfrm>
          <a:prstGeom prst="rect">
            <a:avLst/>
          </a:prstGeom>
          <a:noFill/>
          <a:ln/>
        </p:spPr>
        <p:txBody>
          <a:bodyPr wrap="square" lIns="0" tIns="0" rIns="0" bIns="0" rtlCol="0" anchor="ctr"/>
          <a:lstStyle/>
          <a:p>
            <a:pPr algn="r" indent="0" marL="0">
              <a:lnSpc>
                <a:spcPct val="100000"/>
              </a:lnSpc>
              <a:buNone/>
            </a:pPr>
            <a:r>
              <a:rPr lang="en-US" sz="1200" b="1" dirty="0">
                <a:solidFill>
                  <a:srgbClr val="1B2433"/>
                </a:solidFill>
                <a:latin typeface="Calibri" pitchFamily="34" charset="0"/>
                <a:ea typeface="Calibri" pitchFamily="34" charset="-122"/>
                <a:cs typeface="Calibri" pitchFamily="34" charset="-120"/>
              </a:rPr>
              <a:t>IndicTrans2 1B (MT)</a:t>
            </a:r>
            <a:endParaRPr lang="en-US" sz="1200" dirty="0"/>
          </a:p>
        </p:txBody>
      </p:sp>
      <p:sp>
        <p:nvSpPr>
          <p:cNvPr id="39" name="Shape 36"/>
          <p:cNvSpPr/>
          <p:nvPr/>
        </p:nvSpPr>
        <p:spPr>
          <a:xfrm>
            <a:off x="2743200" y="4160520"/>
            <a:ext cx="2258202" cy="100584"/>
          </a:xfrm>
          <a:prstGeom prst="rect">
            <a:avLst/>
          </a:prstGeom>
          <a:solidFill>
            <a:srgbClr val="98A1B2"/>
          </a:solidFill>
          <a:ln w="12700">
            <a:solidFill>
              <a:srgbClr val="98A1B2"/>
            </a:solidFill>
            <a:prstDash val="solid"/>
          </a:ln>
        </p:spPr>
      </p:sp>
      <p:sp>
        <p:nvSpPr>
          <p:cNvPr id="40" name="Shape 37"/>
          <p:cNvSpPr/>
          <p:nvPr/>
        </p:nvSpPr>
        <p:spPr>
          <a:xfrm>
            <a:off x="2743200" y="4270248"/>
            <a:ext cx="3656137" cy="118872"/>
          </a:xfrm>
          <a:prstGeom prst="rect">
            <a:avLst/>
          </a:prstGeom>
          <a:solidFill>
            <a:srgbClr val="009E73"/>
          </a:solidFill>
          <a:ln w="12700">
            <a:solidFill>
              <a:srgbClr val="009E73"/>
            </a:solidFill>
            <a:prstDash val="solid"/>
          </a:ln>
        </p:spPr>
      </p:sp>
      <p:sp>
        <p:nvSpPr>
          <p:cNvPr id="41" name="Text 38"/>
          <p:cNvSpPr/>
          <p:nvPr/>
        </p:nvSpPr>
        <p:spPr>
          <a:xfrm>
            <a:off x="6445057" y="4197096"/>
            <a:ext cx="548640" cy="228600"/>
          </a:xfrm>
          <a:prstGeom prst="rect">
            <a:avLst/>
          </a:prstGeom>
          <a:noFill/>
          <a:ln/>
        </p:spPr>
        <p:txBody>
          <a:bodyPr wrap="square" lIns="0" tIns="0" rIns="0" bIns="0" rtlCol="0" anchor="t"/>
          <a:lstStyle/>
          <a:p>
            <a:pPr algn="l" indent="0" marL="0">
              <a:lnSpc>
                <a:spcPct val="100000"/>
              </a:lnSpc>
              <a:buNone/>
            </a:pPr>
            <a:r>
              <a:rPr lang="en-US" sz="1100" b="1" dirty="0">
                <a:solidFill>
                  <a:srgbClr val="1B2433"/>
                </a:solidFill>
                <a:latin typeface="Calibri" pitchFamily="34" charset="0"/>
                <a:ea typeface="Calibri" pitchFamily="34" charset="-122"/>
                <a:cs typeface="Calibri" pitchFamily="34" charset="-120"/>
              </a:rPr>
              <a:t>71.4</a:t>
            </a:r>
            <a:endParaRPr lang="en-US" sz="1100" dirty="0"/>
          </a:p>
        </p:txBody>
      </p:sp>
      <p:sp>
        <p:nvSpPr>
          <p:cNvPr id="42" name="Text 39"/>
          <p:cNvSpPr/>
          <p:nvPr/>
        </p:nvSpPr>
        <p:spPr>
          <a:xfrm>
            <a:off x="548640" y="4425696"/>
            <a:ext cx="2103120" cy="301752"/>
          </a:xfrm>
          <a:prstGeom prst="rect">
            <a:avLst/>
          </a:prstGeom>
          <a:noFill/>
          <a:ln/>
        </p:spPr>
        <p:txBody>
          <a:bodyPr wrap="square" lIns="0" tIns="0" rIns="0" bIns="0" rtlCol="0" anchor="ctr"/>
          <a:lstStyle/>
          <a:p>
            <a:pPr algn="r" indent="0" marL="0">
              <a:lnSpc>
                <a:spcPct val="100000"/>
              </a:lnSpc>
              <a:buNone/>
            </a:pPr>
            <a:r>
              <a:rPr lang="en-US" sz="1200" dirty="0">
                <a:solidFill>
                  <a:srgbClr val="1B2433"/>
                </a:solidFill>
                <a:latin typeface="Calibri" pitchFamily="34" charset="0"/>
                <a:ea typeface="Calibri" pitchFamily="34" charset="-122"/>
                <a:cs typeface="Calibri" pitchFamily="34" charset="-120"/>
              </a:rPr>
              <a:t>Gemma 3n E2B</a:t>
            </a:r>
            <a:endParaRPr lang="en-US" sz="1200" dirty="0"/>
          </a:p>
        </p:txBody>
      </p:sp>
      <p:sp>
        <p:nvSpPr>
          <p:cNvPr id="43" name="Text 40"/>
          <p:cNvSpPr/>
          <p:nvPr/>
        </p:nvSpPr>
        <p:spPr>
          <a:xfrm>
            <a:off x="2743200" y="4407408"/>
            <a:ext cx="2011680" cy="164592"/>
          </a:xfrm>
          <a:prstGeom prst="rect">
            <a:avLst/>
          </a:prstGeom>
          <a:noFill/>
          <a:ln/>
        </p:spPr>
        <p:txBody>
          <a:bodyPr wrap="square" lIns="0" tIns="0" rIns="0" bIns="0" rtlCol="0" anchor="t"/>
          <a:lstStyle/>
          <a:p>
            <a:pPr algn="l" indent="0" marL="0">
              <a:lnSpc>
                <a:spcPct val="100000"/>
              </a:lnSpc>
              <a:buNone/>
            </a:pPr>
            <a:r>
              <a:rPr lang="en-US" sz="900" i="1" dirty="0">
                <a:solidFill>
                  <a:srgbClr val="5B6577"/>
                </a:solidFill>
                <a:latin typeface="Calibri" pitchFamily="34" charset="0"/>
                <a:ea typeface="Calibri" pitchFamily="34" charset="-122"/>
                <a:cs typeface="Calibri" pitchFamily="34" charset="-120"/>
              </a:rPr>
              <a:t>first release: not run</a:t>
            </a:r>
            <a:endParaRPr lang="en-US" sz="900" dirty="0"/>
          </a:p>
        </p:txBody>
      </p:sp>
      <p:sp>
        <p:nvSpPr>
          <p:cNvPr id="44" name="Shape 41"/>
          <p:cNvSpPr/>
          <p:nvPr/>
        </p:nvSpPr>
        <p:spPr>
          <a:xfrm>
            <a:off x="2743200" y="4572000"/>
            <a:ext cx="3610051" cy="118872"/>
          </a:xfrm>
          <a:prstGeom prst="rect">
            <a:avLst/>
          </a:prstGeom>
          <a:solidFill>
            <a:srgbClr val="1F3057"/>
          </a:solidFill>
          <a:ln w="12700">
            <a:solidFill>
              <a:srgbClr val="1F3057"/>
            </a:solidFill>
            <a:prstDash val="solid"/>
          </a:ln>
        </p:spPr>
      </p:sp>
      <p:sp>
        <p:nvSpPr>
          <p:cNvPr id="45" name="Text 42"/>
          <p:cNvSpPr/>
          <p:nvPr/>
        </p:nvSpPr>
        <p:spPr>
          <a:xfrm>
            <a:off x="6398971" y="4498848"/>
            <a:ext cx="548640" cy="228600"/>
          </a:xfrm>
          <a:prstGeom prst="rect">
            <a:avLst/>
          </a:prstGeom>
          <a:noFill/>
          <a:ln/>
        </p:spPr>
        <p:txBody>
          <a:bodyPr wrap="square" lIns="0" tIns="0" rIns="0" bIns="0" rtlCol="0" anchor="t"/>
          <a:lstStyle/>
          <a:p>
            <a:pPr algn="l" indent="0" marL="0">
              <a:lnSpc>
                <a:spcPct val="100000"/>
              </a:lnSpc>
              <a:buNone/>
            </a:pPr>
            <a:r>
              <a:rPr lang="en-US" sz="1100" b="1" dirty="0">
                <a:solidFill>
                  <a:srgbClr val="1B2433"/>
                </a:solidFill>
                <a:latin typeface="Calibri" pitchFamily="34" charset="0"/>
                <a:ea typeface="Calibri" pitchFamily="34" charset="-122"/>
                <a:cs typeface="Calibri" pitchFamily="34" charset="-120"/>
              </a:rPr>
              <a:t>70.5</a:t>
            </a:r>
            <a:endParaRPr lang="en-US" sz="1100" dirty="0"/>
          </a:p>
        </p:txBody>
      </p:sp>
      <p:sp>
        <p:nvSpPr>
          <p:cNvPr id="46" name="Text 43"/>
          <p:cNvSpPr/>
          <p:nvPr/>
        </p:nvSpPr>
        <p:spPr>
          <a:xfrm>
            <a:off x="548640" y="4727448"/>
            <a:ext cx="2103120" cy="301752"/>
          </a:xfrm>
          <a:prstGeom prst="rect">
            <a:avLst/>
          </a:prstGeom>
          <a:noFill/>
          <a:ln/>
        </p:spPr>
        <p:txBody>
          <a:bodyPr wrap="square" lIns="0" tIns="0" rIns="0" bIns="0" rtlCol="0" anchor="ctr"/>
          <a:lstStyle/>
          <a:p>
            <a:pPr algn="r" indent="0" marL="0">
              <a:lnSpc>
                <a:spcPct val="100000"/>
              </a:lnSpc>
              <a:buNone/>
            </a:pPr>
            <a:r>
              <a:rPr lang="en-US" sz="1200" dirty="0">
                <a:solidFill>
                  <a:srgbClr val="1B2433"/>
                </a:solidFill>
                <a:latin typeface="Calibri" pitchFamily="34" charset="0"/>
                <a:ea typeface="Calibri" pitchFamily="34" charset="-122"/>
                <a:cs typeface="Calibri" pitchFamily="34" charset="-120"/>
              </a:rPr>
              <a:t>Gemma 3 4B</a:t>
            </a:r>
            <a:endParaRPr lang="en-US" sz="1200" dirty="0"/>
          </a:p>
        </p:txBody>
      </p:sp>
      <p:sp>
        <p:nvSpPr>
          <p:cNvPr id="47" name="Shape 44"/>
          <p:cNvSpPr/>
          <p:nvPr/>
        </p:nvSpPr>
        <p:spPr>
          <a:xfrm>
            <a:off x="2743200" y="4764024"/>
            <a:ext cx="117775" cy="100584"/>
          </a:xfrm>
          <a:prstGeom prst="rect">
            <a:avLst/>
          </a:prstGeom>
          <a:solidFill>
            <a:srgbClr val="98A1B2"/>
          </a:solidFill>
          <a:ln w="12700">
            <a:solidFill>
              <a:srgbClr val="98A1B2"/>
            </a:solidFill>
            <a:prstDash val="solid"/>
          </a:ln>
        </p:spPr>
      </p:sp>
      <p:sp>
        <p:nvSpPr>
          <p:cNvPr id="48" name="Shape 45"/>
          <p:cNvSpPr/>
          <p:nvPr/>
        </p:nvSpPr>
        <p:spPr>
          <a:xfrm>
            <a:off x="2743200" y="4873752"/>
            <a:ext cx="3466673" cy="118872"/>
          </a:xfrm>
          <a:prstGeom prst="rect">
            <a:avLst/>
          </a:prstGeom>
          <a:solidFill>
            <a:srgbClr val="1F3057"/>
          </a:solidFill>
          <a:ln w="12700">
            <a:solidFill>
              <a:srgbClr val="1F3057"/>
            </a:solidFill>
            <a:prstDash val="solid"/>
          </a:ln>
        </p:spPr>
      </p:sp>
      <p:sp>
        <p:nvSpPr>
          <p:cNvPr id="49" name="Text 46"/>
          <p:cNvSpPr/>
          <p:nvPr/>
        </p:nvSpPr>
        <p:spPr>
          <a:xfrm>
            <a:off x="6255593" y="4800600"/>
            <a:ext cx="548640" cy="228600"/>
          </a:xfrm>
          <a:prstGeom prst="rect">
            <a:avLst/>
          </a:prstGeom>
          <a:noFill/>
          <a:ln/>
        </p:spPr>
        <p:txBody>
          <a:bodyPr wrap="square" lIns="0" tIns="0" rIns="0" bIns="0" rtlCol="0" anchor="t"/>
          <a:lstStyle/>
          <a:p>
            <a:pPr algn="l" indent="0" marL="0">
              <a:lnSpc>
                <a:spcPct val="100000"/>
              </a:lnSpc>
              <a:buNone/>
            </a:pPr>
            <a:r>
              <a:rPr lang="en-US" sz="1100" b="1" dirty="0">
                <a:solidFill>
                  <a:srgbClr val="1B2433"/>
                </a:solidFill>
                <a:latin typeface="Calibri" pitchFamily="34" charset="0"/>
                <a:ea typeface="Calibri" pitchFamily="34" charset="-122"/>
                <a:cs typeface="Calibri" pitchFamily="34" charset="-120"/>
              </a:rPr>
              <a:t>67.7</a:t>
            </a:r>
            <a:endParaRPr lang="en-US" sz="1100" dirty="0"/>
          </a:p>
        </p:txBody>
      </p:sp>
      <p:sp>
        <p:nvSpPr>
          <p:cNvPr id="50" name="Text 47"/>
          <p:cNvSpPr/>
          <p:nvPr/>
        </p:nvSpPr>
        <p:spPr>
          <a:xfrm>
            <a:off x="548640" y="5029200"/>
            <a:ext cx="2103120" cy="301752"/>
          </a:xfrm>
          <a:prstGeom prst="rect">
            <a:avLst/>
          </a:prstGeom>
          <a:noFill/>
          <a:ln/>
        </p:spPr>
        <p:txBody>
          <a:bodyPr wrap="square" lIns="0" tIns="0" rIns="0" bIns="0" rtlCol="0" anchor="ctr"/>
          <a:lstStyle/>
          <a:p>
            <a:pPr algn="r" indent="0" marL="0">
              <a:lnSpc>
                <a:spcPct val="100000"/>
              </a:lnSpc>
              <a:buNone/>
            </a:pPr>
            <a:r>
              <a:rPr lang="en-US" sz="1200" dirty="0">
                <a:solidFill>
                  <a:srgbClr val="1B2433"/>
                </a:solidFill>
                <a:latin typeface="Calibri" pitchFamily="34" charset="0"/>
                <a:ea typeface="Calibri" pitchFamily="34" charset="-122"/>
                <a:cs typeface="Calibri" pitchFamily="34" charset="-120"/>
              </a:rPr>
              <a:t>Qwen3 32B</a:t>
            </a:r>
            <a:endParaRPr lang="en-US" sz="1200" dirty="0"/>
          </a:p>
        </p:txBody>
      </p:sp>
      <p:sp>
        <p:nvSpPr>
          <p:cNvPr id="51" name="Text 48"/>
          <p:cNvSpPr/>
          <p:nvPr/>
        </p:nvSpPr>
        <p:spPr>
          <a:xfrm>
            <a:off x="2743200" y="5010912"/>
            <a:ext cx="2011680" cy="164592"/>
          </a:xfrm>
          <a:prstGeom prst="rect">
            <a:avLst/>
          </a:prstGeom>
          <a:noFill/>
          <a:ln/>
        </p:spPr>
        <p:txBody>
          <a:bodyPr wrap="square" lIns="0" tIns="0" rIns="0" bIns="0" rtlCol="0" anchor="t"/>
          <a:lstStyle/>
          <a:p>
            <a:pPr algn="l" indent="0" marL="0">
              <a:lnSpc>
                <a:spcPct val="100000"/>
              </a:lnSpc>
              <a:buNone/>
            </a:pPr>
            <a:r>
              <a:rPr lang="en-US" sz="900" i="1" dirty="0">
                <a:solidFill>
                  <a:srgbClr val="5B6577"/>
                </a:solidFill>
                <a:latin typeface="Calibri" pitchFamily="34" charset="0"/>
                <a:ea typeface="Calibri" pitchFamily="34" charset="-122"/>
                <a:cs typeface="Calibri" pitchFamily="34" charset="-120"/>
              </a:rPr>
              <a:t>first release: not run</a:t>
            </a:r>
            <a:endParaRPr lang="en-US" sz="900" dirty="0"/>
          </a:p>
        </p:txBody>
      </p:sp>
      <p:sp>
        <p:nvSpPr>
          <p:cNvPr id="52" name="Shape 49"/>
          <p:cNvSpPr/>
          <p:nvPr/>
        </p:nvSpPr>
        <p:spPr>
          <a:xfrm>
            <a:off x="2743200" y="5175504"/>
            <a:ext cx="3026298" cy="118872"/>
          </a:xfrm>
          <a:prstGeom prst="rect">
            <a:avLst/>
          </a:prstGeom>
          <a:solidFill>
            <a:srgbClr val="1F3057"/>
          </a:solidFill>
          <a:ln w="12700">
            <a:solidFill>
              <a:srgbClr val="1F3057"/>
            </a:solidFill>
            <a:prstDash val="solid"/>
          </a:ln>
        </p:spPr>
      </p:sp>
      <p:sp>
        <p:nvSpPr>
          <p:cNvPr id="53" name="Text 50"/>
          <p:cNvSpPr/>
          <p:nvPr/>
        </p:nvSpPr>
        <p:spPr>
          <a:xfrm>
            <a:off x="5815218" y="5102352"/>
            <a:ext cx="548640" cy="228600"/>
          </a:xfrm>
          <a:prstGeom prst="rect">
            <a:avLst/>
          </a:prstGeom>
          <a:noFill/>
          <a:ln/>
        </p:spPr>
        <p:txBody>
          <a:bodyPr wrap="square" lIns="0" tIns="0" rIns="0" bIns="0" rtlCol="0" anchor="t"/>
          <a:lstStyle/>
          <a:p>
            <a:pPr algn="l" indent="0" marL="0">
              <a:lnSpc>
                <a:spcPct val="100000"/>
              </a:lnSpc>
              <a:buNone/>
            </a:pPr>
            <a:r>
              <a:rPr lang="en-US" sz="1100" b="1" dirty="0">
                <a:solidFill>
                  <a:srgbClr val="1B2433"/>
                </a:solidFill>
                <a:latin typeface="Calibri" pitchFamily="34" charset="0"/>
                <a:ea typeface="Calibri" pitchFamily="34" charset="-122"/>
                <a:cs typeface="Calibri" pitchFamily="34" charset="-120"/>
              </a:rPr>
              <a:t>59.1</a:t>
            </a:r>
            <a:endParaRPr lang="en-US" sz="1100" dirty="0"/>
          </a:p>
        </p:txBody>
      </p:sp>
      <p:sp>
        <p:nvSpPr>
          <p:cNvPr id="54" name="Text 51"/>
          <p:cNvSpPr/>
          <p:nvPr/>
        </p:nvSpPr>
        <p:spPr>
          <a:xfrm>
            <a:off x="548640" y="5330952"/>
            <a:ext cx="2103120" cy="301752"/>
          </a:xfrm>
          <a:prstGeom prst="rect">
            <a:avLst/>
          </a:prstGeom>
          <a:noFill/>
          <a:ln/>
        </p:spPr>
        <p:txBody>
          <a:bodyPr wrap="square" lIns="0" tIns="0" rIns="0" bIns="0" rtlCol="0" anchor="ctr"/>
          <a:lstStyle/>
          <a:p>
            <a:pPr algn="r" indent="0" marL="0">
              <a:lnSpc>
                <a:spcPct val="100000"/>
              </a:lnSpc>
              <a:buNone/>
            </a:pPr>
            <a:r>
              <a:rPr lang="en-US" sz="1200" b="1" dirty="0">
                <a:solidFill>
                  <a:srgbClr val="1B2433"/>
                </a:solidFill>
                <a:latin typeface="Calibri" pitchFamily="34" charset="0"/>
                <a:ea typeface="Calibri" pitchFamily="34" charset="-122"/>
                <a:cs typeface="Calibri" pitchFamily="34" charset="-120"/>
              </a:rPr>
              <a:t>NLLB-200 3.3B (MT)</a:t>
            </a:r>
            <a:endParaRPr lang="en-US" sz="1200" dirty="0"/>
          </a:p>
        </p:txBody>
      </p:sp>
      <p:sp>
        <p:nvSpPr>
          <p:cNvPr id="55" name="Shape 52"/>
          <p:cNvSpPr/>
          <p:nvPr/>
        </p:nvSpPr>
        <p:spPr>
          <a:xfrm>
            <a:off x="2743200" y="5367528"/>
            <a:ext cx="1162385" cy="100584"/>
          </a:xfrm>
          <a:prstGeom prst="rect">
            <a:avLst/>
          </a:prstGeom>
          <a:solidFill>
            <a:srgbClr val="98A1B2"/>
          </a:solidFill>
          <a:ln w="12700">
            <a:solidFill>
              <a:srgbClr val="98A1B2"/>
            </a:solidFill>
            <a:prstDash val="solid"/>
          </a:ln>
        </p:spPr>
      </p:sp>
      <p:sp>
        <p:nvSpPr>
          <p:cNvPr id="56" name="Shape 53"/>
          <p:cNvSpPr/>
          <p:nvPr/>
        </p:nvSpPr>
        <p:spPr>
          <a:xfrm>
            <a:off x="2743200" y="5477256"/>
            <a:ext cx="2442545" cy="118872"/>
          </a:xfrm>
          <a:prstGeom prst="rect">
            <a:avLst/>
          </a:prstGeom>
          <a:solidFill>
            <a:srgbClr val="009E73"/>
          </a:solidFill>
          <a:ln w="12700">
            <a:solidFill>
              <a:srgbClr val="009E73"/>
            </a:solidFill>
            <a:prstDash val="solid"/>
          </a:ln>
        </p:spPr>
      </p:sp>
      <p:sp>
        <p:nvSpPr>
          <p:cNvPr id="57" name="Text 54"/>
          <p:cNvSpPr/>
          <p:nvPr/>
        </p:nvSpPr>
        <p:spPr>
          <a:xfrm>
            <a:off x="5231465" y="5404104"/>
            <a:ext cx="548640" cy="228600"/>
          </a:xfrm>
          <a:prstGeom prst="rect">
            <a:avLst/>
          </a:prstGeom>
          <a:noFill/>
          <a:ln/>
        </p:spPr>
        <p:txBody>
          <a:bodyPr wrap="square" lIns="0" tIns="0" rIns="0" bIns="0" rtlCol="0" anchor="t"/>
          <a:lstStyle/>
          <a:p>
            <a:pPr algn="l" indent="0" marL="0">
              <a:lnSpc>
                <a:spcPct val="100000"/>
              </a:lnSpc>
              <a:buNone/>
            </a:pPr>
            <a:r>
              <a:rPr lang="en-US" sz="1100" b="1" dirty="0">
                <a:solidFill>
                  <a:srgbClr val="1B2433"/>
                </a:solidFill>
                <a:latin typeface="Calibri" pitchFamily="34" charset="0"/>
                <a:ea typeface="Calibri" pitchFamily="34" charset="-122"/>
                <a:cs typeface="Calibri" pitchFamily="34" charset="-120"/>
              </a:rPr>
              <a:t>47.7</a:t>
            </a:r>
            <a:endParaRPr lang="en-US" sz="1100" dirty="0"/>
          </a:p>
        </p:txBody>
      </p:sp>
      <p:sp>
        <p:nvSpPr>
          <p:cNvPr id="58" name="Text 55"/>
          <p:cNvSpPr/>
          <p:nvPr/>
        </p:nvSpPr>
        <p:spPr>
          <a:xfrm>
            <a:off x="548640" y="5632704"/>
            <a:ext cx="2103120" cy="301752"/>
          </a:xfrm>
          <a:prstGeom prst="rect">
            <a:avLst/>
          </a:prstGeom>
          <a:noFill/>
          <a:ln/>
        </p:spPr>
        <p:txBody>
          <a:bodyPr wrap="square" lIns="0" tIns="0" rIns="0" bIns="0" rtlCol="0" anchor="ctr"/>
          <a:lstStyle/>
          <a:p>
            <a:pPr algn="r" indent="0" marL="0">
              <a:lnSpc>
                <a:spcPct val="100000"/>
              </a:lnSpc>
              <a:buNone/>
            </a:pPr>
            <a:r>
              <a:rPr lang="en-US" sz="1200" dirty="0">
                <a:solidFill>
                  <a:srgbClr val="1B2433"/>
                </a:solidFill>
                <a:latin typeface="Calibri" pitchFamily="34" charset="0"/>
                <a:ea typeface="Calibri" pitchFamily="34" charset="-122"/>
                <a:cs typeface="Calibri" pitchFamily="34" charset="-120"/>
              </a:rPr>
              <a:t>Llama 3.1 8B</a:t>
            </a:r>
            <a:endParaRPr lang="en-US" sz="1200" dirty="0"/>
          </a:p>
        </p:txBody>
      </p:sp>
      <p:sp>
        <p:nvSpPr>
          <p:cNvPr id="59" name="Shape 56"/>
          <p:cNvSpPr/>
          <p:nvPr/>
        </p:nvSpPr>
        <p:spPr>
          <a:xfrm>
            <a:off x="2743200" y="5669280"/>
            <a:ext cx="18288" cy="100584"/>
          </a:xfrm>
          <a:prstGeom prst="rect">
            <a:avLst/>
          </a:prstGeom>
          <a:solidFill>
            <a:srgbClr val="98A1B2"/>
          </a:solidFill>
          <a:ln w="12700">
            <a:solidFill>
              <a:srgbClr val="98A1B2"/>
            </a:solidFill>
            <a:prstDash val="solid"/>
          </a:ln>
        </p:spPr>
      </p:sp>
      <p:sp>
        <p:nvSpPr>
          <p:cNvPr id="60" name="Shape 57"/>
          <p:cNvSpPr/>
          <p:nvPr/>
        </p:nvSpPr>
        <p:spPr>
          <a:xfrm>
            <a:off x="2743200" y="5779008"/>
            <a:ext cx="1162385" cy="118872"/>
          </a:xfrm>
          <a:prstGeom prst="rect">
            <a:avLst/>
          </a:prstGeom>
          <a:solidFill>
            <a:srgbClr val="1F3057"/>
          </a:solidFill>
          <a:ln w="12700">
            <a:solidFill>
              <a:srgbClr val="1F3057"/>
            </a:solidFill>
            <a:prstDash val="solid"/>
          </a:ln>
        </p:spPr>
      </p:sp>
      <p:sp>
        <p:nvSpPr>
          <p:cNvPr id="61" name="Text 58"/>
          <p:cNvSpPr/>
          <p:nvPr/>
        </p:nvSpPr>
        <p:spPr>
          <a:xfrm>
            <a:off x="3951305" y="5705856"/>
            <a:ext cx="548640" cy="228600"/>
          </a:xfrm>
          <a:prstGeom prst="rect">
            <a:avLst/>
          </a:prstGeom>
          <a:noFill/>
          <a:ln/>
        </p:spPr>
        <p:txBody>
          <a:bodyPr wrap="square" lIns="0" tIns="0" rIns="0" bIns="0" rtlCol="0" anchor="t"/>
          <a:lstStyle/>
          <a:p>
            <a:pPr algn="l" indent="0" marL="0">
              <a:lnSpc>
                <a:spcPct val="100000"/>
              </a:lnSpc>
              <a:buNone/>
            </a:pPr>
            <a:r>
              <a:rPr lang="en-US" sz="1100" b="1" dirty="0">
                <a:solidFill>
                  <a:srgbClr val="1B2433"/>
                </a:solidFill>
                <a:latin typeface="Calibri" pitchFamily="34" charset="0"/>
                <a:ea typeface="Calibri" pitchFamily="34" charset="-122"/>
                <a:cs typeface="Calibri" pitchFamily="34" charset="-120"/>
              </a:rPr>
              <a:t>22.7</a:t>
            </a:r>
            <a:endParaRPr lang="en-US" sz="1100" dirty="0"/>
          </a:p>
        </p:txBody>
      </p:sp>
      <p:sp>
        <p:nvSpPr>
          <p:cNvPr id="62" name="Shape 59"/>
          <p:cNvSpPr/>
          <p:nvPr/>
        </p:nvSpPr>
        <p:spPr>
          <a:xfrm>
            <a:off x="548640" y="6053328"/>
            <a:ext cx="201168" cy="201168"/>
          </a:xfrm>
          <a:prstGeom prst="rect">
            <a:avLst/>
          </a:prstGeom>
          <a:solidFill>
            <a:srgbClr val="98A1B2"/>
          </a:solidFill>
          <a:ln w="12700">
            <a:solidFill>
              <a:srgbClr val="98A1B2"/>
            </a:solidFill>
            <a:prstDash val="solid"/>
          </a:ln>
        </p:spPr>
      </p:sp>
      <p:sp>
        <p:nvSpPr>
          <p:cNvPr id="63" name="Text 60"/>
          <p:cNvSpPr/>
          <p:nvPr/>
        </p:nvSpPr>
        <p:spPr>
          <a:xfrm>
            <a:off x="822960" y="5989320"/>
            <a:ext cx="1330452" cy="329184"/>
          </a:xfrm>
          <a:prstGeom prst="rect">
            <a:avLst/>
          </a:prstGeom>
          <a:noFill/>
          <a:ln/>
        </p:spPr>
        <p:txBody>
          <a:bodyPr wrap="square" lIns="0" tIns="0" rIns="0" bIns="0" rtlCol="0" anchor="ctr"/>
          <a:lstStyle/>
          <a:p>
            <a:pPr indent="0" marL="0">
              <a:buNone/>
            </a:pPr>
            <a:r>
              <a:rPr lang="en-US" sz="1100" dirty="0">
                <a:solidFill>
                  <a:srgbClr val="1B2433"/>
                </a:solidFill>
                <a:latin typeface="Calibri" pitchFamily="34" charset="0"/>
                <a:ea typeface="Calibri" pitchFamily="34" charset="-122"/>
                <a:cs typeface="Calibri" pitchFamily="34" charset="-120"/>
              </a:rPr>
              <a:t>first release</a:t>
            </a:r>
            <a:endParaRPr lang="en-US" sz="1100" dirty="0"/>
          </a:p>
        </p:txBody>
      </p:sp>
      <p:sp>
        <p:nvSpPr>
          <p:cNvPr id="64" name="Shape 61"/>
          <p:cNvSpPr/>
          <p:nvPr/>
        </p:nvSpPr>
        <p:spPr>
          <a:xfrm>
            <a:off x="2382012" y="6053328"/>
            <a:ext cx="201168" cy="201168"/>
          </a:xfrm>
          <a:prstGeom prst="rect">
            <a:avLst/>
          </a:prstGeom>
          <a:solidFill>
            <a:srgbClr val="1F3057"/>
          </a:solidFill>
          <a:ln w="12700">
            <a:solidFill>
              <a:srgbClr val="1F3057"/>
            </a:solidFill>
            <a:prstDash val="solid"/>
          </a:ln>
        </p:spPr>
      </p:sp>
      <p:sp>
        <p:nvSpPr>
          <p:cNvPr id="65" name="Text 62"/>
          <p:cNvSpPr/>
          <p:nvPr/>
        </p:nvSpPr>
        <p:spPr>
          <a:xfrm>
            <a:off x="2656332" y="5989320"/>
            <a:ext cx="2107692" cy="329184"/>
          </a:xfrm>
          <a:prstGeom prst="rect">
            <a:avLst/>
          </a:prstGeom>
          <a:noFill/>
          <a:ln/>
        </p:spPr>
        <p:txBody>
          <a:bodyPr wrap="square" lIns="0" tIns="0" rIns="0" bIns="0" rtlCol="0" anchor="ctr"/>
          <a:lstStyle/>
          <a:p>
            <a:pPr indent="0" marL="0">
              <a:buNone/>
            </a:pPr>
            <a:r>
              <a:rPr lang="en-US" sz="1100" dirty="0">
                <a:solidFill>
                  <a:srgbClr val="1B2433"/>
                </a:solidFill>
                <a:latin typeface="Calibri" pitchFamily="34" charset="0"/>
                <a:ea typeface="Calibri" pitchFamily="34" charset="-122"/>
                <a:cs typeface="Calibri" pitchFamily="34" charset="-120"/>
              </a:rPr>
              <a:t>corrected: prompted LLM</a:t>
            </a:r>
            <a:endParaRPr lang="en-US" sz="1100" dirty="0"/>
          </a:p>
        </p:txBody>
      </p:sp>
      <p:sp>
        <p:nvSpPr>
          <p:cNvPr id="66" name="Shape 63"/>
          <p:cNvSpPr/>
          <p:nvPr/>
        </p:nvSpPr>
        <p:spPr>
          <a:xfrm>
            <a:off x="4992624" y="6053328"/>
            <a:ext cx="201168" cy="201168"/>
          </a:xfrm>
          <a:prstGeom prst="rect">
            <a:avLst/>
          </a:prstGeom>
          <a:solidFill>
            <a:srgbClr val="009E73"/>
          </a:solidFill>
          <a:ln w="12700">
            <a:solidFill>
              <a:srgbClr val="009E73"/>
            </a:solidFill>
            <a:prstDash val="solid"/>
          </a:ln>
        </p:spPr>
      </p:sp>
      <p:sp>
        <p:nvSpPr>
          <p:cNvPr id="67" name="Text 64"/>
          <p:cNvSpPr/>
          <p:nvPr/>
        </p:nvSpPr>
        <p:spPr>
          <a:xfrm>
            <a:off x="5266944" y="5989320"/>
            <a:ext cx="2107692" cy="329184"/>
          </a:xfrm>
          <a:prstGeom prst="rect">
            <a:avLst/>
          </a:prstGeom>
          <a:noFill/>
          <a:ln/>
        </p:spPr>
        <p:txBody>
          <a:bodyPr wrap="square" lIns="0" tIns="0" rIns="0" bIns="0" rtlCol="0" anchor="ctr"/>
          <a:lstStyle/>
          <a:p>
            <a:pPr indent="0" marL="0">
              <a:buNone/>
            </a:pPr>
            <a:r>
              <a:rPr lang="en-US" sz="1100" dirty="0">
                <a:solidFill>
                  <a:srgbClr val="1B2433"/>
                </a:solidFill>
                <a:latin typeface="Calibri" pitchFamily="34" charset="0"/>
                <a:ea typeface="Calibri" pitchFamily="34" charset="-122"/>
                <a:cs typeface="Calibri" pitchFamily="34" charset="-120"/>
              </a:rPr>
              <a:t>corrected: dedicated MT</a:t>
            </a:r>
            <a:endParaRPr lang="en-US" sz="1100" dirty="0"/>
          </a:p>
        </p:txBody>
      </p:sp>
      <p:sp>
        <p:nvSpPr>
          <p:cNvPr id="68" name="Shape 65"/>
          <p:cNvSpPr/>
          <p:nvPr/>
        </p:nvSpPr>
        <p:spPr>
          <a:xfrm>
            <a:off x="8412480" y="1691640"/>
            <a:ext cx="3200400" cy="4206240"/>
          </a:xfrm>
          <a:prstGeom prst="roundRect">
            <a:avLst>
              <a:gd name="adj" fmla="val 2286"/>
            </a:avLst>
          </a:prstGeom>
          <a:solidFill>
            <a:srgbClr val="F2F4F8"/>
          </a:solidFill>
          <a:ln w="12700">
            <a:solidFill>
              <a:srgbClr val="F2F4F8"/>
            </a:solidFill>
            <a:prstDash val="solid"/>
          </a:ln>
        </p:spPr>
      </p:sp>
      <p:sp>
        <p:nvSpPr>
          <p:cNvPr id="69" name="Text 66"/>
          <p:cNvSpPr/>
          <p:nvPr/>
        </p:nvSpPr>
        <p:spPr>
          <a:xfrm>
            <a:off x="8613648" y="1837944"/>
            <a:ext cx="279806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What happened</a:t>
            </a:r>
            <a:endParaRPr lang="en-US" sz="1700" dirty="0"/>
          </a:p>
        </p:txBody>
      </p:sp>
      <p:sp>
        <p:nvSpPr>
          <p:cNvPr id="70" name="Text 67"/>
          <p:cNvSpPr/>
          <p:nvPr/>
        </p:nvSpPr>
        <p:spPr>
          <a:xfrm>
            <a:off x="8613648" y="2249424"/>
            <a:ext cx="2798064" cy="3502152"/>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1B2433"/>
                </a:solidFill>
                <a:latin typeface="Calibri" pitchFamily="34" charset="0"/>
                <a:ea typeface="Calibri" pitchFamily="34" charset="-122"/>
                <a:cs typeface="Calibri" pitchFamily="34" charset="-120"/>
              </a:rPr>
              <a:t>First release: </a:t>
            </a:r>
            <a:r>
              <a:rPr lang="en-US" sz="1300" b="1" dirty="0">
                <a:solidFill>
                  <a:srgbClr val="1B2433"/>
                </a:solidFill>
                <a:latin typeface="Calibri" pitchFamily="34" charset="0"/>
                <a:ea typeface="Calibri" pitchFamily="34" charset="-122"/>
                <a:cs typeface="Calibri" pitchFamily="34" charset="-120"/>
              </a:rPr>
              <a:t>most</a:t>
            </a:r>
            <a:r>
              <a:rPr lang="en-US" sz="1300" dirty="0">
                <a:solidFill>
                  <a:srgbClr val="1B2433"/>
                </a:solidFill>
                <a:latin typeface="Calibri" pitchFamily="34" charset="0"/>
                <a:ea typeface="Calibri" pitchFamily="34" charset="-122"/>
                <a:cs typeface="Calibri" pitchFamily="34" charset="-120"/>
              </a:rPr>
              <a:t> language models almost never committed; the MT systems did.</a:t>
            </a:r>
            <a:endParaRPr lang="en-US" sz="1300" dirty="0"/>
          </a:p>
          <a:p>
            <a:pPr marL="228600" indent="-228600">
              <a:spcAft>
                <a:spcPts val="500"/>
              </a:spcAft>
              <a:buSzPct val="100000"/>
              <a:buChar char="•"/>
            </a:pPr>
            <a:r>
              <a:rPr lang="en-US" sz="1300" dirty="0">
                <a:solidFill>
                  <a:srgbClr val="1B2433"/>
                </a:solidFill>
                <a:latin typeface="Calibri" pitchFamily="34" charset="0"/>
                <a:ea typeface="Calibri" pitchFamily="34" charset="-122"/>
                <a:cs typeface="Calibri" pitchFamily="34" charset="-120"/>
              </a:rPr>
              <a:t>Corrected: language-model median </a:t>
            </a:r>
            <a:r>
              <a:rPr lang="en-US" sz="1300" b="1" dirty="0">
                <a:solidFill>
                  <a:srgbClr val="1B2433"/>
                </a:solidFill>
                <a:latin typeface="Calibri" pitchFamily="34" charset="0"/>
                <a:ea typeface="Calibri" pitchFamily="34" charset="-122"/>
                <a:cs typeface="Calibri" pitchFamily="34" charset="-120"/>
              </a:rPr>
              <a:t>75.4%</a:t>
            </a:r>
            <a:r>
              <a:rPr lang="en-US" sz="1300" dirty="0">
                <a:solidFill>
                  <a:srgbClr val="1B2433"/>
                </a:solidFill>
                <a:latin typeface="Calibri" pitchFamily="34" charset="0"/>
                <a:ea typeface="Calibri" pitchFamily="34" charset="-122"/>
                <a:cs typeface="Calibri" pitchFamily="34" charset="-120"/>
              </a:rPr>
              <a:t> vs MT </a:t>
            </a:r>
            <a:r>
              <a:rPr lang="en-US" sz="1300" b="1" dirty="0">
                <a:solidFill>
                  <a:srgbClr val="1B2433"/>
                </a:solidFill>
                <a:latin typeface="Calibri" pitchFamily="34" charset="0"/>
                <a:ea typeface="Calibri" pitchFamily="34" charset="-122"/>
                <a:cs typeface="Calibri" pitchFamily="34" charset="-120"/>
              </a:rPr>
              <a:t>47.7 to 71.4%</a:t>
            </a:r>
            <a:r>
              <a:rPr lang="en-US" sz="1300" dirty="0">
                <a:solidFill>
                  <a:srgbClr val="1B2433"/>
                </a:solidFill>
                <a:latin typeface="Calibri" pitchFamily="34" charset="0"/>
                <a:ea typeface="Calibri" pitchFamily="34" charset="-122"/>
                <a:cs typeface="Calibri" pitchFamily="34" charset="-120"/>
              </a:rPr>
              <a:t>; </a:t>
            </a:r>
            <a:r>
              <a:rPr lang="en-US" sz="1300" b="1" dirty="0">
                <a:solidFill>
                  <a:srgbClr val="1B2433"/>
                </a:solidFill>
                <a:latin typeface="Calibri" pitchFamily="34" charset="0"/>
                <a:ea typeface="Calibri" pitchFamily="34" charset="-122"/>
                <a:cs typeface="Calibri" pitchFamily="34" charset="-120"/>
              </a:rPr>
              <a:t>7 of 11</a:t>
            </a:r>
            <a:r>
              <a:rPr lang="en-US" sz="1300" dirty="0">
                <a:solidFill>
                  <a:srgbClr val="1B2433"/>
                </a:solidFill>
                <a:latin typeface="Calibri" pitchFamily="34" charset="0"/>
                <a:ea typeface="Calibri" pitchFamily="34" charset="-122"/>
                <a:cs typeface="Calibri" pitchFamily="34" charset="-120"/>
              </a:rPr>
              <a:t> exceed both MT systems.</a:t>
            </a:r>
            <a:endParaRPr lang="en-US" sz="1300" dirty="0"/>
          </a:p>
          <a:p>
            <a:pPr marL="228600" indent="-228600">
              <a:spcAft>
                <a:spcPts val="500"/>
              </a:spcAft>
              <a:buSzPct val="100000"/>
              <a:buChar char="•"/>
            </a:pPr>
            <a:r>
              <a:rPr lang="en-US" sz="1300" dirty="0">
                <a:solidFill>
                  <a:srgbClr val="1B2433"/>
                </a:solidFill>
                <a:latin typeface="Calibri" pitchFamily="34" charset="0"/>
                <a:ea typeface="Calibri" pitchFamily="34" charset="-122"/>
                <a:cs typeface="Calibri" pitchFamily="34" charset="-120"/>
              </a:rPr>
              <a:t>The result did not just shrink: it </a:t>
            </a:r>
            <a:r>
              <a:rPr lang="en-US" sz="1300" b="1" dirty="0">
                <a:solidFill>
                  <a:srgbClr val="1B2433"/>
                </a:solidFill>
                <a:latin typeface="Calibri" pitchFamily="34" charset="0"/>
                <a:ea typeface="Calibri" pitchFamily="34" charset="-122"/>
                <a:cs typeface="Calibri" pitchFamily="34" charset="-120"/>
              </a:rPr>
              <a:t>flipped</a:t>
            </a:r>
            <a:r>
              <a:rPr lang="en-US" sz="1300" dirty="0">
                <a:solidFill>
                  <a:srgbClr val="1B2433"/>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9</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A MISTAKE WE CAUGHT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Three independent flaws caused it</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83</a:t>
            </a:r>
            <a:endParaRPr lang="en-US" sz="900" dirty="0"/>
          </a:p>
        </p:txBody>
      </p:sp>
      <p:sp>
        <p:nvSpPr>
          <p:cNvPr id="9" name="Shape 6"/>
          <p:cNvSpPr/>
          <p:nvPr/>
        </p:nvSpPr>
        <p:spPr>
          <a:xfrm>
            <a:off x="548640" y="1737360"/>
            <a:ext cx="3566160" cy="3931920"/>
          </a:xfrm>
          <a:prstGeom prst="roundRect">
            <a:avLst>
              <a:gd name="adj" fmla="val 2051"/>
            </a:avLst>
          </a:prstGeom>
          <a:solidFill>
            <a:srgbClr val="F2F4F8"/>
          </a:solidFill>
          <a:ln w="12700">
            <a:solidFill>
              <a:srgbClr val="F2F4F8"/>
            </a:solidFill>
            <a:prstDash val="solid"/>
          </a:ln>
        </p:spPr>
      </p:sp>
      <p:sp>
        <p:nvSpPr>
          <p:cNvPr id="10" name="Text 7"/>
          <p:cNvSpPr/>
          <p:nvPr/>
        </p:nvSpPr>
        <p:spPr>
          <a:xfrm>
            <a:off x="749808" y="188366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1 · A neutral pronoun</a:t>
            </a:r>
            <a:endParaRPr lang="en-US" sz="1700" dirty="0"/>
          </a:p>
        </p:txBody>
      </p:sp>
      <p:sp>
        <p:nvSpPr>
          <p:cNvPr id="11" name="Text 8"/>
          <p:cNvSpPr/>
          <p:nvPr/>
        </p:nvSpPr>
        <p:spPr>
          <a:xfrm>
            <a:off x="749808" y="2295144"/>
            <a:ext cx="3163824" cy="3227832"/>
          </a:xfrm>
          <a:prstGeom prst="rect">
            <a:avLst/>
          </a:prstGeom>
          <a:noFill/>
          <a:ln/>
        </p:spPr>
        <p:txBody>
          <a:bodyPr wrap="square" lIns="0" tIns="0" rIns="0" bIns="0" rtlCol="0" anchor="t"/>
          <a:lstStyle/>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Items used singular "</a:t>
            </a:r>
            <a:r>
              <a:rPr lang="en-US" sz="1400" b="1" dirty="0">
                <a:solidFill>
                  <a:srgbClr val="1B2433"/>
                </a:solidFill>
                <a:latin typeface="Calibri" pitchFamily="34" charset="0"/>
                <a:ea typeface="Calibri" pitchFamily="34" charset="-122"/>
                <a:cs typeface="Calibri" pitchFamily="34" charset="-120"/>
              </a:rPr>
              <a:t>they</a:t>
            </a:r>
            <a:r>
              <a:rPr lang="en-US" sz="1400" dirty="0">
                <a:solidFill>
                  <a:srgbClr val="1B2433"/>
                </a:solidFill>
                <a:latin typeface="Calibri" pitchFamily="34" charset="0"/>
                <a:ea typeface="Calibri" pitchFamily="34" charset="-122"/>
                <a:cs typeface="Calibri" pitchFamily="34" charset="-120"/>
              </a:rPr>
              <a:t>" for one woman.</a:t>
            </a:r>
            <a:endParaRPr lang="en-US" sz="1400" dirty="0"/>
          </a:p>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Tamil has a neutral form, so a neutral translation was </a:t>
            </a:r>
            <a:r>
              <a:rPr lang="en-US" sz="1400" b="1" dirty="0">
                <a:solidFill>
                  <a:srgbClr val="1B2433"/>
                </a:solidFill>
                <a:latin typeface="Calibri" pitchFamily="34" charset="0"/>
                <a:ea typeface="Calibri" pitchFamily="34" charset="-122"/>
                <a:cs typeface="Calibri" pitchFamily="34" charset="-120"/>
              </a:rPr>
              <a:t>correct</a:t>
            </a:r>
            <a:r>
              <a:rPr lang="en-US" sz="1400" dirty="0">
                <a:solidFill>
                  <a:srgbClr val="1B2433"/>
                </a:solidFill>
                <a:latin typeface="Calibri" pitchFamily="34" charset="0"/>
                <a:ea typeface="Calibri" pitchFamily="34" charset="-122"/>
                <a:cs typeface="Calibri" pitchFamily="34" charset="-120"/>
              </a:rPr>
              <a:t>, but was scored as avoidance.</a:t>
            </a:r>
            <a:endParaRPr lang="en-US" sz="1400" dirty="0"/>
          </a:p>
        </p:txBody>
      </p:sp>
      <p:sp>
        <p:nvSpPr>
          <p:cNvPr id="12" name="Shape 9"/>
          <p:cNvSpPr/>
          <p:nvPr/>
        </p:nvSpPr>
        <p:spPr>
          <a:xfrm>
            <a:off x="4297680" y="1737360"/>
            <a:ext cx="3566160" cy="3931920"/>
          </a:xfrm>
          <a:prstGeom prst="roundRect">
            <a:avLst>
              <a:gd name="adj" fmla="val 2051"/>
            </a:avLst>
          </a:prstGeom>
          <a:solidFill>
            <a:srgbClr val="F2F4F8"/>
          </a:solidFill>
          <a:ln w="12700">
            <a:solidFill>
              <a:srgbClr val="F2F4F8"/>
            </a:solidFill>
            <a:prstDash val="solid"/>
          </a:ln>
        </p:spPr>
      </p:sp>
      <p:sp>
        <p:nvSpPr>
          <p:cNvPr id="13" name="Text 10"/>
          <p:cNvSpPr/>
          <p:nvPr/>
        </p:nvSpPr>
        <p:spPr>
          <a:xfrm>
            <a:off x="4498848" y="188366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2 · Different kinds of clue</a:t>
            </a:r>
            <a:endParaRPr lang="en-US" sz="1700" dirty="0"/>
          </a:p>
        </p:txBody>
      </p:sp>
      <p:sp>
        <p:nvSpPr>
          <p:cNvPr id="14" name="Text 11"/>
          <p:cNvSpPr/>
          <p:nvPr/>
        </p:nvSpPr>
        <p:spPr>
          <a:xfrm>
            <a:off x="4498848" y="2295144"/>
            <a:ext cx="3163824" cy="3227832"/>
          </a:xfrm>
          <a:prstGeom prst="rect">
            <a:avLst/>
          </a:prstGeom>
          <a:noFill/>
          <a:ln/>
        </p:spPr>
        <p:txBody>
          <a:bodyPr wrap="square" lIns="0" tIns="0" rIns="0" bIns="0" rtlCol="0" anchor="t"/>
          <a:lstStyle/>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In-sentence: guess gender from a Tamil </a:t>
            </a:r>
            <a:r>
              <a:rPr lang="en-US" sz="1400" b="1" dirty="0">
                <a:solidFill>
                  <a:srgbClr val="1B2433"/>
                </a:solidFill>
                <a:latin typeface="Calibri" pitchFamily="34" charset="0"/>
                <a:ea typeface="Calibri" pitchFamily="34" charset="-122"/>
                <a:cs typeface="Calibri" pitchFamily="34" charset="-120"/>
              </a:rPr>
              <a:t>name</a:t>
            </a:r>
            <a:r>
              <a:rPr lang="en-US" sz="1400" dirty="0">
                <a:solidFill>
                  <a:srgbClr val="1B2433"/>
                </a:solidFill>
                <a:latin typeface="Calibri" pitchFamily="34" charset="0"/>
                <a:ea typeface="Calibri" pitchFamily="34" charset="-122"/>
                <a:cs typeface="Calibri" pitchFamily="34" charset="-120"/>
              </a:rPr>
              <a:t> (world knowledge).</a:t>
            </a:r>
            <a:endParaRPr lang="en-US" sz="1400" dirty="0"/>
          </a:p>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Prior-sentence: stated </a:t>
            </a:r>
            <a:r>
              <a:rPr lang="en-US" sz="1400" b="1" dirty="0">
                <a:solidFill>
                  <a:srgbClr val="1B2433"/>
                </a:solidFill>
                <a:latin typeface="Calibri" pitchFamily="34" charset="0"/>
                <a:ea typeface="Calibri" pitchFamily="34" charset="-122"/>
                <a:cs typeface="Calibri" pitchFamily="34" charset="-120"/>
              </a:rPr>
              <a:t>in plain English</a:t>
            </a:r>
            <a:r>
              <a:rPr lang="en-US" sz="1400" dirty="0">
                <a:solidFill>
                  <a:srgbClr val="1B2433"/>
                </a:solidFill>
                <a:latin typeface="Calibri" pitchFamily="34" charset="0"/>
                <a:ea typeface="Calibri" pitchFamily="34" charset="-122"/>
                <a:cs typeface="Calibri" pitchFamily="34" charset="-120"/>
              </a:rPr>
              <a:t> (reading).</a:t>
            </a:r>
            <a:endParaRPr lang="en-US" sz="1400" dirty="0"/>
          </a:p>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So the "harder" condition was easier on </a:t>
            </a:r>
            <a:r>
              <a:rPr lang="en-US" sz="1400" b="1" dirty="0">
                <a:solidFill>
                  <a:srgbClr val="1B2433"/>
                </a:solidFill>
                <a:latin typeface="Calibri" pitchFamily="34" charset="0"/>
                <a:ea typeface="Calibri" pitchFamily="34" charset="-122"/>
                <a:cs typeface="Calibri" pitchFamily="34" charset="-120"/>
              </a:rPr>
              <a:t>11 of 13</a:t>
            </a:r>
            <a:r>
              <a:rPr lang="en-US" sz="1400" dirty="0">
                <a:solidFill>
                  <a:srgbClr val="1B2433"/>
                </a:solidFill>
                <a:latin typeface="Calibri" pitchFamily="34" charset="0"/>
                <a:ea typeface="Calibri" pitchFamily="34" charset="-122"/>
                <a:cs typeface="Calibri" pitchFamily="34" charset="-120"/>
              </a:rPr>
              <a:t> systems.</a:t>
            </a:r>
            <a:endParaRPr lang="en-US" sz="1400" dirty="0"/>
          </a:p>
        </p:txBody>
      </p:sp>
      <p:sp>
        <p:nvSpPr>
          <p:cNvPr id="15" name="Shape 12"/>
          <p:cNvSpPr/>
          <p:nvPr/>
        </p:nvSpPr>
        <p:spPr>
          <a:xfrm>
            <a:off x="8046720" y="1737360"/>
            <a:ext cx="3566160" cy="3931920"/>
          </a:xfrm>
          <a:prstGeom prst="roundRect">
            <a:avLst>
              <a:gd name="adj" fmla="val 2051"/>
            </a:avLst>
          </a:prstGeom>
          <a:solidFill>
            <a:srgbClr val="F2F4F8"/>
          </a:solidFill>
          <a:ln w="12700">
            <a:solidFill>
              <a:srgbClr val="F2F4F8"/>
            </a:solidFill>
            <a:prstDash val="solid"/>
          </a:ln>
        </p:spPr>
      </p:sp>
      <p:sp>
        <p:nvSpPr>
          <p:cNvPr id="16" name="Text 13"/>
          <p:cNvSpPr/>
          <p:nvPr/>
        </p:nvSpPr>
        <p:spPr>
          <a:xfrm>
            <a:off x="8247888" y="1883664"/>
            <a:ext cx="3163824" cy="73152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3 · A weak check for translating the wrong sentence</a:t>
            </a:r>
            <a:endParaRPr lang="en-US" sz="1700" dirty="0"/>
          </a:p>
        </p:txBody>
      </p:sp>
      <p:sp>
        <p:nvSpPr>
          <p:cNvPr id="17" name="Text 14"/>
          <p:cNvSpPr/>
          <p:nvPr/>
        </p:nvSpPr>
        <p:spPr>
          <a:xfrm>
            <a:off x="8247888" y="2615184"/>
            <a:ext cx="3163824" cy="2907792"/>
          </a:xfrm>
          <a:prstGeom prst="rect">
            <a:avLst/>
          </a:prstGeom>
          <a:noFill/>
          <a:ln/>
        </p:spPr>
        <p:txBody>
          <a:bodyPr wrap="square" lIns="0" tIns="0" rIns="0" bIns="0" rtlCol="0" anchor="t"/>
          <a:lstStyle/>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It checked only </a:t>
            </a:r>
            <a:r>
              <a:rPr lang="en-US" sz="1400" b="1" dirty="0">
                <a:solidFill>
                  <a:srgbClr val="1B2433"/>
                </a:solidFill>
                <a:latin typeface="Calibri" pitchFamily="34" charset="0"/>
                <a:ea typeface="Calibri" pitchFamily="34" charset="-122"/>
                <a:cs typeface="Calibri" pitchFamily="34" charset="-120"/>
              </a:rPr>
              <a:t>output length</a:t>
            </a:r>
            <a:r>
              <a:rPr lang="en-US" sz="1400" dirty="0">
                <a:solidFill>
                  <a:srgbClr val="1B2433"/>
                </a:solidFill>
                <a:latin typeface="Calibri" pitchFamily="34" charset="0"/>
                <a:ea typeface="Calibri" pitchFamily="34" charset="-122"/>
                <a:cs typeface="Calibri" pitchFamily="34" charset="-120"/>
              </a:rPr>
              <a:t>.</a:t>
            </a:r>
            <a:endParaRPr lang="en-US" sz="1400" dirty="0"/>
          </a:p>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Missed systems translating the </a:t>
            </a:r>
            <a:r>
              <a:rPr lang="en-US" sz="1400" b="1" dirty="0">
                <a:solidFill>
                  <a:srgbClr val="1B2433"/>
                </a:solidFill>
                <a:latin typeface="Calibri" pitchFamily="34" charset="0"/>
                <a:ea typeface="Calibri" pitchFamily="34" charset="-122"/>
                <a:cs typeface="Calibri" pitchFamily="34" charset="-120"/>
              </a:rPr>
              <a:t>context</a:t>
            </a:r>
            <a:r>
              <a:rPr lang="en-US" sz="1400" dirty="0">
                <a:solidFill>
                  <a:srgbClr val="1B2433"/>
                </a:solidFill>
                <a:latin typeface="Calibri" pitchFamily="34" charset="0"/>
                <a:ea typeface="Calibri" pitchFamily="34" charset="-122"/>
                <a:cs typeface="Calibri" pitchFamily="34" charset="-120"/>
              </a:rPr>
              <a:t> sentence instead of the target.</a:t>
            </a:r>
            <a:endParaRPr lang="en-US" sz="1400" dirty="0"/>
          </a:p>
          <a:p>
            <a:pPr marL="228600" indent="-228600">
              <a:spcAft>
                <a:spcPts val="500"/>
              </a:spcAft>
              <a:buSzPct val="100000"/>
              <a:buChar char="•"/>
            </a:pPr>
            <a:r>
              <a:rPr lang="en-US" sz="1400" dirty="0">
                <a:solidFill>
                  <a:srgbClr val="1B2433"/>
                </a:solidFill>
                <a:latin typeface="Calibri" pitchFamily="34" charset="0"/>
                <a:ea typeface="Calibri" pitchFamily="34" charset="-122"/>
                <a:cs typeface="Calibri" pitchFamily="34" charset="-120"/>
              </a:rPr>
              <a:t>Gemma 3 1B missed the target verb on </a:t>
            </a:r>
            <a:r>
              <a:rPr lang="en-US" sz="1400" b="1" dirty="0">
                <a:solidFill>
                  <a:srgbClr val="1B2433"/>
                </a:solidFill>
                <a:latin typeface="Calibri" pitchFamily="34" charset="0"/>
                <a:ea typeface="Calibri" pitchFamily="34" charset="-122"/>
                <a:cs typeface="Calibri" pitchFamily="34" charset="-120"/>
              </a:rPr>
              <a:t>98.2%</a:t>
            </a:r>
            <a:r>
              <a:rPr lang="en-US" sz="1400" dirty="0">
                <a:solidFill>
                  <a:srgbClr val="1B2433"/>
                </a:solidFill>
                <a:latin typeface="Calibri" pitchFamily="34" charset="0"/>
                <a:ea typeface="Calibri" pitchFamily="34" charset="-122"/>
                <a:cs typeface="Calibri" pitchFamily="34" charset="-120"/>
              </a:rPr>
              <a:t> of these items (38.6% with an in-sentence clue).</a:t>
            </a:r>
            <a:endParaRPr lang="en-US" sz="1400" dirty="0"/>
          </a:p>
        </p:txBody>
      </p:sp>
      <p:sp>
        <p:nvSpPr>
          <p:cNvPr id="18" name="Shape 15"/>
          <p:cNvSpPr/>
          <p:nvPr/>
        </p:nvSpPr>
        <p:spPr>
          <a:xfrm>
            <a:off x="548640" y="5806440"/>
            <a:ext cx="11064240" cy="502920"/>
          </a:xfrm>
          <a:prstGeom prst="roundRect">
            <a:avLst>
              <a:gd name="adj" fmla="val 14545"/>
            </a:avLst>
          </a:prstGeom>
          <a:solidFill>
            <a:srgbClr val="FBEBD2"/>
          </a:solidFill>
          <a:ln w="12700">
            <a:solidFill>
              <a:srgbClr val="E39B2D"/>
            </a:solidFill>
            <a:prstDash val="solid"/>
          </a:ln>
        </p:spPr>
      </p:sp>
      <p:sp>
        <p:nvSpPr>
          <p:cNvPr id="19" name="Text 16"/>
          <p:cNvSpPr/>
          <p:nvPr/>
        </p:nvSpPr>
        <p:spPr>
          <a:xfrm>
            <a:off x="777240" y="5806440"/>
            <a:ext cx="10607040" cy="50292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The three flaws are </a:t>
            </a:r>
            <a:r>
              <a:rPr lang="en-US" sz="1500" b="1" dirty="0">
                <a:solidFill>
                  <a:srgbClr val="1B2433"/>
                </a:solidFill>
                <a:latin typeface="Calibri" pitchFamily="34" charset="0"/>
                <a:ea typeface="Calibri" pitchFamily="34" charset="-122"/>
                <a:cs typeface="Calibri" pitchFamily="34" charset="-120"/>
              </a:rPr>
              <a:t>independent</a:t>
            </a:r>
            <a:r>
              <a:rPr lang="en-US" sz="1500" dirty="0">
                <a:solidFill>
                  <a:srgbClr val="1B2433"/>
                </a:solidFill>
                <a:latin typeface="Calibri" pitchFamily="34" charset="0"/>
                <a:ea typeface="Calibri" pitchFamily="34" charset="-122"/>
                <a:cs typeface="Calibri" pitchFamily="34" charset="-120"/>
              </a:rPr>
              <a:t>. Because of flaw 2, </a:t>
            </a:r>
            <a:r>
              <a:rPr lang="en-US" sz="1500" b="1" dirty="0">
                <a:solidFill>
                  <a:srgbClr val="1B2433"/>
                </a:solidFill>
                <a:latin typeface="Calibri" pitchFamily="34" charset="0"/>
                <a:ea typeface="Calibri" pitchFamily="34" charset="-122"/>
                <a:cs typeface="Calibri" pitchFamily="34" charset="-120"/>
              </a:rPr>
              <a:t>no gender comparison</a:t>
            </a:r>
            <a:r>
              <a:rPr lang="en-US" sz="1500" dirty="0">
                <a:solidFill>
                  <a:srgbClr val="1B2433"/>
                </a:solidFill>
                <a:latin typeface="Calibri" pitchFamily="34" charset="0"/>
                <a:ea typeface="Calibri" pitchFamily="34" charset="-122"/>
                <a:cs typeface="Calibri" pitchFamily="34" charset="-120"/>
              </a:rPr>
              <a:t> between the two clue positions is drawn anywhere.</a:t>
            </a:r>
            <a:endParaRPr lang="en-US" sz="15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9</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A MISTAKE WE CAUGHT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The simple audit that caught them, now run on every build</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84</a:t>
            </a:r>
            <a:endParaRPr lang="en-US" sz="900" dirty="0"/>
          </a:p>
        </p:txBody>
      </p:sp>
      <p:sp>
        <p:nvSpPr>
          <p:cNvPr id="9" name="Shape 6"/>
          <p:cNvSpPr/>
          <p:nvPr/>
        </p:nvSpPr>
        <p:spPr>
          <a:xfrm>
            <a:off x="548640" y="1737360"/>
            <a:ext cx="11064240" cy="1097280"/>
          </a:xfrm>
          <a:prstGeom prst="roundRect">
            <a:avLst>
              <a:gd name="adj" fmla="val 6667"/>
            </a:avLst>
          </a:prstGeom>
          <a:solidFill>
            <a:srgbClr val="14213D"/>
          </a:solidFill>
          <a:ln w="12700">
            <a:solidFill>
              <a:srgbClr val="14213D"/>
            </a:solidFill>
            <a:prstDash val="solid"/>
          </a:ln>
        </p:spPr>
      </p:sp>
      <p:sp>
        <p:nvSpPr>
          <p:cNvPr id="10" name="Text 7"/>
          <p:cNvSpPr/>
          <p:nvPr/>
        </p:nvSpPr>
        <p:spPr>
          <a:xfrm>
            <a:off x="822960" y="1737360"/>
            <a:ext cx="10515600" cy="1097280"/>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Calibri" pitchFamily="34" charset="0"/>
                <a:ea typeface="Calibri" pitchFamily="34" charset="-122"/>
                <a:cs typeface="Calibri" pitchFamily="34" charset="-120"/>
              </a:rPr>
              <a:t>The audit asks one question per slot and condition: </a:t>
            </a:r>
            <a:r>
              <a:rPr lang="en-US" sz="1800" b="1" dirty="0">
                <a:solidFill>
                  <a:srgbClr val="FFFFFF"/>
                </a:solidFill>
                <a:latin typeface="Calibri" pitchFamily="34" charset="0"/>
                <a:ea typeface="Calibri" pitchFamily="34" charset="-122"/>
                <a:cs typeface="Calibri" pitchFamily="34" charset="-120"/>
              </a:rPr>
              <a:t>does the English source contain any word that expresses the feature the gold answer commits to?</a:t>
            </a:r>
            <a:endParaRPr lang="en-US" sz="1800" dirty="0"/>
          </a:p>
        </p:txBody>
      </p:sp>
      <p:sp>
        <p:nvSpPr>
          <p:cNvPr id="11" name="Shape 8"/>
          <p:cNvSpPr/>
          <p:nvPr/>
        </p:nvSpPr>
        <p:spPr>
          <a:xfrm>
            <a:off x="548640" y="3063240"/>
            <a:ext cx="5394960" cy="1554480"/>
          </a:xfrm>
          <a:prstGeom prst="roundRect">
            <a:avLst>
              <a:gd name="adj" fmla="val 4706"/>
            </a:avLst>
          </a:prstGeom>
          <a:solidFill>
            <a:srgbClr val="F2F4F8"/>
          </a:solidFill>
          <a:ln w="12700">
            <a:solidFill>
              <a:srgbClr val="F2F4F8"/>
            </a:solidFill>
            <a:prstDash val="solid"/>
          </a:ln>
        </p:spPr>
      </p:sp>
      <p:sp>
        <p:nvSpPr>
          <p:cNvPr id="12" name="Text 9"/>
          <p:cNvSpPr/>
          <p:nvPr/>
        </p:nvSpPr>
        <p:spPr>
          <a:xfrm>
            <a:off x="777240" y="3154680"/>
            <a:ext cx="2103120" cy="1005840"/>
          </a:xfrm>
          <a:prstGeom prst="rect">
            <a:avLst/>
          </a:prstGeom>
          <a:noFill/>
          <a:ln/>
        </p:spPr>
        <p:txBody>
          <a:bodyPr wrap="square" lIns="0" tIns="0" rIns="0" bIns="0" rtlCol="0" anchor="ctr"/>
          <a:lstStyle/>
          <a:p>
            <a:pPr algn="l" indent="0" marL="0">
              <a:lnSpc>
                <a:spcPct val="100000"/>
              </a:lnSpc>
              <a:buNone/>
            </a:pPr>
            <a:r>
              <a:rPr lang="en-US" sz="4800" b="1" dirty="0">
                <a:solidFill>
                  <a:srgbClr val="D55E00"/>
                </a:solidFill>
                <a:latin typeface="Calibri" pitchFamily="34" charset="0"/>
                <a:ea typeface="Calibri" pitchFamily="34" charset="-122"/>
                <a:cs typeface="Calibri" pitchFamily="34" charset="-120"/>
              </a:rPr>
              <a:t>1,141</a:t>
            </a:r>
            <a:endParaRPr lang="en-US" sz="4800" dirty="0"/>
          </a:p>
        </p:txBody>
      </p:sp>
      <p:sp>
        <p:nvSpPr>
          <p:cNvPr id="13" name="Text 10"/>
          <p:cNvSpPr/>
          <p:nvPr/>
        </p:nvSpPr>
        <p:spPr>
          <a:xfrm>
            <a:off x="2926080" y="3154680"/>
            <a:ext cx="2834640" cy="1371600"/>
          </a:xfrm>
          <a:prstGeom prst="rect">
            <a:avLst/>
          </a:prstGeom>
          <a:noFill/>
          <a:ln/>
        </p:spPr>
        <p:txBody>
          <a:bodyPr wrap="square" lIns="0" tIns="0" rIns="0" bIns="0" rtlCol="0" anchor="ctr"/>
          <a:lstStyle/>
          <a:p>
            <a:pPr algn="l" indent="0" marL="0">
              <a:lnSpc>
                <a:spcPct val="100000"/>
              </a:lnSpc>
              <a:buNone/>
            </a:pPr>
            <a:r>
              <a:rPr lang="en-US" sz="1500" dirty="0">
                <a:solidFill>
                  <a:srgbClr val="1B2433"/>
                </a:solidFill>
                <a:latin typeface="Calibri" pitchFamily="34" charset="0"/>
                <a:ea typeface="Calibri" pitchFamily="34" charset="-122"/>
                <a:cs typeface="Calibri" pitchFamily="34" charset="-120"/>
              </a:rPr>
              <a:t>unanswerable items in the first release, across 12 categories</a:t>
            </a:r>
            <a:endParaRPr lang="en-US" sz="1500" dirty="0"/>
          </a:p>
        </p:txBody>
      </p:sp>
      <p:sp>
        <p:nvSpPr>
          <p:cNvPr id="14" name="Shape 11"/>
          <p:cNvSpPr/>
          <p:nvPr/>
        </p:nvSpPr>
        <p:spPr>
          <a:xfrm>
            <a:off x="6217920" y="3063240"/>
            <a:ext cx="5394960" cy="1554480"/>
          </a:xfrm>
          <a:prstGeom prst="roundRect">
            <a:avLst>
              <a:gd name="adj" fmla="val 4706"/>
            </a:avLst>
          </a:prstGeom>
          <a:solidFill>
            <a:srgbClr val="F2F4F8"/>
          </a:solidFill>
          <a:ln w="12700">
            <a:solidFill>
              <a:srgbClr val="F2F4F8"/>
            </a:solidFill>
            <a:prstDash val="solid"/>
          </a:ln>
        </p:spPr>
      </p:sp>
      <p:sp>
        <p:nvSpPr>
          <p:cNvPr id="15" name="Text 12"/>
          <p:cNvSpPr/>
          <p:nvPr/>
        </p:nvSpPr>
        <p:spPr>
          <a:xfrm>
            <a:off x="6446520" y="3154680"/>
            <a:ext cx="2103120" cy="1005840"/>
          </a:xfrm>
          <a:prstGeom prst="rect">
            <a:avLst/>
          </a:prstGeom>
          <a:noFill/>
          <a:ln/>
        </p:spPr>
        <p:txBody>
          <a:bodyPr wrap="square" lIns="0" tIns="0" rIns="0" bIns="0" rtlCol="0" anchor="ctr"/>
          <a:lstStyle/>
          <a:p>
            <a:pPr algn="l" indent="0" marL="0">
              <a:lnSpc>
                <a:spcPct val="100000"/>
              </a:lnSpc>
              <a:buNone/>
            </a:pPr>
            <a:r>
              <a:rPr lang="en-US" sz="4800" b="1" dirty="0">
                <a:solidFill>
                  <a:srgbClr val="009E73"/>
                </a:solidFill>
                <a:latin typeface="Calibri" pitchFamily="34" charset="0"/>
                <a:ea typeface="Calibri" pitchFamily="34" charset="-122"/>
                <a:cs typeface="Calibri" pitchFamily="34" charset="-120"/>
              </a:rPr>
              <a:t>0</a:t>
            </a:r>
            <a:endParaRPr lang="en-US" sz="4800" dirty="0"/>
          </a:p>
        </p:txBody>
      </p:sp>
      <p:sp>
        <p:nvSpPr>
          <p:cNvPr id="16" name="Text 13"/>
          <p:cNvSpPr/>
          <p:nvPr/>
        </p:nvSpPr>
        <p:spPr>
          <a:xfrm>
            <a:off x="8595360" y="3154680"/>
            <a:ext cx="2834640" cy="1371600"/>
          </a:xfrm>
          <a:prstGeom prst="rect">
            <a:avLst/>
          </a:prstGeom>
          <a:noFill/>
          <a:ln/>
        </p:spPr>
        <p:txBody>
          <a:bodyPr wrap="square" lIns="0" tIns="0" rIns="0" bIns="0" rtlCol="0" anchor="ctr"/>
          <a:lstStyle/>
          <a:p>
            <a:pPr algn="l" indent="0" marL="0">
              <a:lnSpc>
                <a:spcPct val="100000"/>
              </a:lnSpc>
              <a:buNone/>
            </a:pPr>
            <a:r>
              <a:rPr lang="en-US" sz="1500" dirty="0">
                <a:solidFill>
                  <a:srgbClr val="1B2433"/>
                </a:solidFill>
                <a:latin typeface="Calibri" pitchFamily="34" charset="0"/>
                <a:ea typeface="Calibri" pitchFamily="34" charset="-122"/>
                <a:cs typeface="Calibri" pitchFamily="34" charset="-120"/>
              </a:rPr>
              <a:t>in the corrected release, where it now stops the build</a:t>
            </a:r>
            <a:endParaRPr lang="en-US" sz="1500" dirty="0"/>
          </a:p>
        </p:txBody>
      </p:sp>
      <p:sp>
        <p:nvSpPr>
          <p:cNvPr id="17" name="Text 14"/>
          <p:cNvSpPr/>
          <p:nvPr/>
        </p:nvSpPr>
        <p:spPr>
          <a:xfrm>
            <a:off x="548640" y="4846320"/>
            <a:ext cx="11064240" cy="1371600"/>
          </a:xfrm>
          <a:prstGeom prst="rect">
            <a:avLst/>
          </a:prstGeom>
          <a:noFill/>
          <a:ln/>
        </p:spPr>
        <p:txBody>
          <a:bodyPr wrap="square" lIns="0" tIns="0" rIns="0" bIns="0" rtlCol="0" anchor="t"/>
          <a:lstStyle/>
          <a:p>
            <a:pPr marL="228600" indent="-228600">
              <a:lnSpc>
                <a:spcPct val="105000"/>
              </a:lnSpc>
              <a:spcAft>
                <a:spcPts val="800"/>
              </a:spcAft>
              <a:buSzPct val="100000"/>
              <a:buChar char="•"/>
            </a:pPr>
            <a:r>
              <a:rPr lang="en-US" sz="1600" b="1" dirty="0">
                <a:solidFill>
                  <a:srgbClr val="1B2433"/>
                </a:solidFill>
                <a:latin typeface="Calibri" pitchFamily="34" charset="0"/>
                <a:ea typeface="Calibri" pitchFamily="34" charset="-122"/>
                <a:cs typeface="Calibri" pitchFamily="34" charset="-120"/>
              </a:rPr>
              <a:t>Deliberately simple</a:t>
            </a:r>
            <a:r>
              <a:rPr lang="en-US" sz="1600" dirty="0">
                <a:solidFill>
                  <a:srgbClr val="1B2433"/>
                </a:solidFill>
                <a:latin typeface="Calibri" pitchFamily="34" charset="0"/>
                <a:ea typeface="Calibri" pitchFamily="34" charset="-122"/>
                <a:cs typeface="Calibri" pitchFamily="34" charset="-120"/>
              </a:rPr>
              <a:t>: word lists, no clever parsing, so every decision can be checked by hand.</a:t>
            </a:r>
            <a:endParaRPr lang="en-US" sz="1600" dirty="0"/>
          </a:p>
          <a:p>
            <a:pPr marL="228600" indent="-228600">
              <a:lnSpc>
                <a:spcPct val="105000"/>
              </a:lnSpc>
              <a:spcAft>
                <a:spcPts val="800"/>
              </a:spcAft>
              <a:buSzPct val="100000"/>
              <a:buChar char="•"/>
            </a:pPr>
            <a:r>
              <a:rPr lang="en-US" sz="1600" dirty="0">
                <a:solidFill>
                  <a:srgbClr val="1B2433"/>
                </a:solidFill>
                <a:latin typeface="Calibri" pitchFamily="34" charset="0"/>
                <a:ea typeface="Calibri" pitchFamily="34" charset="-122"/>
                <a:cs typeface="Calibri" pitchFamily="34" charset="-120"/>
              </a:rPr>
              <a:t>We </a:t>
            </a:r>
            <a:r>
              <a:rPr lang="en-US" sz="1600" b="1" dirty="0">
                <a:solidFill>
                  <a:srgbClr val="1B2433"/>
                </a:solidFill>
                <a:latin typeface="Calibri" pitchFamily="34" charset="0"/>
                <a:ea typeface="Calibri" pitchFamily="34" charset="-122"/>
                <a:cs typeface="Calibri" pitchFamily="34" charset="-120"/>
              </a:rPr>
              <a:t>keep</a:t>
            </a:r>
            <a:r>
              <a:rPr lang="en-US" sz="1600" dirty="0">
                <a:solidFill>
                  <a:srgbClr val="1B2433"/>
                </a:solidFill>
                <a:latin typeface="Calibri" pitchFamily="34" charset="0"/>
                <a:ea typeface="Calibri" pitchFamily="34" charset="-122"/>
                <a:cs typeface="Calibri" pitchFamily="34" charset="-120"/>
              </a:rPr>
              <a:t> the flawed first version as a test, so every rebuild checks that the audit </a:t>
            </a:r>
            <a:r>
              <a:rPr lang="en-US" sz="1600" b="1" dirty="0">
                <a:solidFill>
                  <a:srgbClr val="1B2433"/>
                </a:solidFill>
                <a:latin typeface="Calibri" pitchFamily="34" charset="0"/>
                <a:ea typeface="Calibri" pitchFamily="34" charset="-122"/>
                <a:cs typeface="Calibri" pitchFamily="34" charset="-120"/>
              </a:rPr>
              <a:t>still catches</a:t>
            </a:r>
            <a:r>
              <a:rPr lang="en-US" sz="1600" dirty="0">
                <a:solidFill>
                  <a:srgbClr val="1B2433"/>
                </a:solidFill>
                <a:latin typeface="Calibri" pitchFamily="34" charset="0"/>
                <a:ea typeface="Calibri" pitchFamily="34" charset="-122"/>
                <a:cs typeface="Calibri" pitchFamily="34" charset="-120"/>
              </a:rPr>
              <a:t> its known errors.</a:t>
            </a:r>
            <a:endParaRPr lang="en-US" sz="16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9</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A MISTAKE WE CAUGHT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A second check: re-scoring after the analyser repair</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85</a:t>
            </a:r>
            <a:endParaRPr lang="en-US" sz="900" dirty="0"/>
          </a:p>
        </p:txBody>
      </p:sp>
      <p:sp>
        <p:nvSpPr>
          <p:cNvPr id="9" name="Shape 6"/>
          <p:cNvSpPr/>
          <p:nvPr/>
        </p:nvSpPr>
        <p:spPr>
          <a:xfrm>
            <a:off x="548640" y="1737360"/>
            <a:ext cx="2651760" cy="1737360"/>
          </a:xfrm>
          <a:prstGeom prst="roundRect">
            <a:avLst>
              <a:gd name="adj" fmla="val 4211"/>
            </a:avLst>
          </a:prstGeom>
          <a:solidFill>
            <a:srgbClr val="F2F4F8"/>
          </a:solidFill>
          <a:ln w="12700">
            <a:solidFill>
              <a:srgbClr val="F2F4F8"/>
            </a:solidFill>
            <a:prstDash val="solid"/>
          </a:ln>
        </p:spPr>
      </p:sp>
      <p:sp>
        <p:nvSpPr>
          <p:cNvPr id="10" name="Text 7"/>
          <p:cNvSpPr/>
          <p:nvPr/>
        </p:nvSpPr>
        <p:spPr>
          <a:xfrm>
            <a:off x="731520" y="1828800"/>
            <a:ext cx="2286000" cy="777240"/>
          </a:xfrm>
          <a:prstGeom prst="rect">
            <a:avLst/>
          </a:prstGeom>
          <a:noFill/>
          <a:ln/>
        </p:spPr>
        <p:txBody>
          <a:bodyPr wrap="square" lIns="0" tIns="0" rIns="0" bIns="0" rtlCol="0" anchor="t"/>
          <a:lstStyle/>
          <a:p>
            <a:pPr algn="l" indent="0" marL="0">
              <a:lnSpc>
                <a:spcPct val="100000"/>
              </a:lnSpc>
              <a:buNone/>
            </a:pPr>
            <a:r>
              <a:rPr lang="en-US" sz="3600" b="1" dirty="0">
                <a:solidFill>
                  <a:srgbClr val="1B2433"/>
                </a:solidFill>
                <a:latin typeface="Calibri" pitchFamily="34" charset="0"/>
                <a:ea typeface="Calibri" pitchFamily="34" charset="-122"/>
                <a:cs typeface="Calibri" pitchFamily="34" charset="-120"/>
              </a:rPr>
              <a:t>54,443</a:t>
            </a:r>
            <a:endParaRPr lang="en-US" sz="3600" dirty="0"/>
          </a:p>
        </p:txBody>
      </p:sp>
      <p:sp>
        <p:nvSpPr>
          <p:cNvPr id="11" name="Text 8"/>
          <p:cNvSpPr/>
          <p:nvPr/>
        </p:nvSpPr>
        <p:spPr>
          <a:xfrm>
            <a:off x="731520" y="2606040"/>
            <a:ext cx="2286000" cy="822960"/>
          </a:xfrm>
          <a:prstGeom prst="rect">
            <a:avLst/>
          </a:prstGeom>
          <a:noFill/>
          <a:ln/>
        </p:spPr>
        <p:txBody>
          <a:bodyPr wrap="square" lIns="0" tIns="0" rIns="0" bIns="0" rtlCol="0" anchor="t"/>
          <a:lstStyle/>
          <a:p>
            <a:pPr algn="l" indent="0" marL="0">
              <a:lnSpc>
                <a:spcPct val="100000"/>
              </a:lnSpc>
              <a:buNone/>
            </a:pPr>
            <a:r>
              <a:rPr lang="en-US" sz="1300" dirty="0">
                <a:solidFill>
                  <a:srgbClr val="1B2433"/>
                </a:solidFill>
                <a:latin typeface="Calibri" pitchFamily="34" charset="0"/>
                <a:ea typeface="Calibri" pitchFamily="34" charset="-122"/>
                <a:cs typeface="Calibri" pitchFamily="34" charset="-120"/>
              </a:rPr>
              <a:t>records re-scored</a:t>
            </a:r>
            <a:endParaRPr lang="en-US" sz="1300" dirty="0"/>
          </a:p>
        </p:txBody>
      </p:sp>
      <p:sp>
        <p:nvSpPr>
          <p:cNvPr id="12" name="Shape 9"/>
          <p:cNvSpPr/>
          <p:nvPr/>
        </p:nvSpPr>
        <p:spPr>
          <a:xfrm>
            <a:off x="3364992" y="1737360"/>
            <a:ext cx="2651760" cy="1737360"/>
          </a:xfrm>
          <a:prstGeom prst="roundRect">
            <a:avLst>
              <a:gd name="adj" fmla="val 4211"/>
            </a:avLst>
          </a:prstGeom>
          <a:solidFill>
            <a:srgbClr val="F2F4F8"/>
          </a:solidFill>
          <a:ln w="12700">
            <a:solidFill>
              <a:srgbClr val="F2F4F8"/>
            </a:solidFill>
            <a:prstDash val="solid"/>
          </a:ln>
        </p:spPr>
      </p:sp>
      <p:sp>
        <p:nvSpPr>
          <p:cNvPr id="13" name="Text 10"/>
          <p:cNvSpPr/>
          <p:nvPr/>
        </p:nvSpPr>
        <p:spPr>
          <a:xfrm>
            <a:off x="3547872" y="1828800"/>
            <a:ext cx="2286000" cy="777240"/>
          </a:xfrm>
          <a:prstGeom prst="rect">
            <a:avLst/>
          </a:prstGeom>
          <a:noFill/>
          <a:ln/>
        </p:spPr>
        <p:txBody>
          <a:bodyPr wrap="square" lIns="0" tIns="0" rIns="0" bIns="0" rtlCol="0" anchor="t"/>
          <a:lstStyle/>
          <a:p>
            <a:pPr algn="l" indent="0" marL="0">
              <a:lnSpc>
                <a:spcPct val="100000"/>
              </a:lnSpc>
              <a:buNone/>
            </a:pPr>
            <a:r>
              <a:rPr lang="en-US" sz="3600" b="1" dirty="0">
                <a:solidFill>
                  <a:srgbClr val="E39B2D"/>
                </a:solidFill>
                <a:latin typeface="Calibri" pitchFamily="34" charset="0"/>
                <a:ea typeface="Calibri" pitchFamily="34" charset="-122"/>
                <a:cs typeface="Calibri" pitchFamily="34" charset="-120"/>
              </a:rPr>
              <a:t>728</a:t>
            </a:r>
            <a:endParaRPr lang="en-US" sz="3600" dirty="0"/>
          </a:p>
        </p:txBody>
      </p:sp>
      <p:sp>
        <p:nvSpPr>
          <p:cNvPr id="14" name="Text 11"/>
          <p:cNvSpPr/>
          <p:nvPr/>
        </p:nvSpPr>
        <p:spPr>
          <a:xfrm>
            <a:off x="3547872" y="2606040"/>
            <a:ext cx="2286000" cy="822960"/>
          </a:xfrm>
          <a:prstGeom prst="rect">
            <a:avLst/>
          </a:prstGeom>
          <a:noFill/>
          <a:ln/>
        </p:spPr>
        <p:txBody>
          <a:bodyPr wrap="square" lIns="0" tIns="0" rIns="0" bIns="0" rtlCol="0" anchor="t"/>
          <a:lstStyle/>
          <a:p>
            <a:pPr algn="l" indent="0" marL="0">
              <a:lnSpc>
                <a:spcPct val="100000"/>
              </a:lnSpc>
              <a:buNone/>
            </a:pPr>
            <a:r>
              <a:rPr lang="en-US" sz="1300" dirty="0">
                <a:solidFill>
                  <a:srgbClr val="1B2433"/>
                </a:solidFill>
                <a:latin typeface="Calibri" pitchFamily="34" charset="0"/>
                <a:ea typeface="Calibri" pitchFamily="34" charset="-122"/>
                <a:cs typeface="Calibri" pitchFamily="34" charset="-120"/>
              </a:rPr>
              <a:t>outcomes changed (725 in rationality)</a:t>
            </a:r>
            <a:endParaRPr lang="en-US" sz="1300" dirty="0"/>
          </a:p>
        </p:txBody>
      </p:sp>
      <p:sp>
        <p:nvSpPr>
          <p:cNvPr id="15" name="Shape 12"/>
          <p:cNvSpPr/>
          <p:nvPr/>
        </p:nvSpPr>
        <p:spPr>
          <a:xfrm>
            <a:off x="6181344" y="1737360"/>
            <a:ext cx="2651760" cy="1737360"/>
          </a:xfrm>
          <a:prstGeom prst="roundRect">
            <a:avLst>
              <a:gd name="adj" fmla="val 4211"/>
            </a:avLst>
          </a:prstGeom>
          <a:solidFill>
            <a:srgbClr val="F2F4F8"/>
          </a:solidFill>
          <a:ln w="12700">
            <a:solidFill>
              <a:srgbClr val="F2F4F8"/>
            </a:solidFill>
            <a:prstDash val="solid"/>
          </a:ln>
        </p:spPr>
      </p:sp>
      <p:sp>
        <p:nvSpPr>
          <p:cNvPr id="16" name="Text 13"/>
          <p:cNvSpPr/>
          <p:nvPr/>
        </p:nvSpPr>
        <p:spPr>
          <a:xfrm>
            <a:off x="6364224" y="1828800"/>
            <a:ext cx="2286000" cy="777240"/>
          </a:xfrm>
          <a:prstGeom prst="rect">
            <a:avLst/>
          </a:prstGeom>
          <a:noFill/>
          <a:ln/>
        </p:spPr>
        <p:txBody>
          <a:bodyPr wrap="square" lIns="0" tIns="0" rIns="0" bIns="0" rtlCol="0" anchor="t"/>
          <a:lstStyle/>
          <a:p>
            <a:pPr algn="l" indent="0" marL="0">
              <a:lnSpc>
                <a:spcPct val="100000"/>
              </a:lnSpc>
              <a:buNone/>
            </a:pPr>
            <a:r>
              <a:rPr lang="en-US" sz="3600" b="1" dirty="0">
                <a:solidFill>
                  <a:srgbClr val="009E73"/>
                </a:solidFill>
                <a:latin typeface="Calibri" pitchFamily="34" charset="0"/>
                <a:ea typeface="Calibri" pitchFamily="34" charset="-122"/>
                <a:cs typeface="Calibri" pitchFamily="34" charset="-120"/>
              </a:rPr>
              <a:t>717</a:t>
            </a:r>
            <a:endParaRPr lang="en-US" sz="3600" dirty="0"/>
          </a:p>
        </p:txBody>
      </p:sp>
      <p:sp>
        <p:nvSpPr>
          <p:cNvPr id="17" name="Text 14"/>
          <p:cNvSpPr/>
          <p:nvPr/>
        </p:nvSpPr>
        <p:spPr>
          <a:xfrm>
            <a:off x="6364224" y="2606040"/>
            <a:ext cx="2286000" cy="822960"/>
          </a:xfrm>
          <a:prstGeom prst="rect">
            <a:avLst/>
          </a:prstGeom>
          <a:noFill/>
          <a:ln/>
        </p:spPr>
        <p:txBody>
          <a:bodyPr wrap="square" lIns="0" tIns="0" rIns="0" bIns="0" rtlCol="0" anchor="t"/>
          <a:lstStyle/>
          <a:p>
            <a:pPr algn="l" indent="0" marL="0">
              <a:lnSpc>
                <a:spcPct val="100000"/>
              </a:lnSpc>
              <a:buNone/>
            </a:pPr>
            <a:r>
              <a:rPr lang="en-US" sz="1300" dirty="0">
                <a:solidFill>
                  <a:srgbClr val="1B2433"/>
                </a:solidFill>
                <a:latin typeface="Calibri" pitchFamily="34" charset="0"/>
                <a:ea typeface="Calibri" pitchFamily="34" charset="-122"/>
                <a:cs typeface="Calibri" pitchFamily="34" charset="-120"/>
              </a:rPr>
              <a:t>became correct (512 unparsed, 139 wrong)</a:t>
            </a:r>
            <a:endParaRPr lang="en-US" sz="1300" dirty="0"/>
          </a:p>
        </p:txBody>
      </p:sp>
      <p:sp>
        <p:nvSpPr>
          <p:cNvPr id="18" name="Shape 15"/>
          <p:cNvSpPr/>
          <p:nvPr/>
        </p:nvSpPr>
        <p:spPr>
          <a:xfrm>
            <a:off x="8997696" y="1737360"/>
            <a:ext cx="2651760" cy="1737360"/>
          </a:xfrm>
          <a:prstGeom prst="roundRect">
            <a:avLst>
              <a:gd name="adj" fmla="val 4211"/>
            </a:avLst>
          </a:prstGeom>
          <a:solidFill>
            <a:srgbClr val="F2F4F8"/>
          </a:solidFill>
          <a:ln w="12700">
            <a:solidFill>
              <a:srgbClr val="F2F4F8"/>
            </a:solidFill>
            <a:prstDash val="solid"/>
          </a:ln>
        </p:spPr>
      </p:sp>
      <p:sp>
        <p:nvSpPr>
          <p:cNvPr id="19" name="Text 16"/>
          <p:cNvSpPr/>
          <p:nvPr/>
        </p:nvSpPr>
        <p:spPr>
          <a:xfrm>
            <a:off x="9180576" y="1828800"/>
            <a:ext cx="2286000" cy="777240"/>
          </a:xfrm>
          <a:prstGeom prst="rect">
            <a:avLst/>
          </a:prstGeom>
          <a:noFill/>
          <a:ln/>
        </p:spPr>
        <p:txBody>
          <a:bodyPr wrap="square" lIns="0" tIns="0" rIns="0" bIns="0" rtlCol="0" anchor="t"/>
          <a:lstStyle/>
          <a:p>
            <a:pPr algn="l" indent="0" marL="0">
              <a:lnSpc>
                <a:spcPct val="100000"/>
              </a:lnSpc>
              <a:buNone/>
            </a:pPr>
            <a:r>
              <a:rPr lang="en-US" sz="3600" b="1" dirty="0">
                <a:solidFill>
                  <a:srgbClr val="2F6FB3"/>
                </a:solidFill>
                <a:latin typeface="Calibri" pitchFamily="34" charset="0"/>
                <a:ea typeface="Calibri" pitchFamily="34" charset="-122"/>
                <a:cs typeface="Calibri" pitchFamily="34" charset="-120"/>
              </a:rPr>
              <a:t>0</a:t>
            </a:r>
            <a:endParaRPr lang="en-US" sz="3600" dirty="0"/>
          </a:p>
        </p:txBody>
      </p:sp>
      <p:sp>
        <p:nvSpPr>
          <p:cNvPr id="20" name="Text 17"/>
          <p:cNvSpPr/>
          <p:nvPr/>
        </p:nvSpPr>
        <p:spPr>
          <a:xfrm>
            <a:off x="9180576" y="2606040"/>
            <a:ext cx="2286000" cy="822960"/>
          </a:xfrm>
          <a:prstGeom prst="rect">
            <a:avLst/>
          </a:prstGeom>
          <a:noFill/>
          <a:ln/>
        </p:spPr>
        <p:txBody>
          <a:bodyPr wrap="square" lIns="0" tIns="0" rIns="0" bIns="0" rtlCol="0" anchor="t"/>
          <a:lstStyle/>
          <a:p>
            <a:pPr algn="l" indent="0" marL="0">
              <a:lnSpc>
                <a:spcPct val="100000"/>
              </a:lnSpc>
              <a:buNone/>
            </a:pPr>
            <a:r>
              <a:rPr lang="en-US" sz="1300" dirty="0">
                <a:solidFill>
                  <a:srgbClr val="1B2433"/>
                </a:solidFill>
                <a:latin typeface="Calibri" pitchFamily="34" charset="0"/>
                <a:ea typeface="Calibri" pitchFamily="34" charset="-122"/>
                <a:cs typeface="Calibri" pitchFamily="34" charset="-120"/>
              </a:rPr>
              <a:t>metric-study errors that turned out not to be errors</a:t>
            </a:r>
            <a:endParaRPr lang="en-US" sz="13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548640" y="3749040"/>
          <a:ext cx="7315200" cy="914400"/>
        </p:xfrm>
        <a:graphic>
          <a:graphicData uri="http://schemas.openxmlformats.org/drawingml/2006/table">
            <a:tbl>
              <a:tblPr/>
              <a:tblGrid>
                <a:gridCol w="3291840"/>
                <a:gridCol w="2011680"/>
                <a:gridCol w="2011680"/>
              </a:tblGrid>
              <a:tr h="438912">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In-sentence rationality commitment</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Before repair</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After repair</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F3057"/>
                    </a:solidFill>
                  </a:tcPr>
                </a:tc>
              </a:tr>
              <a:tr h="438912">
                <a:tc>
                  <a:txBody>
                    <a:bodyPr/>
                    <a:lstStyle/>
                    <a:p>
                      <a:pPr algn="l" indent="0" marL="0">
                        <a:buNone/>
                      </a:pPr>
                      <a:r>
                        <a:rPr lang="en-US" sz="1500" dirty="0">
                          <a:solidFill>
                            <a:srgbClr val="1B2433"/>
                          </a:solidFill>
                          <a:latin typeface="Calibri" pitchFamily="34" charset="0"/>
                          <a:ea typeface="Calibri" pitchFamily="34" charset="-122"/>
                          <a:cs typeface="Calibri" pitchFamily="34" charset="-120"/>
                        </a:rPr>
                        <a:t>Range across 13 systems</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433"/>
                          </a:solidFill>
                          <a:latin typeface="Calibri" pitchFamily="34" charset="0"/>
                          <a:ea typeface="Calibri" pitchFamily="34" charset="-122"/>
                          <a:cs typeface="Calibri" pitchFamily="34" charset="-120"/>
                        </a:rPr>
                        <a:t>58.3–75.0%</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B2433"/>
                          </a:solidFill>
                          <a:latin typeface="Calibri" pitchFamily="34" charset="0"/>
                          <a:ea typeface="Calibri" pitchFamily="34" charset="-122"/>
                          <a:cs typeface="Calibri" pitchFamily="34" charset="-120"/>
                        </a:rPr>
                        <a:t>73.7–90.3%</a:t>
                      </a:r>
                      <a:endParaRPr lang="en-US" sz="1500" dirty="0">
                        <a:latin typeface="Calibri" charset="0"/>
                        <a:ea typeface="Calibri" charset="0"/>
                        <a:cs typeface="Calibri" charset="0"/>
                      </a:endParaRPr>
                    </a:p>
                  </a:txBody>
                  <a:tcPr marL="76200" marR="76200" marT="38100" marB="3810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22" name="Shape 18"/>
          <p:cNvSpPr/>
          <p:nvPr/>
        </p:nvSpPr>
        <p:spPr>
          <a:xfrm>
            <a:off x="8138160" y="3749040"/>
            <a:ext cx="3474720" cy="1737360"/>
          </a:xfrm>
          <a:prstGeom prst="roundRect">
            <a:avLst>
              <a:gd name="adj" fmla="val 4211"/>
            </a:avLst>
          </a:prstGeom>
          <a:solidFill>
            <a:srgbClr val="FBEBD2"/>
          </a:solidFill>
          <a:ln w="12700">
            <a:solidFill>
              <a:srgbClr val="FBEBD2"/>
            </a:solidFill>
            <a:prstDash val="solid"/>
          </a:ln>
        </p:spPr>
      </p:sp>
      <p:sp>
        <p:nvSpPr>
          <p:cNvPr id="23" name="Text 19"/>
          <p:cNvSpPr/>
          <p:nvPr/>
        </p:nvSpPr>
        <p:spPr>
          <a:xfrm>
            <a:off x="8339328" y="3895344"/>
            <a:ext cx="307238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The lesson</a:t>
            </a:r>
            <a:endParaRPr lang="en-US" sz="1700" dirty="0"/>
          </a:p>
        </p:txBody>
      </p:sp>
      <p:sp>
        <p:nvSpPr>
          <p:cNvPr id="24" name="Text 20"/>
          <p:cNvSpPr/>
          <p:nvPr/>
        </p:nvSpPr>
        <p:spPr>
          <a:xfrm>
            <a:off x="8339328" y="4306824"/>
            <a:ext cx="3072384" cy="1033272"/>
          </a:xfrm>
          <a:prstGeom prst="rect">
            <a:avLst/>
          </a:prstGeom>
          <a:noFill/>
          <a:ln/>
        </p:spPr>
        <p:txBody>
          <a:bodyPr wrap="square" lIns="0" tIns="0" rIns="0" bIns="0" rtlCol="0" anchor="t"/>
          <a:lstStyle/>
          <a:p>
            <a:pPr indent="0" marL="0">
              <a:spcAft>
                <a:spcPts val="500"/>
              </a:spcAft>
              <a:buNone/>
            </a:pPr>
            <a:r>
              <a:rPr lang="en-US" sz="1400" dirty="0">
                <a:solidFill>
                  <a:srgbClr val="1B2433"/>
                </a:solidFill>
                <a:latin typeface="Calibri" pitchFamily="34" charset="0"/>
                <a:ea typeface="Calibri" pitchFamily="34" charset="-122"/>
                <a:cs typeface="Calibri" pitchFamily="34" charset="-120"/>
              </a:rPr>
              <a:t>One analyser flaw moved a headline number by up to </a:t>
            </a:r>
            <a:r>
              <a:rPr lang="en-US" sz="1400" b="1" dirty="0">
                <a:solidFill>
                  <a:srgbClr val="1B2433"/>
                </a:solidFill>
                <a:latin typeface="Calibri" pitchFamily="34" charset="0"/>
                <a:ea typeface="Calibri" pitchFamily="34" charset="-122"/>
                <a:cs typeface="Calibri" pitchFamily="34" charset="-120"/>
              </a:rPr>
              <a:t>21.1 points</a:t>
            </a:r>
            <a:r>
              <a:rPr lang="en-US" sz="1400" dirty="0">
                <a:solidFill>
                  <a:srgbClr val="1B2433"/>
                </a:solidFill>
                <a:latin typeface="Calibri" pitchFamily="34" charset="0"/>
                <a:ea typeface="Calibri" pitchFamily="34" charset="-122"/>
                <a:cs typeface="Calibri" pitchFamily="34" charset="-120"/>
              </a:rPr>
              <a:t>. We publish the scores </a:t>
            </a:r>
            <a:r>
              <a:rPr lang="en-US" sz="1400" b="1" dirty="0">
                <a:solidFill>
                  <a:srgbClr val="1B2433"/>
                </a:solidFill>
                <a:latin typeface="Calibri" pitchFamily="34" charset="0"/>
                <a:ea typeface="Calibri" pitchFamily="34" charset="-122"/>
                <a:cs typeface="Calibri" pitchFamily="34" charset="-120"/>
              </a:rPr>
              <a:t>before and after</a:t>
            </a:r>
            <a:r>
              <a:rPr lang="en-US" sz="1400" dirty="0">
                <a:solidFill>
                  <a:srgbClr val="1B2433"/>
                </a:solidFill>
                <a:latin typeface="Calibri" pitchFamily="34" charset="0"/>
                <a:ea typeface="Calibri" pitchFamily="34" charset="-122"/>
                <a:cs typeface="Calibri" pitchFamily="34" charset="-120"/>
              </a:rPr>
              <a:t>.</a:t>
            </a:r>
            <a:endParaRPr lang="en-US" sz="1400" dirty="0"/>
          </a:p>
        </p:txBody>
      </p:sp>
      <p:sp>
        <p:nvSpPr>
          <p:cNvPr id="25" name="Shape 21"/>
          <p:cNvSpPr/>
          <p:nvPr/>
        </p:nvSpPr>
        <p:spPr>
          <a:xfrm>
            <a:off x="548640" y="5760720"/>
            <a:ext cx="11064240" cy="502920"/>
          </a:xfrm>
          <a:prstGeom prst="roundRect">
            <a:avLst>
              <a:gd name="adj" fmla="val 14545"/>
            </a:avLst>
          </a:prstGeom>
          <a:solidFill>
            <a:srgbClr val="FBEBD2"/>
          </a:solidFill>
          <a:ln w="12700">
            <a:solidFill>
              <a:srgbClr val="E39B2D"/>
            </a:solidFill>
            <a:prstDash val="solid"/>
          </a:ln>
        </p:spPr>
      </p:sp>
      <p:sp>
        <p:nvSpPr>
          <p:cNvPr id="26" name="Text 22"/>
          <p:cNvSpPr/>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The old analyser was </a:t>
            </a:r>
            <a:r>
              <a:rPr lang="en-US" sz="1500" b="1" dirty="0">
                <a:solidFill>
                  <a:srgbClr val="1B2433"/>
                </a:solidFill>
                <a:latin typeface="Calibri" pitchFamily="34" charset="0"/>
                <a:ea typeface="Calibri" pitchFamily="34" charset="-122"/>
                <a:cs typeface="Calibri" pitchFamily="34" charset="-120"/>
              </a:rPr>
              <a:t>under-counting commitment</a:t>
            </a:r>
            <a:r>
              <a:rPr lang="en-US" sz="1500" dirty="0">
                <a:solidFill>
                  <a:srgbClr val="1B2433"/>
                </a:solidFill>
                <a:latin typeface="Calibri" pitchFamily="34" charset="0"/>
                <a:ea typeface="Calibri" pitchFamily="34" charset="-122"/>
                <a:cs typeface="Calibri" pitchFamily="34" charset="-120"/>
              </a:rPr>
              <a:t>, not inventing errors. All metric results are </a:t>
            </a:r>
            <a:r>
              <a:rPr lang="en-US" sz="1500" b="1" dirty="0">
                <a:solidFill>
                  <a:srgbClr val="1B2433"/>
                </a:solidFill>
                <a:latin typeface="Calibri" pitchFamily="34" charset="0"/>
                <a:ea typeface="Calibri" pitchFamily="34" charset="-122"/>
                <a:cs typeface="Calibri" pitchFamily="34" charset="-120"/>
              </a:rPr>
              <a:t>unchanged</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9</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A MISTAKE WE CAUGHT</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Native Tamil speakers corrected the data</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86</a:t>
            </a:r>
            <a:endParaRPr lang="en-US" sz="900" dirty="0"/>
          </a:p>
        </p:txBody>
      </p:sp>
      <p:sp>
        <p:nvSpPr>
          <p:cNvPr id="9" name="Shape 6"/>
          <p:cNvSpPr/>
          <p:nvPr/>
        </p:nvSpPr>
        <p:spPr>
          <a:xfrm>
            <a:off x="548640" y="1737360"/>
            <a:ext cx="5394960" cy="2011680"/>
          </a:xfrm>
          <a:prstGeom prst="roundRect">
            <a:avLst>
              <a:gd name="adj" fmla="val 3636"/>
            </a:avLst>
          </a:prstGeom>
          <a:solidFill>
            <a:srgbClr val="F2F4F8"/>
          </a:solidFill>
          <a:ln w="12700">
            <a:solidFill>
              <a:srgbClr val="F2F4F8"/>
            </a:solidFill>
            <a:prstDash val="solid"/>
          </a:ln>
        </p:spPr>
      </p:sp>
      <p:sp>
        <p:nvSpPr>
          <p:cNvPr id="10" name="Text 7"/>
          <p:cNvSpPr/>
          <p:nvPr/>
        </p:nvSpPr>
        <p:spPr>
          <a:xfrm>
            <a:off x="749808" y="1883664"/>
            <a:ext cx="49926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Ruling 1 · "You" has two levels (the removed slot)</a:t>
            </a:r>
            <a:endParaRPr lang="en-US" sz="1700" dirty="0"/>
          </a:p>
        </p:txBody>
      </p:sp>
      <p:sp>
        <p:nvSpPr>
          <p:cNvPr id="11" name="Text 8"/>
          <p:cNvSpPr/>
          <p:nvPr/>
        </p:nvSpPr>
        <p:spPr>
          <a:xfrm>
            <a:off x="749808" y="2295144"/>
            <a:ext cx="4992624" cy="1307592"/>
          </a:xfrm>
          <a:prstGeom prst="rect">
            <a:avLst/>
          </a:prstGeom>
          <a:noFill/>
          <a:ln/>
        </p:spPr>
        <p:txBody>
          <a:bodyPr wrap="square" lIns="0" tIns="0" rIns="0" bIns="0" rtlCol="0" anchor="t"/>
          <a:lstStyle/>
          <a:p>
            <a:pPr indent="0" marL="0">
              <a:spcAft>
                <a:spcPts val="500"/>
              </a:spcAft>
              <a:buNone/>
            </a:pPr>
            <a:r>
              <a:rPr lang="en-US" sz="1600" dirty="0">
                <a:solidFill>
                  <a:srgbClr val="1B2433"/>
                </a:solidFill>
                <a:latin typeface="Calibri" pitchFamily="34" charset="0"/>
                <a:ea typeface="Calibri" pitchFamily="34" charset="-122"/>
                <a:cs typeface="Calibri" pitchFamily="34" charset="-120"/>
              </a:rPr>
              <a:t>In statements: நீ / நீர் (less formal) vs நீங்கள் / தாங்கள் (polite). </a:t>
            </a:r>
            <a:r>
              <a:rPr lang="en-US" sz="1600" b="1" dirty="0">
                <a:solidFill>
                  <a:srgbClr val="1B2433"/>
                </a:solidFill>
                <a:latin typeface="Calibri" pitchFamily="34" charset="0"/>
                <a:ea typeface="Calibri" pitchFamily="34" charset="-122"/>
                <a:cs typeface="Calibri" pitchFamily="34" charset="-120"/>
              </a:rPr>
              <a:t>Two levels.</a:t>
            </a:r>
            <a:endParaRPr lang="en-US" sz="1600" dirty="0"/>
          </a:p>
        </p:txBody>
      </p:sp>
      <p:sp>
        <p:nvSpPr>
          <p:cNvPr id="12" name="Shape 9"/>
          <p:cNvSpPr/>
          <p:nvPr/>
        </p:nvSpPr>
        <p:spPr>
          <a:xfrm>
            <a:off x="6217920" y="1737360"/>
            <a:ext cx="5394960" cy="2011680"/>
          </a:xfrm>
          <a:prstGeom prst="roundRect">
            <a:avLst>
              <a:gd name="adj" fmla="val 3636"/>
            </a:avLst>
          </a:prstGeom>
          <a:solidFill>
            <a:srgbClr val="F2F4F8"/>
          </a:solidFill>
          <a:ln w="12700">
            <a:solidFill>
              <a:srgbClr val="F2F4F8"/>
            </a:solidFill>
            <a:prstDash val="solid"/>
          </a:ln>
        </p:spPr>
      </p:sp>
      <p:sp>
        <p:nvSpPr>
          <p:cNvPr id="13" name="Text 10"/>
          <p:cNvSpPr/>
          <p:nvPr/>
        </p:nvSpPr>
        <p:spPr>
          <a:xfrm>
            <a:off x="6400800" y="1828800"/>
            <a:ext cx="5029200" cy="411480"/>
          </a:xfrm>
          <a:prstGeom prst="rect">
            <a:avLst/>
          </a:prstGeom>
          <a:noFill/>
          <a:ln/>
        </p:spPr>
        <p:txBody>
          <a:bodyPr wrap="square" lIns="0" tIns="0" rIns="0" bIns="0" rtlCol="0" anchor="t"/>
          <a:lstStyle/>
          <a:p>
            <a:pPr algn="l" indent="0" marL="0">
              <a:lnSpc>
                <a:spcPct val="100000"/>
              </a:lnSpc>
              <a:buNone/>
            </a:pPr>
            <a:r>
              <a:rPr lang="en-US" sz="1700" b="1" dirty="0">
                <a:solidFill>
                  <a:srgbClr val="1B2433"/>
                </a:solidFill>
                <a:latin typeface="Calibri" pitchFamily="34" charset="0"/>
                <a:ea typeface="Calibri" pitchFamily="34" charset="-122"/>
                <a:cs typeface="Calibri" pitchFamily="34" charset="-120"/>
              </a:rPr>
              <a:t>Ruling 2 · Plural non-people needs the plural ending</a:t>
            </a:r>
            <a:endParaRPr lang="en-US" sz="1700" dirty="0"/>
          </a:p>
        </p:txBody>
      </p:sp>
      <p:sp>
        <p:nvSpPr>
          <p:cNvPr id="14" name="Shape 11"/>
          <p:cNvSpPr/>
          <p:nvPr/>
        </p:nvSpPr>
        <p:spPr>
          <a:xfrm>
            <a:off x="6400800" y="2331720"/>
            <a:ext cx="2423160" cy="1234440"/>
          </a:xfrm>
          <a:prstGeom prst="roundRect">
            <a:avLst>
              <a:gd name="adj" fmla="val 5926"/>
            </a:avLst>
          </a:prstGeom>
          <a:solidFill>
            <a:srgbClr val="FFFFFF"/>
          </a:solidFill>
          <a:ln w="19050">
            <a:solidFill>
              <a:srgbClr val="009E73"/>
            </a:solidFill>
            <a:prstDash val="solid"/>
          </a:ln>
        </p:spPr>
      </p:sp>
      <p:sp>
        <p:nvSpPr>
          <p:cNvPr id="15" name="Text 12"/>
          <p:cNvSpPr/>
          <p:nvPr/>
        </p:nvSpPr>
        <p:spPr>
          <a:xfrm>
            <a:off x="6492240" y="2441448"/>
            <a:ext cx="2240280" cy="555498"/>
          </a:xfrm>
          <a:prstGeom prst="rect">
            <a:avLst/>
          </a:prstGeom>
          <a:noFill/>
          <a:ln/>
        </p:spPr>
        <p:txBody>
          <a:bodyPr wrap="square" lIns="0" tIns="0" rIns="0" bIns="0" rtlCol="0" anchor="ctr"/>
          <a:lstStyle/>
          <a:p>
            <a:pPr algn="ctr" indent="0" marL="0">
              <a:buNone/>
            </a:pPr>
            <a:r>
              <a:rPr lang="en-US" sz="1800" dirty="0">
                <a:solidFill>
                  <a:srgbClr val="1B2433"/>
                </a:solidFill>
                <a:latin typeface="Calibri" pitchFamily="34" charset="0"/>
                <a:ea typeface="Calibri" pitchFamily="34" charset="-122"/>
                <a:cs typeface="Calibri" pitchFamily="34" charset="-120"/>
              </a:rPr>
              <a:t>நாய்கள் வந்தன</a:t>
            </a:r>
            <a:endParaRPr lang="en-US" sz="1800" dirty="0"/>
          </a:p>
        </p:txBody>
      </p:sp>
      <p:sp>
        <p:nvSpPr>
          <p:cNvPr id="16" name="Text 13"/>
          <p:cNvSpPr/>
          <p:nvPr/>
        </p:nvSpPr>
        <p:spPr>
          <a:xfrm>
            <a:off x="6492240" y="2996946"/>
            <a:ext cx="2240280" cy="246888"/>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nāykaḷ vantaṉa</a:t>
            </a:r>
            <a:endParaRPr lang="en-US" sz="1400" dirty="0"/>
          </a:p>
        </p:txBody>
      </p:sp>
      <p:sp>
        <p:nvSpPr>
          <p:cNvPr id="17" name="Text 14"/>
          <p:cNvSpPr/>
          <p:nvPr/>
        </p:nvSpPr>
        <p:spPr>
          <a:xfrm>
            <a:off x="6492240" y="3243834"/>
            <a:ext cx="2240280" cy="370332"/>
          </a:xfrm>
          <a:prstGeom prst="rect">
            <a:avLst/>
          </a:prstGeom>
          <a:noFill/>
          <a:ln/>
        </p:spPr>
        <p:txBody>
          <a:bodyPr wrap="square" lIns="0" tIns="0" rIns="0" bIns="0" rtlCol="0" anchor="t"/>
          <a:lstStyle/>
          <a:p>
            <a:pPr algn="ctr" indent="0" marL="0">
              <a:buNone/>
            </a:pPr>
            <a:r>
              <a:rPr lang="en-US" sz="1300" dirty="0">
                <a:solidFill>
                  <a:srgbClr val="009E73"/>
                </a:solidFill>
                <a:latin typeface="Calibri" pitchFamily="34" charset="0"/>
                <a:ea typeface="Calibri" pitchFamily="34" charset="-122"/>
                <a:cs typeface="Calibri" pitchFamily="34" charset="-120"/>
              </a:rPr>
              <a:t>✓ correct</a:t>
            </a:r>
            <a:endParaRPr lang="en-US" sz="1300" dirty="0"/>
          </a:p>
        </p:txBody>
      </p:sp>
      <p:sp>
        <p:nvSpPr>
          <p:cNvPr id="18" name="Shape 15"/>
          <p:cNvSpPr/>
          <p:nvPr/>
        </p:nvSpPr>
        <p:spPr>
          <a:xfrm>
            <a:off x="9006840" y="2331720"/>
            <a:ext cx="2423160" cy="1234440"/>
          </a:xfrm>
          <a:prstGeom prst="roundRect">
            <a:avLst>
              <a:gd name="adj" fmla="val 5926"/>
            </a:avLst>
          </a:prstGeom>
          <a:solidFill>
            <a:srgbClr val="FFFFFF"/>
          </a:solidFill>
          <a:ln w="19050">
            <a:solidFill>
              <a:srgbClr val="D55E00"/>
            </a:solidFill>
            <a:prstDash val="solid"/>
          </a:ln>
        </p:spPr>
      </p:sp>
      <p:sp>
        <p:nvSpPr>
          <p:cNvPr id="19" name="Text 16"/>
          <p:cNvSpPr/>
          <p:nvPr/>
        </p:nvSpPr>
        <p:spPr>
          <a:xfrm>
            <a:off x="9098280" y="2441448"/>
            <a:ext cx="2240280" cy="555498"/>
          </a:xfrm>
          <a:prstGeom prst="rect">
            <a:avLst/>
          </a:prstGeom>
          <a:noFill/>
          <a:ln/>
        </p:spPr>
        <p:txBody>
          <a:bodyPr wrap="square" lIns="0" tIns="0" rIns="0" bIns="0" rtlCol="0" anchor="ctr"/>
          <a:lstStyle/>
          <a:p>
            <a:pPr algn="ctr" indent="0" marL="0">
              <a:buNone/>
            </a:pPr>
            <a:r>
              <a:rPr lang="en-US" sz="1800" dirty="0">
                <a:solidFill>
                  <a:srgbClr val="1B2433"/>
                </a:solidFill>
                <a:latin typeface="Calibri" pitchFamily="34" charset="0"/>
                <a:ea typeface="Calibri" pitchFamily="34" charset="-122"/>
                <a:cs typeface="Calibri" pitchFamily="34" charset="-120"/>
              </a:rPr>
              <a:t>நாய்கள் வந்தது</a:t>
            </a:r>
            <a:endParaRPr lang="en-US" sz="1800" dirty="0"/>
          </a:p>
        </p:txBody>
      </p:sp>
      <p:sp>
        <p:nvSpPr>
          <p:cNvPr id="20" name="Text 17"/>
          <p:cNvSpPr/>
          <p:nvPr/>
        </p:nvSpPr>
        <p:spPr>
          <a:xfrm>
            <a:off x="9098280" y="2996946"/>
            <a:ext cx="2240280" cy="246888"/>
          </a:xfrm>
          <a:prstGeom prst="rect">
            <a:avLst/>
          </a:prstGeom>
          <a:noFill/>
          <a:ln/>
        </p:spPr>
        <p:txBody>
          <a:bodyPr wrap="square" lIns="0" tIns="0" rIns="0" bIns="0" rtlCol="0" anchor="ctr"/>
          <a:lstStyle/>
          <a:p>
            <a:pPr algn="ctr" indent="0" marL="0">
              <a:buNone/>
            </a:pPr>
            <a:r>
              <a:rPr lang="en-US" sz="1400" i="1" dirty="0">
                <a:solidFill>
                  <a:srgbClr val="5B6577"/>
                </a:solidFill>
                <a:latin typeface="Calibri" pitchFamily="34" charset="0"/>
                <a:ea typeface="Calibri" pitchFamily="34" charset="-122"/>
                <a:cs typeface="Calibri" pitchFamily="34" charset="-120"/>
              </a:rPr>
              <a:t>nāykaḷ vantatu</a:t>
            </a:r>
            <a:endParaRPr lang="en-US" sz="1400" dirty="0"/>
          </a:p>
        </p:txBody>
      </p:sp>
      <p:sp>
        <p:nvSpPr>
          <p:cNvPr id="21" name="Text 18"/>
          <p:cNvSpPr/>
          <p:nvPr/>
        </p:nvSpPr>
        <p:spPr>
          <a:xfrm>
            <a:off x="9098280" y="3243834"/>
            <a:ext cx="2240280" cy="370332"/>
          </a:xfrm>
          <a:prstGeom prst="rect">
            <a:avLst/>
          </a:prstGeom>
          <a:noFill/>
          <a:ln/>
        </p:spPr>
        <p:txBody>
          <a:bodyPr wrap="square" lIns="0" tIns="0" rIns="0" bIns="0" rtlCol="0" anchor="t"/>
          <a:lstStyle/>
          <a:p>
            <a:pPr algn="ctr" indent="0" marL="0">
              <a:buNone/>
            </a:pPr>
            <a:r>
              <a:rPr lang="en-US" sz="1300" dirty="0">
                <a:solidFill>
                  <a:srgbClr val="D55E00"/>
                </a:solidFill>
                <a:latin typeface="Calibri" pitchFamily="34" charset="0"/>
                <a:ea typeface="Calibri" pitchFamily="34" charset="-122"/>
                <a:cs typeface="Calibri" pitchFamily="34" charset="-120"/>
              </a:rPr>
              <a:t>✗ wrong (singular)</a:t>
            </a:r>
            <a:endParaRPr lang="en-US" sz="1300" dirty="0"/>
          </a:p>
        </p:txBody>
      </p:sp>
      <p:sp>
        <p:nvSpPr>
          <p:cNvPr id="22" name="Shape 19"/>
          <p:cNvSpPr/>
          <p:nvPr/>
        </p:nvSpPr>
        <p:spPr>
          <a:xfrm>
            <a:off x="548640" y="4023360"/>
            <a:ext cx="11064240" cy="1463040"/>
          </a:xfrm>
          <a:prstGeom prst="roundRect">
            <a:avLst>
              <a:gd name="adj" fmla="val 5000"/>
            </a:avLst>
          </a:prstGeom>
          <a:solidFill>
            <a:srgbClr val="FBEBD2"/>
          </a:solidFill>
          <a:ln w="12700">
            <a:solidFill>
              <a:srgbClr val="FBEBD2"/>
            </a:solidFill>
            <a:prstDash val="solid"/>
          </a:ln>
        </p:spPr>
      </p:sp>
      <p:sp>
        <p:nvSpPr>
          <p:cNvPr id="23" name="Text 20"/>
          <p:cNvSpPr/>
          <p:nvPr/>
        </p:nvSpPr>
        <p:spPr>
          <a:xfrm>
            <a:off x="749808" y="4169664"/>
            <a:ext cx="1066190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The general lesson</a:t>
            </a:r>
            <a:endParaRPr lang="en-US" sz="1700" dirty="0"/>
          </a:p>
        </p:txBody>
      </p:sp>
      <p:sp>
        <p:nvSpPr>
          <p:cNvPr id="24" name="Text 21"/>
          <p:cNvSpPr/>
          <p:nvPr/>
        </p:nvSpPr>
        <p:spPr>
          <a:xfrm>
            <a:off x="749808" y="4581144"/>
            <a:ext cx="10661904" cy="758952"/>
          </a:xfrm>
          <a:prstGeom prst="rect">
            <a:avLst/>
          </a:prstGeom>
          <a:noFill/>
          <a:ln/>
        </p:spPr>
        <p:txBody>
          <a:bodyPr wrap="square" lIns="0" tIns="0" rIns="0" bIns="0" rtlCol="0" anchor="t"/>
          <a:lstStyle/>
          <a:p>
            <a:pPr indent="0" marL="0">
              <a:spcAft>
                <a:spcPts val="500"/>
              </a:spcAft>
              <a:buNone/>
            </a:pPr>
            <a:r>
              <a:rPr lang="en-US" sz="1500" dirty="0">
                <a:solidFill>
                  <a:srgbClr val="1B2433"/>
                </a:solidFill>
                <a:latin typeface="Calibri" pitchFamily="34" charset="0"/>
                <a:ea typeface="Calibri" pitchFamily="34" charset="-122"/>
                <a:cs typeface="Calibri" pitchFamily="34" charset="-120"/>
              </a:rPr>
              <a:t>A rule-based tool can say a word </a:t>
            </a:r>
            <a:r>
              <a:rPr lang="en-US" sz="1500" b="1" dirty="0">
                <a:solidFill>
                  <a:srgbClr val="1B2433"/>
                </a:solidFill>
                <a:latin typeface="Calibri" pitchFamily="34" charset="0"/>
                <a:ea typeface="Calibri" pitchFamily="34" charset="-122"/>
                <a:cs typeface="Calibri" pitchFamily="34" charset="-120"/>
              </a:rPr>
              <a:t>follows its rules</a:t>
            </a:r>
            <a:r>
              <a:rPr lang="en-US" sz="1500" dirty="0">
                <a:solidFill>
                  <a:srgbClr val="1B2433"/>
                </a:solidFill>
                <a:latin typeface="Calibri" pitchFamily="34" charset="0"/>
                <a:ea typeface="Calibri" pitchFamily="34" charset="-122"/>
                <a:cs typeface="Calibri" pitchFamily="34" charset="-120"/>
              </a:rPr>
              <a:t>, not that Tamil speakers </a:t>
            </a:r>
            <a:r>
              <a:rPr lang="en-US" sz="1500" b="1" dirty="0">
                <a:solidFill>
                  <a:srgbClr val="1B2433"/>
                </a:solidFill>
                <a:latin typeface="Calibri" pitchFamily="34" charset="0"/>
                <a:ea typeface="Calibri" pitchFamily="34" charset="-122"/>
                <a:cs typeface="Calibri" pitchFamily="34" charset="-120"/>
              </a:rPr>
              <a:t>really use it</a:t>
            </a:r>
            <a:r>
              <a:rPr lang="en-US" sz="1500" dirty="0">
                <a:solidFill>
                  <a:srgbClr val="1B2433"/>
                </a:solidFill>
                <a:latin typeface="Calibri" pitchFamily="34" charset="0"/>
                <a:ea typeface="Calibri" pitchFamily="34" charset="-122"/>
                <a:cs typeface="Calibri" pitchFamily="34" charset="-120"/>
              </a:rPr>
              <a:t>. Two forms that passed its round-trip check had </a:t>
            </a:r>
            <a:r>
              <a:rPr lang="en-US" sz="1500" b="1" dirty="0">
                <a:solidFill>
                  <a:srgbClr val="1B2433"/>
                </a:solidFill>
                <a:latin typeface="Calibri" pitchFamily="34" charset="0"/>
                <a:ea typeface="Calibri" pitchFamily="34" charset="-122"/>
                <a:cs typeface="Calibri" pitchFamily="34" charset="-120"/>
              </a:rPr>
              <a:t>no occurrences</a:t>
            </a:r>
            <a:r>
              <a:rPr lang="en-US" sz="1500" dirty="0">
                <a:solidFill>
                  <a:srgbClr val="1B2433"/>
                </a:solidFill>
                <a:latin typeface="Calibri" pitchFamily="34" charset="0"/>
                <a:ea typeface="Calibri" pitchFamily="34" charset="-122"/>
                <a:cs typeface="Calibri" pitchFamily="34" charset="-120"/>
              </a:rPr>
              <a:t> in our Tamil text collections. Verification is </a:t>
            </a:r>
            <a:r>
              <a:rPr lang="en-US" sz="1500" b="1" dirty="0">
                <a:solidFill>
                  <a:srgbClr val="1B2433"/>
                </a:solidFill>
                <a:latin typeface="Calibri" pitchFamily="34" charset="0"/>
                <a:ea typeface="Calibri" pitchFamily="34" charset="-122"/>
                <a:cs typeface="Calibri" pitchFamily="34" charset="-120"/>
              </a:rPr>
              <a:t>human-led, with the tool as support</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286000"/>
            <a:ext cx="1371600" cy="1097280"/>
          </a:xfrm>
          <a:prstGeom prst="roundRect">
            <a:avLst>
              <a:gd name="adj" fmla="val 10000"/>
            </a:avLst>
          </a:prstGeom>
          <a:solidFill>
            <a:srgbClr val="14213D"/>
          </a:solidFill>
          <a:ln w="31750">
            <a:solidFill>
              <a:srgbClr val="E39B2D"/>
            </a:solidFill>
            <a:prstDash val="dash"/>
          </a:ln>
        </p:spPr>
      </p:sp>
      <p:sp>
        <p:nvSpPr>
          <p:cNvPr id="3" name="Text 1"/>
          <p:cNvSpPr/>
          <p:nvPr/>
        </p:nvSpPr>
        <p:spPr>
          <a:xfrm>
            <a:off x="822960" y="2286000"/>
            <a:ext cx="1371600" cy="1097280"/>
          </a:xfrm>
          <a:prstGeom prst="rect">
            <a:avLst/>
          </a:prstGeom>
          <a:noFill/>
          <a:ln/>
        </p:spPr>
        <p:txBody>
          <a:bodyPr wrap="square" lIns="0" tIns="0" rIns="0" bIns="0" rtlCol="0" anchor="ctr"/>
          <a:lstStyle/>
          <a:p>
            <a:pPr algn="ctr" indent="0" marL="0">
              <a:buNone/>
            </a:pPr>
            <a:r>
              <a:rPr lang="en-US" sz="4800" b="1" dirty="0">
                <a:solidFill>
                  <a:srgbClr val="E39B2D"/>
                </a:solidFill>
                <a:latin typeface="Calibri" pitchFamily="34" charset="0"/>
                <a:ea typeface="Calibri" pitchFamily="34" charset="-122"/>
                <a:cs typeface="Calibri" pitchFamily="34" charset="-120"/>
              </a:rPr>
              <a:t>10</a:t>
            </a:r>
            <a:endParaRPr lang="en-US" sz="4800" dirty="0"/>
          </a:p>
        </p:txBody>
      </p:sp>
      <p:sp>
        <p:nvSpPr>
          <p:cNvPr id="4" name="Text 2"/>
          <p:cNvSpPr/>
          <p:nvPr/>
        </p:nvSpPr>
        <p:spPr>
          <a:xfrm>
            <a:off x="2560320" y="1097280"/>
            <a:ext cx="9052560" cy="1965960"/>
          </a:xfrm>
          <a:prstGeom prst="rect">
            <a:avLst/>
          </a:prstGeom>
          <a:noFill/>
          <a:ln/>
        </p:spPr>
        <p:txBody>
          <a:bodyPr wrap="square" lIns="0" tIns="0" rIns="0" bIns="0" rtlCol="0" anchor="b"/>
          <a:lstStyle/>
          <a:p>
            <a:pPr indent="0" marL="0">
              <a:buNone/>
            </a:pPr>
            <a:r>
              <a:rPr lang="en-US" sz="3600" b="1" dirty="0">
                <a:solidFill>
                  <a:srgbClr val="FFFFFF"/>
                </a:solidFill>
                <a:latin typeface="Georgia" pitchFamily="34" charset="0"/>
                <a:ea typeface="Georgia" pitchFamily="34" charset="-122"/>
                <a:cs typeface="Georgia" pitchFamily="34" charset="-120"/>
              </a:rPr>
              <a:t>Limits and conclusion</a:t>
            </a:r>
            <a:endParaRPr lang="en-US" sz="3600" dirty="0"/>
          </a:p>
        </p:txBody>
      </p:sp>
      <p:sp>
        <p:nvSpPr>
          <p:cNvPr id="5" name="Text 3"/>
          <p:cNvSpPr/>
          <p:nvPr/>
        </p:nvSpPr>
        <p:spPr>
          <a:xfrm>
            <a:off x="2560320" y="3246120"/>
            <a:ext cx="9052560" cy="1280160"/>
          </a:xfrm>
          <a:prstGeom prst="rect">
            <a:avLst/>
          </a:prstGeom>
          <a:noFill/>
          <a:ln/>
        </p:spPr>
        <p:txBody>
          <a:bodyPr wrap="square" lIns="0" tIns="0" rIns="0" bIns="0" rtlCol="0" anchor="t"/>
          <a:lstStyle/>
          <a:p>
            <a:pPr indent="0" marL="0">
              <a:buNone/>
            </a:pPr>
            <a:r>
              <a:rPr lang="en-US" sz="1800" dirty="0">
                <a:solidFill>
                  <a:srgbClr val="C9D2E3"/>
                </a:solidFill>
                <a:latin typeface="Calibri" pitchFamily="34" charset="0"/>
                <a:ea typeface="Calibri" pitchFamily="34" charset="-122"/>
                <a:cs typeface="Calibri" pitchFamily="34" charset="-120"/>
              </a:rPr>
              <a:t>What we can say, what we cannot, and what to take away.</a:t>
            </a:r>
            <a:endParaRPr lang="en-US" sz="1800" dirty="0"/>
          </a:p>
        </p:txBody>
      </p:sp>
      <p:sp>
        <p:nvSpPr>
          <p:cNvPr id="6" name="Text 4"/>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7D8AA5"/>
                </a:solidFill>
                <a:latin typeface="Calibri" pitchFamily="34" charset="0"/>
                <a:ea typeface="Calibri" pitchFamily="34" charset="-122"/>
                <a:cs typeface="Calibri" pitchFamily="34" charset="-120"/>
              </a:rPr>
              <a:t>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10</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LIMITS AND CONCLUSION</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Limitations, stated plainly</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88</a:t>
            </a:r>
            <a:endParaRPr lang="en-US" sz="900" dirty="0"/>
          </a:p>
        </p:txBody>
      </p:sp>
      <p:sp>
        <p:nvSpPr>
          <p:cNvPr id="9" name="Shape 6"/>
          <p:cNvSpPr/>
          <p:nvPr/>
        </p:nvSpPr>
        <p:spPr>
          <a:xfrm>
            <a:off x="548640" y="1737360"/>
            <a:ext cx="5440680" cy="914400"/>
          </a:xfrm>
          <a:prstGeom prst="roundRect">
            <a:avLst>
              <a:gd name="adj" fmla="val 8000"/>
            </a:avLst>
          </a:prstGeom>
          <a:solidFill>
            <a:srgbClr val="F2F4F8"/>
          </a:solidFill>
          <a:ln w="12700">
            <a:solidFill>
              <a:srgbClr val="F2F4F8"/>
            </a:solidFill>
            <a:prstDash val="solid"/>
          </a:ln>
        </p:spPr>
      </p:sp>
      <p:sp>
        <p:nvSpPr>
          <p:cNvPr id="10" name="Text 7"/>
          <p:cNvSpPr/>
          <p:nvPr/>
        </p:nvSpPr>
        <p:spPr>
          <a:xfrm>
            <a:off x="731520" y="1810512"/>
            <a:ext cx="5074920" cy="365760"/>
          </a:xfrm>
          <a:prstGeom prst="rect">
            <a:avLst/>
          </a:prstGeom>
          <a:noFill/>
          <a:ln/>
        </p:spPr>
        <p:txBody>
          <a:bodyPr wrap="square" lIns="0" tIns="0" rIns="0" bIns="0" rtlCol="0" anchor="t"/>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One language</a:t>
            </a:r>
            <a:endParaRPr lang="en-US" sz="1600" dirty="0"/>
          </a:p>
        </p:txBody>
      </p:sp>
      <p:sp>
        <p:nvSpPr>
          <p:cNvPr id="11" name="Text 8"/>
          <p:cNvSpPr/>
          <p:nvPr/>
        </p:nvSpPr>
        <p:spPr>
          <a:xfrm>
            <a:off x="731520" y="2194560"/>
            <a:ext cx="5074920" cy="411480"/>
          </a:xfrm>
          <a:prstGeom prst="rect">
            <a:avLst/>
          </a:prstGeom>
          <a:noFill/>
          <a:ln/>
        </p:spPr>
        <p:txBody>
          <a:bodyPr wrap="square" lIns="0" tIns="0" rIns="0" bIns="0" rtlCol="0" anchor="t"/>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written Tamil, one agreement system; may not generalise</a:t>
            </a:r>
            <a:endParaRPr lang="en-US" sz="1400" dirty="0"/>
          </a:p>
        </p:txBody>
      </p:sp>
      <p:sp>
        <p:nvSpPr>
          <p:cNvPr id="12" name="Shape 9"/>
          <p:cNvSpPr/>
          <p:nvPr/>
        </p:nvSpPr>
        <p:spPr>
          <a:xfrm>
            <a:off x="6172200" y="1737360"/>
            <a:ext cx="5440680" cy="914400"/>
          </a:xfrm>
          <a:prstGeom prst="roundRect">
            <a:avLst>
              <a:gd name="adj" fmla="val 8000"/>
            </a:avLst>
          </a:prstGeom>
          <a:solidFill>
            <a:srgbClr val="F2F4F8"/>
          </a:solidFill>
          <a:ln w="12700">
            <a:solidFill>
              <a:srgbClr val="F2F4F8"/>
            </a:solidFill>
            <a:prstDash val="solid"/>
          </a:ln>
        </p:spPr>
      </p:sp>
      <p:sp>
        <p:nvSpPr>
          <p:cNvPr id="13" name="Text 10"/>
          <p:cNvSpPr/>
          <p:nvPr/>
        </p:nvSpPr>
        <p:spPr>
          <a:xfrm>
            <a:off x="6355080" y="1810512"/>
            <a:ext cx="5074920" cy="365760"/>
          </a:xfrm>
          <a:prstGeom prst="rect">
            <a:avLst/>
          </a:prstGeom>
          <a:noFill/>
          <a:ln/>
        </p:spPr>
        <p:txBody>
          <a:bodyPr wrap="square" lIns="0" tIns="0" rIns="0" bIns="0" rtlCol="0" anchor="t"/>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No frontier systems</a:t>
            </a:r>
            <a:endParaRPr lang="en-US" sz="1600" dirty="0"/>
          </a:p>
        </p:txBody>
      </p:sp>
      <p:sp>
        <p:nvSpPr>
          <p:cNvPr id="14" name="Text 11"/>
          <p:cNvSpPr/>
          <p:nvPr/>
        </p:nvSpPr>
        <p:spPr>
          <a:xfrm>
            <a:off x="6355080" y="2194560"/>
            <a:ext cx="5074920" cy="411480"/>
          </a:xfrm>
          <a:prstGeom prst="rect">
            <a:avLst/>
          </a:prstGeom>
          <a:noFill/>
          <a:ln/>
        </p:spPr>
        <p:txBody>
          <a:bodyPr wrap="square" lIns="0" tIns="0" rIns="0" bIns="0" rtlCol="0" anchor="t"/>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open models only; the largest has 32B parameters</a:t>
            </a:r>
            <a:endParaRPr lang="en-US" sz="1400" dirty="0"/>
          </a:p>
        </p:txBody>
      </p:sp>
      <p:sp>
        <p:nvSpPr>
          <p:cNvPr id="15" name="Shape 12"/>
          <p:cNvSpPr/>
          <p:nvPr/>
        </p:nvSpPr>
        <p:spPr>
          <a:xfrm>
            <a:off x="548640" y="2788920"/>
            <a:ext cx="5440680" cy="914400"/>
          </a:xfrm>
          <a:prstGeom prst="roundRect">
            <a:avLst>
              <a:gd name="adj" fmla="val 8000"/>
            </a:avLst>
          </a:prstGeom>
          <a:solidFill>
            <a:srgbClr val="F2F4F8"/>
          </a:solidFill>
          <a:ln w="12700">
            <a:solidFill>
              <a:srgbClr val="F2F4F8"/>
            </a:solidFill>
            <a:prstDash val="solid"/>
          </a:ln>
        </p:spPr>
      </p:sp>
      <p:sp>
        <p:nvSpPr>
          <p:cNvPr id="16" name="Text 13"/>
          <p:cNvSpPr/>
          <p:nvPr/>
        </p:nvSpPr>
        <p:spPr>
          <a:xfrm>
            <a:off x="731520" y="2862072"/>
            <a:ext cx="5074920" cy="365760"/>
          </a:xfrm>
          <a:prstGeom prst="rect">
            <a:avLst/>
          </a:prstGeom>
          <a:noFill/>
          <a:ln/>
        </p:spPr>
        <p:txBody>
          <a:bodyPr wrap="square" lIns="0" tIns="0" rIns="0" bIns="0" rtlCol="0" anchor="t"/>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Number control withheld</a:t>
            </a:r>
            <a:endParaRPr lang="en-US" sz="1600" dirty="0"/>
          </a:p>
        </p:txBody>
      </p:sp>
      <p:sp>
        <p:nvSpPr>
          <p:cNvPr id="17" name="Text 14"/>
          <p:cNvSpPr/>
          <p:nvPr/>
        </p:nvSpPr>
        <p:spPr>
          <a:xfrm>
            <a:off x="731520" y="3246120"/>
            <a:ext cx="5074920" cy="411480"/>
          </a:xfrm>
          <a:prstGeom prst="rect">
            <a:avLst/>
          </a:prstGeom>
          <a:noFill/>
          <a:ln/>
        </p:spPr>
        <p:txBody>
          <a:bodyPr wrap="square" lIns="0" tIns="0" rIns="0" bIns="0" rtlCol="0" anchor="t"/>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the analyser reads only 498 of 580 number gold forms, unevenly</a:t>
            </a:r>
            <a:endParaRPr lang="en-US" sz="1400" dirty="0"/>
          </a:p>
        </p:txBody>
      </p:sp>
      <p:sp>
        <p:nvSpPr>
          <p:cNvPr id="18" name="Shape 15"/>
          <p:cNvSpPr/>
          <p:nvPr/>
        </p:nvSpPr>
        <p:spPr>
          <a:xfrm>
            <a:off x="6172200" y="2788920"/>
            <a:ext cx="5440680" cy="914400"/>
          </a:xfrm>
          <a:prstGeom prst="roundRect">
            <a:avLst>
              <a:gd name="adj" fmla="val 8000"/>
            </a:avLst>
          </a:prstGeom>
          <a:solidFill>
            <a:srgbClr val="F2F4F8"/>
          </a:solidFill>
          <a:ln w="12700">
            <a:solidFill>
              <a:srgbClr val="F2F4F8"/>
            </a:solidFill>
            <a:prstDash val="solid"/>
          </a:ln>
        </p:spPr>
      </p:sp>
      <p:sp>
        <p:nvSpPr>
          <p:cNvPr id="19" name="Text 16"/>
          <p:cNvSpPr/>
          <p:nvPr/>
        </p:nvSpPr>
        <p:spPr>
          <a:xfrm>
            <a:off x="6355080" y="2862072"/>
            <a:ext cx="5074920" cy="365760"/>
          </a:xfrm>
          <a:prstGeom prst="rect">
            <a:avLst/>
          </a:prstGeom>
          <a:noFill/>
          <a:ln/>
        </p:spPr>
        <p:txBody>
          <a:bodyPr wrap="square" lIns="0" tIns="0" rIns="0" bIns="0" rtlCol="0" anchor="t"/>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One prior-sentence prompt</a:t>
            </a:r>
            <a:endParaRPr lang="en-US" sz="1600" dirty="0"/>
          </a:p>
        </p:txBody>
      </p:sp>
      <p:sp>
        <p:nvSpPr>
          <p:cNvPr id="20" name="Text 17"/>
          <p:cNvSpPr/>
          <p:nvPr/>
        </p:nvSpPr>
        <p:spPr>
          <a:xfrm>
            <a:off x="6355080" y="3246120"/>
            <a:ext cx="5074920" cy="411480"/>
          </a:xfrm>
          <a:prstGeom prst="rect">
            <a:avLst/>
          </a:prstGeom>
          <a:noFill/>
          <a:ln/>
        </p:spPr>
        <p:txBody>
          <a:bodyPr wrap="square" lIns="0" tIns="0" rIns="0" bIns="0" rtlCol="0" anchor="t"/>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clue position and prompt wording cannot be separated</a:t>
            </a:r>
            <a:endParaRPr lang="en-US" sz="1400" dirty="0"/>
          </a:p>
        </p:txBody>
      </p:sp>
      <p:sp>
        <p:nvSpPr>
          <p:cNvPr id="21" name="Shape 18"/>
          <p:cNvSpPr/>
          <p:nvPr/>
        </p:nvSpPr>
        <p:spPr>
          <a:xfrm>
            <a:off x="548640" y="3840480"/>
            <a:ext cx="5440680" cy="914400"/>
          </a:xfrm>
          <a:prstGeom prst="roundRect">
            <a:avLst>
              <a:gd name="adj" fmla="val 8000"/>
            </a:avLst>
          </a:prstGeom>
          <a:solidFill>
            <a:srgbClr val="F2F4F8"/>
          </a:solidFill>
          <a:ln w="12700">
            <a:solidFill>
              <a:srgbClr val="F2F4F8"/>
            </a:solidFill>
            <a:prstDash val="solid"/>
          </a:ln>
        </p:spPr>
      </p:sp>
      <p:sp>
        <p:nvSpPr>
          <p:cNvPr id="22" name="Text 19"/>
          <p:cNvSpPr/>
          <p:nvPr/>
        </p:nvSpPr>
        <p:spPr>
          <a:xfrm>
            <a:off x="731520" y="3913632"/>
            <a:ext cx="5074920" cy="365760"/>
          </a:xfrm>
          <a:prstGeom prst="rect">
            <a:avLst/>
          </a:prstGeom>
          <a:noFill/>
          <a:ln/>
        </p:spPr>
        <p:txBody>
          <a:bodyPr wrap="square" lIns="0" tIns="0" rIns="0" bIns="0" rtlCol="0" anchor="t"/>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Analyser sensitivity</a:t>
            </a:r>
            <a:endParaRPr lang="en-US" sz="1600" dirty="0"/>
          </a:p>
        </p:txBody>
      </p:sp>
      <p:sp>
        <p:nvSpPr>
          <p:cNvPr id="23" name="Text 20"/>
          <p:cNvSpPr/>
          <p:nvPr/>
        </p:nvSpPr>
        <p:spPr>
          <a:xfrm>
            <a:off x="731520" y="4297680"/>
            <a:ext cx="5074920" cy="411480"/>
          </a:xfrm>
          <a:prstGeom prst="rect">
            <a:avLst/>
          </a:prstGeom>
          <a:noFill/>
          <a:ln/>
        </p:spPr>
        <p:txBody>
          <a:bodyPr wrap="square" lIns="0" tIns="0" rIns="0" bIns="0" rtlCol="0" anchor="t"/>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one repair moved a number by up to 21.1 points</a:t>
            </a:r>
            <a:endParaRPr lang="en-US" sz="1400" dirty="0"/>
          </a:p>
        </p:txBody>
      </p:sp>
      <p:sp>
        <p:nvSpPr>
          <p:cNvPr id="24" name="Shape 21"/>
          <p:cNvSpPr/>
          <p:nvPr/>
        </p:nvSpPr>
        <p:spPr>
          <a:xfrm>
            <a:off x="6172200" y="3840480"/>
            <a:ext cx="5440680" cy="914400"/>
          </a:xfrm>
          <a:prstGeom prst="roundRect">
            <a:avLst>
              <a:gd name="adj" fmla="val 8000"/>
            </a:avLst>
          </a:prstGeom>
          <a:solidFill>
            <a:srgbClr val="F2F4F8"/>
          </a:solidFill>
          <a:ln w="12700">
            <a:solidFill>
              <a:srgbClr val="F2F4F8"/>
            </a:solidFill>
            <a:prstDash val="solid"/>
          </a:ln>
        </p:spPr>
      </p:sp>
      <p:sp>
        <p:nvSpPr>
          <p:cNvPr id="25" name="Text 22"/>
          <p:cNvSpPr/>
          <p:nvPr/>
        </p:nvSpPr>
        <p:spPr>
          <a:xfrm>
            <a:off x="6355080" y="3913632"/>
            <a:ext cx="5074920" cy="365760"/>
          </a:xfrm>
          <a:prstGeom prst="rect">
            <a:avLst/>
          </a:prstGeom>
          <a:noFill/>
          <a:ln/>
        </p:spPr>
        <p:txBody>
          <a:bodyPr wrap="square" lIns="0" tIns="0" rIns="0" bIns="0" rtlCol="0" anchor="t"/>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Probe failed</a:t>
            </a:r>
            <a:endParaRPr lang="en-US" sz="1600" dirty="0"/>
          </a:p>
        </p:txBody>
      </p:sp>
      <p:sp>
        <p:nvSpPr>
          <p:cNvPr id="26" name="Text 23"/>
          <p:cNvSpPr/>
          <p:nvPr/>
        </p:nvSpPr>
        <p:spPr>
          <a:xfrm>
            <a:off x="6355080" y="4297680"/>
            <a:ext cx="5074920" cy="411480"/>
          </a:xfrm>
          <a:prstGeom prst="rect">
            <a:avLst/>
          </a:prstGeom>
          <a:noFill/>
          <a:ln/>
        </p:spPr>
        <p:txBody>
          <a:bodyPr wrap="square" lIns="0" tIns="0" rIns="0" bIns="0" rtlCol="0" anchor="t"/>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no claim about when a feature becomes readable</a:t>
            </a:r>
            <a:endParaRPr lang="en-US" sz="1400" dirty="0"/>
          </a:p>
        </p:txBody>
      </p:sp>
      <p:sp>
        <p:nvSpPr>
          <p:cNvPr id="27" name="Shape 24"/>
          <p:cNvSpPr/>
          <p:nvPr/>
        </p:nvSpPr>
        <p:spPr>
          <a:xfrm>
            <a:off x="548640" y="4892040"/>
            <a:ext cx="11064240" cy="914400"/>
          </a:xfrm>
          <a:prstGeom prst="roundRect">
            <a:avLst>
              <a:gd name="adj" fmla="val 8000"/>
            </a:avLst>
          </a:prstGeom>
          <a:solidFill>
            <a:srgbClr val="F2F4F8"/>
          </a:solidFill>
          <a:ln w="12700">
            <a:solidFill>
              <a:srgbClr val="F2F4F8"/>
            </a:solidFill>
            <a:prstDash val="solid"/>
          </a:ln>
        </p:spPr>
      </p:sp>
      <p:sp>
        <p:nvSpPr>
          <p:cNvPr id="28" name="Text 25"/>
          <p:cNvSpPr/>
          <p:nvPr/>
        </p:nvSpPr>
        <p:spPr>
          <a:xfrm>
            <a:off x="731520" y="4965192"/>
            <a:ext cx="10698480" cy="365760"/>
          </a:xfrm>
          <a:prstGeom prst="rect">
            <a:avLst/>
          </a:prstGeom>
          <a:noFill/>
          <a:ln/>
        </p:spPr>
        <p:txBody>
          <a:bodyPr wrap="square" lIns="0" tIns="0" rIns="0" bIns="0" rtlCol="0" anchor="t"/>
          <a:lstStyle/>
          <a:p>
            <a:pPr algn="l" indent="0" marL="0">
              <a:lnSpc>
                <a:spcPct val="100000"/>
              </a:lnSpc>
              <a:buNone/>
            </a:pPr>
            <a:r>
              <a:rPr lang="en-US" sz="1600" b="1" dirty="0">
                <a:solidFill>
                  <a:srgbClr val="1B2433"/>
                </a:solidFill>
                <a:latin typeface="Calibri" pitchFamily="34" charset="0"/>
                <a:ea typeface="Calibri" pitchFamily="34" charset="-122"/>
                <a:cs typeface="Calibri" pitchFamily="34" charset="-120"/>
              </a:rPr>
              <a:t>Also worth knowing</a:t>
            </a:r>
            <a:endParaRPr lang="en-US" sz="1600" dirty="0"/>
          </a:p>
        </p:txBody>
      </p:sp>
      <p:sp>
        <p:nvSpPr>
          <p:cNvPr id="29" name="Text 26"/>
          <p:cNvSpPr/>
          <p:nvPr/>
        </p:nvSpPr>
        <p:spPr>
          <a:xfrm>
            <a:off x="731520" y="5349240"/>
            <a:ext cx="10698480" cy="411480"/>
          </a:xfrm>
          <a:prstGeom prst="rect">
            <a:avLst/>
          </a:prstGeom>
          <a:noFill/>
          <a:ln/>
        </p:spPr>
        <p:txBody>
          <a:bodyPr wrap="square" lIns="0" tIns="0" rIns="0" bIns="0" rtlCol="0" anchor="t"/>
          <a:lstStyle/>
          <a:p>
            <a:pPr algn="l" indent="0" marL="0">
              <a:lnSpc>
                <a:spcPct val="100000"/>
              </a:lnSpc>
              <a:buNone/>
            </a:pPr>
            <a:r>
              <a:rPr lang="en-US" sz="1400" dirty="0">
                <a:solidFill>
                  <a:srgbClr val="5B6577"/>
                </a:solidFill>
                <a:latin typeface="Calibri" pitchFamily="34" charset="0"/>
                <a:ea typeface="Calibri" pitchFamily="34" charset="-122"/>
                <a:cs typeface="Calibri" pitchFamily="34" charset="-120"/>
              </a:rPr>
              <a:t>the "human-noticeable" threshold is borrowed from Kocmi et al. (2024); no human study was run on these items</a:t>
            </a:r>
            <a:endParaRPr lang="en-US" sz="1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10</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LIMITS AND CONCLUSION</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What this means in practice</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89</a:t>
            </a:r>
            <a:endParaRPr lang="en-US" sz="900" dirty="0"/>
          </a:p>
        </p:txBody>
      </p:sp>
      <p:sp>
        <p:nvSpPr>
          <p:cNvPr id="9" name="Shape 6"/>
          <p:cNvSpPr/>
          <p:nvPr/>
        </p:nvSpPr>
        <p:spPr>
          <a:xfrm>
            <a:off x="548640" y="1737360"/>
            <a:ext cx="5394960" cy="1463040"/>
          </a:xfrm>
          <a:prstGeom prst="roundRect">
            <a:avLst>
              <a:gd name="adj" fmla="val 5000"/>
            </a:avLst>
          </a:prstGeom>
          <a:solidFill>
            <a:srgbClr val="FBE5D6"/>
          </a:solidFill>
          <a:ln w="12700">
            <a:solidFill>
              <a:srgbClr val="FBE5D6"/>
            </a:solidFill>
            <a:prstDash val="solid"/>
          </a:ln>
        </p:spPr>
      </p:sp>
      <p:sp>
        <p:nvSpPr>
          <p:cNvPr id="10" name="Text 7"/>
          <p:cNvSpPr/>
          <p:nvPr/>
        </p:nvSpPr>
        <p:spPr>
          <a:xfrm>
            <a:off x="749808" y="1883664"/>
            <a:ext cx="4992624" cy="411480"/>
          </a:xfrm>
          <a:prstGeom prst="rect">
            <a:avLst/>
          </a:prstGeom>
          <a:noFill/>
          <a:ln/>
        </p:spPr>
        <p:txBody>
          <a:bodyPr wrap="square" lIns="0" tIns="0" rIns="0" bIns="0" rtlCol="0" anchor="t"/>
          <a:lstStyle/>
          <a:p>
            <a:pPr indent="0" marL="0">
              <a:buNone/>
            </a:pPr>
            <a:r>
              <a:rPr lang="en-US" sz="1800" b="1" dirty="0">
                <a:solidFill>
                  <a:srgbClr val="D55E00"/>
                </a:solidFill>
                <a:latin typeface="Calibri" pitchFamily="34" charset="0"/>
                <a:ea typeface="Calibri" pitchFamily="34" charset="-122"/>
                <a:cs typeface="Calibri" pitchFamily="34" charset="-120"/>
              </a:rPr>
              <a:t>Reference-free monitoring alone</a:t>
            </a:r>
            <a:endParaRPr lang="en-US" sz="1800" dirty="0"/>
          </a:p>
        </p:txBody>
      </p:sp>
      <p:sp>
        <p:nvSpPr>
          <p:cNvPr id="11" name="Text 8"/>
          <p:cNvSpPr/>
          <p:nvPr/>
        </p:nvSpPr>
        <p:spPr>
          <a:xfrm>
            <a:off x="749808" y="2295144"/>
            <a:ext cx="4992624" cy="758952"/>
          </a:xfrm>
          <a:prstGeom prst="rect">
            <a:avLst/>
          </a:prstGeom>
          <a:noFill/>
          <a:ln/>
        </p:spPr>
        <p:txBody>
          <a:bodyPr wrap="square" lIns="0" tIns="0" rIns="0" bIns="0" rtlCol="0" anchor="t"/>
          <a:lstStyle/>
          <a:p>
            <a:pPr indent="0" marL="0">
              <a:spcAft>
                <a:spcPts val="500"/>
              </a:spcAft>
              <a:buNone/>
            </a:pPr>
            <a:r>
              <a:rPr lang="en-US" sz="1600" dirty="0">
                <a:solidFill>
                  <a:srgbClr val="1B2433"/>
                </a:solidFill>
                <a:latin typeface="Calibri" pitchFamily="34" charset="0"/>
                <a:ea typeface="Calibri" pitchFamily="34" charset="-122"/>
                <a:cs typeface="Calibri" pitchFamily="34" charset="-120"/>
              </a:rPr>
              <a:t>Will </a:t>
            </a:r>
            <a:r>
              <a:rPr lang="en-US" sz="1600" b="1" dirty="0">
                <a:solidFill>
                  <a:srgbClr val="1B2433"/>
                </a:solidFill>
                <a:latin typeface="Calibri" pitchFamily="34" charset="0"/>
                <a:ea typeface="Calibri" pitchFamily="34" charset="-122"/>
                <a:cs typeface="Calibri" pitchFamily="34" charset="-120"/>
              </a:rPr>
              <a:t>largely miss</a:t>
            </a:r>
            <a:r>
              <a:rPr lang="en-US" sz="1600" dirty="0">
                <a:solidFill>
                  <a:srgbClr val="1B2433"/>
                </a:solidFill>
                <a:latin typeface="Calibri" pitchFamily="34" charset="0"/>
                <a:ea typeface="Calibri" pitchFamily="34" charset="-122"/>
                <a:cs typeface="Calibri" pitchFamily="34" charset="-120"/>
              </a:rPr>
              <a:t> these errors, and will </a:t>
            </a:r>
            <a:r>
              <a:rPr lang="en-US" sz="1600" b="1" dirty="0">
                <a:solidFill>
                  <a:srgbClr val="1B2433"/>
                </a:solidFill>
                <a:latin typeface="Calibri" pitchFamily="34" charset="0"/>
                <a:ea typeface="Calibri" pitchFamily="34" charset="-122"/>
                <a:cs typeface="Calibri" pitchFamily="34" charset="-120"/>
              </a:rPr>
              <a:t>not penalise</a:t>
            </a:r>
            <a:r>
              <a:rPr lang="en-US" sz="1600" dirty="0">
                <a:solidFill>
                  <a:srgbClr val="1B2433"/>
                </a:solidFill>
                <a:latin typeface="Calibri" pitchFamily="34" charset="0"/>
                <a:ea typeface="Calibri" pitchFamily="34" charset="-122"/>
                <a:cs typeface="Calibri" pitchFamily="34" charset="-120"/>
              </a:rPr>
              <a:t> a system that skips the choice.</a:t>
            </a:r>
            <a:endParaRPr lang="en-US" sz="1600" dirty="0"/>
          </a:p>
        </p:txBody>
      </p:sp>
      <p:sp>
        <p:nvSpPr>
          <p:cNvPr id="12" name="Shape 9"/>
          <p:cNvSpPr/>
          <p:nvPr/>
        </p:nvSpPr>
        <p:spPr>
          <a:xfrm>
            <a:off x="6217920" y="1737360"/>
            <a:ext cx="5394960" cy="1463040"/>
          </a:xfrm>
          <a:prstGeom prst="roundRect">
            <a:avLst>
              <a:gd name="adj" fmla="val 5000"/>
            </a:avLst>
          </a:prstGeom>
          <a:solidFill>
            <a:srgbClr val="DFE9F5"/>
          </a:solidFill>
          <a:ln w="12700">
            <a:solidFill>
              <a:srgbClr val="DFE9F5"/>
            </a:solidFill>
            <a:prstDash val="solid"/>
          </a:ln>
        </p:spPr>
      </p:sp>
      <p:sp>
        <p:nvSpPr>
          <p:cNvPr id="13" name="Text 10"/>
          <p:cNvSpPr/>
          <p:nvPr/>
        </p:nvSpPr>
        <p:spPr>
          <a:xfrm>
            <a:off x="6419088" y="1883664"/>
            <a:ext cx="4992624" cy="411480"/>
          </a:xfrm>
          <a:prstGeom prst="rect">
            <a:avLst/>
          </a:prstGeom>
          <a:noFill/>
          <a:ln/>
        </p:spPr>
        <p:txBody>
          <a:bodyPr wrap="square" lIns="0" tIns="0" rIns="0" bIns="0" rtlCol="0" anchor="t"/>
          <a:lstStyle/>
          <a:p>
            <a:pPr indent="0" marL="0">
              <a:buNone/>
            </a:pPr>
            <a:r>
              <a:rPr lang="en-US" sz="1800" b="1" dirty="0">
                <a:solidFill>
                  <a:srgbClr val="2F6FB3"/>
                </a:solidFill>
                <a:latin typeface="Calibri" pitchFamily="34" charset="0"/>
                <a:ea typeface="Calibri" pitchFamily="34" charset="-122"/>
                <a:cs typeface="Calibri" pitchFamily="34" charset="-120"/>
              </a:rPr>
              <a:t>Reference-based metrics</a:t>
            </a:r>
            <a:endParaRPr lang="en-US" sz="1800" dirty="0"/>
          </a:p>
        </p:txBody>
      </p:sp>
      <p:sp>
        <p:nvSpPr>
          <p:cNvPr id="14" name="Text 11"/>
          <p:cNvSpPr/>
          <p:nvPr/>
        </p:nvSpPr>
        <p:spPr>
          <a:xfrm>
            <a:off x="6419088" y="2295144"/>
            <a:ext cx="4992624" cy="758952"/>
          </a:xfrm>
          <a:prstGeom prst="rect">
            <a:avLst/>
          </a:prstGeom>
          <a:noFill/>
          <a:ln/>
        </p:spPr>
        <p:txBody>
          <a:bodyPr wrap="square" lIns="0" tIns="0" rIns="0" bIns="0" rtlCol="0" anchor="t"/>
          <a:lstStyle/>
          <a:p>
            <a:pPr indent="0" marL="0">
              <a:spcAft>
                <a:spcPts val="500"/>
              </a:spcAft>
              <a:buNone/>
            </a:pPr>
            <a:r>
              <a:rPr lang="en-US" sz="1600" b="1" dirty="0">
                <a:solidFill>
                  <a:srgbClr val="1B2433"/>
                </a:solidFill>
                <a:latin typeface="Calibri" pitchFamily="34" charset="0"/>
                <a:ea typeface="Calibri" pitchFamily="34" charset="-122"/>
                <a:cs typeface="Calibri" pitchFamily="34" charset="-120"/>
              </a:rPr>
              <a:t>Do</a:t>
            </a:r>
            <a:r>
              <a:rPr lang="en-US" sz="1600" dirty="0">
                <a:solidFill>
                  <a:srgbClr val="1B2433"/>
                </a:solidFill>
                <a:latin typeface="Calibri" pitchFamily="34" charset="0"/>
                <a:ea typeface="Calibri" pitchFamily="34" charset="-122"/>
                <a:cs typeface="Calibri" pitchFamily="34" charset="-120"/>
              </a:rPr>
              <a:t> charge for these errors, but need </a:t>
            </a:r>
            <a:r>
              <a:rPr lang="en-US" sz="1600" b="1" dirty="0">
                <a:solidFill>
                  <a:srgbClr val="1B2433"/>
                </a:solidFill>
                <a:latin typeface="Calibri" pitchFamily="34" charset="0"/>
                <a:ea typeface="Calibri" pitchFamily="34" charset="-122"/>
                <a:cs typeface="Calibri" pitchFamily="34" charset="-120"/>
              </a:rPr>
              <a:t>human references</a:t>
            </a:r>
            <a:r>
              <a:rPr lang="en-US" sz="1600" dirty="0">
                <a:solidFill>
                  <a:srgbClr val="1B2433"/>
                </a:solidFill>
                <a:latin typeface="Calibri" pitchFamily="34" charset="0"/>
                <a:ea typeface="Calibri" pitchFamily="34" charset="-122"/>
                <a:cs typeface="Calibri" pitchFamily="34" charset="-120"/>
              </a:rPr>
              <a:t>, which live systems rarely have.</a:t>
            </a:r>
            <a:endParaRPr lang="en-US" sz="1600" dirty="0"/>
          </a:p>
        </p:txBody>
      </p:sp>
      <p:sp>
        <p:nvSpPr>
          <p:cNvPr id="15" name="Shape 12"/>
          <p:cNvSpPr/>
          <p:nvPr/>
        </p:nvSpPr>
        <p:spPr>
          <a:xfrm>
            <a:off x="548640" y="3383280"/>
            <a:ext cx="5394960" cy="1600200"/>
          </a:xfrm>
          <a:prstGeom prst="roundRect">
            <a:avLst>
              <a:gd name="adj" fmla="val 4571"/>
            </a:avLst>
          </a:prstGeom>
          <a:solidFill>
            <a:srgbClr val="DDF2EA"/>
          </a:solidFill>
          <a:ln w="12700">
            <a:solidFill>
              <a:srgbClr val="DDF2EA"/>
            </a:solidFill>
            <a:prstDash val="solid"/>
          </a:ln>
        </p:spPr>
      </p:sp>
      <p:sp>
        <p:nvSpPr>
          <p:cNvPr id="16" name="Text 13"/>
          <p:cNvSpPr/>
          <p:nvPr/>
        </p:nvSpPr>
        <p:spPr>
          <a:xfrm>
            <a:off x="749808" y="3529584"/>
            <a:ext cx="4992624" cy="411480"/>
          </a:xfrm>
          <a:prstGeom prst="rect">
            <a:avLst/>
          </a:prstGeom>
          <a:noFill/>
          <a:ln/>
        </p:spPr>
        <p:txBody>
          <a:bodyPr wrap="square" lIns="0" tIns="0" rIns="0" bIns="0" rtlCol="0" anchor="t"/>
          <a:lstStyle/>
          <a:p>
            <a:pPr indent="0" marL="0">
              <a:buNone/>
            </a:pPr>
            <a:r>
              <a:rPr lang="en-US" sz="1800" b="1" dirty="0">
                <a:solidFill>
                  <a:srgbClr val="009E73"/>
                </a:solidFill>
                <a:latin typeface="Calibri" pitchFamily="34" charset="0"/>
                <a:ea typeface="Calibri" pitchFamily="34" charset="-122"/>
                <a:cs typeface="Calibri" pitchFamily="34" charset="-120"/>
              </a:rPr>
              <a:t>A targeted check helps</a:t>
            </a:r>
            <a:endParaRPr lang="en-US" sz="1800" dirty="0"/>
          </a:p>
        </p:txBody>
      </p:sp>
      <p:sp>
        <p:nvSpPr>
          <p:cNvPr id="17" name="Text 14"/>
          <p:cNvSpPr/>
          <p:nvPr/>
        </p:nvSpPr>
        <p:spPr>
          <a:xfrm>
            <a:off x="749808" y="3941064"/>
            <a:ext cx="4992624" cy="896112"/>
          </a:xfrm>
          <a:prstGeom prst="rect">
            <a:avLst/>
          </a:prstGeom>
          <a:noFill/>
          <a:ln/>
        </p:spPr>
        <p:txBody>
          <a:bodyPr wrap="square" lIns="0" tIns="0" rIns="0" bIns="0" rtlCol="0" anchor="t"/>
          <a:lstStyle/>
          <a:p>
            <a:pPr indent="0" marL="0">
              <a:spcAft>
                <a:spcPts val="500"/>
              </a:spcAft>
              <a:buNone/>
            </a:pPr>
            <a:r>
              <a:rPr lang="en-US" sz="1600" dirty="0">
                <a:solidFill>
                  <a:srgbClr val="1B2433"/>
                </a:solidFill>
                <a:latin typeface="Calibri" pitchFamily="34" charset="0"/>
                <a:ea typeface="Calibri" pitchFamily="34" charset="-122"/>
                <a:cs typeface="Calibri" pitchFamily="34" charset="-120"/>
              </a:rPr>
              <a:t>A rule-based check of the verb ending, like the one in this benchmark, is built to read exactly these endings (though it cannot read every output).</a:t>
            </a:r>
            <a:endParaRPr lang="en-US" sz="1600" dirty="0"/>
          </a:p>
        </p:txBody>
      </p:sp>
      <p:sp>
        <p:nvSpPr>
          <p:cNvPr id="18" name="Shape 15"/>
          <p:cNvSpPr/>
          <p:nvPr/>
        </p:nvSpPr>
        <p:spPr>
          <a:xfrm>
            <a:off x="6217920" y="3383280"/>
            <a:ext cx="5394960" cy="1600200"/>
          </a:xfrm>
          <a:prstGeom prst="roundRect">
            <a:avLst>
              <a:gd name="adj" fmla="val 4571"/>
            </a:avLst>
          </a:prstGeom>
          <a:solidFill>
            <a:srgbClr val="FBEBD2"/>
          </a:solidFill>
          <a:ln w="12700">
            <a:solidFill>
              <a:srgbClr val="FBEBD2"/>
            </a:solidFill>
            <a:prstDash val="solid"/>
          </a:ln>
        </p:spPr>
      </p:sp>
      <p:sp>
        <p:nvSpPr>
          <p:cNvPr id="19" name="Text 16"/>
          <p:cNvSpPr/>
          <p:nvPr/>
        </p:nvSpPr>
        <p:spPr>
          <a:xfrm>
            <a:off x="6419088" y="3529584"/>
            <a:ext cx="4992624" cy="411480"/>
          </a:xfrm>
          <a:prstGeom prst="rect">
            <a:avLst/>
          </a:prstGeom>
          <a:noFill/>
          <a:ln/>
        </p:spPr>
        <p:txBody>
          <a:bodyPr wrap="square" lIns="0" tIns="0" rIns="0" bIns="0" rtlCol="0" anchor="t"/>
          <a:lstStyle/>
          <a:p>
            <a:pPr indent="0" marL="0">
              <a:buNone/>
            </a:pPr>
            <a:r>
              <a:rPr lang="en-US" sz="1800" b="1" dirty="0">
                <a:solidFill>
                  <a:srgbClr val="1B2433"/>
                </a:solidFill>
                <a:latin typeface="Calibri" pitchFamily="34" charset="0"/>
                <a:ea typeface="Calibri" pitchFamily="34" charset="-122"/>
                <a:cs typeface="Calibri" pitchFamily="34" charset="-120"/>
              </a:rPr>
              <a:t>Do not trust severity labels here</a:t>
            </a:r>
            <a:endParaRPr lang="en-US" sz="1800" dirty="0"/>
          </a:p>
        </p:txBody>
      </p:sp>
      <p:sp>
        <p:nvSpPr>
          <p:cNvPr id="20" name="Text 17"/>
          <p:cNvSpPr/>
          <p:nvPr/>
        </p:nvSpPr>
        <p:spPr>
          <a:xfrm>
            <a:off x="6419088" y="3941064"/>
            <a:ext cx="4992624" cy="896112"/>
          </a:xfrm>
          <a:prstGeom prst="rect">
            <a:avLst/>
          </a:prstGeom>
          <a:noFill/>
          <a:ln/>
        </p:spPr>
        <p:txBody>
          <a:bodyPr wrap="square" lIns="0" tIns="0" rIns="0" bIns="0" rtlCol="0" anchor="t"/>
          <a:lstStyle/>
          <a:p>
            <a:pPr indent="0" marL="0">
              <a:spcAft>
                <a:spcPts val="500"/>
              </a:spcAft>
              <a:buNone/>
            </a:pPr>
            <a:r>
              <a:rPr lang="en-US" sz="1600" dirty="0">
                <a:solidFill>
                  <a:srgbClr val="1B2433"/>
                </a:solidFill>
                <a:latin typeface="Calibri" pitchFamily="34" charset="0"/>
                <a:ea typeface="Calibri" pitchFamily="34" charset="-122"/>
                <a:cs typeface="Calibri" pitchFamily="34" charset="-120"/>
              </a:rPr>
              <a:t>xCOMET rarely calls these errors </a:t>
            </a:r>
            <a:r>
              <a:rPr lang="en-US" sz="1600" b="1" dirty="0">
                <a:solidFill>
                  <a:srgbClr val="1B2433"/>
                </a:solidFill>
                <a:latin typeface="Calibri" pitchFamily="34" charset="0"/>
                <a:ea typeface="Calibri" pitchFamily="34" charset="-122"/>
                <a:cs typeface="Calibri" pitchFamily="34" charset="-120"/>
              </a:rPr>
              <a:t>critical</a:t>
            </a:r>
            <a:r>
              <a:rPr lang="en-US" sz="1600" dirty="0">
                <a:solidFill>
                  <a:srgbClr val="1B2433"/>
                </a:solidFill>
                <a:latin typeface="Calibri" pitchFamily="34" charset="0"/>
                <a:ea typeface="Calibri" pitchFamily="34" charset="-122"/>
                <a:cs typeface="Calibri" pitchFamily="34" charset="-120"/>
              </a:rPr>
              <a:t> (6.3%), even when it flags them.</a:t>
            </a:r>
            <a:endParaRPr lang="en-US" sz="1600" dirty="0"/>
          </a:p>
        </p:txBody>
      </p:sp>
      <p:sp>
        <p:nvSpPr>
          <p:cNvPr id="21" name="Shape 18"/>
          <p:cNvSpPr/>
          <p:nvPr/>
        </p:nvSpPr>
        <p:spPr>
          <a:xfrm>
            <a:off x="548640" y="5212080"/>
            <a:ext cx="11064240" cy="502920"/>
          </a:xfrm>
          <a:prstGeom prst="roundRect">
            <a:avLst>
              <a:gd name="adj" fmla="val 14545"/>
            </a:avLst>
          </a:prstGeom>
          <a:solidFill>
            <a:srgbClr val="FBEBD2"/>
          </a:solidFill>
          <a:ln w="12700">
            <a:solidFill>
              <a:srgbClr val="E39B2D"/>
            </a:solidFill>
            <a:prstDash val="solid"/>
          </a:ln>
        </p:spPr>
      </p:sp>
      <p:sp>
        <p:nvSpPr>
          <p:cNvPr id="22" name="Text 19"/>
          <p:cNvSpPr/>
          <p:nvPr/>
        </p:nvSpPr>
        <p:spPr>
          <a:xfrm>
            <a:off x="777240" y="5212080"/>
            <a:ext cx="10607040" cy="50292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These are </a:t>
            </a:r>
            <a:r>
              <a:rPr lang="en-US" sz="1500" b="1" dirty="0">
                <a:solidFill>
                  <a:srgbClr val="1B2433"/>
                </a:solidFill>
                <a:latin typeface="Calibri" pitchFamily="34" charset="0"/>
                <a:ea typeface="Calibri" pitchFamily="34" charset="-122"/>
                <a:cs typeface="Calibri" pitchFamily="34" charset="-120"/>
              </a:rPr>
              <a:t>our reading</a:t>
            </a:r>
            <a:r>
              <a:rPr lang="en-US" sz="1500" dirty="0">
                <a:solidFill>
                  <a:srgbClr val="1B2433"/>
                </a:solidFill>
                <a:latin typeface="Calibri" pitchFamily="34" charset="0"/>
                <a:ea typeface="Calibri" pitchFamily="34" charset="-122"/>
                <a:cs typeface="Calibri" pitchFamily="34" charset="-120"/>
              </a:rPr>
              <a:t> of the results, not separate experiments.</a:t>
            </a:r>
            <a:endParaRPr lang="en-US" sz="15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10</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LIMITS AND CONCLUSION</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Conclusion</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90</a:t>
            </a:r>
            <a:endParaRPr lang="en-US" sz="900" dirty="0"/>
          </a:p>
        </p:txBody>
      </p:sp>
      <p:sp>
        <p:nvSpPr>
          <p:cNvPr id="9" name="Shape 6"/>
          <p:cNvSpPr/>
          <p:nvPr/>
        </p:nvSpPr>
        <p:spPr>
          <a:xfrm>
            <a:off x="548640" y="1691640"/>
            <a:ext cx="109728" cy="694944"/>
          </a:xfrm>
          <a:prstGeom prst="rect">
            <a:avLst/>
          </a:prstGeom>
          <a:solidFill>
            <a:srgbClr val="2F6FB3"/>
          </a:solidFill>
          <a:ln w="12700">
            <a:solidFill>
              <a:srgbClr val="2F6FB3"/>
            </a:solidFill>
            <a:prstDash val="solid"/>
          </a:ln>
        </p:spPr>
      </p:sp>
      <p:sp>
        <p:nvSpPr>
          <p:cNvPr id="10" name="Text 7"/>
          <p:cNvSpPr/>
          <p:nvPr/>
        </p:nvSpPr>
        <p:spPr>
          <a:xfrm>
            <a:off x="868680" y="1691640"/>
            <a:ext cx="10698480" cy="347472"/>
          </a:xfrm>
          <a:prstGeom prst="rect">
            <a:avLst/>
          </a:prstGeom>
          <a:noFill/>
          <a:ln/>
        </p:spPr>
        <p:txBody>
          <a:bodyPr wrap="square" lIns="0" tIns="0" rIns="0" bIns="0" rtlCol="0" anchor="t"/>
          <a:lstStyle/>
          <a:p>
            <a:pPr algn="l" indent="0" marL="0">
              <a:lnSpc>
                <a:spcPct val="100000"/>
              </a:lnSpc>
              <a:buNone/>
            </a:pPr>
            <a:r>
              <a:rPr lang="en-US" sz="1800" b="1" dirty="0">
                <a:solidFill>
                  <a:srgbClr val="1B2433"/>
                </a:solidFill>
                <a:latin typeface="Georgia" pitchFamily="34" charset="0"/>
                <a:ea typeface="Georgia" pitchFamily="34" charset="-122"/>
                <a:cs typeface="Georgia" pitchFamily="34" charset="-120"/>
              </a:rPr>
              <a:t>Our prediction was wrong</a:t>
            </a:r>
            <a:endParaRPr lang="en-US" sz="1800" dirty="0"/>
          </a:p>
        </p:txBody>
      </p:sp>
      <p:sp>
        <p:nvSpPr>
          <p:cNvPr id="11" name="Text 8"/>
          <p:cNvSpPr/>
          <p:nvPr/>
        </p:nvSpPr>
        <p:spPr>
          <a:xfrm>
            <a:off x="868680" y="2048256"/>
            <a:ext cx="10698480" cy="347472"/>
          </a:xfrm>
          <a:prstGeom prst="rect">
            <a:avLst/>
          </a:prstGeom>
          <a:noFill/>
          <a:ln/>
        </p:spPr>
        <p:txBody>
          <a:bodyPr wrap="square" lIns="0" tIns="0" rIns="0" bIns="0" rtlCol="0" anchor="t"/>
          <a:lstStyle/>
          <a:p>
            <a:pPr algn="l" indent="0" marL="0">
              <a:lnSpc>
                <a:spcPct val="100000"/>
              </a:lnSpc>
              <a:buNone/>
            </a:pPr>
            <a:r>
              <a:rPr lang="en-US" sz="1500" dirty="0">
                <a:solidFill>
                  <a:srgbClr val="1B2433"/>
                </a:solidFill>
                <a:latin typeface="Calibri" pitchFamily="34" charset="0"/>
                <a:ea typeface="Calibri" pitchFamily="34" charset="-122"/>
                <a:cs typeface="Calibri" pitchFamily="34" charset="-120"/>
              </a:rPr>
              <a:t>for neural reference-based metrics: they </a:t>
            </a:r>
            <a:r>
              <a:rPr lang="en-US" sz="1500" b="1" dirty="0">
                <a:solidFill>
                  <a:srgbClr val="1B2433"/>
                </a:solidFill>
                <a:latin typeface="Calibri" pitchFamily="34" charset="0"/>
                <a:ea typeface="Calibri" pitchFamily="34" charset="-122"/>
                <a:cs typeface="Calibri" pitchFamily="34" charset="-120"/>
              </a:rPr>
              <a:t>do</a:t>
            </a:r>
            <a:r>
              <a:rPr lang="en-US" sz="1500" dirty="0">
                <a:solidFill>
                  <a:srgbClr val="1B2433"/>
                </a:solidFill>
                <a:latin typeface="Calibri" pitchFamily="34" charset="0"/>
                <a:ea typeface="Calibri" pitchFamily="34" charset="-122"/>
                <a:cs typeface="Calibri" pitchFamily="34" charset="-120"/>
              </a:rPr>
              <a:t> charge, e.g. COMET-22 at 8.52× the noticeable threshold.</a:t>
            </a:r>
            <a:endParaRPr lang="en-US" sz="1500" dirty="0"/>
          </a:p>
        </p:txBody>
      </p:sp>
      <p:sp>
        <p:nvSpPr>
          <p:cNvPr id="12" name="Shape 9"/>
          <p:cNvSpPr/>
          <p:nvPr/>
        </p:nvSpPr>
        <p:spPr>
          <a:xfrm>
            <a:off x="548640" y="2487168"/>
            <a:ext cx="109728" cy="694944"/>
          </a:xfrm>
          <a:prstGeom prst="rect">
            <a:avLst/>
          </a:prstGeom>
          <a:solidFill>
            <a:srgbClr val="8E44AD"/>
          </a:solidFill>
          <a:ln w="12700">
            <a:solidFill>
              <a:srgbClr val="8E44AD"/>
            </a:solidFill>
            <a:prstDash val="solid"/>
          </a:ln>
        </p:spPr>
      </p:sp>
      <p:sp>
        <p:nvSpPr>
          <p:cNvPr id="13" name="Text 10"/>
          <p:cNvSpPr/>
          <p:nvPr/>
        </p:nvSpPr>
        <p:spPr>
          <a:xfrm>
            <a:off x="868680" y="2487168"/>
            <a:ext cx="10698480" cy="347472"/>
          </a:xfrm>
          <a:prstGeom prst="rect">
            <a:avLst/>
          </a:prstGeom>
          <a:noFill/>
          <a:ln/>
        </p:spPr>
        <p:txBody>
          <a:bodyPr wrap="square" lIns="0" tIns="0" rIns="0" bIns="0" rtlCol="0" anchor="t"/>
          <a:lstStyle/>
          <a:p>
            <a:pPr algn="l" indent="0" marL="0">
              <a:lnSpc>
                <a:spcPct val="100000"/>
              </a:lnSpc>
              <a:buNone/>
            </a:pPr>
            <a:r>
              <a:rPr lang="en-US" sz="1800" b="1" dirty="0">
                <a:solidFill>
                  <a:srgbClr val="1B2433"/>
                </a:solidFill>
                <a:latin typeface="Georgia" pitchFamily="34" charset="0"/>
                <a:ea typeface="Georgia" pitchFamily="34" charset="-122"/>
                <a:cs typeface="Georgia" pitchFamily="34" charset="-120"/>
              </a:rPr>
              <a:t>Reference-free metrics prefer the wrong form</a:t>
            </a:r>
            <a:endParaRPr lang="en-US" sz="1800" dirty="0"/>
          </a:p>
        </p:txBody>
      </p:sp>
      <p:sp>
        <p:nvSpPr>
          <p:cNvPr id="14" name="Text 11"/>
          <p:cNvSpPr/>
          <p:nvPr/>
        </p:nvSpPr>
        <p:spPr>
          <a:xfrm>
            <a:off x="868680" y="2843784"/>
            <a:ext cx="10698480" cy="347472"/>
          </a:xfrm>
          <a:prstGeom prst="rect">
            <a:avLst/>
          </a:prstGeom>
          <a:noFill/>
          <a:ln/>
        </p:spPr>
        <p:txBody>
          <a:bodyPr wrap="square" lIns="0" tIns="0" rIns="0" bIns="0" rtlCol="0" anchor="t"/>
          <a:lstStyle/>
          <a:p>
            <a:pPr algn="l" indent="0" marL="0">
              <a:lnSpc>
                <a:spcPct val="100000"/>
              </a:lnSpc>
              <a:buNone/>
            </a:pPr>
            <a:r>
              <a:rPr lang="en-US" sz="1500" dirty="0">
                <a:solidFill>
                  <a:srgbClr val="1B2433"/>
                </a:solidFill>
                <a:latin typeface="Calibri" pitchFamily="34" charset="0"/>
                <a:ea typeface="Calibri" pitchFamily="34" charset="-122"/>
                <a:cs typeface="Calibri" pitchFamily="34" charset="-120"/>
              </a:rPr>
              <a:t>on real system errors: CometKiwi-22 </a:t>
            </a:r>
            <a:r>
              <a:rPr lang="en-US" sz="1500" b="1" dirty="0">
                <a:solidFill>
                  <a:srgbClr val="1B2433"/>
                </a:solidFill>
                <a:latin typeface="Calibri" pitchFamily="34" charset="0"/>
                <a:ea typeface="Calibri" pitchFamily="34" charset="-122"/>
                <a:cs typeface="Calibri" pitchFamily="34" charset="-120"/>
              </a:rPr>
              <a:t>42.3%</a:t>
            </a:r>
            <a:r>
              <a:rPr lang="en-US" sz="1500" dirty="0">
                <a:solidFill>
                  <a:srgbClr val="1B2433"/>
                </a:solidFill>
                <a:latin typeface="Calibri" pitchFamily="34" charset="0"/>
                <a:ea typeface="Calibri" pitchFamily="34" charset="-122"/>
                <a:cs typeface="Calibri" pitchFamily="34" charset="-120"/>
              </a:rPr>
              <a:t>, MetricX-24-QE </a:t>
            </a:r>
            <a:r>
              <a:rPr lang="en-US" sz="1500" b="1" dirty="0">
                <a:solidFill>
                  <a:srgbClr val="1B2433"/>
                </a:solidFill>
                <a:latin typeface="Calibri" pitchFamily="34" charset="0"/>
                <a:ea typeface="Calibri" pitchFamily="34" charset="-122"/>
                <a:cs typeface="Calibri" pitchFamily="34" charset="-120"/>
              </a:rPr>
              <a:t>38.5%</a:t>
            </a:r>
            <a:r>
              <a:rPr lang="en-US" sz="1500" dirty="0">
                <a:solidFill>
                  <a:srgbClr val="1B2433"/>
                </a:solidFill>
                <a:latin typeface="Calibri" pitchFamily="34" charset="0"/>
                <a:ea typeface="Calibri" pitchFamily="34" charset="-122"/>
                <a:cs typeface="Calibri" pitchFamily="34" charset="-120"/>
              </a:rPr>
              <a:t> (coin flip = 50%).</a:t>
            </a:r>
            <a:endParaRPr lang="en-US" sz="1500" dirty="0"/>
          </a:p>
        </p:txBody>
      </p:sp>
      <p:sp>
        <p:nvSpPr>
          <p:cNvPr id="15" name="Shape 12"/>
          <p:cNvSpPr/>
          <p:nvPr/>
        </p:nvSpPr>
        <p:spPr>
          <a:xfrm>
            <a:off x="548640" y="3282696"/>
            <a:ext cx="109728" cy="694944"/>
          </a:xfrm>
          <a:prstGeom prst="rect">
            <a:avLst/>
          </a:prstGeom>
          <a:solidFill>
            <a:srgbClr val="E39B2D"/>
          </a:solidFill>
          <a:ln w="12700">
            <a:solidFill>
              <a:srgbClr val="E39B2D"/>
            </a:solidFill>
            <a:prstDash val="solid"/>
          </a:ln>
        </p:spPr>
      </p:sp>
      <p:sp>
        <p:nvSpPr>
          <p:cNvPr id="16" name="Text 13"/>
          <p:cNvSpPr/>
          <p:nvPr/>
        </p:nvSpPr>
        <p:spPr>
          <a:xfrm>
            <a:off x="868680" y="3282696"/>
            <a:ext cx="10698480" cy="347472"/>
          </a:xfrm>
          <a:prstGeom prst="rect">
            <a:avLst/>
          </a:prstGeom>
          <a:noFill/>
          <a:ln/>
        </p:spPr>
        <p:txBody>
          <a:bodyPr wrap="square" lIns="0" tIns="0" rIns="0" bIns="0" rtlCol="0" anchor="t"/>
          <a:lstStyle/>
          <a:p>
            <a:pPr algn="l" indent="0" marL="0">
              <a:lnSpc>
                <a:spcPct val="100000"/>
              </a:lnSpc>
              <a:buNone/>
            </a:pPr>
            <a:r>
              <a:rPr lang="en-US" sz="1800" b="1" dirty="0">
                <a:solidFill>
                  <a:srgbClr val="1B2433"/>
                </a:solidFill>
                <a:latin typeface="Georgia" pitchFamily="34" charset="0"/>
                <a:ea typeface="Georgia" pitchFamily="34" charset="-122"/>
                <a:cs typeface="Georgia" pitchFamily="34" charset="-120"/>
              </a:rPr>
              <a:t>Skipping the choice is free</a:t>
            </a:r>
            <a:endParaRPr lang="en-US" sz="1800" dirty="0"/>
          </a:p>
        </p:txBody>
      </p:sp>
      <p:sp>
        <p:nvSpPr>
          <p:cNvPr id="17" name="Text 14"/>
          <p:cNvSpPr/>
          <p:nvPr/>
        </p:nvSpPr>
        <p:spPr>
          <a:xfrm>
            <a:off x="868680" y="3639312"/>
            <a:ext cx="10698480" cy="347472"/>
          </a:xfrm>
          <a:prstGeom prst="rect">
            <a:avLst/>
          </a:prstGeom>
          <a:noFill/>
          <a:ln/>
        </p:spPr>
        <p:txBody>
          <a:bodyPr wrap="square" lIns="0" tIns="0" rIns="0" bIns="0" rtlCol="0" anchor="t"/>
          <a:lstStyle/>
          <a:p>
            <a:pPr algn="l" indent="0" marL="0">
              <a:lnSpc>
                <a:spcPct val="100000"/>
              </a:lnSpc>
              <a:buNone/>
            </a:pPr>
            <a:r>
              <a:rPr lang="en-US" sz="1500" dirty="0">
                <a:solidFill>
                  <a:srgbClr val="1B2433"/>
                </a:solidFill>
                <a:latin typeface="Calibri" pitchFamily="34" charset="0"/>
                <a:ea typeface="Calibri" pitchFamily="34" charset="-122"/>
                <a:cs typeface="Calibri" pitchFamily="34" charset="-120"/>
              </a:rPr>
              <a:t>under reference-free evaluation: both avoidance intervals </a:t>
            </a:r>
            <a:r>
              <a:rPr lang="en-US" sz="1500" b="1" dirty="0">
                <a:solidFill>
                  <a:srgbClr val="1B2433"/>
                </a:solidFill>
                <a:latin typeface="Calibri" pitchFamily="34" charset="0"/>
                <a:ea typeface="Calibri" pitchFamily="34" charset="-122"/>
                <a:cs typeface="Calibri" pitchFamily="34" charset="-120"/>
              </a:rPr>
              <a:t>include zero</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
        <p:nvSpPr>
          <p:cNvPr id="18" name="Shape 15"/>
          <p:cNvSpPr/>
          <p:nvPr/>
        </p:nvSpPr>
        <p:spPr>
          <a:xfrm>
            <a:off x="548640" y="4078224"/>
            <a:ext cx="109728" cy="694944"/>
          </a:xfrm>
          <a:prstGeom prst="rect">
            <a:avLst/>
          </a:prstGeom>
          <a:solidFill>
            <a:srgbClr val="1F3057"/>
          </a:solidFill>
          <a:ln w="12700">
            <a:solidFill>
              <a:srgbClr val="1F3057"/>
            </a:solidFill>
            <a:prstDash val="solid"/>
          </a:ln>
        </p:spPr>
      </p:sp>
      <p:sp>
        <p:nvSpPr>
          <p:cNvPr id="19" name="Text 16"/>
          <p:cNvSpPr/>
          <p:nvPr/>
        </p:nvSpPr>
        <p:spPr>
          <a:xfrm>
            <a:off x="868680" y="4078224"/>
            <a:ext cx="10698480" cy="347472"/>
          </a:xfrm>
          <a:prstGeom prst="rect">
            <a:avLst/>
          </a:prstGeom>
          <a:noFill/>
          <a:ln/>
        </p:spPr>
        <p:txBody>
          <a:bodyPr wrap="square" lIns="0" tIns="0" rIns="0" bIns="0" rtlCol="0" anchor="t"/>
          <a:lstStyle/>
          <a:p>
            <a:pPr algn="l" indent="0" marL="0">
              <a:lnSpc>
                <a:spcPct val="100000"/>
              </a:lnSpc>
              <a:buNone/>
            </a:pPr>
            <a:r>
              <a:rPr lang="en-US" sz="1800" b="1" dirty="0">
                <a:solidFill>
                  <a:srgbClr val="1B2433"/>
                </a:solidFill>
                <a:latin typeface="Georgia" pitchFamily="34" charset="0"/>
                <a:ea typeface="Georgia" pitchFamily="34" charset="-122"/>
                <a:cs typeface="Georgia" pitchFamily="34" charset="-120"/>
              </a:rPr>
              <a:t>The systems</a:t>
            </a:r>
            <a:endParaRPr lang="en-US" sz="1800" dirty="0"/>
          </a:p>
        </p:txBody>
      </p:sp>
      <p:sp>
        <p:nvSpPr>
          <p:cNvPr id="20" name="Text 17"/>
          <p:cNvSpPr/>
          <p:nvPr/>
        </p:nvSpPr>
        <p:spPr>
          <a:xfrm>
            <a:off x="868680" y="4434840"/>
            <a:ext cx="10698480" cy="347472"/>
          </a:xfrm>
          <a:prstGeom prst="rect">
            <a:avLst/>
          </a:prstGeom>
          <a:noFill/>
          <a:ln/>
        </p:spPr>
        <p:txBody>
          <a:bodyPr wrap="square" lIns="0" tIns="0" rIns="0" bIns="0" rtlCol="0" anchor="t"/>
          <a:lstStyle/>
          <a:p>
            <a:pPr algn="l" indent="0" marL="0">
              <a:lnSpc>
                <a:spcPct val="100000"/>
              </a:lnSpc>
              <a:buNone/>
            </a:pPr>
            <a:r>
              <a:rPr lang="en-US" sz="1500" dirty="0">
                <a:solidFill>
                  <a:srgbClr val="1B2433"/>
                </a:solidFill>
                <a:latin typeface="Calibri" pitchFamily="34" charset="0"/>
                <a:ea typeface="Calibri" pitchFamily="34" charset="-122"/>
                <a:cs typeface="Calibri" pitchFamily="34" charset="-120"/>
              </a:rPr>
              <a:t>with no clue, every system picks the </a:t>
            </a:r>
            <a:r>
              <a:rPr lang="en-US" sz="1500" b="1" dirty="0">
                <a:solidFill>
                  <a:srgbClr val="1B2433"/>
                </a:solidFill>
                <a:latin typeface="Calibri" pitchFamily="34" charset="0"/>
                <a:ea typeface="Calibri" pitchFamily="34" charset="-122"/>
                <a:cs typeface="Calibri" pitchFamily="34" charset="-120"/>
              </a:rPr>
              <a:t>people</a:t>
            </a:r>
            <a:r>
              <a:rPr lang="en-US" sz="1500" dirty="0">
                <a:solidFill>
                  <a:srgbClr val="1B2433"/>
                </a:solidFill>
                <a:latin typeface="Calibri" pitchFamily="34" charset="0"/>
                <a:ea typeface="Calibri" pitchFamily="34" charset="-122"/>
                <a:cs typeface="Calibri" pitchFamily="34" charset="-120"/>
              </a:rPr>
              <a:t> form on 96–100% of rationality items.</a:t>
            </a:r>
            <a:endParaRPr lang="en-US" sz="1500" dirty="0"/>
          </a:p>
        </p:txBody>
      </p:sp>
      <p:sp>
        <p:nvSpPr>
          <p:cNvPr id="21" name="Shape 18"/>
          <p:cNvSpPr/>
          <p:nvPr/>
        </p:nvSpPr>
        <p:spPr>
          <a:xfrm>
            <a:off x="548640" y="4873752"/>
            <a:ext cx="109728" cy="694944"/>
          </a:xfrm>
          <a:prstGeom prst="rect">
            <a:avLst/>
          </a:prstGeom>
          <a:solidFill>
            <a:srgbClr val="009E73"/>
          </a:solidFill>
          <a:ln w="12700">
            <a:solidFill>
              <a:srgbClr val="009E73"/>
            </a:solidFill>
            <a:prstDash val="solid"/>
          </a:ln>
        </p:spPr>
      </p:sp>
      <p:sp>
        <p:nvSpPr>
          <p:cNvPr id="22" name="Text 19"/>
          <p:cNvSpPr/>
          <p:nvPr/>
        </p:nvSpPr>
        <p:spPr>
          <a:xfrm>
            <a:off x="868680" y="4873752"/>
            <a:ext cx="10698480" cy="347472"/>
          </a:xfrm>
          <a:prstGeom prst="rect">
            <a:avLst/>
          </a:prstGeom>
          <a:noFill/>
          <a:ln/>
        </p:spPr>
        <p:txBody>
          <a:bodyPr wrap="square" lIns="0" tIns="0" rIns="0" bIns="0" rtlCol="0" anchor="t"/>
          <a:lstStyle/>
          <a:p>
            <a:pPr algn="l" indent="0" marL="0">
              <a:lnSpc>
                <a:spcPct val="100000"/>
              </a:lnSpc>
              <a:buNone/>
            </a:pPr>
            <a:r>
              <a:rPr lang="en-US" sz="1800" b="1" dirty="0">
                <a:solidFill>
                  <a:srgbClr val="1B2433"/>
                </a:solidFill>
                <a:latin typeface="Georgia" pitchFamily="34" charset="0"/>
                <a:ea typeface="Georgia" pitchFamily="34" charset="-122"/>
                <a:cs typeface="Georgia" pitchFamily="34" charset="-120"/>
              </a:rPr>
              <a:t>Inside one model</a:t>
            </a:r>
            <a:endParaRPr lang="en-US" sz="1800" dirty="0"/>
          </a:p>
        </p:txBody>
      </p:sp>
      <p:sp>
        <p:nvSpPr>
          <p:cNvPr id="23" name="Text 20"/>
          <p:cNvSpPr/>
          <p:nvPr/>
        </p:nvSpPr>
        <p:spPr>
          <a:xfrm>
            <a:off x="868680" y="5230368"/>
            <a:ext cx="10698480" cy="347472"/>
          </a:xfrm>
          <a:prstGeom prst="rect">
            <a:avLst/>
          </a:prstGeom>
          <a:noFill/>
          <a:ln/>
        </p:spPr>
        <p:txBody>
          <a:bodyPr wrap="square" lIns="0" tIns="0" rIns="0" bIns="0" rtlCol="0" anchor="t"/>
          <a:lstStyle/>
          <a:p>
            <a:pPr algn="l" indent="0" marL="0">
              <a:lnSpc>
                <a:spcPct val="100000"/>
              </a:lnSpc>
              <a:buNone/>
            </a:pPr>
            <a:r>
              <a:rPr lang="en-US" sz="1500" dirty="0">
                <a:solidFill>
                  <a:srgbClr val="1B2433"/>
                </a:solidFill>
                <a:latin typeface="Calibri" pitchFamily="34" charset="0"/>
                <a:ea typeface="Calibri" pitchFamily="34" charset="-122"/>
                <a:cs typeface="Calibri" pitchFamily="34" charset="-120"/>
              </a:rPr>
              <a:t>number is settled at depth </a:t>
            </a:r>
            <a:r>
              <a:rPr lang="en-US" sz="1500" b="1" dirty="0">
                <a:solidFill>
                  <a:srgbClr val="1B2433"/>
                </a:solidFill>
                <a:latin typeface="Calibri" pitchFamily="34" charset="0"/>
                <a:ea typeface="Calibri" pitchFamily="34" charset="-122"/>
                <a:cs typeface="Calibri" pitchFamily="34" charset="-120"/>
              </a:rPr>
              <a:t>0.561</a:t>
            </a:r>
            <a:r>
              <a:rPr lang="en-US" sz="1500" dirty="0">
                <a:solidFill>
                  <a:srgbClr val="1B2433"/>
                </a:solidFill>
                <a:latin typeface="Calibri" pitchFamily="34" charset="0"/>
                <a:ea typeface="Calibri" pitchFamily="34" charset="-122"/>
                <a:cs typeface="Calibri" pitchFamily="34" charset="-120"/>
              </a:rPr>
              <a:t>, rationality only at </a:t>
            </a:r>
            <a:r>
              <a:rPr lang="en-US" sz="1500" b="1" dirty="0">
                <a:solidFill>
                  <a:srgbClr val="1B2433"/>
                </a:solidFill>
                <a:latin typeface="Calibri" pitchFamily="34" charset="0"/>
                <a:ea typeface="Calibri" pitchFamily="34" charset="-122"/>
                <a:cs typeface="Calibri" pitchFamily="34" charset="-120"/>
              </a:rPr>
              <a:t>0.888</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
        <p:nvSpPr>
          <p:cNvPr id="24" name="Shape 21"/>
          <p:cNvSpPr/>
          <p:nvPr/>
        </p:nvSpPr>
        <p:spPr>
          <a:xfrm>
            <a:off x="548640" y="5760720"/>
            <a:ext cx="11064240" cy="548640"/>
          </a:xfrm>
          <a:prstGeom prst="roundRect">
            <a:avLst>
              <a:gd name="adj" fmla="val 13333"/>
            </a:avLst>
          </a:prstGeom>
          <a:solidFill>
            <a:srgbClr val="FBEBD2"/>
          </a:solidFill>
          <a:ln w="12700">
            <a:solidFill>
              <a:srgbClr val="E39B2D"/>
            </a:solidFill>
            <a:prstDash val="solid"/>
          </a:ln>
        </p:spPr>
      </p:sp>
      <p:sp>
        <p:nvSpPr>
          <p:cNvPr id="25" name="Text 22"/>
          <p:cNvSpPr/>
          <p:nvPr/>
        </p:nvSpPr>
        <p:spPr>
          <a:xfrm>
            <a:off x="777240" y="5760720"/>
            <a:ext cx="10607040" cy="548640"/>
          </a:xfrm>
          <a:prstGeom prst="rect">
            <a:avLst/>
          </a:prstGeom>
          <a:noFill/>
          <a:ln/>
        </p:spPr>
        <p:txBody>
          <a:bodyPr wrap="square" lIns="0" tIns="0" rIns="0" bIns="0" rtlCol="0" anchor="ctr"/>
          <a:lstStyle/>
          <a:p>
            <a:pPr indent="0" marL="0">
              <a:buNone/>
            </a:pPr>
            <a:r>
              <a:rPr lang="en-US" sz="1800" b="1" dirty="0">
                <a:solidFill>
                  <a:srgbClr val="1B2433"/>
                </a:solidFill>
                <a:latin typeface="Calibri" pitchFamily="34" charset="0"/>
                <a:ea typeface="Calibri" pitchFamily="34" charset="-122"/>
                <a:cs typeface="Calibri" pitchFamily="34" charset="-120"/>
              </a:rPr>
              <a:t>Under reference-free evaluation, dropping a distinction the source never made is free.</a:t>
            </a:r>
            <a:endParaRPr lang="en-US" sz="1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10</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LIMITS AND CONCLUSION</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Key numbers at a glance</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91</a:t>
            </a:r>
            <a:endParaRPr lang="en-US" sz="900" dirty="0"/>
          </a:p>
        </p:txBody>
      </p:sp>
      <p:sp>
        <p:nvSpPr>
          <p:cNvPr id="9" name="Shape 6"/>
          <p:cNvSpPr/>
          <p:nvPr/>
        </p:nvSpPr>
        <p:spPr>
          <a:xfrm>
            <a:off x="548640" y="1737360"/>
            <a:ext cx="2651760" cy="1965960"/>
          </a:xfrm>
          <a:prstGeom prst="roundRect">
            <a:avLst>
              <a:gd name="adj" fmla="val 3721"/>
            </a:avLst>
          </a:prstGeom>
          <a:solidFill>
            <a:srgbClr val="F2F4F8"/>
          </a:solidFill>
          <a:ln w="12700">
            <a:solidFill>
              <a:srgbClr val="F2F4F8"/>
            </a:solidFill>
            <a:prstDash val="solid"/>
          </a:ln>
        </p:spPr>
      </p:sp>
      <p:sp>
        <p:nvSpPr>
          <p:cNvPr id="10" name="Text 7"/>
          <p:cNvSpPr/>
          <p:nvPr/>
        </p:nvSpPr>
        <p:spPr>
          <a:xfrm>
            <a:off x="713232" y="1874520"/>
            <a:ext cx="2377440" cy="731520"/>
          </a:xfrm>
          <a:prstGeom prst="rect">
            <a:avLst/>
          </a:prstGeom>
          <a:noFill/>
          <a:ln/>
        </p:spPr>
        <p:txBody>
          <a:bodyPr wrap="square" lIns="0" tIns="0" rIns="0" bIns="0" rtlCol="0" anchor="ctr"/>
          <a:lstStyle/>
          <a:p>
            <a:pPr algn="l" indent="0" marL="0">
              <a:lnSpc>
                <a:spcPct val="100000"/>
              </a:lnSpc>
              <a:buNone/>
            </a:pPr>
            <a:r>
              <a:rPr lang="en-US" sz="3200" b="1" dirty="0">
                <a:solidFill>
                  <a:srgbClr val="2F6FB3"/>
                </a:solidFill>
                <a:latin typeface="Calibri" pitchFamily="34" charset="0"/>
                <a:ea typeface="Calibri" pitchFamily="34" charset="-122"/>
                <a:cs typeface="Calibri" pitchFamily="34" charset="-120"/>
              </a:rPr>
              <a:t>8.52×</a:t>
            </a:r>
            <a:endParaRPr lang="en-US" sz="3200" dirty="0"/>
          </a:p>
        </p:txBody>
      </p:sp>
      <p:sp>
        <p:nvSpPr>
          <p:cNvPr id="11" name="Text 8"/>
          <p:cNvSpPr/>
          <p:nvPr/>
        </p:nvSpPr>
        <p:spPr>
          <a:xfrm>
            <a:off x="713232" y="2651760"/>
            <a:ext cx="2377440" cy="960120"/>
          </a:xfrm>
          <a:prstGeom prst="rect">
            <a:avLst/>
          </a:prstGeom>
          <a:noFill/>
          <a:ln/>
        </p:spPr>
        <p:txBody>
          <a:bodyPr wrap="square" lIns="0" tIns="0" rIns="0" bIns="0" rtlCol="0" anchor="t"/>
          <a:lstStyle/>
          <a:p>
            <a:pPr algn="l" indent="0" marL="0">
              <a:lnSpc>
                <a:spcPct val="100000"/>
              </a:lnSpc>
              <a:buNone/>
            </a:pPr>
            <a:r>
              <a:rPr lang="en-US" sz="1200" dirty="0">
                <a:solidFill>
                  <a:srgbClr val="1B2433"/>
                </a:solidFill>
                <a:latin typeface="Calibri" pitchFamily="34" charset="0"/>
                <a:ea typeface="Calibri" pitchFamily="34" charset="-122"/>
                <a:cs typeface="Calibri" pitchFamily="34" charset="-120"/>
              </a:rPr>
              <a:t>COMET-22 penalty, in units of the human-noticeable threshold</a:t>
            </a:r>
            <a:endParaRPr lang="en-US" sz="1200" dirty="0"/>
          </a:p>
        </p:txBody>
      </p:sp>
      <p:sp>
        <p:nvSpPr>
          <p:cNvPr id="12" name="Shape 9"/>
          <p:cNvSpPr/>
          <p:nvPr/>
        </p:nvSpPr>
        <p:spPr>
          <a:xfrm>
            <a:off x="3364992" y="1737360"/>
            <a:ext cx="2651760" cy="1965960"/>
          </a:xfrm>
          <a:prstGeom prst="roundRect">
            <a:avLst>
              <a:gd name="adj" fmla="val 3721"/>
            </a:avLst>
          </a:prstGeom>
          <a:solidFill>
            <a:srgbClr val="F2F4F8"/>
          </a:solidFill>
          <a:ln w="12700">
            <a:solidFill>
              <a:srgbClr val="F2F4F8"/>
            </a:solidFill>
            <a:prstDash val="solid"/>
          </a:ln>
        </p:spPr>
      </p:sp>
      <p:sp>
        <p:nvSpPr>
          <p:cNvPr id="13" name="Text 10"/>
          <p:cNvSpPr/>
          <p:nvPr/>
        </p:nvSpPr>
        <p:spPr>
          <a:xfrm>
            <a:off x="3529584" y="1874520"/>
            <a:ext cx="2377440" cy="731520"/>
          </a:xfrm>
          <a:prstGeom prst="rect">
            <a:avLst/>
          </a:prstGeom>
          <a:noFill/>
          <a:ln/>
        </p:spPr>
        <p:txBody>
          <a:bodyPr wrap="square" lIns="0" tIns="0" rIns="0" bIns="0" rtlCol="0" anchor="ctr"/>
          <a:lstStyle/>
          <a:p>
            <a:pPr algn="l" indent="0" marL="0">
              <a:lnSpc>
                <a:spcPct val="100000"/>
              </a:lnSpc>
              <a:buNone/>
            </a:pPr>
            <a:r>
              <a:rPr lang="en-US" sz="3200" b="1" dirty="0">
                <a:solidFill>
                  <a:srgbClr val="8E44AD"/>
                </a:solidFill>
                <a:latin typeface="Calibri" pitchFamily="34" charset="0"/>
                <a:ea typeface="Calibri" pitchFamily="34" charset="-122"/>
                <a:cs typeface="Calibri" pitchFamily="34" charset="-120"/>
              </a:rPr>
              <a:t>42.3%</a:t>
            </a:r>
            <a:endParaRPr lang="en-US" sz="3200" dirty="0"/>
          </a:p>
        </p:txBody>
      </p:sp>
      <p:sp>
        <p:nvSpPr>
          <p:cNvPr id="14" name="Text 11"/>
          <p:cNvSpPr/>
          <p:nvPr/>
        </p:nvSpPr>
        <p:spPr>
          <a:xfrm>
            <a:off x="3529584" y="2651760"/>
            <a:ext cx="2377440" cy="960120"/>
          </a:xfrm>
          <a:prstGeom prst="rect">
            <a:avLst/>
          </a:prstGeom>
          <a:noFill/>
          <a:ln/>
        </p:spPr>
        <p:txBody>
          <a:bodyPr wrap="square" lIns="0" tIns="0" rIns="0" bIns="0" rtlCol="0" anchor="t"/>
          <a:lstStyle/>
          <a:p>
            <a:pPr algn="l" indent="0" marL="0">
              <a:lnSpc>
                <a:spcPct val="100000"/>
              </a:lnSpc>
              <a:buNone/>
            </a:pPr>
            <a:r>
              <a:rPr lang="en-US" sz="1200" dirty="0">
                <a:solidFill>
                  <a:srgbClr val="1B2433"/>
                </a:solidFill>
                <a:latin typeface="Calibri" pitchFamily="34" charset="0"/>
                <a:ea typeface="Calibri" pitchFamily="34" charset="-122"/>
                <a:cs typeface="Calibri" pitchFamily="34" charset="-120"/>
              </a:rPr>
              <a:t>CometKiwi-22 win rate on 1,479 real errors (coin flip = 50%)</a:t>
            </a:r>
            <a:endParaRPr lang="en-US" sz="1200" dirty="0"/>
          </a:p>
        </p:txBody>
      </p:sp>
      <p:sp>
        <p:nvSpPr>
          <p:cNvPr id="15" name="Shape 12"/>
          <p:cNvSpPr/>
          <p:nvPr/>
        </p:nvSpPr>
        <p:spPr>
          <a:xfrm>
            <a:off x="6181344" y="1737360"/>
            <a:ext cx="2651760" cy="1965960"/>
          </a:xfrm>
          <a:prstGeom prst="roundRect">
            <a:avLst>
              <a:gd name="adj" fmla="val 3721"/>
            </a:avLst>
          </a:prstGeom>
          <a:solidFill>
            <a:srgbClr val="F2F4F8"/>
          </a:solidFill>
          <a:ln w="12700">
            <a:solidFill>
              <a:srgbClr val="F2F4F8"/>
            </a:solidFill>
            <a:prstDash val="solid"/>
          </a:ln>
        </p:spPr>
      </p:sp>
      <p:sp>
        <p:nvSpPr>
          <p:cNvPr id="16" name="Text 13"/>
          <p:cNvSpPr/>
          <p:nvPr/>
        </p:nvSpPr>
        <p:spPr>
          <a:xfrm>
            <a:off x="6345936" y="1874520"/>
            <a:ext cx="2377440" cy="731520"/>
          </a:xfrm>
          <a:prstGeom prst="rect">
            <a:avLst/>
          </a:prstGeom>
          <a:noFill/>
          <a:ln/>
        </p:spPr>
        <p:txBody>
          <a:bodyPr wrap="square" lIns="0" tIns="0" rIns="0" bIns="0" rtlCol="0" anchor="ctr"/>
          <a:lstStyle/>
          <a:p>
            <a:pPr algn="l" indent="0" marL="0">
              <a:lnSpc>
                <a:spcPct val="100000"/>
              </a:lnSpc>
              <a:buNone/>
            </a:pPr>
            <a:r>
              <a:rPr lang="en-US" sz="3200" b="1" dirty="0">
                <a:solidFill>
                  <a:srgbClr val="8E44AD"/>
                </a:solidFill>
                <a:latin typeface="Calibri" pitchFamily="34" charset="0"/>
                <a:ea typeface="Calibri" pitchFamily="34" charset="-122"/>
                <a:cs typeface="Calibri" pitchFamily="34" charset="-120"/>
              </a:rPr>
              <a:t>38.5%</a:t>
            </a:r>
            <a:endParaRPr lang="en-US" sz="3200" dirty="0"/>
          </a:p>
        </p:txBody>
      </p:sp>
      <p:sp>
        <p:nvSpPr>
          <p:cNvPr id="17" name="Text 14"/>
          <p:cNvSpPr/>
          <p:nvPr/>
        </p:nvSpPr>
        <p:spPr>
          <a:xfrm>
            <a:off x="6345936" y="2651760"/>
            <a:ext cx="2377440" cy="960120"/>
          </a:xfrm>
          <a:prstGeom prst="rect">
            <a:avLst/>
          </a:prstGeom>
          <a:noFill/>
          <a:ln/>
        </p:spPr>
        <p:txBody>
          <a:bodyPr wrap="square" lIns="0" tIns="0" rIns="0" bIns="0" rtlCol="0" anchor="t"/>
          <a:lstStyle/>
          <a:p>
            <a:pPr algn="l" indent="0" marL="0">
              <a:lnSpc>
                <a:spcPct val="100000"/>
              </a:lnSpc>
              <a:buNone/>
            </a:pPr>
            <a:r>
              <a:rPr lang="en-US" sz="1200" dirty="0">
                <a:solidFill>
                  <a:srgbClr val="1B2433"/>
                </a:solidFill>
                <a:latin typeface="Calibri" pitchFamily="34" charset="0"/>
                <a:ea typeface="Calibri" pitchFamily="34" charset="-122"/>
                <a:cs typeface="Calibri" pitchFamily="34" charset="-120"/>
              </a:rPr>
              <a:t>MetricX-24-QE win rate on the same errors</a:t>
            </a:r>
            <a:endParaRPr lang="en-US" sz="1200" dirty="0"/>
          </a:p>
        </p:txBody>
      </p:sp>
      <p:sp>
        <p:nvSpPr>
          <p:cNvPr id="18" name="Shape 15"/>
          <p:cNvSpPr/>
          <p:nvPr/>
        </p:nvSpPr>
        <p:spPr>
          <a:xfrm>
            <a:off x="8997696" y="1737360"/>
            <a:ext cx="2651760" cy="1965960"/>
          </a:xfrm>
          <a:prstGeom prst="roundRect">
            <a:avLst>
              <a:gd name="adj" fmla="val 3721"/>
            </a:avLst>
          </a:prstGeom>
          <a:solidFill>
            <a:srgbClr val="F2F4F8"/>
          </a:solidFill>
          <a:ln w="12700">
            <a:solidFill>
              <a:srgbClr val="F2F4F8"/>
            </a:solidFill>
            <a:prstDash val="solid"/>
          </a:ln>
        </p:spPr>
      </p:sp>
      <p:sp>
        <p:nvSpPr>
          <p:cNvPr id="19" name="Text 16"/>
          <p:cNvSpPr/>
          <p:nvPr/>
        </p:nvSpPr>
        <p:spPr>
          <a:xfrm>
            <a:off x="9162288" y="1874520"/>
            <a:ext cx="2377440" cy="731520"/>
          </a:xfrm>
          <a:prstGeom prst="rect">
            <a:avLst/>
          </a:prstGeom>
          <a:noFill/>
          <a:ln/>
        </p:spPr>
        <p:txBody>
          <a:bodyPr wrap="square" lIns="0" tIns="0" rIns="0" bIns="0" rtlCol="0" anchor="ctr"/>
          <a:lstStyle/>
          <a:p>
            <a:pPr algn="l" indent="0" marL="0">
              <a:lnSpc>
                <a:spcPct val="100000"/>
              </a:lnSpc>
              <a:buNone/>
            </a:pPr>
            <a:r>
              <a:rPr lang="en-US" sz="2400" b="1" dirty="0">
                <a:solidFill>
                  <a:srgbClr val="E39B2D"/>
                </a:solidFill>
                <a:latin typeface="Calibri" pitchFamily="34" charset="0"/>
                <a:ea typeface="Calibri" pitchFamily="34" charset="-122"/>
                <a:cs typeface="Calibri" pitchFamily="34" charset="-120"/>
              </a:rPr>
              <a:t>−0.000965</a:t>
            </a:r>
            <a:endParaRPr lang="en-US" sz="2400" dirty="0"/>
          </a:p>
        </p:txBody>
      </p:sp>
      <p:sp>
        <p:nvSpPr>
          <p:cNvPr id="20" name="Text 17"/>
          <p:cNvSpPr/>
          <p:nvPr/>
        </p:nvSpPr>
        <p:spPr>
          <a:xfrm>
            <a:off x="9162288" y="2651760"/>
            <a:ext cx="2377440" cy="960120"/>
          </a:xfrm>
          <a:prstGeom prst="rect">
            <a:avLst/>
          </a:prstGeom>
          <a:noFill/>
          <a:ln/>
        </p:spPr>
        <p:txBody>
          <a:bodyPr wrap="square" lIns="0" tIns="0" rIns="0" bIns="0" rtlCol="0" anchor="t"/>
          <a:lstStyle/>
          <a:p>
            <a:pPr algn="l" indent="0" marL="0">
              <a:lnSpc>
                <a:spcPct val="100000"/>
              </a:lnSpc>
              <a:buNone/>
            </a:pPr>
            <a:r>
              <a:rPr lang="en-US" sz="1200" dirty="0">
                <a:solidFill>
                  <a:srgbClr val="1B2433"/>
                </a:solidFill>
                <a:latin typeface="Calibri" pitchFamily="34" charset="0"/>
                <a:ea typeface="Calibri" pitchFamily="34" charset="-122"/>
                <a:cs typeface="Calibri" pitchFamily="34" charset="-120"/>
              </a:rPr>
              <a:t>CometKiwi-22 average penalty for skipping the choice, on a 0–1 scale (interval includes 0)</a:t>
            </a:r>
            <a:endParaRPr lang="en-US" sz="1200" dirty="0"/>
          </a:p>
        </p:txBody>
      </p:sp>
      <p:sp>
        <p:nvSpPr>
          <p:cNvPr id="21" name="Shape 18"/>
          <p:cNvSpPr/>
          <p:nvPr/>
        </p:nvSpPr>
        <p:spPr>
          <a:xfrm>
            <a:off x="548640" y="3886200"/>
            <a:ext cx="2651760" cy="1965960"/>
          </a:xfrm>
          <a:prstGeom prst="roundRect">
            <a:avLst>
              <a:gd name="adj" fmla="val 3721"/>
            </a:avLst>
          </a:prstGeom>
          <a:solidFill>
            <a:srgbClr val="F2F4F8"/>
          </a:solidFill>
          <a:ln w="12700">
            <a:solidFill>
              <a:srgbClr val="F2F4F8"/>
            </a:solidFill>
            <a:prstDash val="solid"/>
          </a:ln>
        </p:spPr>
      </p:sp>
      <p:sp>
        <p:nvSpPr>
          <p:cNvPr id="22" name="Text 19"/>
          <p:cNvSpPr/>
          <p:nvPr/>
        </p:nvSpPr>
        <p:spPr>
          <a:xfrm>
            <a:off x="713232" y="4023360"/>
            <a:ext cx="2377440" cy="731520"/>
          </a:xfrm>
          <a:prstGeom prst="rect">
            <a:avLst/>
          </a:prstGeom>
          <a:noFill/>
          <a:ln/>
        </p:spPr>
        <p:txBody>
          <a:bodyPr wrap="square" lIns="0" tIns="0" rIns="0" bIns="0" rtlCol="0" anchor="ctr"/>
          <a:lstStyle/>
          <a:p>
            <a:pPr algn="l" indent="0" marL="0">
              <a:lnSpc>
                <a:spcPct val="100000"/>
              </a:lnSpc>
              <a:buNone/>
            </a:pPr>
            <a:r>
              <a:rPr lang="en-US" sz="3200" b="1" dirty="0">
                <a:solidFill>
                  <a:srgbClr val="D55E00"/>
                </a:solidFill>
                <a:latin typeface="Calibri" pitchFamily="34" charset="0"/>
                <a:ea typeface="Calibri" pitchFamily="34" charset="-122"/>
                <a:cs typeface="Calibri" pitchFamily="34" charset="-120"/>
              </a:rPr>
              <a:t>6.3%</a:t>
            </a:r>
            <a:endParaRPr lang="en-US" sz="3200" dirty="0"/>
          </a:p>
        </p:txBody>
      </p:sp>
      <p:sp>
        <p:nvSpPr>
          <p:cNvPr id="23" name="Text 20"/>
          <p:cNvSpPr/>
          <p:nvPr/>
        </p:nvSpPr>
        <p:spPr>
          <a:xfrm>
            <a:off x="713232" y="4800600"/>
            <a:ext cx="2377440" cy="960120"/>
          </a:xfrm>
          <a:prstGeom prst="rect">
            <a:avLst/>
          </a:prstGeom>
          <a:noFill/>
          <a:ln/>
        </p:spPr>
        <p:txBody>
          <a:bodyPr wrap="square" lIns="0" tIns="0" rIns="0" bIns="0" rtlCol="0" anchor="t"/>
          <a:lstStyle/>
          <a:p>
            <a:pPr algn="l" indent="0" marL="0">
              <a:lnSpc>
                <a:spcPct val="100000"/>
              </a:lnSpc>
              <a:buNone/>
            </a:pPr>
            <a:r>
              <a:rPr lang="en-US" sz="1200" dirty="0">
                <a:solidFill>
                  <a:srgbClr val="1B2433"/>
                </a:solidFill>
                <a:latin typeface="Calibri" pitchFamily="34" charset="0"/>
                <a:ea typeface="Calibri" pitchFamily="34" charset="-122"/>
                <a:cs typeface="Calibri" pitchFamily="34" charset="-120"/>
              </a:rPr>
              <a:t>how often xCOMET calls the agreement error "critical" (duplicated word: 52.4%)</a:t>
            </a:r>
            <a:endParaRPr lang="en-US" sz="1200" dirty="0"/>
          </a:p>
        </p:txBody>
      </p:sp>
      <p:sp>
        <p:nvSpPr>
          <p:cNvPr id="24" name="Shape 21"/>
          <p:cNvSpPr/>
          <p:nvPr/>
        </p:nvSpPr>
        <p:spPr>
          <a:xfrm>
            <a:off x="3364992" y="3886200"/>
            <a:ext cx="2651760" cy="1965960"/>
          </a:xfrm>
          <a:prstGeom prst="roundRect">
            <a:avLst>
              <a:gd name="adj" fmla="val 3721"/>
            </a:avLst>
          </a:prstGeom>
          <a:solidFill>
            <a:srgbClr val="F2F4F8"/>
          </a:solidFill>
          <a:ln w="12700">
            <a:solidFill>
              <a:srgbClr val="F2F4F8"/>
            </a:solidFill>
            <a:prstDash val="solid"/>
          </a:ln>
        </p:spPr>
      </p:sp>
      <p:sp>
        <p:nvSpPr>
          <p:cNvPr id="25" name="Text 22"/>
          <p:cNvSpPr/>
          <p:nvPr/>
        </p:nvSpPr>
        <p:spPr>
          <a:xfrm>
            <a:off x="3529584" y="4023360"/>
            <a:ext cx="2377440" cy="731520"/>
          </a:xfrm>
          <a:prstGeom prst="rect">
            <a:avLst/>
          </a:prstGeom>
          <a:noFill/>
          <a:ln/>
        </p:spPr>
        <p:txBody>
          <a:bodyPr wrap="square" lIns="0" tIns="0" rIns="0" bIns="0" rtlCol="0" anchor="ctr"/>
          <a:lstStyle/>
          <a:p>
            <a:pPr algn="l" indent="0" marL="0">
              <a:lnSpc>
                <a:spcPct val="100000"/>
              </a:lnSpc>
              <a:buNone/>
            </a:pPr>
            <a:r>
              <a:rPr lang="en-US" sz="2400" b="1" dirty="0">
                <a:solidFill>
                  <a:srgbClr val="009E73"/>
                </a:solidFill>
                <a:latin typeface="Calibri" pitchFamily="34" charset="0"/>
                <a:ea typeface="Calibri" pitchFamily="34" charset="-122"/>
                <a:cs typeface="Calibri" pitchFamily="34" charset="-120"/>
              </a:rPr>
              <a:t>0.561 → 0.888</a:t>
            </a:r>
            <a:endParaRPr lang="en-US" sz="2400" dirty="0"/>
          </a:p>
        </p:txBody>
      </p:sp>
      <p:sp>
        <p:nvSpPr>
          <p:cNvPr id="26" name="Text 23"/>
          <p:cNvSpPr/>
          <p:nvPr/>
        </p:nvSpPr>
        <p:spPr>
          <a:xfrm>
            <a:off x="3529584" y="4800600"/>
            <a:ext cx="2377440" cy="960120"/>
          </a:xfrm>
          <a:prstGeom prst="rect">
            <a:avLst/>
          </a:prstGeom>
          <a:noFill/>
          <a:ln/>
        </p:spPr>
        <p:txBody>
          <a:bodyPr wrap="square" lIns="0" tIns="0" rIns="0" bIns="0" rtlCol="0" anchor="t"/>
          <a:lstStyle/>
          <a:p>
            <a:pPr algn="l" indent="0" marL="0">
              <a:lnSpc>
                <a:spcPct val="100000"/>
              </a:lnSpc>
              <a:buNone/>
            </a:pPr>
            <a:r>
              <a:rPr lang="en-US" sz="1200" dirty="0">
                <a:solidFill>
                  <a:srgbClr val="1B2433"/>
                </a:solidFill>
                <a:latin typeface="Calibri" pitchFamily="34" charset="0"/>
                <a:ea typeface="Calibri" pitchFamily="34" charset="-122"/>
                <a:cs typeface="Calibri" pitchFamily="34" charset="-120"/>
              </a:rPr>
              <a:t>depth where number vs rationality is settled inside gemma-3-4b-pt</a:t>
            </a:r>
            <a:endParaRPr lang="en-US" sz="1200" dirty="0"/>
          </a:p>
        </p:txBody>
      </p:sp>
      <p:sp>
        <p:nvSpPr>
          <p:cNvPr id="27" name="Shape 24"/>
          <p:cNvSpPr/>
          <p:nvPr/>
        </p:nvSpPr>
        <p:spPr>
          <a:xfrm>
            <a:off x="6181344" y="3886200"/>
            <a:ext cx="2651760" cy="1965960"/>
          </a:xfrm>
          <a:prstGeom prst="roundRect">
            <a:avLst>
              <a:gd name="adj" fmla="val 3721"/>
            </a:avLst>
          </a:prstGeom>
          <a:solidFill>
            <a:srgbClr val="F2F4F8"/>
          </a:solidFill>
          <a:ln w="12700">
            <a:solidFill>
              <a:srgbClr val="F2F4F8"/>
            </a:solidFill>
            <a:prstDash val="solid"/>
          </a:ln>
        </p:spPr>
      </p:sp>
      <p:sp>
        <p:nvSpPr>
          <p:cNvPr id="28" name="Text 25"/>
          <p:cNvSpPr/>
          <p:nvPr/>
        </p:nvSpPr>
        <p:spPr>
          <a:xfrm>
            <a:off x="6345936" y="4023360"/>
            <a:ext cx="2377440" cy="731520"/>
          </a:xfrm>
          <a:prstGeom prst="rect">
            <a:avLst/>
          </a:prstGeom>
          <a:noFill/>
          <a:ln/>
        </p:spPr>
        <p:txBody>
          <a:bodyPr wrap="square" lIns="0" tIns="0" rIns="0" bIns="0" rtlCol="0" anchor="ctr"/>
          <a:lstStyle/>
          <a:p>
            <a:pPr algn="l" indent="0" marL="0">
              <a:lnSpc>
                <a:spcPct val="100000"/>
              </a:lnSpc>
              <a:buNone/>
            </a:pPr>
            <a:r>
              <a:rPr lang="en-US" sz="2400" b="1" dirty="0">
                <a:solidFill>
                  <a:srgbClr val="1F3057"/>
                </a:solidFill>
                <a:latin typeface="Calibri" pitchFamily="34" charset="0"/>
                <a:ea typeface="Calibri" pitchFamily="34" charset="-122"/>
                <a:cs typeface="Calibri" pitchFamily="34" charset="-120"/>
              </a:rPr>
              <a:t>1,141 → 0</a:t>
            </a:r>
            <a:endParaRPr lang="en-US" sz="2400" dirty="0"/>
          </a:p>
        </p:txBody>
      </p:sp>
      <p:sp>
        <p:nvSpPr>
          <p:cNvPr id="29" name="Text 26"/>
          <p:cNvSpPr/>
          <p:nvPr/>
        </p:nvSpPr>
        <p:spPr>
          <a:xfrm>
            <a:off x="6345936" y="4800600"/>
            <a:ext cx="2377440" cy="960120"/>
          </a:xfrm>
          <a:prstGeom prst="rect">
            <a:avLst/>
          </a:prstGeom>
          <a:noFill/>
          <a:ln/>
        </p:spPr>
        <p:txBody>
          <a:bodyPr wrap="square" lIns="0" tIns="0" rIns="0" bIns="0" rtlCol="0" anchor="t"/>
          <a:lstStyle/>
          <a:p>
            <a:pPr algn="l" indent="0" marL="0">
              <a:lnSpc>
                <a:spcPct val="100000"/>
              </a:lnSpc>
              <a:buNone/>
            </a:pPr>
            <a:r>
              <a:rPr lang="en-US" sz="1200" dirty="0">
                <a:solidFill>
                  <a:srgbClr val="1B2433"/>
                </a:solidFill>
                <a:latin typeface="Calibri" pitchFamily="34" charset="0"/>
                <a:ea typeface="Calibri" pitchFamily="34" charset="-122"/>
                <a:cs typeface="Calibri" pitchFamily="34" charset="-120"/>
              </a:rPr>
              <a:t>unanswerable items: first release vs corrected release</a:t>
            </a:r>
            <a:endParaRPr lang="en-US" sz="1200" dirty="0"/>
          </a:p>
        </p:txBody>
      </p:sp>
      <p:sp>
        <p:nvSpPr>
          <p:cNvPr id="30" name="Shape 27"/>
          <p:cNvSpPr/>
          <p:nvPr/>
        </p:nvSpPr>
        <p:spPr>
          <a:xfrm>
            <a:off x="8997696" y="3886200"/>
            <a:ext cx="2651760" cy="1965960"/>
          </a:xfrm>
          <a:prstGeom prst="roundRect">
            <a:avLst>
              <a:gd name="adj" fmla="val 3721"/>
            </a:avLst>
          </a:prstGeom>
          <a:solidFill>
            <a:srgbClr val="F2F4F8"/>
          </a:solidFill>
          <a:ln w="12700">
            <a:solidFill>
              <a:srgbClr val="F2F4F8"/>
            </a:solidFill>
            <a:prstDash val="solid"/>
          </a:ln>
        </p:spPr>
      </p:sp>
      <p:sp>
        <p:nvSpPr>
          <p:cNvPr id="31" name="Text 28"/>
          <p:cNvSpPr/>
          <p:nvPr/>
        </p:nvSpPr>
        <p:spPr>
          <a:xfrm>
            <a:off x="9162288" y="4023360"/>
            <a:ext cx="2377440" cy="731520"/>
          </a:xfrm>
          <a:prstGeom prst="rect">
            <a:avLst/>
          </a:prstGeom>
          <a:noFill/>
          <a:ln/>
        </p:spPr>
        <p:txBody>
          <a:bodyPr wrap="square" lIns="0" tIns="0" rIns="0" bIns="0" rtlCol="0" anchor="ctr"/>
          <a:lstStyle/>
          <a:p>
            <a:pPr algn="l" indent="0" marL="0">
              <a:lnSpc>
                <a:spcPct val="100000"/>
              </a:lnSpc>
              <a:buNone/>
            </a:pPr>
            <a:r>
              <a:rPr lang="en-US" sz="3200" b="1" dirty="0">
                <a:solidFill>
                  <a:srgbClr val="1F3057"/>
                </a:solidFill>
                <a:latin typeface="Calibri" pitchFamily="34" charset="0"/>
                <a:ea typeface="Calibri" pitchFamily="34" charset="-122"/>
                <a:cs typeface="Calibri" pitchFamily="34" charset="-120"/>
              </a:rPr>
              <a:t>13</a:t>
            </a:r>
            <a:endParaRPr lang="en-US" sz="3200" dirty="0"/>
          </a:p>
        </p:txBody>
      </p:sp>
      <p:sp>
        <p:nvSpPr>
          <p:cNvPr id="32" name="Text 29"/>
          <p:cNvSpPr/>
          <p:nvPr/>
        </p:nvSpPr>
        <p:spPr>
          <a:xfrm>
            <a:off x="9162288" y="4800600"/>
            <a:ext cx="2377440" cy="960120"/>
          </a:xfrm>
          <a:prstGeom prst="rect">
            <a:avLst/>
          </a:prstGeom>
          <a:noFill/>
          <a:ln/>
        </p:spPr>
        <p:txBody>
          <a:bodyPr wrap="square" lIns="0" tIns="0" rIns="0" bIns="0" rtlCol="0" anchor="t"/>
          <a:lstStyle/>
          <a:p>
            <a:pPr algn="l" indent="0" marL="0">
              <a:lnSpc>
                <a:spcPct val="100000"/>
              </a:lnSpc>
              <a:buNone/>
            </a:pPr>
            <a:r>
              <a:rPr lang="en-US" sz="1200" dirty="0">
                <a:solidFill>
                  <a:srgbClr val="1B2433"/>
                </a:solidFill>
                <a:latin typeface="Calibri" pitchFamily="34" charset="0"/>
                <a:ea typeface="Calibri" pitchFamily="34" charset="-122"/>
                <a:cs typeface="Calibri" pitchFamily="34" charset="-120"/>
              </a:rPr>
              <a:t>translation systems tested; 2,873 items in the release</a:t>
            </a:r>
            <a:endParaRPr lang="en-US" sz="12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10</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GLOSSARY</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Glossary (1 of 2): every technical word, in one line</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92</a:t>
            </a:r>
            <a:endParaRPr lang="en-US" sz="900" dirty="0"/>
          </a:p>
        </p:txBody>
      </p:sp>
      <p:sp>
        <p:nvSpPr>
          <p:cNvPr id="9" name="Shape 6"/>
          <p:cNvSpPr/>
          <p:nvPr/>
        </p:nvSpPr>
        <p:spPr>
          <a:xfrm>
            <a:off x="548640" y="1691640"/>
            <a:ext cx="5440680" cy="475488"/>
          </a:xfrm>
          <a:prstGeom prst="rect">
            <a:avLst>
              <a:gd name="adj" fmla="val 15385"/>
            </a:avLst>
          </a:prstGeom>
          <a:solidFill>
            <a:srgbClr val="F2F4F8"/>
          </a:solidFill>
          <a:ln w="12700">
            <a:solidFill>
              <a:srgbClr val="F2F4F8"/>
            </a:solidFill>
            <a:prstDash val="solid"/>
          </a:ln>
        </p:spPr>
      </p:sp>
      <p:sp>
        <p:nvSpPr>
          <p:cNvPr id="10" name="Text 7"/>
          <p:cNvSpPr/>
          <p:nvPr/>
        </p:nvSpPr>
        <p:spPr>
          <a:xfrm>
            <a:off x="658368" y="1691640"/>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Agreement</a:t>
            </a:r>
            <a:endParaRPr lang="en-US" sz="1300" dirty="0"/>
          </a:p>
        </p:txBody>
      </p:sp>
      <p:sp>
        <p:nvSpPr>
          <p:cNvPr id="11" name="Text 8"/>
          <p:cNvSpPr/>
          <p:nvPr/>
        </p:nvSpPr>
        <p:spPr>
          <a:xfrm>
            <a:off x="2743200" y="1691640"/>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the verb changes its ending to match its subject</a:t>
            </a:r>
            <a:endParaRPr lang="en-US" sz="1200" dirty="0"/>
          </a:p>
        </p:txBody>
      </p:sp>
      <p:sp>
        <p:nvSpPr>
          <p:cNvPr id="12" name="Shape 9"/>
          <p:cNvSpPr/>
          <p:nvPr/>
        </p:nvSpPr>
        <p:spPr>
          <a:xfrm>
            <a:off x="6172200" y="1691640"/>
            <a:ext cx="5440680" cy="475488"/>
          </a:xfrm>
          <a:prstGeom prst="rect">
            <a:avLst>
              <a:gd name="adj" fmla="val 15385"/>
            </a:avLst>
          </a:prstGeom>
          <a:solidFill>
            <a:srgbClr val="F2F4F8"/>
          </a:solidFill>
          <a:ln w="12700">
            <a:solidFill>
              <a:srgbClr val="F2F4F8"/>
            </a:solidFill>
            <a:prstDash val="solid"/>
          </a:ln>
        </p:spPr>
      </p:sp>
      <p:sp>
        <p:nvSpPr>
          <p:cNvPr id="13" name="Text 10"/>
          <p:cNvSpPr/>
          <p:nvPr/>
        </p:nvSpPr>
        <p:spPr>
          <a:xfrm>
            <a:off x="6281928" y="1691640"/>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Morpheme</a:t>
            </a:r>
            <a:endParaRPr lang="en-US" sz="1300" dirty="0"/>
          </a:p>
        </p:txBody>
      </p:sp>
      <p:sp>
        <p:nvSpPr>
          <p:cNvPr id="14" name="Text 11"/>
          <p:cNvSpPr/>
          <p:nvPr/>
        </p:nvSpPr>
        <p:spPr>
          <a:xfrm>
            <a:off x="8366760" y="1691640"/>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the smallest meaningful part of a word, e.g. a verb ending</a:t>
            </a:r>
            <a:endParaRPr lang="en-US" sz="1200" dirty="0"/>
          </a:p>
        </p:txBody>
      </p:sp>
      <p:sp>
        <p:nvSpPr>
          <p:cNvPr id="15" name="Text 12"/>
          <p:cNvSpPr/>
          <p:nvPr/>
        </p:nvSpPr>
        <p:spPr>
          <a:xfrm>
            <a:off x="658368" y="2203704"/>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Rationality (tiṇai)</a:t>
            </a:r>
            <a:endParaRPr lang="en-US" sz="1300" dirty="0"/>
          </a:p>
        </p:txBody>
      </p:sp>
      <p:sp>
        <p:nvSpPr>
          <p:cNvPr id="16" name="Text 13"/>
          <p:cNvSpPr/>
          <p:nvPr/>
        </p:nvSpPr>
        <p:spPr>
          <a:xfrm>
            <a:off x="2743200" y="2203704"/>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Tamil class: people and gods vs everything else</a:t>
            </a:r>
            <a:endParaRPr lang="en-US" sz="1200" dirty="0"/>
          </a:p>
        </p:txBody>
      </p:sp>
      <p:sp>
        <p:nvSpPr>
          <p:cNvPr id="17" name="Text 14"/>
          <p:cNvSpPr/>
          <p:nvPr/>
        </p:nvSpPr>
        <p:spPr>
          <a:xfrm>
            <a:off x="6281928" y="2203704"/>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Marked / unmarked</a:t>
            </a:r>
            <a:endParaRPr lang="en-US" sz="1300" dirty="0"/>
          </a:p>
        </p:txBody>
      </p:sp>
      <p:sp>
        <p:nvSpPr>
          <p:cNvPr id="18" name="Text 15"/>
          <p:cNvSpPr/>
          <p:nvPr/>
        </p:nvSpPr>
        <p:spPr>
          <a:xfrm>
            <a:off x="8366760" y="2203704"/>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shown / not shown by a word or ending in the sentence</a:t>
            </a:r>
            <a:endParaRPr lang="en-US" sz="1200" dirty="0"/>
          </a:p>
        </p:txBody>
      </p:sp>
      <p:sp>
        <p:nvSpPr>
          <p:cNvPr id="19" name="Shape 16"/>
          <p:cNvSpPr/>
          <p:nvPr/>
        </p:nvSpPr>
        <p:spPr>
          <a:xfrm>
            <a:off x="548640" y="2715768"/>
            <a:ext cx="5440680" cy="475488"/>
          </a:xfrm>
          <a:prstGeom prst="rect">
            <a:avLst>
              <a:gd name="adj" fmla="val 15385"/>
            </a:avLst>
          </a:prstGeom>
          <a:solidFill>
            <a:srgbClr val="F2F4F8"/>
          </a:solidFill>
          <a:ln w="12700">
            <a:solidFill>
              <a:srgbClr val="F2F4F8"/>
            </a:solidFill>
            <a:prstDash val="solid"/>
          </a:ln>
        </p:spPr>
      </p:sp>
      <p:sp>
        <p:nvSpPr>
          <p:cNvPr id="20" name="Text 17"/>
          <p:cNvSpPr/>
          <p:nvPr/>
        </p:nvSpPr>
        <p:spPr>
          <a:xfrm>
            <a:off x="658368" y="2715768"/>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Obligatory slot</a:t>
            </a:r>
            <a:endParaRPr lang="en-US" sz="1300" dirty="0"/>
          </a:p>
        </p:txBody>
      </p:sp>
      <p:sp>
        <p:nvSpPr>
          <p:cNvPr id="21" name="Text 18"/>
          <p:cNvSpPr/>
          <p:nvPr/>
        </p:nvSpPr>
        <p:spPr>
          <a:xfrm>
            <a:off x="2743200" y="2715768"/>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a value the Tamil must show but the English does not give</a:t>
            </a:r>
            <a:endParaRPr lang="en-US" sz="1200" dirty="0"/>
          </a:p>
        </p:txBody>
      </p:sp>
      <p:sp>
        <p:nvSpPr>
          <p:cNvPr id="22" name="Shape 19"/>
          <p:cNvSpPr/>
          <p:nvPr/>
        </p:nvSpPr>
        <p:spPr>
          <a:xfrm>
            <a:off x="6172200" y="2715768"/>
            <a:ext cx="5440680" cy="475488"/>
          </a:xfrm>
          <a:prstGeom prst="rect">
            <a:avLst>
              <a:gd name="adj" fmla="val 15385"/>
            </a:avLst>
          </a:prstGeom>
          <a:solidFill>
            <a:srgbClr val="F2F4F8"/>
          </a:solidFill>
          <a:ln w="12700">
            <a:solidFill>
              <a:srgbClr val="F2F4F8"/>
            </a:solidFill>
            <a:prstDash val="solid"/>
          </a:ln>
        </p:spPr>
      </p:sp>
      <p:sp>
        <p:nvSpPr>
          <p:cNvPr id="23" name="Text 20"/>
          <p:cNvSpPr/>
          <p:nvPr/>
        </p:nvSpPr>
        <p:spPr>
          <a:xfrm>
            <a:off x="6281928" y="2715768"/>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Value</a:t>
            </a:r>
            <a:endParaRPr lang="en-US" sz="1300" dirty="0"/>
          </a:p>
        </p:txBody>
      </p:sp>
      <p:sp>
        <p:nvSpPr>
          <p:cNvPr id="24" name="Text 21"/>
          <p:cNvSpPr/>
          <p:nvPr/>
        </p:nvSpPr>
        <p:spPr>
          <a:xfrm>
            <a:off x="8366760" y="2715768"/>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what fills the slot, e.g. "people" or "not people"</a:t>
            </a:r>
            <a:endParaRPr lang="en-US" sz="1200" dirty="0"/>
          </a:p>
        </p:txBody>
      </p:sp>
      <p:sp>
        <p:nvSpPr>
          <p:cNvPr id="25" name="Text 22"/>
          <p:cNvSpPr/>
          <p:nvPr/>
        </p:nvSpPr>
        <p:spPr>
          <a:xfrm>
            <a:off x="658368" y="3227832"/>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Neutral form (வந்தார்)</a:t>
            </a:r>
            <a:endParaRPr lang="en-US" sz="1300" dirty="0"/>
          </a:p>
        </p:txBody>
      </p:sp>
      <p:sp>
        <p:nvSpPr>
          <p:cNvPr id="26" name="Text 23"/>
          <p:cNvSpPr/>
          <p:nvPr/>
        </p:nvSpPr>
        <p:spPr>
          <a:xfrm>
            <a:off x="2743200" y="3227832"/>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correct Tamil that does not say male or female</a:t>
            </a:r>
            <a:endParaRPr lang="en-US" sz="1200" dirty="0"/>
          </a:p>
        </p:txBody>
      </p:sp>
      <p:sp>
        <p:nvSpPr>
          <p:cNvPr id="27" name="Text 24"/>
          <p:cNvSpPr/>
          <p:nvPr/>
        </p:nvSpPr>
        <p:spPr>
          <a:xfrm>
            <a:off x="6281928" y="3227832"/>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Cue</a:t>
            </a:r>
            <a:endParaRPr lang="en-US" sz="1300" dirty="0"/>
          </a:p>
        </p:txBody>
      </p:sp>
      <p:sp>
        <p:nvSpPr>
          <p:cNvPr id="28" name="Text 25"/>
          <p:cNvSpPr/>
          <p:nvPr/>
        </p:nvSpPr>
        <p:spPr>
          <a:xfrm>
            <a:off x="8366760" y="3227832"/>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a clue in the text that reveals the right value</a:t>
            </a:r>
            <a:endParaRPr lang="en-US" sz="1200" dirty="0"/>
          </a:p>
        </p:txBody>
      </p:sp>
      <p:sp>
        <p:nvSpPr>
          <p:cNvPr id="29" name="Shape 26"/>
          <p:cNvSpPr/>
          <p:nvPr/>
        </p:nvSpPr>
        <p:spPr>
          <a:xfrm>
            <a:off x="548640" y="3739896"/>
            <a:ext cx="5440680" cy="475488"/>
          </a:xfrm>
          <a:prstGeom prst="rect">
            <a:avLst>
              <a:gd name="adj" fmla="val 15385"/>
            </a:avLst>
          </a:prstGeom>
          <a:solidFill>
            <a:srgbClr val="F2F4F8"/>
          </a:solidFill>
          <a:ln w="12700">
            <a:solidFill>
              <a:srgbClr val="F2F4F8"/>
            </a:solidFill>
            <a:prstDash val="solid"/>
          </a:ln>
        </p:spPr>
      </p:sp>
      <p:sp>
        <p:nvSpPr>
          <p:cNvPr id="30" name="Text 27"/>
          <p:cNvSpPr/>
          <p:nvPr/>
        </p:nvSpPr>
        <p:spPr>
          <a:xfrm>
            <a:off x="658368" y="3739896"/>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Item</a:t>
            </a:r>
            <a:endParaRPr lang="en-US" sz="1300" dirty="0"/>
          </a:p>
        </p:txBody>
      </p:sp>
      <p:sp>
        <p:nvSpPr>
          <p:cNvPr id="31" name="Text 28"/>
          <p:cNvSpPr/>
          <p:nvPr/>
        </p:nvSpPr>
        <p:spPr>
          <a:xfrm>
            <a:off x="2743200" y="3739896"/>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one test sentence plus its correct answer</a:t>
            </a:r>
            <a:endParaRPr lang="en-US" sz="1200" dirty="0"/>
          </a:p>
        </p:txBody>
      </p:sp>
      <p:sp>
        <p:nvSpPr>
          <p:cNvPr id="32" name="Shape 29"/>
          <p:cNvSpPr/>
          <p:nvPr/>
        </p:nvSpPr>
        <p:spPr>
          <a:xfrm>
            <a:off x="6172200" y="3739896"/>
            <a:ext cx="5440680" cy="475488"/>
          </a:xfrm>
          <a:prstGeom prst="rect">
            <a:avLst>
              <a:gd name="adj" fmla="val 15385"/>
            </a:avLst>
          </a:prstGeom>
          <a:solidFill>
            <a:srgbClr val="F2F4F8"/>
          </a:solidFill>
          <a:ln w="12700">
            <a:solidFill>
              <a:srgbClr val="F2F4F8"/>
            </a:solidFill>
            <a:prstDash val="solid"/>
          </a:ln>
        </p:spPr>
      </p:sp>
      <p:sp>
        <p:nvSpPr>
          <p:cNvPr id="33" name="Text 30"/>
          <p:cNvSpPr/>
          <p:nvPr/>
        </p:nvSpPr>
        <p:spPr>
          <a:xfrm>
            <a:off x="6281928" y="3739896"/>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Gold</a:t>
            </a:r>
            <a:endParaRPr lang="en-US" sz="1300" dirty="0"/>
          </a:p>
        </p:txBody>
      </p:sp>
      <p:sp>
        <p:nvSpPr>
          <p:cNvPr id="34" name="Text 31"/>
          <p:cNvSpPr/>
          <p:nvPr/>
        </p:nvSpPr>
        <p:spPr>
          <a:xfrm>
            <a:off x="8366760" y="3739896"/>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the correct answer for an item</a:t>
            </a:r>
            <a:endParaRPr lang="en-US" sz="1200" dirty="0"/>
          </a:p>
        </p:txBody>
      </p:sp>
      <p:sp>
        <p:nvSpPr>
          <p:cNvPr id="35" name="Text 32"/>
          <p:cNvSpPr/>
          <p:nvPr/>
        </p:nvSpPr>
        <p:spPr>
          <a:xfrm>
            <a:off x="658368" y="4251960"/>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Template</a:t>
            </a:r>
            <a:endParaRPr lang="en-US" sz="1300" dirty="0"/>
          </a:p>
        </p:txBody>
      </p:sp>
      <p:sp>
        <p:nvSpPr>
          <p:cNvPr id="36" name="Text 33"/>
          <p:cNvSpPr/>
          <p:nvPr/>
        </p:nvSpPr>
        <p:spPr>
          <a:xfrm>
            <a:off x="2743200" y="4251960"/>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a sentence pattern that items are generated from</a:t>
            </a:r>
            <a:endParaRPr lang="en-US" sz="1200" dirty="0"/>
          </a:p>
        </p:txBody>
      </p:sp>
      <p:sp>
        <p:nvSpPr>
          <p:cNvPr id="37" name="Text 34"/>
          <p:cNvSpPr/>
          <p:nvPr/>
        </p:nvSpPr>
        <p:spPr>
          <a:xfrm>
            <a:off x="6281928" y="4251960"/>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Control</a:t>
            </a:r>
            <a:endParaRPr lang="en-US" sz="1300" dirty="0"/>
          </a:p>
        </p:txBody>
      </p:sp>
      <p:sp>
        <p:nvSpPr>
          <p:cNvPr id="38" name="Text 35"/>
          <p:cNvSpPr/>
          <p:nvPr/>
        </p:nvSpPr>
        <p:spPr>
          <a:xfrm>
            <a:off x="8366760" y="4251960"/>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a part of the test where the expected result is already known</a:t>
            </a:r>
            <a:endParaRPr lang="en-US" sz="1200" dirty="0"/>
          </a:p>
        </p:txBody>
      </p:sp>
      <p:sp>
        <p:nvSpPr>
          <p:cNvPr id="39" name="Shape 36"/>
          <p:cNvSpPr/>
          <p:nvPr/>
        </p:nvSpPr>
        <p:spPr>
          <a:xfrm>
            <a:off x="548640" y="4764024"/>
            <a:ext cx="5440680" cy="475488"/>
          </a:xfrm>
          <a:prstGeom prst="rect">
            <a:avLst>
              <a:gd name="adj" fmla="val 15385"/>
            </a:avLst>
          </a:prstGeom>
          <a:solidFill>
            <a:srgbClr val="F2F4F8"/>
          </a:solidFill>
          <a:ln w="12700">
            <a:solidFill>
              <a:srgbClr val="F2F4F8"/>
            </a:solidFill>
            <a:prstDash val="solid"/>
          </a:ln>
        </p:spPr>
      </p:sp>
      <p:sp>
        <p:nvSpPr>
          <p:cNvPr id="40" name="Text 37"/>
          <p:cNvSpPr/>
          <p:nvPr/>
        </p:nvSpPr>
        <p:spPr>
          <a:xfrm>
            <a:off x="658368" y="4764024"/>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Commitment</a:t>
            </a:r>
            <a:endParaRPr lang="en-US" sz="1300" dirty="0"/>
          </a:p>
        </p:txBody>
      </p:sp>
      <p:sp>
        <p:nvSpPr>
          <p:cNvPr id="41" name="Text 38"/>
          <p:cNvSpPr/>
          <p:nvPr/>
        </p:nvSpPr>
        <p:spPr>
          <a:xfrm>
            <a:off x="2743200" y="4764024"/>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share of items where the system chose a value</a:t>
            </a:r>
            <a:endParaRPr lang="en-US" sz="1200" dirty="0"/>
          </a:p>
        </p:txBody>
      </p:sp>
      <p:sp>
        <p:nvSpPr>
          <p:cNvPr id="42" name="Shape 39"/>
          <p:cNvSpPr/>
          <p:nvPr/>
        </p:nvSpPr>
        <p:spPr>
          <a:xfrm>
            <a:off x="6172200" y="4764024"/>
            <a:ext cx="5440680" cy="475488"/>
          </a:xfrm>
          <a:prstGeom prst="rect">
            <a:avLst>
              <a:gd name="adj" fmla="val 15385"/>
            </a:avLst>
          </a:prstGeom>
          <a:solidFill>
            <a:srgbClr val="F2F4F8"/>
          </a:solidFill>
          <a:ln w="12700">
            <a:solidFill>
              <a:srgbClr val="F2F4F8"/>
            </a:solidFill>
            <a:prstDash val="solid"/>
          </a:ln>
        </p:spPr>
      </p:sp>
      <p:sp>
        <p:nvSpPr>
          <p:cNvPr id="43" name="Text 40"/>
          <p:cNvSpPr/>
          <p:nvPr/>
        </p:nvSpPr>
        <p:spPr>
          <a:xfrm>
            <a:off x="6281928" y="4764024"/>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Accuracy</a:t>
            </a:r>
            <a:endParaRPr lang="en-US" sz="1300" dirty="0"/>
          </a:p>
        </p:txBody>
      </p:sp>
      <p:sp>
        <p:nvSpPr>
          <p:cNvPr id="44" name="Text 41"/>
          <p:cNvSpPr/>
          <p:nvPr/>
        </p:nvSpPr>
        <p:spPr>
          <a:xfrm>
            <a:off x="8366760" y="4764024"/>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among committed items, the share that were right</a:t>
            </a:r>
            <a:endParaRPr lang="en-US" sz="1200" dirty="0"/>
          </a:p>
        </p:txBody>
      </p:sp>
      <p:sp>
        <p:nvSpPr>
          <p:cNvPr id="45" name="Text 42"/>
          <p:cNvSpPr/>
          <p:nvPr/>
        </p:nvSpPr>
        <p:spPr>
          <a:xfrm>
            <a:off x="658368" y="5276088"/>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AVOIDANT</a:t>
            </a:r>
            <a:endParaRPr lang="en-US" sz="1300" dirty="0"/>
          </a:p>
        </p:txBody>
      </p:sp>
      <p:sp>
        <p:nvSpPr>
          <p:cNvPr id="46" name="Text 43"/>
          <p:cNvSpPr/>
          <p:nvPr/>
        </p:nvSpPr>
        <p:spPr>
          <a:xfrm>
            <a:off x="2743200" y="5276088"/>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the output chose no value (neutral form, dropped verb, negation)</a:t>
            </a:r>
            <a:endParaRPr lang="en-US" sz="1200" dirty="0"/>
          </a:p>
        </p:txBody>
      </p:sp>
      <p:sp>
        <p:nvSpPr>
          <p:cNvPr id="47" name="Text 44"/>
          <p:cNvSpPr/>
          <p:nvPr/>
        </p:nvSpPr>
        <p:spPr>
          <a:xfrm>
            <a:off x="6281928" y="5276088"/>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UNPARSED</a:t>
            </a:r>
            <a:endParaRPr lang="en-US" sz="1300" dirty="0"/>
          </a:p>
        </p:txBody>
      </p:sp>
      <p:sp>
        <p:nvSpPr>
          <p:cNvPr id="48" name="Text 45"/>
          <p:cNvSpPr/>
          <p:nvPr/>
        </p:nvSpPr>
        <p:spPr>
          <a:xfrm>
            <a:off x="8366760" y="5276088"/>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the analyser could not read the output</a:t>
            </a:r>
            <a:endParaRPr lang="en-US" sz="1200" dirty="0"/>
          </a:p>
        </p:txBody>
      </p:sp>
      <p:sp>
        <p:nvSpPr>
          <p:cNvPr id="49" name="Shape 46"/>
          <p:cNvSpPr/>
          <p:nvPr/>
        </p:nvSpPr>
        <p:spPr>
          <a:xfrm>
            <a:off x="548640" y="5788152"/>
            <a:ext cx="5440680" cy="475488"/>
          </a:xfrm>
          <a:prstGeom prst="rect">
            <a:avLst>
              <a:gd name="adj" fmla="val 15385"/>
            </a:avLst>
          </a:prstGeom>
          <a:solidFill>
            <a:srgbClr val="F2F4F8"/>
          </a:solidFill>
          <a:ln w="12700">
            <a:solidFill>
              <a:srgbClr val="F2F4F8"/>
            </a:solidFill>
            <a:prstDash val="solid"/>
          </a:ln>
        </p:spPr>
      </p:sp>
      <p:sp>
        <p:nvSpPr>
          <p:cNvPr id="50" name="Text 47"/>
          <p:cNvSpPr/>
          <p:nvPr/>
        </p:nvSpPr>
        <p:spPr>
          <a:xfrm>
            <a:off x="658368" y="5788152"/>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UNDECIDABLE</a:t>
            </a:r>
            <a:endParaRPr lang="en-US" sz="1300" dirty="0"/>
          </a:p>
        </p:txBody>
      </p:sp>
      <p:sp>
        <p:nvSpPr>
          <p:cNvPr id="51" name="Text 48"/>
          <p:cNvSpPr/>
          <p:nvPr/>
        </p:nvSpPr>
        <p:spPr>
          <a:xfrm>
            <a:off x="2743200" y="5788152"/>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the form stays ambiguous even with context</a:t>
            </a:r>
            <a:endParaRPr lang="en-US" sz="1200" dirty="0"/>
          </a:p>
        </p:txBody>
      </p:sp>
      <p:sp>
        <p:nvSpPr>
          <p:cNvPr id="52" name="Shape 49"/>
          <p:cNvSpPr/>
          <p:nvPr/>
        </p:nvSpPr>
        <p:spPr>
          <a:xfrm>
            <a:off x="6172200" y="5788152"/>
            <a:ext cx="5440680" cy="475488"/>
          </a:xfrm>
          <a:prstGeom prst="rect">
            <a:avLst>
              <a:gd name="adj" fmla="val 15385"/>
            </a:avLst>
          </a:prstGeom>
          <a:solidFill>
            <a:srgbClr val="F2F4F8"/>
          </a:solidFill>
          <a:ln w="12700">
            <a:solidFill>
              <a:srgbClr val="F2F4F8"/>
            </a:solidFill>
            <a:prstDash val="solid"/>
          </a:ln>
        </p:spPr>
      </p:sp>
      <p:sp>
        <p:nvSpPr>
          <p:cNvPr id="53" name="Text 50"/>
          <p:cNvSpPr/>
          <p:nvPr/>
        </p:nvSpPr>
        <p:spPr>
          <a:xfrm>
            <a:off x="6281928" y="5788152"/>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FST analyser</a:t>
            </a:r>
            <a:endParaRPr lang="en-US" sz="1300" dirty="0"/>
          </a:p>
        </p:txBody>
      </p:sp>
      <p:sp>
        <p:nvSpPr>
          <p:cNvPr id="54" name="Text 51"/>
          <p:cNvSpPr/>
          <p:nvPr/>
        </p:nvSpPr>
        <p:spPr>
          <a:xfrm>
            <a:off x="8366760" y="5788152"/>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rule-based program that reads Tamil word forms</a:t>
            </a:r>
            <a:endParaRPr lang="en-US" sz="12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10</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GLOSSARY</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Glossary (2 of 2): every technical word, in one line</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93</a:t>
            </a:r>
            <a:endParaRPr lang="en-US" sz="900" dirty="0"/>
          </a:p>
        </p:txBody>
      </p:sp>
      <p:sp>
        <p:nvSpPr>
          <p:cNvPr id="9" name="Shape 6"/>
          <p:cNvSpPr/>
          <p:nvPr/>
        </p:nvSpPr>
        <p:spPr>
          <a:xfrm>
            <a:off x="548640" y="1691640"/>
            <a:ext cx="5440680" cy="475488"/>
          </a:xfrm>
          <a:prstGeom prst="rect">
            <a:avLst>
              <a:gd name="adj" fmla="val 15385"/>
            </a:avLst>
          </a:prstGeom>
          <a:solidFill>
            <a:srgbClr val="F2F4F8"/>
          </a:solidFill>
          <a:ln w="12700">
            <a:solidFill>
              <a:srgbClr val="F2F4F8"/>
            </a:solidFill>
            <a:prstDash val="solid"/>
          </a:ln>
        </p:spPr>
      </p:sp>
      <p:sp>
        <p:nvSpPr>
          <p:cNvPr id="10" name="Text 7"/>
          <p:cNvSpPr/>
          <p:nvPr/>
        </p:nvSpPr>
        <p:spPr>
          <a:xfrm>
            <a:off x="658368" y="1691640"/>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Language model (LLM)</a:t>
            </a:r>
            <a:endParaRPr lang="en-US" sz="1300" dirty="0"/>
          </a:p>
        </p:txBody>
      </p:sp>
      <p:sp>
        <p:nvSpPr>
          <p:cNvPr id="11" name="Text 8"/>
          <p:cNvSpPr/>
          <p:nvPr/>
        </p:nvSpPr>
        <p:spPr>
          <a:xfrm>
            <a:off x="2743200" y="1691640"/>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large neural network that continues text; translates when asked</a:t>
            </a:r>
            <a:endParaRPr lang="en-US" sz="1200" dirty="0"/>
          </a:p>
        </p:txBody>
      </p:sp>
      <p:sp>
        <p:nvSpPr>
          <p:cNvPr id="12" name="Shape 9"/>
          <p:cNvSpPr/>
          <p:nvPr/>
        </p:nvSpPr>
        <p:spPr>
          <a:xfrm>
            <a:off x="6172200" y="1691640"/>
            <a:ext cx="5440680" cy="475488"/>
          </a:xfrm>
          <a:prstGeom prst="rect">
            <a:avLst>
              <a:gd name="adj" fmla="val 15385"/>
            </a:avLst>
          </a:prstGeom>
          <a:solidFill>
            <a:srgbClr val="F2F4F8"/>
          </a:solidFill>
          <a:ln w="12700">
            <a:solidFill>
              <a:srgbClr val="F2F4F8"/>
            </a:solidFill>
            <a:prstDash val="solid"/>
          </a:ln>
        </p:spPr>
      </p:sp>
      <p:sp>
        <p:nvSpPr>
          <p:cNvPr id="13" name="Text 10"/>
          <p:cNvSpPr/>
          <p:nvPr/>
        </p:nvSpPr>
        <p:spPr>
          <a:xfrm>
            <a:off x="6281928" y="1691640"/>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Prompt</a:t>
            </a:r>
            <a:endParaRPr lang="en-US" sz="1300" dirty="0"/>
          </a:p>
        </p:txBody>
      </p:sp>
      <p:sp>
        <p:nvSpPr>
          <p:cNvPr id="14" name="Text 11"/>
          <p:cNvSpPr/>
          <p:nvPr/>
        </p:nvSpPr>
        <p:spPr>
          <a:xfrm>
            <a:off x="8366760" y="1691640"/>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the instruction given to a language model</a:t>
            </a:r>
            <a:endParaRPr lang="en-US" sz="1200" dirty="0"/>
          </a:p>
        </p:txBody>
      </p:sp>
      <p:sp>
        <p:nvSpPr>
          <p:cNvPr id="15" name="Text 12"/>
          <p:cNvSpPr/>
          <p:nvPr/>
        </p:nvSpPr>
        <p:spPr>
          <a:xfrm>
            <a:off x="658368" y="2203704"/>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Parameters (4B …)</a:t>
            </a:r>
            <a:endParaRPr lang="en-US" sz="1300" dirty="0"/>
          </a:p>
        </p:txBody>
      </p:sp>
      <p:sp>
        <p:nvSpPr>
          <p:cNvPr id="16" name="Text 13"/>
          <p:cNvSpPr/>
          <p:nvPr/>
        </p:nvSpPr>
        <p:spPr>
          <a:xfrm>
            <a:off x="2743200" y="2203704"/>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learned numbers inside a model; 4B ≈ 4 billion</a:t>
            </a:r>
            <a:endParaRPr lang="en-US" sz="1200" dirty="0"/>
          </a:p>
        </p:txBody>
      </p:sp>
      <p:sp>
        <p:nvSpPr>
          <p:cNvPr id="17" name="Text 14"/>
          <p:cNvSpPr/>
          <p:nvPr/>
        </p:nvSpPr>
        <p:spPr>
          <a:xfrm>
            <a:off x="6281928" y="2203704"/>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Fine-tuning</a:t>
            </a:r>
            <a:endParaRPr lang="en-US" sz="1300" dirty="0"/>
          </a:p>
        </p:txBody>
      </p:sp>
      <p:sp>
        <p:nvSpPr>
          <p:cNvPr id="18" name="Text 15"/>
          <p:cNvSpPr/>
          <p:nvPr/>
        </p:nvSpPr>
        <p:spPr>
          <a:xfrm>
            <a:off x="8366760" y="2203704"/>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extra training on one narrow task</a:t>
            </a:r>
            <a:endParaRPr lang="en-US" sz="1200" dirty="0"/>
          </a:p>
        </p:txBody>
      </p:sp>
      <p:sp>
        <p:nvSpPr>
          <p:cNvPr id="19" name="Shape 16"/>
          <p:cNvSpPr/>
          <p:nvPr/>
        </p:nvSpPr>
        <p:spPr>
          <a:xfrm>
            <a:off x="548640" y="2715768"/>
            <a:ext cx="5440680" cy="475488"/>
          </a:xfrm>
          <a:prstGeom prst="rect">
            <a:avLst>
              <a:gd name="adj" fmla="val 15385"/>
            </a:avLst>
          </a:prstGeom>
          <a:solidFill>
            <a:srgbClr val="F2F4F8"/>
          </a:solidFill>
          <a:ln w="12700">
            <a:solidFill>
              <a:srgbClr val="F2F4F8"/>
            </a:solidFill>
            <a:prstDash val="solid"/>
          </a:ln>
        </p:spPr>
      </p:sp>
      <p:sp>
        <p:nvSpPr>
          <p:cNvPr id="20" name="Text 17"/>
          <p:cNvSpPr/>
          <p:nvPr/>
        </p:nvSpPr>
        <p:spPr>
          <a:xfrm>
            <a:off x="658368" y="2715768"/>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Dedicated MT system</a:t>
            </a:r>
            <a:endParaRPr lang="en-US" sz="1300" dirty="0"/>
          </a:p>
        </p:txBody>
      </p:sp>
      <p:sp>
        <p:nvSpPr>
          <p:cNvPr id="21" name="Text 18"/>
          <p:cNvSpPr/>
          <p:nvPr/>
        </p:nvSpPr>
        <p:spPr>
          <a:xfrm>
            <a:off x="2743200" y="2715768"/>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a network built only to translate; needs no prompt</a:t>
            </a:r>
            <a:endParaRPr lang="en-US" sz="1200" dirty="0"/>
          </a:p>
        </p:txBody>
      </p:sp>
      <p:sp>
        <p:nvSpPr>
          <p:cNvPr id="22" name="Shape 19"/>
          <p:cNvSpPr/>
          <p:nvPr/>
        </p:nvSpPr>
        <p:spPr>
          <a:xfrm>
            <a:off x="6172200" y="2715768"/>
            <a:ext cx="5440680" cy="475488"/>
          </a:xfrm>
          <a:prstGeom prst="rect">
            <a:avLst>
              <a:gd name="adj" fmla="val 15385"/>
            </a:avLst>
          </a:prstGeom>
          <a:solidFill>
            <a:srgbClr val="F2F4F8"/>
          </a:solidFill>
          <a:ln w="12700">
            <a:solidFill>
              <a:srgbClr val="F2F4F8"/>
            </a:solidFill>
            <a:prstDash val="solid"/>
          </a:ln>
        </p:spPr>
      </p:sp>
      <p:sp>
        <p:nvSpPr>
          <p:cNvPr id="23" name="Text 20"/>
          <p:cNvSpPr/>
          <p:nvPr/>
        </p:nvSpPr>
        <p:spPr>
          <a:xfrm>
            <a:off x="6281928" y="2715768"/>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Neural</a:t>
            </a:r>
            <a:endParaRPr lang="en-US" sz="1300" dirty="0"/>
          </a:p>
        </p:txBody>
      </p:sp>
      <p:sp>
        <p:nvSpPr>
          <p:cNvPr id="24" name="Text 21"/>
          <p:cNvSpPr/>
          <p:nvPr/>
        </p:nvSpPr>
        <p:spPr>
          <a:xfrm>
            <a:off x="8366760" y="2715768"/>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built from a trained neural network, not hand-written rules</a:t>
            </a:r>
            <a:endParaRPr lang="en-US" sz="1200" dirty="0"/>
          </a:p>
        </p:txBody>
      </p:sp>
      <p:sp>
        <p:nvSpPr>
          <p:cNvPr id="25" name="Text 22"/>
          <p:cNvSpPr/>
          <p:nvPr/>
        </p:nvSpPr>
        <p:spPr>
          <a:xfrm>
            <a:off x="658368" y="3227832"/>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Reference-based metric</a:t>
            </a:r>
            <a:endParaRPr lang="en-US" sz="1300" dirty="0"/>
          </a:p>
        </p:txBody>
      </p:sp>
      <p:sp>
        <p:nvSpPr>
          <p:cNvPr id="26" name="Text 23"/>
          <p:cNvSpPr/>
          <p:nvPr/>
        </p:nvSpPr>
        <p:spPr>
          <a:xfrm>
            <a:off x="2743200" y="3227832"/>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scores a translation against a human reference</a:t>
            </a:r>
            <a:endParaRPr lang="en-US" sz="1200" dirty="0"/>
          </a:p>
        </p:txBody>
      </p:sp>
      <p:sp>
        <p:nvSpPr>
          <p:cNvPr id="27" name="Text 24"/>
          <p:cNvSpPr/>
          <p:nvPr/>
        </p:nvSpPr>
        <p:spPr>
          <a:xfrm>
            <a:off x="6281928" y="3227832"/>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Reference-free (QE)</a:t>
            </a:r>
            <a:endParaRPr lang="en-US" sz="1300" dirty="0"/>
          </a:p>
        </p:txBody>
      </p:sp>
      <p:sp>
        <p:nvSpPr>
          <p:cNvPr id="28" name="Text 25"/>
          <p:cNvSpPr/>
          <p:nvPr/>
        </p:nvSpPr>
        <p:spPr>
          <a:xfrm>
            <a:off x="8366760" y="3227832"/>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scores using only the source and the output</a:t>
            </a:r>
            <a:endParaRPr lang="en-US" sz="1200" dirty="0"/>
          </a:p>
        </p:txBody>
      </p:sp>
      <p:sp>
        <p:nvSpPr>
          <p:cNvPr id="29" name="Shape 26"/>
          <p:cNvSpPr/>
          <p:nvPr/>
        </p:nvSpPr>
        <p:spPr>
          <a:xfrm>
            <a:off x="548640" y="3739896"/>
            <a:ext cx="5440680" cy="475488"/>
          </a:xfrm>
          <a:prstGeom prst="rect">
            <a:avLst>
              <a:gd name="adj" fmla="val 15385"/>
            </a:avLst>
          </a:prstGeom>
          <a:solidFill>
            <a:srgbClr val="F2F4F8"/>
          </a:solidFill>
          <a:ln w="12700">
            <a:solidFill>
              <a:srgbClr val="F2F4F8"/>
            </a:solidFill>
            <a:prstDash val="solid"/>
          </a:ln>
        </p:spPr>
      </p:sp>
      <p:sp>
        <p:nvSpPr>
          <p:cNvPr id="30" name="Text 27"/>
          <p:cNvSpPr/>
          <p:nvPr/>
        </p:nvSpPr>
        <p:spPr>
          <a:xfrm>
            <a:off x="658368" y="3739896"/>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Arm</a:t>
            </a:r>
            <a:endParaRPr lang="en-US" sz="1300" dirty="0"/>
          </a:p>
        </p:txBody>
      </p:sp>
      <p:sp>
        <p:nvSpPr>
          <p:cNvPr id="31" name="Text 28"/>
          <p:cNvSpPr/>
          <p:nvPr/>
        </p:nvSpPr>
        <p:spPr>
          <a:xfrm>
            <a:off x="2743200" y="3739896"/>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one kind of evidence: controlled, natural or avoidance</a:t>
            </a:r>
            <a:endParaRPr lang="en-US" sz="1200" dirty="0"/>
          </a:p>
        </p:txBody>
      </p:sp>
      <p:sp>
        <p:nvSpPr>
          <p:cNvPr id="32" name="Shape 29"/>
          <p:cNvSpPr/>
          <p:nvPr/>
        </p:nvSpPr>
        <p:spPr>
          <a:xfrm>
            <a:off x="6172200" y="3739896"/>
            <a:ext cx="5440680" cy="475488"/>
          </a:xfrm>
          <a:prstGeom prst="rect">
            <a:avLst>
              <a:gd name="adj" fmla="val 15385"/>
            </a:avLst>
          </a:prstGeom>
          <a:solidFill>
            <a:srgbClr val="F2F4F8"/>
          </a:solidFill>
          <a:ln w="12700">
            <a:solidFill>
              <a:srgbClr val="F2F4F8"/>
            </a:solidFill>
            <a:prstDash val="solid"/>
          </a:ln>
        </p:spPr>
      </p:sp>
      <p:sp>
        <p:nvSpPr>
          <p:cNvPr id="33" name="Text 30"/>
          <p:cNvSpPr/>
          <p:nvPr/>
        </p:nvSpPr>
        <p:spPr>
          <a:xfrm>
            <a:off x="6281928" y="3739896"/>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Win rate</a:t>
            </a:r>
            <a:endParaRPr lang="en-US" sz="1300" dirty="0"/>
          </a:p>
        </p:txBody>
      </p:sp>
      <p:sp>
        <p:nvSpPr>
          <p:cNvPr id="34" name="Text 31"/>
          <p:cNvSpPr/>
          <p:nvPr/>
        </p:nvSpPr>
        <p:spPr>
          <a:xfrm>
            <a:off x="8366760" y="3739896"/>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share of pairs where the correct version scores higher</a:t>
            </a:r>
            <a:endParaRPr lang="en-US" sz="1200" dirty="0"/>
          </a:p>
        </p:txBody>
      </p:sp>
      <p:sp>
        <p:nvSpPr>
          <p:cNvPr id="35" name="Text 32"/>
          <p:cNvSpPr/>
          <p:nvPr/>
        </p:nvSpPr>
        <p:spPr>
          <a:xfrm>
            <a:off x="658368" y="4251960"/>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75%-agreement threshold</a:t>
            </a:r>
            <a:endParaRPr lang="en-US" sz="1300" dirty="0"/>
          </a:p>
        </p:txBody>
      </p:sp>
      <p:sp>
        <p:nvSpPr>
          <p:cNvPr id="36" name="Text 33"/>
          <p:cNvSpPr/>
          <p:nvPr/>
        </p:nvSpPr>
        <p:spPr>
          <a:xfrm>
            <a:off x="2743200" y="4251960"/>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score gap at which humans agree with the metric 3 times in 4</a:t>
            </a:r>
            <a:endParaRPr lang="en-US" sz="1200" dirty="0"/>
          </a:p>
        </p:txBody>
      </p:sp>
      <p:sp>
        <p:nvSpPr>
          <p:cNvPr id="37" name="Text 34"/>
          <p:cNvSpPr/>
          <p:nvPr/>
        </p:nvSpPr>
        <p:spPr>
          <a:xfrm>
            <a:off x="6281928" y="4251960"/>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Confidence interval</a:t>
            </a:r>
            <a:endParaRPr lang="en-US" sz="1300" dirty="0"/>
          </a:p>
        </p:txBody>
      </p:sp>
      <p:sp>
        <p:nvSpPr>
          <p:cNvPr id="38" name="Text 35"/>
          <p:cNvSpPr/>
          <p:nvPr/>
        </p:nvSpPr>
        <p:spPr>
          <a:xfrm>
            <a:off x="8366760" y="4251960"/>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the range where the true value plausibly lies</a:t>
            </a:r>
            <a:endParaRPr lang="en-US" sz="1200" dirty="0"/>
          </a:p>
        </p:txBody>
      </p:sp>
      <p:sp>
        <p:nvSpPr>
          <p:cNvPr id="39" name="Shape 36"/>
          <p:cNvSpPr/>
          <p:nvPr/>
        </p:nvSpPr>
        <p:spPr>
          <a:xfrm>
            <a:off x="548640" y="4764024"/>
            <a:ext cx="5440680" cy="475488"/>
          </a:xfrm>
          <a:prstGeom prst="rect">
            <a:avLst>
              <a:gd name="adj" fmla="val 15385"/>
            </a:avLst>
          </a:prstGeom>
          <a:solidFill>
            <a:srgbClr val="F2F4F8"/>
          </a:solidFill>
          <a:ln w="12700">
            <a:solidFill>
              <a:srgbClr val="F2F4F8"/>
            </a:solidFill>
            <a:prstDash val="solid"/>
          </a:ln>
        </p:spPr>
      </p:sp>
      <p:sp>
        <p:nvSpPr>
          <p:cNvPr id="40" name="Text 37"/>
          <p:cNvSpPr/>
          <p:nvPr/>
        </p:nvSpPr>
        <p:spPr>
          <a:xfrm>
            <a:off x="658368" y="4764024"/>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Bootstrap</a:t>
            </a:r>
            <a:endParaRPr lang="en-US" sz="1300" dirty="0"/>
          </a:p>
        </p:txBody>
      </p:sp>
      <p:sp>
        <p:nvSpPr>
          <p:cNvPr id="41" name="Text 38"/>
          <p:cNvSpPr/>
          <p:nvPr/>
        </p:nvSpPr>
        <p:spPr>
          <a:xfrm>
            <a:off x="2743200" y="4764024"/>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re-drawing the data at random many times to measure uncertainty</a:t>
            </a:r>
            <a:endParaRPr lang="en-US" sz="1200" dirty="0"/>
          </a:p>
        </p:txBody>
      </p:sp>
      <p:sp>
        <p:nvSpPr>
          <p:cNvPr id="42" name="Shape 39"/>
          <p:cNvSpPr/>
          <p:nvPr/>
        </p:nvSpPr>
        <p:spPr>
          <a:xfrm>
            <a:off x="6172200" y="4764024"/>
            <a:ext cx="5440680" cy="475488"/>
          </a:xfrm>
          <a:prstGeom prst="rect">
            <a:avLst>
              <a:gd name="adj" fmla="val 15385"/>
            </a:avLst>
          </a:prstGeom>
          <a:solidFill>
            <a:srgbClr val="F2F4F8"/>
          </a:solidFill>
          <a:ln w="12700">
            <a:solidFill>
              <a:srgbClr val="F2F4F8"/>
            </a:solidFill>
            <a:prstDash val="solid"/>
          </a:ln>
        </p:spPr>
      </p:sp>
      <p:sp>
        <p:nvSpPr>
          <p:cNvPr id="43" name="Text 40"/>
          <p:cNvSpPr/>
          <p:nvPr/>
        </p:nvSpPr>
        <p:spPr>
          <a:xfrm>
            <a:off x="6281928" y="4764024"/>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De-confounding</a:t>
            </a:r>
            <a:endParaRPr lang="en-US" sz="1300" dirty="0"/>
          </a:p>
        </p:txBody>
      </p:sp>
      <p:sp>
        <p:nvSpPr>
          <p:cNvPr id="44" name="Text 41"/>
          <p:cNvSpPr/>
          <p:nvPr/>
        </p:nvSpPr>
        <p:spPr>
          <a:xfrm>
            <a:off x="8366760" y="4764024"/>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removing the metrics' preference for unedited text</a:t>
            </a:r>
            <a:endParaRPr lang="en-US" sz="1200" dirty="0"/>
          </a:p>
        </p:txBody>
      </p:sp>
      <p:sp>
        <p:nvSpPr>
          <p:cNvPr id="45" name="Text 42"/>
          <p:cNvSpPr/>
          <p:nvPr/>
        </p:nvSpPr>
        <p:spPr>
          <a:xfrm>
            <a:off x="658368" y="5276088"/>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Pre-registration</a:t>
            </a:r>
            <a:endParaRPr lang="en-US" sz="1300" dirty="0"/>
          </a:p>
        </p:txBody>
      </p:sp>
      <p:sp>
        <p:nvSpPr>
          <p:cNvPr id="46" name="Text 43"/>
          <p:cNvSpPr/>
          <p:nvPr/>
        </p:nvSpPr>
        <p:spPr>
          <a:xfrm>
            <a:off x="2743200" y="5276088"/>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freezing the prediction before seeing the results</a:t>
            </a:r>
            <a:endParaRPr lang="en-US" sz="1200" dirty="0"/>
          </a:p>
        </p:txBody>
      </p:sp>
      <p:sp>
        <p:nvSpPr>
          <p:cNvPr id="47" name="Text 44"/>
          <p:cNvSpPr/>
          <p:nvPr/>
        </p:nvSpPr>
        <p:spPr>
          <a:xfrm>
            <a:off x="6281928" y="5276088"/>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Corpus prior</a:t>
            </a:r>
            <a:endParaRPr lang="en-US" sz="1300" dirty="0"/>
          </a:p>
        </p:txBody>
      </p:sp>
      <p:sp>
        <p:nvSpPr>
          <p:cNvPr id="48" name="Text 45"/>
          <p:cNvSpPr/>
          <p:nvPr/>
        </p:nvSpPr>
        <p:spPr>
          <a:xfrm>
            <a:off x="8366760" y="5276088"/>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how often a value appears in ordinary Tamil text</a:t>
            </a:r>
            <a:endParaRPr lang="en-US" sz="1200" dirty="0"/>
          </a:p>
        </p:txBody>
      </p:sp>
      <p:sp>
        <p:nvSpPr>
          <p:cNvPr id="49" name="Shape 46"/>
          <p:cNvSpPr/>
          <p:nvPr/>
        </p:nvSpPr>
        <p:spPr>
          <a:xfrm>
            <a:off x="548640" y="5788152"/>
            <a:ext cx="5440680" cy="475488"/>
          </a:xfrm>
          <a:prstGeom prst="rect">
            <a:avLst>
              <a:gd name="adj" fmla="val 15385"/>
            </a:avLst>
          </a:prstGeom>
          <a:solidFill>
            <a:srgbClr val="F2F4F8"/>
          </a:solidFill>
          <a:ln w="12700">
            <a:solidFill>
              <a:srgbClr val="F2F4F8"/>
            </a:solidFill>
            <a:prstDash val="solid"/>
          </a:ln>
        </p:spPr>
      </p:sp>
      <p:sp>
        <p:nvSpPr>
          <p:cNvPr id="50" name="Text 47"/>
          <p:cNvSpPr/>
          <p:nvPr/>
        </p:nvSpPr>
        <p:spPr>
          <a:xfrm>
            <a:off x="658368" y="5788152"/>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Activation patching</a:t>
            </a:r>
            <a:endParaRPr lang="en-US" sz="1300" dirty="0"/>
          </a:p>
        </p:txBody>
      </p:sp>
      <p:sp>
        <p:nvSpPr>
          <p:cNvPr id="51" name="Text 48"/>
          <p:cNvSpPr/>
          <p:nvPr/>
        </p:nvSpPr>
        <p:spPr>
          <a:xfrm>
            <a:off x="2743200" y="5788152"/>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pasting a model's internal state from one input into another</a:t>
            </a:r>
            <a:endParaRPr lang="en-US" sz="1200" dirty="0"/>
          </a:p>
        </p:txBody>
      </p:sp>
      <p:sp>
        <p:nvSpPr>
          <p:cNvPr id="52" name="Shape 49"/>
          <p:cNvSpPr/>
          <p:nvPr/>
        </p:nvSpPr>
        <p:spPr>
          <a:xfrm>
            <a:off x="6172200" y="5788152"/>
            <a:ext cx="5440680" cy="475488"/>
          </a:xfrm>
          <a:prstGeom prst="rect">
            <a:avLst>
              <a:gd name="adj" fmla="val 15385"/>
            </a:avLst>
          </a:prstGeom>
          <a:solidFill>
            <a:srgbClr val="F2F4F8"/>
          </a:solidFill>
          <a:ln w="12700">
            <a:solidFill>
              <a:srgbClr val="F2F4F8"/>
            </a:solidFill>
            <a:prstDash val="solid"/>
          </a:ln>
        </p:spPr>
      </p:sp>
      <p:sp>
        <p:nvSpPr>
          <p:cNvPr id="53" name="Text 50"/>
          <p:cNvSpPr/>
          <p:nvPr/>
        </p:nvSpPr>
        <p:spPr>
          <a:xfrm>
            <a:off x="6281928" y="5788152"/>
            <a:ext cx="2057400" cy="475488"/>
          </a:xfrm>
          <a:prstGeom prst="rect">
            <a:avLst/>
          </a:prstGeom>
          <a:noFill/>
          <a:ln/>
        </p:spPr>
        <p:txBody>
          <a:bodyPr wrap="square" lIns="0" tIns="0" rIns="0" bIns="0" rtlCol="0" anchor="ctr"/>
          <a:lstStyle/>
          <a:p>
            <a:pPr algn="l" indent="0" marL="0">
              <a:lnSpc>
                <a:spcPct val="100000"/>
              </a:lnSpc>
              <a:buNone/>
            </a:pPr>
            <a:r>
              <a:rPr lang="en-US" sz="1300" b="1" dirty="0">
                <a:solidFill>
                  <a:srgbClr val="1B2433"/>
                </a:solidFill>
                <a:latin typeface="Calibri" pitchFamily="34" charset="0"/>
                <a:ea typeface="Calibri" pitchFamily="34" charset="-122"/>
                <a:cs typeface="Calibri" pitchFamily="34" charset="-120"/>
              </a:rPr>
              <a:t>Onset (depth)</a:t>
            </a:r>
            <a:endParaRPr lang="en-US" sz="1300" dirty="0"/>
          </a:p>
        </p:txBody>
      </p:sp>
      <p:sp>
        <p:nvSpPr>
          <p:cNvPr id="54" name="Text 51"/>
          <p:cNvSpPr/>
          <p:nvPr/>
        </p:nvSpPr>
        <p:spPr>
          <a:xfrm>
            <a:off x="8366760" y="5788152"/>
            <a:ext cx="3200400" cy="475488"/>
          </a:xfrm>
          <a:prstGeom prst="rect">
            <a:avLst/>
          </a:prstGeom>
          <a:noFill/>
          <a:ln/>
        </p:spPr>
        <p:txBody>
          <a:bodyPr wrap="square" lIns="0" tIns="0" rIns="0" bIns="0" rtlCol="0" anchor="ctr"/>
          <a:lstStyle/>
          <a:p>
            <a:pPr algn="l" indent="0" marL="0">
              <a:lnSpc>
                <a:spcPct val="100000"/>
              </a:lnSpc>
              <a:buNone/>
            </a:pPr>
            <a:r>
              <a:rPr lang="en-US" sz="1200" dirty="0">
                <a:solidFill>
                  <a:srgbClr val="5B6577"/>
                </a:solidFill>
                <a:latin typeface="Calibri" pitchFamily="34" charset="0"/>
                <a:ea typeface="Calibri" pitchFamily="34" charset="-122"/>
                <a:cs typeface="Calibri" pitchFamily="34" charset="-120"/>
              </a:rPr>
              <a:t>first layer where the decision is settled; 0 = first, 1 = last</a:t>
            </a:r>
            <a:endParaRPr lang="en-US" sz="12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731520" y="137160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Thank you</a:t>
            </a:r>
            <a:endParaRPr lang="en-US" sz="5400" dirty="0"/>
          </a:p>
        </p:txBody>
      </p:sp>
      <p:sp>
        <p:nvSpPr>
          <p:cNvPr id="3" name="Text 1"/>
          <p:cNvSpPr/>
          <p:nvPr/>
        </p:nvSpPr>
        <p:spPr>
          <a:xfrm>
            <a:off x="731520" y="2423160"/>
            <a:ext cx="10515600" cy="548640"/>
          </a:xfrm>
          <a:prstGeom prst="rect">
            <a:avLst/>
          </a:prstGeom>
          <a:noFill/>
          <a:ln/>
        </p:spPr>
        <p:txBody>
          <a:bodyPr wrap="square" lIns="0" tIns="0" rIns="0" bIns="0" rtlCol="0" anchor="ctr"/>
          <a:lstStyle/>
          <a:p>
            <a:pPr indent="0" marL="0">
              <a:buNone/>
            </a:pPr>
            <a:r>
              <a:rPr lang="en-US" sz="2200" dirty="0">
                <a:solidFill>
                  <a:srgbClr val="C9D2E3"/>
                </a:solidFill>
                <a:latin typeface="Calibri" pitchFamily="34" charset="0"/>
                <a:ea typeface="Calibri" pitchFamily="34" charset="-122"/>
                <a:cs typeface="Calibri" pitchFamily="34" charset="-120"/>
              </a:rPr>
              <a:t>Questions are welcome.</a:t>
            </a:r>
            <a:endParaRPr lang="en-US" sz="2200" dirty="0"/>
          </a:p>
        </p:txBody>
      </p:sp>
      <p:sp>
        <p:nvSpPr>
          <p:cNvPr id="4" name="Shape 2"/>
          <p:cNvSpPr/>
          <p:nvPr/>
        </p:nvSpPr>
        <p:spPr>
          <a:xfrm>
            <a:off x="731520" y="3383280"/>
            <a:ext cx="10698480" cy="1143000"/>
          </a:xfrm>
          <a:prstGeom prst="roundRect">
            <a:avLst>
              <a:gd name="adj" fmla="val 9600"/>
            </a:avLst>
          </a:prstGeom>
          <a:solidFill>
            <a:srgbClr val="1F3057"/>
          </a:solidFill>
          <a:ln w="25400">
            <a:solidFill>
              <a:srgbClr val="E39B2D"/>
            </a:solidFill>
            <a:prstDash val="dash"/>
          </a:ln>
        </p:spPr>
      </p:sp>
      <p:sp>
        <p:nvSpPr>
          <p:cNvPr id="5" name="Text 3"/>
          <p:cNvSpPr/>
          <p:nvPr/>
        </p:nvSpPr>
        <p:spPr>
          <a:xfrm>
            <a:off x="1005840" y="3383280"/>
            <a:ext cx="10149840" cy="1143000"/>
          </a:xfrm>
          <a:prstGeom prst="rect">
            <a:avLst/>
          </a:prstGeom>
          <a:noFill/>
          <a:ln/>
        </p:spPr>
        <p:txBody>
          <a:bodyPr wrap="square" lIns="0" tIns="0" rIns="0" bIns="0" rtlCol="0" anchor="ctr"/>
          <a:lstStyle/>
          <a:p>
            <a:pPr indent="0" marL="0">
              <a:buNone/>
            </a:pPr>
            <a:r>
              <a:rPr lang="en-US" sz="2200" i="1" dirty="0">
                <a:solidFill>
                  <a:srgbClr val="FFFFFF"/>
                </a:solidFill>
                <a:latin typeface="Georgia" pitchFamily="34" charset="0"/>
                <a:ea typeface="Georgia" pitchFamily="34" charset="-122"/>
                <a:cs typeface="Georgia" pitchFamily="34" charset="-120"/>
              </a:rPr>
              <a:t>Under reference-free evaluation,</a:t>
            </a:r>
            <a:endParaRPr lang="en-US" sz="2200" dirty="0"/>
          </a:p>
          <a:p>
            <a:pPr indent="0" marL="0">
              <a:buNone/>
            </a:pPr>
            <a:r>
              <a:rPr lang="en-US" sz="2200" i="1" dirty="0">
                <a:solidFill>
                  <a:srgbClr val="FFFFFF"/>
                </a:solidFill>
                <a:latin typeface="Georgia" pitchFamily="34" charset="0"/>
                <a:ea typeface="Georgia" pitchFamily="34" charset="-122"/>
                <a:cs typeface="Georgia" pitchFamily="34" charset="-120"/>
              </a:rPr>
              <a:t>dropping a distinction the source never made is free.</a:t>
            </a:r>
            <a:endParaRPr lang="en-US" sz="2200" dirty="0"/>
          </a:p>
        </p:txBody>
      </p:sp>
      <p:sp>
        <p:nvSpPr>
          <p:cNvPr id="6" name="Text 4"/>
          <p:cNvSpPr/>
          <p:nvPr/>
        </p:nvSpPr>
        <p:spPr>
          <a:xfrm>
            <a:off x="731520" y="4937760"/>
            <a:ext cx="10515600" cy="10972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luxshan.20@cse.mrt.ac.lk  ·  jubeerathan.25@cse.mrt.ac.lk  ·  sivasuthan.26@cse.mrt.ac.lk</a:t>
            </a:r>
            <a:endParaRPr lang="en-US" sz="1500" dirty="0"/>
          </a:p>
          <a:p>
            <a:pPr indent="0" marL="0">
              <a:buNone/>
            </a:pPr>
            <a:r>
              <a:rPr lang="en-US" sz="1300" dirty="0">
                <a:solidFill>
                  <a:srgbClr val="9FAAC0"/>
                </a:solidFill>
                <a:latin typeface="Calibri" pitchFamily="34" charset="0"/>
                <a:ea typeface="Calibri" pitchFamily="34" charset="-122"/>
                <a:cs typeface="Calibri" pitchFamily="34" charset="-120"/>
              </a:rPr>
              <a:t>TamilLingBench data (CC BY-SA 4.0) and code (Apache-2.0) are released with the paper.</a:t>
            </a:r>
            <a:endParaRPr lang="en-US" sz="15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57200" cy="310896"/>
          </a:xfrm>
          <a:prstGeom prst="roundRect">
            <a:avLst>
              <a:gd name="adj" fmla="val 17647"/>
            </a:avLst>
          </a:prstGeom>
          <a:solidFill>
            <a:srgbClr val="FFFFFF"/>
          </a:solidFill>
          <a:ln w="15875">
            <a:solidFill>
              <a:srgbClr val="E39B2D"/>
            </a:solidFill>
            <a:prstDash val="dash"/>
          </a:ln>
        </p:spPr>
      </p:sp>
      <p:sp>
        <p:nvSpPr>
          <p:cNvPr id="3" name="Text 1"/>
          <p:cNvSpPr/>
          <p:nvPr/>
        </p:nvSpPr>
        <p:spPr>
          <a:xfrm>
            <a:off x="548640" y="329184"/>
            <a:ext cx="45720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B</a:t>
            </a:r>
            <a:endParaRPr lang="en-US" sz="1200" dirty="0"/>
          </a:p>
        </p:txBody>
      </p:sp>
      <p:sp>
        <p:nvSpPr>
          <p:cNvPr id="4" name="Text 2"/>
          <p:cNvSpPr/>
          <p:nvPr/>
        </p:nvSpPr>
        <p:spPr>
          <a:xfrm>
            <a:off x="1115568" y="329184"/>
            <a:ext cx="8229600" cy="310896"/>
          </a:xfrm>
          <a:prstGeom prst="rect">
            <a:avLst/>
          </a:prstGeom>
          <a:noFill/>
          <a:ln/>
        </p:spPr>
        <p:txBody>
          <a:bodyPr wrap="square" lIns="0" tIns="0" rIns="0" bIns="0" rtlCol="0" anchor="ctr"/>
          <a:lstStyle/>
          <a:p>
            <a:pPr indent="0" marL="0">
              <a:buNone/>
            </a:pPr>
            <a:r>
              <a:rPr lang="en-US" sz="1100" spc="200" kern="0" dirty="0">
                <a:solidFill>
                  <a:srgbClr val="5B6577"/>
                </a:solidFill>
                <a:latin typeface="Calibri" pitchFamily="34" charset="0"/>
                <a:ea typeface="Calibri" pitchFamily="34" charset="-122"/>
                <a:cs typeface="Calibri" pitchFamily="34" charset="-120"/>
              </a:rPr>
              <a:t>BACKUP</a:t>
            </a:r>
            <a:endParaRPr lang="en-US" sz="1100" dirty="0"/>
          </a:p>
        </p:txBody>
      </p:sp>
      <p:sp>
        <p:nvSpPr>
          <p:cNvPr id="5" name="Text 3"/>
          <p:cNvSpPr/>
          <p:nvPr/>
        </p:nvSpPr>
        <p:spPr>
          <a:xfrm>
            <a:off x="548640" y="731520"/>
            <a:ext cx="11064240" cy="868680"/>
          </a:xfrm>
          <a:prstGeom prst="rect">
            <a:avLst/>
          </a:prstGeom>
          <a:noFill/>
          <a:ln/>
        </p:spPr>
        <p:txBody>
          <a:bodyPr wrap="square" lIns="0" tIns="0" rIns="0" bIns="0" rtlCol="0" anchor="t"/>
          <a:lstStyle/>
          <a:p>
            <a:pPr indent="0" marL="0">
              <a:buNone/>
            </a:pPr>
            <a:r>
              <a:rPr lang="en-US" sz="2600" b="1" dirty="0">
                <a:solidFill>
                  <a:srgbClr val="1B2433"/>
                </a:solidFill>
                <a:latin typeface="Georgia" pitchFamily="34" charset="0"/>
                <a:ea typeface="Georgia" pitchFamily="34" charset="-122"/>
                <a:cs typeface="Georgia" pitchFamily="34" charset="-120"/>
              </a:rPr>
              <a:t>Backup: a practical lesson for others doing this kind of work</a:t>
            </a:r>
            <a:endParaRPr lang="en-US" sz="2600" dirty="0"/>
          </a:p>
        </p:txBody>
      </p:sp>
      <p:sp>
        <p:nvSpPr>
          <p:cNvPr id="6" name="Text 4"/>
          <p:cNvSpPr/>
          <p:nvPr/>
        </p:nvSpPr>
        <p:spPr>
          <a:xfrm>
            <a:off x="548640" y="6473952"/>
            <a:ext cx="5486400" cy="256032"/>
          </a:xfrm>
          <a:prstGeom prst="rect">
            <a:avLst/>
          </a:prstGeom>
          <a:noFill/>
          <a:ln/>
        </p:spPr>
        <p:txBody>
          <a:bodyPr wrap="square" lIns="0" tIns="0" rIns="0" bIns="0" rtlCol="0" anchor="ctr"/>
          <a:lstStyle/>
          <a:p>
            <a:pPr indent="0" marL="0">
              <a:buNone/>
            </a:pPr>
            <a:r>
              <a:rPr lang="en-US" sz="900" dirty="0">
                <a:solidFill>
                  <a:srgbClr val="98A1B2"/>
                </a:solidFill>
                <a:latin typeface="Calibri" pitchFamily="34" charset="0"/>
                <a:ea typeface="Calibri" pitchFamily="34" charset="-122"/>
                <a:cs typeface="Calibri" pitchFamily="34" charset="-120"/>
              </a:rPr>
              <a:t>Obligatory Slots · WMT 2026</a:t>
            </a:r>
            <a:endParaRPr lang="en-US" sz="900" dirty="0"/>
          </a:p>
        </p:txBody>
      </p:sp>
      <p:sp>
        <p:nvSpPr>
          <p:cNvPr id="7" name="Text 5"/>
          <p:cNvSpPr/>
          <p:nvPr/>
        </p:nvSpPr>
        <p:spPr>
          <a:xfrm>
            <a:off x="10908792" y="6473952"/>
            <a:ext cx="731520" cy="256032"/>
          </a:xfrm>
          <a:prstGeom prst="rect">
            <a:avLst/>
          </a:prstGeom>
          <a:noFill/>
          <a:ln/>
        </p:spPr>
        <p:txBody>
          <a:bodyPr wrap="square" lIns="0" tIns="0" rIns="0" bIns="0" rtlCol="0" anchor="ctr"/>
          <a:lstStyle/>
          <a:p>
            <a:pPr algn="r" indent="0" marL="0">
              <a:buNone/>
            </a:pPr>
            <a:r>
              <a:rPr lang="en-US" sz="900" dirty="0">
                <a:solidFill>
                  <a:srgbClr val="98A1B2"/>
                </a:solidFill>
                <a:latin typeface="Calibri" pitchFamily="34" charset="0"/>
                <a:ea typeface="Calibri" pitchFamily="34" charset="-122"/>
                <a:cs typeface="Calibri" pitchFamily="34" charset="-120"/>
              </a:rPr>
              <a:t>95</a:t>
            </a:r>
            <a:endParaRPr lang="en-US" sz="900" dirty="0"/>
          </a:p>
        </p:txBody>
      </p:sp>
      <p:sp>
        <p:nvSpPr>
          <p:cNvPr id="9" name="Shape 6"/>
          <p:cNvSpPr/>
          <p:nvPr/>
        </p:nvSpPr>
        <p:spPr>
          <a:xfrm>
            <a:off x="548640" y="1737360"/>
            <a:ext cx="3566160" cy="2286000"/>
          </a:xfrm>
          <a:prstGeom prst="roundRect">
            <a:avLst>
              <a:gd name="adj" fmla="val 3200"/>
            </a:avLst>
          </a:prstGeom>
          <a:solidFill>
            <a:srgbClr val="FBE5D6"/>
          </a:solidFill>
          <a:ln w="12700">
            <a:solidFill>
              <a:srgbClr val="FBE5D6"/>
            </a:solidFill>
            <a:prstDash val="solid"/>
          </a:ln>
        </p:spPr>
      </p:sp>
      <p:sp>
        <p:nvSpPr>
          <p:cNvPr id="10" name="Text 7"/>
          <p:cNvSpPr/>
          <p:nvPr/>
        </p:nvSpPr>
        <p:spPr>
          <a:xfrm>
            <a:off x="749808" y="1883664"/>
            <a:ext cx="3163824" cy="411480"/>
          </a:xfrm>
          <a:prstGeom prst="rect">
            <a:avLst/>
          </a:prstGeom>
          <a:noFill/>
          <a:ln/>
        </p:spPr>
        <p:txBody>
          <a:bodyPr wrap="square" lIns="0" tIns="0" rIns="0" bIns="0" rtlCol="0" anchor="t"/>
          <a:lstStyle/>
          <a:p>
            <a:pPr indent="0" marL="0">
              <a:buNone/>
            </a:pPr>
            <a:r>
              <a:rPr lang="en-US" sz="1700" b="1" dirty="0">
                <a:solidFill>
                  <a:srgbClr val="D55E00"/>
                </a:solidFill>
                <a:latin typeface="Calibri" pitchFamily="34" charset="0"/>
                <a:ea typeface="Calibri" pitchFamily="34" charset="-122"/>
                <a:cs typeface="Calibri" pitchFamily="34" charset="-120"/>
              </a:rPr>
              <a:t>float16</a:t>
            </a:r>
            <a:endParaRPr lang="en-US" sz="1700" dirty="0"/>
          </a:p>
        </p:txBody>
      </p:sp>
      <p:sp>
        <p:nvSpPr>
          <p:cNvPr id="11" name="Text 8"/>
          <p:cNvSpPr/>
          <p:nvPr/>
        </p:nvSpPr>
        <p:spPr>
          <a:xfrm>
            <a:off x="749808" y="2295144"/>
            <a:ext cx="3163824" cy="1581912"/>
          </a:xfrm>
          <a:prstGeom prst="rect">
            <a:avLst/>
          </a:prstGeom>
          <a:noFill/>
          <a:ln/>
        </p:spPr>
        <p:txBody>
          <a:bodyPr wrap="square" lIns="0" tIns="0" rIns="0" bIns="0" rtlCol="0" anchor="t"/>
          <a:lstStyle/>
          <a:p>
            <a:pPr marL="228600" indent="-228600">
              <a:spcAft>
                <a:spcPts val="500"/>
              </a:spcAft>
              <a:buSzPct val="100000"/>
              <a:buChar char="•"/>
            </a:pPr>
            <a:r>
              <a:rPr lang="en-US" sz="1500" dirty="0">
                <a:solidFill>
                  <a:srgbClr val="1B2433"/>
                </a:solidFill>
                <a:latin typeface="Calibri" pitchFamily="34" charset="0"/>
                <a:ea typeface="Calibri" pitchFamily="34" charset="-122"/>
                <a:cs typeface="Calibri" pitchFamily="34" charset="-120"/>
              </a:rPr>
              <a:t>Largest value it can hold: </a:t>
            </a:r>
            <a:r>
              <a:rPr lang="en-US" sz="1500" b="1" dirty="0">
                <a:solidFill>
                  <a:srgbClr val="1B2433"/>
                </a:solidFill>
                <a:latin typeface="Calibri" pitchFamily="34" charset="0"/>
                <a:ea typeface="Calibri" pitchFamily="34" charset="-122"/>
                <a:cs typeface="Calibri" pitchFamily="34" charset="-120"/>
              </a:rPr>
              <a:t>65,504</a:t>
            </a:r>
            <a:r>
              <a:rPr lang="en-US" sz="1500" dirty="0">
                <a:solidFill>
                  <a:srgbClr val="1B2433"/>
                </a:solidFill>
                <a:latin typeface="Calibri" pitchFamily="34" charset="0"/>
                <a:ea typeface="Calibri" pitchFamily="34" charset="-122"/>
                <a:cs typeface="Calibri" pitchFamily="34" charset="-120"/>
              </a:rPr>
              <a:t>.</a:t>
            </a:r>
            <a:endParaRPr lang="en-US" sz="1500" dirty="0"/>
          </a:p>
          <a:p>
            <a:pPr marL="228600" indent="-228600">
              <a:spcAft>
                <a:spcPts val="500"/>
              </a:spcAft>
              <a:buSzPct val="100000"/>
              <a:buChar char="•"/>
            </a:pPr>
            <a:r>
              <a:rPr lang="en-US" sz="1500" dirty="0">
                <a:solidFill>
                  <a:srgbClr val="1B2433"/>
                </a:solidFill>
                <a:latin typeface="Calibri" pitchFamily="34" charset="0"/>
                <a:ea typeface="Calibri" pitchFamily="34" charset="-122"/>
                <a:cs typeface="Calibri" pitchFamily="34" charset="-120"/>
              </a:rPr>
              <a:t>Gemma 3's internal values </a:t>
            </a:r>
            <a:r>
              <a:rPr lang="en-US" sz="1500" b="1" dirty="0">
                <a:solidFill>
                  <a:srgbClr val="1B2433"/>
                </a:solidFill>
                <a:latin typeface="Calibri" pitchFamily="34" charset="0"/>
                <a:ea typeface="Calibri" pitchFamily="34" charset="-122"/>
                <a:cs typeface="Calibri" pitchFamily="34" charset="-120"/>
              </a:rPr>
              <a:t>exceed</a:t>
            </a:r>
            <a:r>
              <a:rPr lang="en-US" sz="1500" dirty="0">
                <a:solidFill>
                  <a:srgbClr val="1B2433"/>
                </a:solidFill>
                <a:latin typeface="Calibri" pitchFamily="34" charset="0"/>
                <a:ea typeface="Calibri" pitchFamily="34" charset="-122"/>
                <a:cs typeface="Calibri" pitchFamily="34" charset="-120"/>
              </a:rPr>
              <a:t> it in the upper third of the network: exactly where this result lives.</a:t>
            </a:r>
            <a:endParaRPr lang="en-US" sz="1500" dirty="0"/>
          </a:p>
        </p:txBody>
      </p:sp>
      <p:sp>
        <p:nvSpPr>
          <p:cNvPr id="12" name="Shape 9"/>
          <p:cNvSpPr/>
          <p:nvPr/>
        </p:nvSpPr>
        <p:spPr>
          <a:xfrm>
            <a:off x="4297680" y="1737360"/>
            <a:ext cx="3566160" cy="2286000"/>
          </a:xfrm>
          <a:prstGeom prst="roundRect">
            <a:avLst>
              <a:gd name="adj" fmla="val 3200"/>
            </a:avLst>
          </a:prstGeom>
          <a:solidFill>
            <a:srgbClr val="FBEBD2"/>
          </a:solidFill>
          <a:ln w="12700">
            <a:solidFill>
              <a:srgbClr val="FBEBD2"/>
            </a:solidFill>
            <a:prstDash val="solid"/>
          </a:ln>
        </p:spPr>
      </p:sp>
      <p:sp>
        <p:nvSpPr>
          <p:cNvPr id="13" name="Text 10"/>
          <p:cNvSpPr/>
          <p:nvPr/>
        </p:nvSpPr>
        <p:spPr>
          <a:xfrm>
            <a:off x="4498848" y="1883664"/>
            <a:ext cx="3163824" cy="411480"/>
          </a:xfrm>
          <a:prstGeom prst="rect">
            <a:avLst/>
          </a:prstGeom>
          <a:noFill/>
          <a:ln/>
        </p:spPr>
        <p:txBody>
          <a:bodyPr wrap="square" lIns="0" tIns="0" rIns="0" bIns="0" rtlCol="0" anchor="t"/>
          <a:lstStyle/>
          <a:p>
            <a:pPr indent="0" marL="0">
              <a:buNone/>
            </a:pPr>
            <a:r>
              <a:rPr lang="en-US" sz="1700" b="1" dirty="0">
                <a:solidFill>
                  <a:srgbClr val="1B2433"/>
                </a:solidFill>
                <a:latin typeface="Calibri" pitchFamily="34" charset="0"/>
                <a:ea typeface="Calibri" pitchFamily="34" charset="-122"/>
                <a:cs typeface="Calibri" pitchFamily="34" charset="-120"/>
              </a:rPr>
              <a:t>bfloat16</a:t>
            </a:r>
            <a:endParaRPr lang="en-US" sz="1700" dirty="0"/>
          </a:p>
        </p:txBody>
      </p:sp>
      <p:sp>
        <p:nvSpPr>
          <p:cNvPr id="14" name="Text 11"/>
          <p:cNvSpPr/>
          <p:nvPr/>
        </p:nvSpPr>
        <p:spPr>
          <a:xfrm>
            <a:off x="4498848" y="2295144"/>
            <a:ext cx="3163824" cy="1581912"/>
          </a:xfrm>
          <a:prstGeom prst="rect">
            <a:avLst/>
          </a:prstGeom>
          <a:noFill/>
          <a:ln/>
        </p:spPr>
        <p:txBody>
          <a:bodyPr wrap="square" lIns="0" tIns="0" rIns="0" bIns="0" rtlCol="0" anchor="t"/>
          <a:lstStyle/>
          <a:p>
            <a:pPr marL="228600" indent="-228600">
              <a:spcAft>
                <a:spcPts val="500"/>
              </a:spcAft>
              <a:buSzPct val="100000"/>
              <a:buChar char="•"/>
            </a:pPr>
            <a:r>
              <a:rPr lang="en-US" sz="1500" dirty="0">
                <a:solidFill>
                  <a:srgbClr val="1B2433"/>
                </a:solidFill>
                <a:latin typeface="Calibri" pitchFamily="34" charset="0"/>
                <a:ea typeface="Calibri" pitchFamily="34" charset="-122"/>
                <a:cs typeface="Calibri" pitchFamily="34" charset="-120"/>
              </a:rPr>
              <a:t>Matched </a:t>
            </a:r>
            <a:r>
              <a:rPr lang="en-US" sz="1500" b="1" dirty="0">
                <a:solidFill>
                  <a:srgbClr val="1B2433"/>
                </a:solidFill>
                <a:latin typeface="Calibri" pitchFamily="34" charset="0"/>
                <a:ea typeface="Calibri" pitchFamily="34" charset="-122"/>
                <a:cs typeface="Calibri" pitchFamily="34" charset="-120"/>
              </a:rPr>
              <a:t>197 of 200</a:t>
            </a:r>
            <a:r>
              <a:rPr lang="en-US" sz="1500" dirty="0">
                <a:solidFill>
                  <a:srgbClr val="1B2433"/>
                </a:solidFill>
                <a:latin typeface="Calibri" pitchFamily="34" charset="0"/>
                <a:ea typeface="Calibri" pitchFamily="34" charset="-122"/>
                <a:cs typeface="Calibri" pitchFamily="34" charset="-120"/>
              </a:rPr>
              <a:t> predictions.</a:t>
            </a:r>
            <a:endParaRPr lang="en-US" sz="1500" dirty="0"/>
          </a:p>
          <a:p>
            <a:pPr marL="228600" indent="-228600">
              <a:spcAft>
                <a:spcPts val="500"/>
              </a:spcAft>
              <a:buSzPct val="100000"/>
              <a:buChar char="•"/>
            </a:pPr>
            <a:r>
              <a:rPr lang="en-US" sz="1500" dirty="0">
                <a:solidFill>
                  <a:srgbClr val="1B2433"/>
                </a:solidFill>
                <a:latin typeface="Calibri" pitchFamily="34" charset="0"/>
                <a:ea typeface="Calibri" pitchFamily="34" charset="-122"/>
                <a:cs typeface="Calibri" pitchFamily="34" charset="-120"/>
              </a:rPr>
              <a:t>Error up to </a:t>
            </a:r>
            <a:r>
              <a:rPr lang="en-US" sz="1500" b="1" dirty="0">
                <a:solidFill>
                  <a:srgbClr val="1B2433"/>
                </a:solidFill>
                <a:latin typeface="Calibri" pitchFamily="34" charset="0"/>
                <a:ea typeface="Calibri" pitchFamily="34" charset="-122"/>
                <a:cs typeface="Calibri" pitchFamily="34" charset="-120"/>
              </a:rPr>
              <a:t>0.25</a:t>
            </a:r>
            <a:r>
              <a:rPr lang="en-US" sz="1500" dirty="0">
                <a:solidFill>
                  <a:srgbClr val="1B2433"/>
                </a:solidFill>
                <a:latin typeface="Calibri" pitchFamily="34" charset="0"/>
                <a:ea typeface="Calibri" pitchFamily="34" charset="-122"/>
                <a:cs typeface="Calibri" pitchFamily="34" charset="-120"/>
              </a:rPr>
              <a:t>: larger than several effects we measure.</a:t>
            </a:r>
            <a:endParaRPr lang="en-US" sz="1500" dirty="0"/>
          </a:p>
        </p:txBody>
      </p:sp>
      <p:sp>
        <p:nvSpPr>
          <p:cNvPr id="15" name="Shape 12"/>
          <p:cNvSpPr/>
          <p:nvPr/>
        </p:nvSpPr>
        <p:spPr>
          <a:xfrm>
            <a:off x="8046720" y="1737360"/>
            <a:ext cx="3566160" cy="2286000"/>
          </a:xfrm>
          <a:prstGeom prst="roundRect">
            <a:avLst>
              <a:gd name="adj" fmla="val 3200"/>
            </a:avLst>
          </a:prstGeom>
          <a:solidFill>
            <a:srgbClr val="DDF2EA"/>
          </a:solidFill>
          <a:ln w="12700">
            <a:solidFill>
              <a:srgbClr val="DDF2EA"/>
            </a:solidFill>
            <a:prstDash val="solid"/>
          </a:ln>
        </p:spPr>
      </p:sp>
      <p:sp>
        <p:nvSpPr>
          <p:cNvPr id="16" name="Text 13"/>
          <p:cNvSpPr/>
          <p:nvPr/>
        </p:nvSpPr>
        <p:spPr>
          <a:xfrm>
            <a:off x="8247888" y="1883664"/>
            <a:ext cx="3163824" cy="411480"/>
          </a:xfrm>
          <a:prstGeom prst="rect">
            <a:avLst/>
          </a:prstGeom>
          <a:noFill/>
          <a:ln/>
        </p:spPr>
        <p:txBody>
          <a:bodyPr wrap="square" lIns="0" tIns="0" rIns="0" bIns="0" rtlCol="0" anchor="t"/>
          <a:lstStyle/>
          <a:p>
            <a:pPr indent="0" marL="0">
              <a:buNone/>
            </a:pPr>
            <a:r>
              <a:rPr lang="en-US" sz="1700" b="1" dirty="0">
                <a:solidFill>
                  <a:srgbClr val="009E73"/>
                </a:solidFill>
                <a:latin typeface="Calibri" pitchFamily="34" charset="0"/>
                <a:ea typeface="Calibri" pitchFamily="34" charset="-122"/>
                <a:cs typeface="Calibri" pitchFamily="34" charset="-120"/>
              </a:rPr>
              <a:t>float32 (used)</a:t>
            </a:r>
            <a:endParaRPr lang="en-US" sz="1700" dirty="0"/>
          </a:p>
        </p:txBody>
      </p:sp>
      <p:sp>
        <p:nvSpPr>
          <p:cNvPr id="17" name="Text 14"/>
          <p:cNvSpPr/>
          <p:nvPr/>
        </p:nvSpPr>
        <p:spPr>
          <a:xfrm>
            <a:off x="8247888" y="2295144"/>
            <a:ext cx="3163824" cy="1581912"/>
          </a:xfrm>
          <a:prstGeom prst="rect">
            <a:avLst/>
          </a:prstGeom>
          <a:noFill/>
          <a:ln/>
        </p:spPr>
        <p:txBody>
          <a:bodyPr wrap="square" lIns="0" tIns="0" rIns="0" bIns="0" rtlCol="0" anchor="t"/>
          <a:lstStyle/>
          <a:p>
            <a:pPr marL="228600" indent="-228600">
              <a:spcAft>
                <a:spcPts val="500"/>
              </a:spcAft>
              <a:buSzPct val="100000"/>
              <a:buChar char="•"/>
            </a:pPr>
            <a:r>
              <a:rPr lang="en-US" sz="1500" dirty="0">
                <a:solidFill>
                  <a:srgbClr val="1B2433"/>
                </a:solidFill>
                <a:latin typeface="Calibri" pitchFamily="34" charset="0"/>
                <a:ea typeface="Calibri" pitchFamily="34" charset="-122"/>
                <a:cs typeface="Calibri" pitchFamily="34" charset="-120"/>
              </a:rPr>
              <a:t>Matched </a:t>
            </a:r>
            <a:r>
              <a:rPr lang="en-US" sz="1500" b="1" dirty="0">
                <a:solidFill>
                  <a:srgbClr val="1B2433"/>
                </a:solidFill>
                <a:latin typeface="Calibri" pitchFamily="34" charset="0"/>
                <a:ea typeface="Calibri" pitchFamily="34" charset="-122"/>
                <a:cs typeface="Calibri" pitchFamily="34" charset="-120"/>
              </a:rPr>
              <a:t>200 of 200</a:t>
            </a:r>
            <a:r>
              <a:rPr lang="en-US" sz="1500" dirty="0">
                <a:solidFill>
                  <a:srgbClr val="1B2433"/>
                </a:solidFill>
                <a:latin typeface="Calibri" pitchFamily="34" charset="0"/>
                <a:ea typeface="Calibri" pitchFamily="34" charset="-122"/>
                <a:cs typeface="Calibri" pitchFamily="34" charset="-120"/>
              </a:rPr>
              <a:t> predictions.</a:t>
            </a:r>
            <a:endParaRPr lang="en-US" sz="1500" dirty="0"/>
          </a:p>
          <a:p>
            <a:pPr marL="228600" indent="-228600">
              <a:spcAft>
                <a:spcPts val="500"/>
              </a:spcAft>
              <a:buSzPct val="100000"/>
              <a:buChar char="•"/>
            </a:pPr>
            <a:r>
              <a:rPr lang="en-US" sz="1500" dirty="0">
                <a:solidFill>
                  <a:srgbClr val="1B2433"/>
                </a:solidFill>
                <a:latin typeface="Calibri" pitchFamily="34" charset="0"/>
                <a:ea typeface="Calibri" pitchFamily="34" charset="-122"/>
                <a:cs typeface="Calibri" pitchFamily="34" charset="-120"/>
              </a:rPr>
              <a:t>Largest error </a:t>
            </a:r>
            <a:r>
              <a:rPr lang="en-US" sz="1500" b="1" dirty="0">
                <a:solidFill>
                  <a:srgbClr val="1B2433"/>
                </a:solidFill>
                <a:latin typeface="Calibri" pitchFamily="34" charset="0"/>
                <a:ea typeface="Calibri" pitchFamily="34" charset="-122"/>
                <a:cs typeface="Calibri" pitchFamily="34" charset="-120"/>
              </a:rPr>
              <a:t>0.0000467</a:t>
            </a:r>
            <a:r>
              <a:rPr lang="en-US" sz="1500" dirty="0">
                <a:solidFill>
                  <a:srgbClr val="1B2433"/>
                </a:solidFill>
                <a:latin typeface="Calibri" pitchFamily="34" charset="0"/>
                <a:ea typeface="Calibri" pitchFamily="34" charset="-122"/>
                <a:cs typeface="Calibri" pitchFamily="34" charset="-120"/>
              </a:rPr>
              <a:t>.</a:t>
            </a:r>
            <a:endParaRPr lang="en-US" sz="1500" dirty="0"/>
          </a:p>
        </p:txBody>
      </p:sp>
      <p:sp>
        <p:nvSpPr>
          <p:cNvPr id="18" name="Shape 15"/>
          <p:cNvSpPr/>
          <p:nvPr/>
        </p:nvSpPr>
        <p:spPr>
          <a:xfrm>
            <a:off x="548640" y="4297680"/>
            <a:ext cx="11064240" cy="594360"/>
          </a:xfrm>
          <a:prstGeom prst="roundRect">
            <a:avLst>
              <a:gd name="adj" fmla="val 12308"/>
            </a:avLst>
          </a:prstGeom>
          <a:solidFill>
            <a:srgbClr val="FBEBD2"/>
          </a:solidFill>
          <a:ln w="12700">
            <a:solidFill>
              <a:srgbClr val="E39B2D"/>
            </a:solidFill>
            <a:prstDash val="solid"/>
          </a:ln>
        </p:spPr>
      </p:sp>
      <p:sp>
        <p:nvSpPr>
          <p:cNvPr id="19" name="Text 16"/>
          <p:cNvSpPr/>
          <p:nvPr/>
        </p:nvSpPr>
        <p:spPr>
          <a:xfrm>
            <a:off x="777240" y="4297680"/>
            <a:ext cx="10607040" cy="59436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If you patch activations in Gemma 3, </a:t>
            </a:r>
            <a:r>
              <a:rPr lang="en-US" sz="1500" b="1" dirty="0">
                <a:solidFill>
                  <a:srgbClr val="1B2433"/>
                </a:solidFill>
                <a:latin typeface="Calibri" pitchFamily="34" charset="0"/>
                <a:ea typeface="Calibri" pitchFamily="34" charset="-122"/>
                <a:cs typeface="Calibri" pitchFamily="34" charset="-120"/>
              </a:rPr>
              <a:t>use float32</a:t>
            </a:r>
            <a:r>
              <a:rPr lang="en-US" sz="1500" dirty="0">
                <a:solidFill>
                  <a:srgbClr val="1B2433"/>
                </a:solidFill>
                <a:latin typeface="Calibri" pitchFamily="34" charset="0"/>
                <a:ea typeface="Calibri" pitchFamily="34" charset="-122"/>
                <a:cs typeface="Calibri" pitchFamily="34" charset="-120"/>
              </a:rPr>
              <a:t>. A 16-bit format can silently corrupt exactly the layers you care about.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95</Slides>
  <Notes>95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95</vt:i4>
      </vt:variant>
    </vt:vector>
  </HeadingPairs>
  <TitlesOfParts>
    <vt:vector size="9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Obligatory Slots, explained</dc:title>
  <dc:subject>WMT 2026 paper, explained for newcomers</dc:subject>
  <dc:creator>Luxshan Thavarasa, Jubeerathan Thevakumar, Sivasuthan Sukumar</dc:creator>
  <cp:lastModifiedBy>Luxshan Thavarasa, Jubeerathan Thevakumar, Sivasuthan Sukumar</cp:lastModifiedBy>
  <cp:revision>1</cp:revision>
  <dcterms:created xsi:type="dcterms:W3CDTF">2026-09-10T09:11:52Z</dcterms:created>
  <dcterms:modified xsi:type="dcterms:W3CDTF">2026-09-10T09:11:52Z</dcterms:modified>
</cp:coreProperties>
</file>